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5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6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Aptidão por geração (semente 42)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melhor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19</c:v>
                </c:pt>
                <c:pt idx="1">
                  <c:v>21</c:v>
                </c:pt>
                <c:pt idx="2">
                  <c:v>21</c:v>
                </c:pt>
                <c:pt idx="3">
                  <c:v>23</c:v>
                </c:pt>
                <c:pt idx="4">
                  <c:v>24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26</c:v>
                </c:pt>
                <c:pt idx="9">
                  <c:v>27</c:v>
                </c:pt>
                <c:pt idx="10">
                  <c:v>28</c:v>
                </c:pt>
                <c:pt idx="11">
                  <c:v>28</c:v>
                </c:pt>
                <c:pt idx="12">
                  <c:v>28</c:v>
                </c:pt>
                <c:pt idx="13">
                  <c:v>29</c:v>
                </c:pt>
                <c:pt idx="14">
                  <c:v>29</c:v>
                </c:pt>
                <c:pt idx="15">
                  <c:v>29</c:v>
                </c:pt>
                <c:pt idx="16">
                  <c:v>29</c:v>
                </c:pt>
                <c:pt idx="17">
                  <c:v>29</c:v>
                </c:pt>
                <c:pt idx="18">
                  <c:v>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</c:v>
                </c:pt>
              </c:strCache>
            </c:strRef>
          </c:tx>
          <c:spPr>
            <a:solidFill>
              <a:srgbClr val="FF7A2F"/>
            </a:solidFill>
            <a:ln w="38100" cap="flat">
              <a:solidFill>
                <a:srgbClr val="FF7A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7A2F"/>
              </a:solidFill>
              <a:ln w="9525" cap="flat">
                <a:solidFill>
                  <a:srgbClr val="FF7A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</c:lvl>
              </c:multiLvlStrCache>
            </c:multiLvl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14.7</c:v>
                </c:pt>
                <c:pt idx="1">
                  <c:v>17.4</c:v>
                </c:pt>
                <c:pt idx="2">
                  <c:v>18.7</c:v>
                </c:pt>
                <c:pt idx="3">
                  <c:v>19.2</c:v>
                </c:pt>
                <c:pt idx="4">
                  <c:v>20.3</c:v>
                </c:pt>
                <c:pt idx="5">
                  <c:v>21.8</c:v>
                </c:pt>
                <c:pt idx="6">
                  <c:v>23.1</c:v>
                </c:pt>
                <c:pt idx="7">
                  <c:v>23.7</c:v>
                </c:pt>
                <c:pt idx="8">
                  <c:v>24.8</c:v>
                </c:pt>
                <c:pt idx="9">
                  <c:v>25.2</c:v>
                </c:pt>
                <c:pt idx="10">
                  <c:v>25.6</c:v>
                </c:pt>
                <c:pt idx="11">
                  <c:v>25.9</c:v>
                </c:pt>
                <c:pt idx="12">
                  <c:v>26.4</c:v>
                </c:pt>
                <c:pt idx="13">
                  <c:v>26.9</c:v>
                </c:pt>
                <c:pt idx="14">
                  <c:v>26.8</c:v>
                </c:pt>
                <c:pt idx="15">
                  <c:v>27</c:v>
                </c:pt>
                <c:pt idx="16">
                  <c:v>27.2</c:v>
                </c:pt>
                <c:pt idx="17">
                  <c:v>27.2</c:v>
                </c:pt>
                <c:pt idx="18">
                  <c:v>27.5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A1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Corte da função de Rastrigin (y = 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f(x), com y = 0</c:v>
                </c:pt>
              </c:strCache>
            </c:strRef>
          </c:tx>
          <c:spPr>
            <a:solidFill>
              <a:srgbClr val="D6336C"/>
            </a:solidFill>
            <a:ln w="38100" cap="flat">
              <a:solidFill>
                <a:srgbClr val="D633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336C"/>
              </a:solidFill>
              <a:ln w="9525" cap="flat">
                <a:solidFill>
                  <a:srgbClr val="D633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-5.0</c:v>
                  </c:pt>
                  <c:pt idx="1">
                    <c:v>-4.8</c:v>
                  </c:pt>
                  <c:pt idx="2">
                    <c:v>-4.5</c:v>
                  </c:pt>
                  <c:pt idx="3">
                    <c:v>-4.3</c:v>
                  </c:pt>
                  <c:pt idx="4">
                    <c:v>-4.0</c:v>
                  </c:pt>
                  <c:pt idx="5">
                    <c:v>-3.8</c:v>
                  </c:pt>
                  <c:pt idx="6">
                    <c:v>-3.5</c:v>
                  </c:pt>
                  <c:pt idx="7">
                    <c:v>-3.3</c:v>
                  </c:pt>
                  <c:pt idx="8">
                    <c:v>-3.0</c:v>
                  </c:pt>
                  <c:pt idx="9">
                    <c:v>-2.8</c:v>
                  </c:pt>
                  <c:pt idx="10">
                    <c:v>-2.5</c:v>
                  </c:pt>
                  <c:pt idx="11">
                    <c:v>-2.3</c:v>
                  </c:pt>
                  <c:pt idx="12">
                    <c:v>-2.0</c:v>
                  </c:pt>
                  <c:pt idx="13">
                    <c:v>-1.8</c:v>
                  </c:pt>
                  <c:pt idx="14">
                    <c:v>-1.5</c:v>
                  </c:pt>
                  <c:pt idx="15">
                    <c:v>-1.3</c:v>
                  </c:pt>
                  <c:pt idx="16">
                    <c:v>-1.0</c:v>
                  </c:pt>
                  <c:pt idx="17">
                    <c:v>-0.8</c:v>
                  </c:pt>
                  <c:pt idx="18">
                    <c:v>-0.5</c:v>
                  </c:pt>
                  <c:pt idx="19">
                    <c:v>-0.3</c:v>
                  </c:pt>
                  <c:pt idx="20">
                    <c:v>0.0</c:v>
                  </c:pt>
                  <c:pt idx="21">
                    <c:v>0.3</c:v>
                  </c:pt>
                  <c:pt idx="22">
                    <c:v>0.5</c:v>
                  </c:pt>
                  <c:pt idx="23">
                    <c:v>0.8</c:v>
                  </c:pt>
                  <c:pt idx="24">
                    <c:v>1.0</c:v>
                  </c:pt>
                  <c:pt idx="25">
                    <c:v>1.3</c:v>
                  </c:pt>
                  <c:pt idx="26">
                    <c:v>1.5</c:v>
                  </c:pt>
                  <c:pt idx="27">
                    <c:v>1.8</c:v>
                  </c:pt>
                  <c:pt idx="28">
                    <c:v>2.0</c:v>
                  </c:pt>
                  <c:pt idx="29">
                    <c:v>2.3</c:v>
                  </c:pt>
                  <c:pt idx="30">
                    <c:v>2.5</c:v>
                  </c:pt>
                  <c:pt idx="31">
                    <c:v>2.8</c:v>
                  </c:pt>
                  <c:pt idx="32">
                    <c:v>3.0</c:v>
                  </c:pt>
                  <c:pt idx="33">
                    <c:v>3.3</c:v>
                  </c:pt>
                  <c:pt idx="34">
                    <c:v>3.5</c:v>
                  </c:pt>
                  <c:pt idx="35">
                    <c:v>3.8</c:v>
                  </c:pt>
                  <c:pt idx="36">
                    <c:v>4.0</c:v>
                  </c:pt>
                  <c:pt idx="37">
                    <c:v>4.3</c:v>
                  </c:pt>
                  <c:pt idx="38">
                    <c:v>4.5</c:v>
                  </c:pt>
                  <c:pt idx="39">
                    <c:v>4.8</c:v>
                  </c:pt>
                  <c:pt idx="40">
                    <c:v>5.0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25</c:v>
                </c:pt>
                <c:pt idx="1">
                  <c:v>32.56</c:v>
                </c:pt>
                <c:pt idx="2">
                  <c:v>40.25</c:v>
                </c:pt>
                <c:pt idx="3">
                  <c:v>28.06</c:v>
                </c:pt>
                <c:pt idx="4">
                  <c:v>16</c:v>
                </c:pt>
                <c:pt idx="5">
                  <c:v>24.06</c:v>
                </c:pt>
                <c:pt idx="6">
                  <c:v>32.25</c:v>
                </c:pt>
                <c:pt idx="7">
                  <c:v>20.56</c:v>
                </c:pt>
                <c:pt idx="8">
                  <c:v>9</c:v>
                </c:pt>
                <c:pt idx="9">
                  <c:v>17.56</c:v>
                </c:pt>
                <c:pt idx="10">
                  <c:v>26.25</c:v>
                </c:pt>
                <c:pt idx="11">
                  <c:v>15.06</c:v>
                </c:pt>
                <c:pt idx="12">
                  <c:v>4</c:v>
                </c:pt>
                <c:pt idx="13">
                  <c:v>13.06</c:v>
                </c:pt>
                <c:pt idx="14">
                  <c:v>22.25</c:v>
                </c:pt>
                <c:pt idx="15">
                  <c:v>11.56</c:v>
                </c:pt>
                <c:pt idx="16">
                  <c:v>1</c:v>
                </c:pt>
                <c:pt idx="17">
                  <c:v>10.56</c:v>
                </c:pt>
                <c:pt idx="18">
                  <c:v>20.25</c:v>
                </c:pt>
                <c:pt idx="19">
                  <c:v>10.06</c:v>
                </c:pt>
                <c:pt idx="20">
                  <c:v>0</c:v>
                </c:pt>
                <c:pt idx="21">
                  <c:v>10.06</c:v>
                </c:pt>
                <c:pt idx="22">
                  <c:v>20.25</c:v>
                </c:pt>
                <c:pt idx="23">
                  <c:v>10.56</c:v>
                </c:pt>
                <c:pt idx="24">
                  <c:v>1</c:v>
                </c:pt>
                <c:pt idx="25">
                  <c:v>11.56</c:v>
                </c:pt>
                <c:pt idx="26">
                  <c:v>22.25</c:v>
                </c:pt>
                <c:pt idx="27">
                  <c:v>13.06</c:v>
                </c:pt>
                <c:pt idx="28">
                  <c:v>4</c:v>
                </c:pt>
                <c:pt idx="29">
                  <c:v>15.06</c:v>
                </c:pt>
                <c:pt idx="30">
                  <c:v>26.25</c:v>
                </c:pt>
                <c:pt idx="31">
                  <c:v>17.56</c:v>
                </c:pt>
                <c:pt idx="32">
                  <c:v>9</c:v>
                </c:pt>
                <c:pt idx="33">
                  <c:v>20.56</c:v>
                </c:pt>
                <c:pt idx="34">
                  <c:v>32.25</c:v>
                </c:pt>
                <c:pt idx="35">
                  <c:v>24.06</c:v>
                </c:pt>
                <c:pt idx="36">
                  <c:v>16</c:v>
                </c:pt>
                <c:pt idx="37">
                  <c:v>28.06</c:v>
                </c:pt>
                <c:pt idx="38">
                  <c:v>40.25</c:v>
                </c:pt>
                <c:pt idx="39">
                  <c:v>32.56</c:v>
                </c:pt>
                <c:pt idx="40">
                  <c:v>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Melhor valor de f por iteração (semente 7)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melhor f (gbest)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9.063</c:v>
                </c:pt>
                <c:pt idx="1">
                  <c:v>1.42</c:v>
                </c:pt>
                <c:pt idx="2">
                  <c:v>1.42</c:v>
                </c:pt>
                <c:pt idx="3">
                  <c:v>0.079</c:v>
                </c:pt>
                <c:pt idx="4">
                  <c:v>0.079</c:v>
                </c:pt>
                <c:pt idx="5">
                  <c:v>0.044</c:v>
                </c:pt>
                <c:pt idx="6">
                  <c:v>0.036</c:v>
                </c:pt>
                <c:pt idx="7">
                  <c:v>0.001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image" Target="../media/image-5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Heurísticas evolutivas e inteligência de enxame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genéticos e PSO: otimizar imitando a natureza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94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383280" y="539496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83280" y="53949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937760" y="539496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53949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Caixeiro viajante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406640" y="5394960"/>
            <a:ext cx="10972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06640" y="53949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686800" y="539496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0" y="53949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Colônia de formigas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PASSADA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(aula 02)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A*, BFS e DFS exploram o espaço de estados. Funcionam bem quando ele cabe na memória.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538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(aula 06)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escrito por especialistas, com raciocínio explicável.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6170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quando nada disso serve?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gigantesco, sem regras claras, mas dá para medir o quanto uma solução é boa.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578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7548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Hoje: otimização por tentativa guiada. Populações de soluções que evoluem, e enxames que cooperam.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Otimização e heurísticas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testar todas as soluções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genético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Seleção, crossover e mutação, do zero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problemas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OneMax, mochila e caixeiro viajante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Parâmetros e armadilhas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e convergência prematura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Enxame de partículas (PSO)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Partículas que cooperam para achar o mínimo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Colônia de formigas e escolha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cada técnica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Otimizar é escolher a melhor entre muitas soluções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74320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podemos escolher: quais itens levar, em que ordem visitar as cidades, os parâmetros de um modelo.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objetivo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74320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o quão boa é uma solução: valor total, distância percorrida, erro. Maximizamos ou minimizamos.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Restrições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74320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que a solução deve respeitar: peso máximo, orçamento, prazo.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fizemos isso: na aula 03 minimizamos o custo da regressão com o gradiente. Hoje a função pode não ter derivada, ou ter muitos vales.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testar todas as soluções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944368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Mochila: 2ⁿ combinações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242048" y="178308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Caixeiro viajante: n! rotas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13432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1 024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242048" y="2313432"/>
            <a:ext cx="4233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3 628 800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304495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304495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944368" y="3044952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1 048 576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242048" y="3044952"/>
            <a:ext cx="4233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2,4 × 10¹⁸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377647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77647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944368" y="3776472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1 073 741 824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242048" y="3776472"/>
            <a:ext cx="4233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2,7 × 10³²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0080" y="4617720"/>
            <a:ext cx="10911535" cy="1508760"/>
          </a:xfrm>
          <a:prstGeom prst="roundRect">
            <a:avLst>
              <a:gd name="adj" fmla="val 727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4400" y="50292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16636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737360" y="4617720"/>
            <a:ext cx="9509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 = 30 na mochila, a força bruta ainda cabe em um computador. No caixeiro viajante, 30! é impraticável mesmo para o computador mais rápido. Precisamos de atalhos que encontrem boas soluções sem ver todas.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Heurísticas e metaheurísticas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291840"/>
          </a:xfrm>
          <a:prstGeom prst="roundRect">
            <a:avLst>
              <a:gd name="adj" fmla="val 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3035808" cy="640080"/>
          </a:xfrm>
          <a:prstGeom prst="roundRect">
            <a:avLst>
              <a:gd name="adj" fmla="val 1428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6596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Exato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7889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o melhor resultado. Lento ou inviável em problemas grandes.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114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Força bruta, programação inteira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7972" y="1783080"/>
            <a:ext cx="3493008" cy="3291840"/>
          </a:xfrm>
          <a:prstGeom prst="roundRect">
            <a:avLst>
              <a:gd name="adj" fmla="val 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6572" y="1965960"/>
            <a:ext cx="3035808" cy="640080"/>
          </a:xfrm>
          <a:prstGeom prst="roundRect">
            <a:avLst>
              <a:gd name="adj" fmla="val 14286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6572" y="196596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Heurística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576572" y="27889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 que acha boa solução rápido, mas sem garantia.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6572" y="4114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Vizinho mais próximo no caixeiro viajante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55864" y="1783080"/>
            <a:ext cx="3493008" cy="3291840"/>
          </a:xfrm>
          <a:prstGeom prst="roundRect">
            <a:avLst>
              <a:gd name="adj" fmla="val 3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1965960"/>
            <a:ext cx="3035808" cy="640080"/>
          </a:xfrm>
          <a:prstGeom prst="roundRect">
            <a:avLst>
              <a:gd name="adj" fmla="val 14286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4464" y="196596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Metaheurística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8284464" y="27889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geral de busca que serve a muitos problemas, guiada por aleatoriedade.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84464" y="4114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Algoritmo genético, PSO, colônia de formigas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5303520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53035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Trocamos garantia de ótimo por boas soluções em tempo razoável. Em muitos negócios, “bom e rápido” vale mais que “perfeito e tarde”.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INSPIRAÇÃO NA NATUREZA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famílias inspiradas na natureza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200400"/>
          </a:xfrm>
          <a:prstGeom prst="roundRect">
            <a:avLst>
              <a:gd name="adj" fmla="val 3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1259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Populações que se reproduzem, com seleção do mais apto e mutações. Algoritmo genético (John Holland, anos 1960-70).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3200400"/>
          </a:xfrm>
          <a:prstGeom prst="roundRect">
            <a:avLst>
              <a:gd name="adj" fmla="val 3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640080" cy="64008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1259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99532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Enxames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8346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Indivíduos simples que trocam informação e se movem juntos. PSO (Kennedy e Eberhart, 1995).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3200400"/>
          </a:xfrm>
          <a:prstGeom prst="roundRect">
            <a:avLst>
              <a:gd name="adj" fmla="val 3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640080" cy="64008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484" y="212598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07424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Colônias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8346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Formigas que deixam trilhas de feromônio e reforçam os melhores caminhos. ACO (Marco Dorigo, anos 1990).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5212080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comum: muitos agentes simples, regras locais e aleatoriedade produzem uma busca eficaz, sem ninguém “saber” a resposta.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evolução natural ao algoritmo genético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natureza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041648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algoritmo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973568" y="178308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Indivíduo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041648" y="231343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candidata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73568" y="2313432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seleção de itens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880360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8803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041648" y="288036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variável da solução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973568" y="2880360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o item 3 (0 ou 1)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447288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44728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Aptidão (fitness)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041648" y="344728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da função objetivo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973568" y="344728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dos itens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014216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01421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natural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041648" y="401421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mais aptos viram pais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973568" y="4014216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Torneio entre 3 soluções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581144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5811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Reprodução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041648" y="458114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entre dois pais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973568" y="4581144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metades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0080" y="5148072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514807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Mutação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041648" y="514807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aleatória de genes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973568" y="5148072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um bit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genético foi popularizado por John Holland (livro de 1975, Adaptation in Natural and Artificial Systems).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de uma geração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600200" cy="1737360"/>
          </a:xfrm>
          <a:prstGeom prst="roundRect">
            <a:avLst>
              <a:gd name="adj" fmla="val 6857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38528"/>
            <a:ext cx="384048" cy="384048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395728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inicial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898648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aleatórias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58568" y="2697480"/>
            <a:ext cx="224942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501798" y="1828800"/>
            <a:ext cx="1600200" cy="1737360"/>
          </a:xfrm>
          <a:prstGeom prst="roundRect">
            <a:avLst>
              <a:gd name="adj" fmla="val 6857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38958" y="1938528"/>
            <a:ext cx="384048" cy="384048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3895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611526" y="2395728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611526" y="2898648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 aptidão de cada uma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20286" y="2697480"/>
            <a:ext cx="224942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363517" y="1828800"/>
            <a:ext cx="1600200" cy="1737360"/>
          </a:xfrm>
          <a:prstGeom prst="roundRect">
            <a:avLst>
              <a:gd name="adj" fmla="val 6857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00677" y="1938528"/>
            <a:ext cx="384048" cy="384048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00677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473245" y="2395728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Selecionar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473245" y="2898648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os pais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82005" y="2697480"/>
            <a:ext cx="224942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225235" y="1828800"/>
            <a:ext cx="1600200" cy="1737360"/>
          </a:xfrm>
          <a:prstGeom prst="roundRect">
            <a:avLst>
              <a:gd name="adj" fmla="val 6857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62395" y="1938528"/>
            <a:ext cx="384048" cy="384048"/>
          </a:xfrm>
          <a:prstGeom prst="ellipse">
            <a:avLst/>
          </a:prstGeom>
          <a:solidFill>
            <a:srgbClr val="0B1A12"/>
          </a:solidFill>
          <a:ln w="12700">
            <a:solidFill>
              <a:srgbClr val="0B1A1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62395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334963" y="2395728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Crossover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334963" y="2898648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Misturar dois pais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843723" y="2697480"/>
            <a:ext cx="224942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086954" y="1828800"/>
            <a:ext cx="1600200" cy="1737360"/>
          </a:xfrm>
          <a:prstGeom prst="roundRect">
            <a:avLst>
              <a:gd name="adj" fmla="val 6857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24114" y="1938528"/>
            <a:ext cx="384048" cy="384048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4114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196682" y="2395728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Mutação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196682" y="2898648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genes ao acaso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705442" y="2697480"/>
            <a:ext cx="224942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948672" y="1828800"/>
            <a:ext cx="1600200" cy="1737360"/>
          </a:xfrm>
          <a:prstGeom prst="roundRect">
            <a:avLst>
              <a:gd name="adj" fmla="val 6857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085832" y="1938528"/>
            <a:ext cx="384048" cy="384048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085832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0058400" y="2395728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geração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10058400" y="2898648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a anterior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10748772" y="3566160"/>
            <a:ext cx="0" cy="411480"/>
          </a:xfrm>
          <a:prstGeom prst="line">
            <a:avLst/>
          </a:prstGeom>
          <a:noFill/>
          <a:ln w="31750">
            <a:solidFill>
              <a:srgbClr val="0B8A5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301898" y="3977640"/>
            <a:ext cx="7446874" cy="0"/>
          </a:xfrm>
          <a:prstGeom prst="line">
            <a:avLst/>
          </a:prstGeom>
          <a:noFill/>
          <a:ln w="31750">
            <a:solidFill>
              <a:srgbClr val="0B8A5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301898" y="3602736"/>
            <a:ext cx="0" cy="374904"/>
          </a:xfrm>
          <a:prstGeom prst="line">
            <a:avLst/>
          </a:prstGeom>
          <a:noFill/>
          <a:ln w="31750">
            <a:solidFill>
              <a:srgbClr val="0B8A5B"/>
            </a:solidFill>
            <a:prstDash val="solid"/>
            <a:headEnd type="triangle"/>
          </a:ln>
        </p:spPr>
      </p:sp>
      <p:sp>
        <p:nvSpPr>
          <p:cNvPr id="44" name="Text 41"/>
          <p:cNvSpPr txBox="1"/>
          <p:nvPr/>
        </p:nvSpPr>
        <p:spPr>
          <a:xfrm>
            <a:off x="338328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até o critério de parada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640080" y="4572000"/>
            <a:ext cx="10911535" cy="1554480"/>
          </a:xfrm>
          <a:prstGeom prst="roundRect">
            <a:avLst>
              <a:gd name="adj" fmla="val 705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4400" y="45720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parada comuns: número máximo de gerações, aptidão suficiente, ou a melhor solução parar de melhorar. A cada geração, a população tende a ficar um pouco melhor.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vocabulário do algoritmo genético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146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variável da solução. Em bits: 0 ou 1.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47972" y="178308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6572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Cromossomo (indivíduo)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576572" y="25146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inteira: lista de genes.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55864" y="178308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84464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284464" y="25146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conjunto de indivíduos de uma geração.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388620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Aptidão (fitness)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617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do indivíduo na função objetivo.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347972" y="388620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6572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Geração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576572" y="4617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rodada completa do ciclo.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055864" y="388620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38744" y="4114800"/>
            <a:ext cx="448056" cy="448056"/>
          </a:xfrm>
          <a:prstGeom prst="roundRect">
            <a:avLst>
              <a:gd name="adj" fmla="val 1224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38744" y="411480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741664" y="4114800"/>
            <a:ext cx="448056" cy="448056"/>
          </a:xfrm>
          <a:prstGeom prst="roundRect">
            <a:avLst>
              <a:gd name="adj" fmla="val 122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41664" y="411480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44584" y="4114800"/>
            <a:ext cx="448056" cy="448056"/>
          </a:xfrm>
          <a:prstGeom prst="roundRect">
            <a:avLst>
              <a:gd name="adj" fmla="val 1224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44584" y="411480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747504" y="4114800"/>
            <a:ext cx="448056" cy="448056"/>
          </a:xfrm>
          <a:prstGeom prst="roundRect">
            <a:avLst>
              <a:gd name="adj" fmla="val 1224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47504" y="411480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250424" y="4114800"/>
            <a:ext cx="448056" cy="448056"/>
          </a:xfrm>
          <a:prstGeom prst="roundRect">
            <a:avLst>
              <a:gd name="adj" fmla="val 122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250424" y="411480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753344" y="4114800"/>
            <a:ext cx="448056" cy="448056"/>
          </a:xfrm>
          <a:prstGeom prst="roundRect">
            <a:avLst>
              <a:gd name="adj" fmla="val 1224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753344" y="411480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238744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cromossomo de 6 genes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238744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aptidão = soma dos bits = 4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· ONEMAX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mais simples: OneMax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Achar a sequência de 30 bits com a maior quantidade de “1”. A resposta é óbvia (todos 1), por isso serve para ver o algoritmo funcionando.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Indivíduo 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377440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77440" y="3291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26080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26080" y="3291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74720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4720" y="3291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023360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23360" y="3291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72000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3291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120640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20640" y="3291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669280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69280" y="3291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17920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17920" y="3291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766560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66560" y="3291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315200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0" y="3291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0" y="329184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aptidão = 6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Indivíduo B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377440" y="39776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377440" y="3977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2926080" y="39776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926080" y="3977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474720" y="39776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474720" y="3977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023360" y="39776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023360" y="3977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572000" y="39776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572000" y="3977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5120640" y="39776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120640" y="3977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669280" y="39776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0" y="3977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217920" y="39776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217920" y="3977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766560" y="39776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766560" y="3977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315200" y="39776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315200" y="3977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8412480" y="397764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aptidão = 8, mais apto</a:t>
            </a:r>
            <a:endParaRPr lang="en-US" sz="1600" dirty="0"/>
          </a:p>
        </p:txBody>
      </p:sp>
      <p:sp>
        <p:nvSpPr>
          <p:cNvPr id="52" name="Text 49"/>
          <p:cNvSpPr txBox="1"/>
          <p:nvPr/>
        </p:nvSpPr>
        <p:spPr>
          <a:xfrm>
            <a:off x="64008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(mostramos 10 genes por espaço; no código serão 30)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640080" y="5074920"/>
            <a:ext cx="10911535" cy="1051560"/>
          </a:xfrm>
          <a:prstGeom prst="roundRect">
            <a:avLst>
              <a:gd name="adj" fmla="val 1043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4400" y="507492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sem saber a resposta, o algoritmo genético a descobre: ele só precisa comparar aptidões. Existem 2³⁰ ≈ 1 bilhão de combinações; ele achará o ótimo olhando algumas centenas.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 em Python (1/6): parâmetros, aptidão e população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931920"/>
          </a:xfrm>
          <a:prstGeom prst="roundRect">
            <a:avLst>
              <a:gd name="adj" fmla="val 279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ga_onemax.py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genes por individuo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TAM_POP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GERACOES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P_MUT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fitness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953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criar_individuo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5219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TAM_POP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cromossomo e da população.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55280" y="29535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2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286207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P_MUT = 1 / N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3227832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média, 1 gene muda por filho.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955280" y="403250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552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3941064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fitness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595360" y="4306824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os bits 1 mede a aptidão.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955280" y="5111496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95528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595360" y="5020056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criar_individuo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595360" y="5385816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0 ou 1 em cada posição.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Seleção: os mais aptos têm mais chance de reproduzir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Roleta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5146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proporcional à aptidão, como uma roleta com fatias de tamanhos diferentes. Em Python: random.choices(pop, weights=aptidoes).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0233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se uma solução é muito melhor, ela domina cedo.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73952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Torneio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73952" y="25146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k indivíduos e o melhor entre eles vence. Simples e controlável: k maior = mais pressão de seleção.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73952" y="40233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usaremos, com k = 3.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Ponto-chave: selecionar não elimina os piores por completo. Eles ainda podem reproduzir, o que preserva diversidade.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 em Python (2/6): o torneio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1264920"/>
          </a:xfrm>
          <a:prstGeom prst="roundRect">
            <a:avLst>
              <a:gd name="adj" fmla="val 867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ga_onemax.py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fitness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random.sample(pop, k)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k indivíduos distintos.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955280" y="29718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28803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max(..., key=fitness)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324612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com o de maior aptidão.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3291840"/>
            <a:ext cx="6949440" cy="2834640"/>
          </a:xfrm>
          <a:prstGeom prst="roundRect">
            <a:avLst>
              <a:gd name="adj" fmla="val 38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3383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com k = 3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3840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Sorteados: aptidões 14, 19 e 17. O vencedor é o de 19 e vira pai.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434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Chamamos torneio duas vezes para ter dois pais. O mesmo indivíduo pode ser sorteado nas duas: é aceitável.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2578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k = 1 a seleção seria aleatória pura; com k igual ao tamanho da população, só o melhor reproduziria.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Crossover: filhos herdam trechos dos pais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8600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2608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2608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6616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0624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0624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4632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2648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2648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76656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6656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2606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286000" y="260604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286000" y="2606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926080" y="260604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926080" y="2606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566160" y="260604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566160" y="2606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206240" y="260604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206240" y="2606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846320" y="260604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846320" y="2606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486400" y="260604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486400" y="2606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126480" y="260604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126480" y="2606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766560" y="260604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766560" y="2606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178808" y="1691640"/>
            <a:ext cx="0" cy="164592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38328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corte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846320" y="3611880"/>
            <a:ext cx="0" cy="41148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640080" y="4069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Filho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2286000" y="406908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286000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2926080" y="406908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926080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3566160" y="406908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3566160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4206240" y="406908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206240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4846320" y="406908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846320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486400" y="406908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486400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126480" y="406908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126480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766560" y="406908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766560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138160" y="1965960"/>
            <a:ext cx="228600" cy="228600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45820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veio do pai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8138160" y="2423160"/>
            <a:ext cx="228600" cy="2286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45820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veio da mãe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de um ponto: sorteia um corte; o filho recebe o início de um pai e o final do outro. Combina o que cada pai tem de bom, com chance de gerar algo melhor que ambos.</a:t>
            </a:r>
            <a:endParaRPr lang="en-US" sz="1500" dirty="0"/>
          </a:p>
        </p:txBody>
      </p:sp>
      <p:sp>
        <p:nvSpPr>
          <p:cNvPr id="66" name="Text 6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 em Python (3/6): o crossover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ga_onemax.py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crossover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randint(1, N - 1)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entre 1 e N−1: os dois pais contribuem.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955280" y="30632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552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297180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pai[:corte]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333756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pai (até o corte).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955280" y="4251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552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41605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mae[corte:]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45262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 mãe (do corte em diante).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3611880"/>
            <a:ext cx="6949440" cy="2514600"/>
          </a:xfrm>
          <a:prstGeom prst="roundRect">
            <a:avLst>
              <a:gd name="adj" fmla="val 436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367588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os pais do slide anterior e corte = 3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pai[:3]  = [1, 1, 0]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" y="4480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mae[3:]  = [0, 1, 1, 0, 0]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14400" y="4846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filho    = [1, 1, 0, 0, 1, 1, 0, 0]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" y="5303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Variações: dois pontos de corte, ou crossover uniforme (cada gene vem de um pai sorteado).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Mutação: a fonte de novidade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8600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2608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2608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6616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0624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0624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4632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2648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2648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76656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6656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138928" y="2468880"/>
            <a:ext cx="0" cy="45720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640080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286000" y="2971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286000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2926080" y="2971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926080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566160" y="2971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566160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206240" y="2971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206240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846320" y="2971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46320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0" y="2971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86400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126480" y="2971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126480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766560" y="2971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66560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411480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gene 5 foi invertido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0080" y="3977640"/>
            <a:ext cx="3493008" cy="2148840"/>
          </a:xfrm>
          <a:prstGeom prst="roundRect">
            <a:avLst>
              <a:gd name="adj" fmla="val 510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4229100"/>
            <a:ext cx="228600" cy="228600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146304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 genes novos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868680" y="47091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crossover só recombina o que já existe. A mutação injeta variações que nenhum pai tinha.</a:t>
            </a:r>
            <a:endParaRPr lang="en-US" sz="1300" dirty="0"/>
          </a:p>
        </p:txBody>
      </p:sp>
      <p:sp>
        <p:nvSpPr>
          <p:cNvPr id="47" name="Shape 43"/>
          <p:cNvSpPr/>
          <p:nvPr/>
        </p:nvSpPr>
        <p:spPr>
          <a:xfrm>
            <a:off x="4347972" y="3977640"/>
            <a:ext cx="3493008" cy="2148840"/>
          </a:xfrm>
          <a:prstGeom prst="roundRect">
            <a:avLst>
              <a:gd name="adj" fmla="val 510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576572" y="41148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4229100"/>
            <a:ext cx="228600" cy="228600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5170932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 estagnar</a:t>
            </a:r>
            <a:endParaRPr lang="en-US" sz="1500" dirty="0"/>
          </a:p>
        </p:txBody>
      </p:sp>
      <p:sp>
        <p:nvSpPr>
          <p:cNvPr id="51" name="Text 46"/>
          <p:cNvSpPr txBox="1"/>
          <p:nvPr/>
        </p:nvSpPr>
        <p:spPr>
          <a:xfrm>
            <a:off x="4576572" y="47091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mutação, se todos têm o mesmo gene, ele nunca mudará mais.</a:t>
            </a:r>
            <a:endParaRPr lang="en-US" sz="1300" dirty="0"/>
          </a:p>
        </p:txBody>
      </p:sp>
      <p:sp>
        <p:nvSpPr>
          <p:cNvPr id="52" name="Shape 47"/>
          <p:cNvSpPr/>
          <p:nvPr/>
        </p:nvSpPr>
        <p:spPr>
          <a:xfrm>
            <a:off x="8055864" y="3977640"/>
            <a:ext cx="3493008" cy="2148840"/>
          </a:xfrm>
          <a:prstGeom prst="roundRect">
            <a:avLst>
              <a:gd name="adj" fmla="val 510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284464" y="41148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764" y="4229100"/>
            <a:ext cx="228600" cy="228600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8878824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pequena</a:t>
            </a:r>
            <a:endParaRPr lang="en-US" sz="1500" dirty="0"/>
          </a:p>
        </p:txBody>
      </p:sp>
      <p:sp>
        <p:nvSpPr>
          <p:cNvPr id="56" name="Text 50"/>
          <p:cNvSpPr txBox="1"/>
          <p:nvPr/>
        </p:nvSpPr>
        <p:spPr>
          <a:xfrm>
            <a:off x="8284464" y="47091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 mutação vira busca aleatória. Costuma-se usar cerca de 1/N por gene.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58" name="Text 5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 em Python (4/6): a mutação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ga_onemax.py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P_MUT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random.random() &lt; P_MUT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se este gene muda (probabilidade P_MUT).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955280" y="30632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552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297180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 g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333756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 o bit: 0 vira 1 e 1 vira 0.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955280" y="4251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552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41605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g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45262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sorteado, o gene fica igual.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3611880"/>
            <a:ext cx="6949440" cy="2514600"/>
          </a:xfrm>
          <a:prstGeom prst="roundRect">
            <a:avLst>
              <a:gd name="adj" fmla="val 436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367588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Probabilidade por gene, não por indivíduo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" y="41148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N = 30 e P_MUT = 1/30, cada filho tem em média 1 gene mutado: às vezes nenhum, às vezes dois ou mais. Essa pequena “agitação” mantém a população explorando.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" y="5257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problemas não binários, a mutação troca o valor por outro sorteado (ou faz uma troca de posição, como veremos no caixeiro viajante).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 em Python (5/6): o laço, monitorando o progresso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896112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ga_onemax.py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8412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evoluir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8412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criar_individuo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TAM_POP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8412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GERACOES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8412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fitness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8412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8412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fitness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8412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"ger {ger:2}: melhor={fitness(melhor)} media={media:.1f}"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8412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fitness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8412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"otimo na geracao {ger}"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8412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394960"/>
            <a:ext cx="3493008" cy="777240"/>
          </a:xfrm>
          <a:prstGeom prst="roundRect">
            <a:avLst>
              <a:gd name="adj" fmla="val 141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5394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inicial aleatória.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347972" y="5394960"/>
            <a:ext cx="3493008" cy="777240"/>
          </a:xfrm>
          <a:prstGeom prst="roundRect">
            <a:avLst>
              <a:gd name="adj" fmla="val 141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6572" y="5394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melhor da geração atual.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55864" y="5394960"/>
            <a:ext cx="3493008" cy="777240"/>
          </a:xfrm>
          <a:prstGeom prst="roundRect">
            <a:avLst>
              <a:gd name="adj" fmla="val 141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4464" y="5394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parada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aptidão é N, achamos o ótimo.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 em Python (6/6): a nova geração e o elitismo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ga_onemax.py (final do arquivo)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TAM_POP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filho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crossover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filho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evoluir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 = [melhor]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Elitismo: o melhor passa direto, sem alteração.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552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3154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len(nova) &lt; TAM_POP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35204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filhos até completar a população.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95528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552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45262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random.seed(42)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595360" y="48920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 o sorteio: o resultado se repete.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0080" y="5349240"/>
            <a:ext cx="6949440" cy="822960"/>
          </a:xfrm>
          <a:prstGeom prst="roundRect">
            <a:avLst>
              <a:gd name="adj" fmla="val 13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5349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Elitismo garante que a aptidão do melhor nunca piora de uma geração para a seguinte. Sem ele, um bom indivíduo pode ser perdido.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Executando: a população evolui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4846320" cy="2465070"/>
          </a:xfrm>
          <a:prstGeom prst="roundRect">
            <a:avLst>
              <a:gd name="adj" fmla="val 445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ga_onemax.py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  0: melhor=19 media=14.7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  5: melhor=24 media=21.8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 10: melhor=28 media=25.6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 15: melhor=29 media=27.0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2425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otimo na geracao 18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7190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1, 1, 1, 1, ..., 1]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0" y="1783080"/>
            <a:ext cx="5879592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19" name="Chart 0" descr=""/>
          <p:cNvGraphicFramePr/>
          <p:nvPr/>
        </p:nvGraphicFramePr>
        <p:xfrm>
          <a:off x="5760720" y="1874520"/>
          <a:ext cx="569671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Shape 16"/>
          <p:cNvSpPr/>
          <p:nvPr/>
        </p:nvSpPr>
        <p:spPr>
          <a:xfrm>
            <a:off x="640080" y="4526280"/>
            <a:ext cx="4846320" cy="1600200"/>
          </a:xfrm>
          <a:prstGeom prst="roundRect">
            <a:avLst>
              <a:gd name="adj" fmla="val 685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68680" y="4526280"/>
            <a:ext cx="4389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18 gerações a população saiu de uma média de 14,7 (como se jogasse moedas) até o ótimo de 30. Foram cerca de 360 avaliações, entre 1 bilhão de possibilidades.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parâmetros importam: um experimento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373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Aptidão final média em 30 execuções (OneMax, N = 30, 40 gerações; o máximo é 30)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mutação (pop = 20)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315968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724912"/>
            <a:ext cx="4937760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72491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(sem mutação)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315968" y="27249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200400"/>
            <a:ext cx="4937760" cy="420624"/>
          </a:xfrm>
          <a:prstGeom prst="roundRect">
            <a:avLst>
              <a:gd name="adj" fmla="val 1739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32004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1/30 ≈ 0,033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315968" y="32004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675888"/>
            <a:ext cx="4937760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67588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315968" y="36758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26.3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4151376"/>
            <a:ext cx="4937760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415137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315968" y="415137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23.6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09360" y="2194560"/>
            <a:ext cx="438912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9088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da população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436608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309360" y="2724912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19088" y="272491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436608" y="27249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28.4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309360" y="3200400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19088" y="320040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9436608" y="32004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30.0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309360" y="3675888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19088" y="36758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436608" y="36758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30.0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309360" y="4160520"/>
            <a:ext cx="5239512" cy="1965960"/>
          </a:xfrm>
          <a:prstGeom prst="roundRect">
            <a:avLst>
              <a:gd name="adj" fmla="val 558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537960" y="416052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Elitismo neste problema fez pouca diferença (29,9 sem, 30,0 com). Em problemas mais difíceis, protege o melhor achado.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40080" y="489204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68680" y="48920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Mutação zero trava a evolução; mutação demais vira ruído. Pouca população explora pouco. Os valores certos dependem do problema: teste vários.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Diversidade e convergência prematura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291840"/>
          </a:xfrm>
          <a:prstGeom prst="roundRect">
            <a:avLst>
              <a:gd name="adj" fmla="val 3333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risco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743200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indivíduo bom e parecido domina cedo, a população vira clones. A busca estaciona num ótimo local, perto de onde começou.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3291840"/>
          </a:xfrm>
          <a:prstGeom prst="roundRect">
            <a:avLst>
              <a:gd name="adj" fmla="val 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perceber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743200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aptidão média encosta na do melhor e as curvas ficam planas por muitas gerações, sem atingir o objetivo.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3291840"/>
          </a:xfrm>
          <a:prstGeom prst="roundRect">
            <a:avLst>
              <a:gd name="adj" fmla="val 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fazer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743200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a mutação, reduzir a pressão de seleção (k menor), ampliar a população ou reiniciar parte dela com indivíduos novos.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5303520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3035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central da área: explorar (procurar novos lugares) × explotar (refinar o que já é bom).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· MOCHILA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da mochila: o que levar na trilha?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16636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172968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44568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5166360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172968" y="23134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44568" y="23134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788920"/>
            <a:ext cx="5166360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78892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172968" y="27889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44568" y="27889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3264408"/>
            <a:ext cx="5166360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26440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172968" y="32644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44568" y="32644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3739896"/>
            <a:ext cx="5166360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73989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tenda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172968" y="373989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544568" y="373989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4215384"/>
            <a:ext cx="5166360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2153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garrafa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172968" y="421538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544568" y="421538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4690872"/>
            <a:ext cx="5166360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4690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jaqueta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172968" y="46908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544568" y="46908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400800" y="1783080"/>
            <a:ext cx="514807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510528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933688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0305288" y="17830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00800" y="2313432"/>
            <a:ext cx="5148072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10528" y="231343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fogareiro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8933688" y="23134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10305288" y="231343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00800" y="2788920"/>
            <a:ext cx="5148072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510528" y="278892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lanterna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933688" y="27889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10305288" y="278892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400800" y="3264408"/>
            <a:ext cx="5148072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510528" y="326440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saco_dormir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8933688" y="32644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10305288" y="3264408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400800" y="3739896"/>
            <a:ext cx="5148072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510528" y="373989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8933688" y="373989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10305288" y="3739896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6400800" y="4215384"/>
            <a:ext cx="5148072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510528" y="42153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kit_medico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8933688" y="421538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10305288" y="4215384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6400800" y="4690872"/>
            <a:ext cx="5148072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510528" y="46908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binoculo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8933688" y="46908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10305288" y="469087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640080" y="5349240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14400" y="53492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maximizar o valor total, com peso total até 20. Cada item entra inteiro ou não entra. Valores e pesos são inventados para a aula.</a:t>
            </a:r>
            <a:endParaRPr lang="en-US" sz="1400" dirty="0"/>
          </a:p>
        </p:txBody>
      </p:sp>
      <p:sp>
        <p:nvSpPr>
          <p:cNvPr id="64" name="Text 6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· MOCHILA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Representação: um gene por item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11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536192" y="20116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36192" y="2011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32304" y="20116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32304" y="2011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28416" y="20116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28416" y="2011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24528" y="20116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24528" y="2011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120640" y="20116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20640" y="2011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016752" y="20116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16752" y="2011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912864" y="20116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12864" y="2011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808976" y="20116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08976" y="2011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705088" y="20116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05088" y="2011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601200" y="20116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01200" y="2011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497312" y="20116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497312" y="2011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444752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2340864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236976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133088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garrafa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02920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jaqueta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925312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fogareiro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821424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lanterna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717536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saco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613648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950976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405872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binoc.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0080" y="342900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4400" y="3429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escolhidos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3566160" y="34290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notebook, camera, fogareiro, lanterna, mapa, kit_medico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640080" y="411480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4400" y="4114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3566160" y="4114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+ 18 + 15 + 8 + 5 + 14 = 90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640080" y="480060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14400" y="4800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total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3566160" y="4800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+ 4 + 3 + 2 + 1 + 3 = 20 (cabe, no limite)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640080" y="5623560"/>
            <a:ext cx="10911535" cy="548640"/>
          </a:xfrm>
          <a:prstGeom prst="roundRect">
            <a:avLst>
              <a:gd name="adj" fmla="val 2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é a melhor combinação possível (conferida por força bruta no próximo slide).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Mochila em Python (1/3): dados e aptidão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68096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mochila.py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132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"notebook"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"camera"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"livro"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7132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"tenda"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"garrafa"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"jaqueta"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7132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"fogareiro"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"lanterna"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7132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"saco_dormir"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"mapa"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7132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"kit_medico"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"binoculo"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7132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7132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7132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7132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7132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CAPACIDADE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50392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039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0" y="17830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(nome, valor, peso)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0" y="21488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é uma tupla.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50392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039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0" y="31546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* it[1]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0" y="35204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o valor só dos itens com gene 1.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50392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5039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0" y="45262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0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0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acima do limite: solução inválida vale zero.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tratar restrições: três estratégias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383280"/>
          </a:xfrm>
          <a:prstGeom prst="roundRect">
            <a:avLst>
              <a:gd name="adj" fmla="val 324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874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Penalização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146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inválidas recebem aptidão ruim (como o 0 que usamos) ou perdem pontos proporcionais à violação.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60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Simples; o algoritmo aprende a evitar.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7972" y="1783080"/>
            <a:ext cx="3493008" cy="3383280"/>
          </a:xfrm>
          <a:prstGeom prst="roundRect">
            <a:avLst>
              <a:gd name="adj" fmla="val 32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6572" y="1874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Reparo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576572" y="25146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a solução inválida, por exemplo removendo itens até caber.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6572" y="4160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trabalho, mas só gera soluções válidas.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55864" y="1783080"/>
            <a:ext cx="3493008" cy="3383280"/>
          </a:xfrm>
          <a:prstGeom prst="roundRect">
            <a:avLst>
              <a:gd name="adj" fmla="val 32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84464" y="1874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Descarte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284464" y="25146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outro indivíduo até obter um válido.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84464" y="4160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Fácil, mas pode ser lento se as válidas são raras.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5394960"/>
            <a:ext cx="10911535" cy="731520"/>
          </a:xfrm>
          <a:prstGeom prst="roundRect">
            <a:avLst>
              <a:gd name="adj" fmla="val 15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53949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penalização porque é a mais curta de escrever. Com penalização “zero”, o GA já parte de indivíduos válidos e inválidos misturados.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Mochila em Python (2/3): a referência por força bruta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mochila.py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forca_bruta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product([0, 1], repeat=12)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4 096 combinações.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955280" y="29718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28803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max(..., key=avaliar)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324612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com a de maior valor.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4114800"/>
            <a:ext cx="10911535" cy="2011680"/>
          </a:xfrm>
          <a:prstGeom prst="roundRect">
            <a:avLst>
              <a:gd name="adj" fmla="val 545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41879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ter uma referência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466344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12 itens, a força bruta é rápida e dá a resposta exata. Ela serve de gabarito para medir o algoritmo genético. Em problemas grandes não haverá gabarito: a confiança vem de rodar várias vezes e comparar com heurísticas simples.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Mochila em Python (3/3): o algoritmo genético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8229600" cy="4446270"/>
          </a:xfrm>
          <a:prstGeom prst="roundRect">
            <a:avLst>
              <a:gd name="adj" fmla="val 2468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mochila.py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geracoes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p_mut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geracoes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2425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7190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01955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26720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51485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76250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filho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01015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filho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p_mut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filho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25780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filho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50545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753100"/>
            <a:ext cx="76809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052560" y="1783080"/>
            <a:ext cx="2496312" cy="4343400"/>
          </a:xfrm>
          <a:prstGeom prst="roundRect">
            <a:avLst>
              <a:gd name="adj" fmla="val 439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28116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14884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0012680" y="201168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Mesma receita</a:t>
            </a:r>
            <a:endParaRPr lang="en-US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9281160" y="2697480"/>
            <a:ext cx="20391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Torneio, crossover de um ponto, mutação por gene e elitismo, como no OneMax. Só mudou a função de aptidão: troque-a e o GA resolve outro problema.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o GA acha o ótimo, quase sempre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223760" cy="1722120"/>
          </a:xfrm>
          <a:prstGeom prst="roundRect">
            <a:avLst>
              <a:gd name="adj" fmla="val 637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675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mochila.py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6675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forca bruta: 90 (1, 1, 0, 0, 0, 0, 1, 1, 0, 1, 1, 0)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6675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        : 90 [1, 1, 0, 0, 0, 0, 1, 1, 0, 1, 1, 0]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6675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 achou o otimo em 19 de 20 execucoes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46720" y="1783080"/>
            <a:ext cx="1691640" cy="1920240"/>
          </a:xfrm>
          <a:prstGeom prst="roundRect">
            <a:avLst>
              <a:gd name="adj" fmla="val 64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0" y="1892808"/>
            <a:ext cx="169164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19/20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2935224"/>
            <a:ext cx="14173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execuções ótimas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857232" y="1783080"/>
            <a:ext cx="1691640" cy="1920240"/>
          </a:xfrm>
          <a:prstGeom prst="roundRect">
            <a:avLst>
              <a:gd name="adj" fmla="val 648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857232" y="1892808"/>
            <a:ext cx="169164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9994392" y="2935224"/>
            <a:ext cx="14173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máximo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3794760"/>
            <a:ext cx="10911535" cy="2331720"/>
          </a:xfrm>
          <a:prstGeom prst="roundRect">
            <a:avLst>
              <a:gd name="adj" fmla="val 470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3886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Atenção à comparação justa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343400"/>
            <a:ext cx="10362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12 itens, a força bruta avalia 4 096 combinações e o GA cerca de 1 800: não há ganho. A vantagem aparece com dezenas de itens (2⁴⁰ ≈ 10¹²), onde só o GA é viável. E “19 de 20” mostra que ele não garante o ótimo.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· CAIXEIRO VIAJANTE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Caixeiro viajante: a rota mais curta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12648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1097280" y="4023360"/>
            <a:ext cx="548640" cy="137160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1645920" y="2651760"/>
            <a:ext cx="548640" cy="137160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2194560" y="2194560"/>
            <a:ext cx="1097280" cy="45720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2194560"/>
            <a:ext cx="1097280" cy="45720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2651760"/>
            <a:ext cx="1645920" cy="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5486400" y="2651760"/>
            <a:ext cx="548640" cy="137160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4937760" y="4023360"/>
            <a:ext cx="548640" cy="137160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0480" y="4480560"/>
            <a:ext cx="1097280" cy="91440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2743200" y="4480560"/>
            <a:ext cx="1097280" cy="45720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1097280" y="4937760"/>
            <a:ext cx="1645920" cy="45720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" y="5239512"/>
            <a:ext cx="310896" cy="310896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1832" y="5239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039112" y="2496312"/>
            <a:ext cx="310896" cy="310896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039112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85032" y="4325112"/>
            <a:ext cx="310896" cy="310896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85032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233672" y="2496312"/>
            <a:ext cx="310896" cy="310896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233672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330952" y="3867912"/>
            <a:ext cx="310896" cy="310896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30952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490472" y="3867912"/>
            <a:ext cx="310896" cy="310896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490472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136392" y="2039112"/>
            <a:ext cx="310896" cy="310896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136392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782312" y="5239512"/>
            <a:ext cx="310896" cy="310896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782312" y="5239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879592" y="2496312"/>
            <a:ext cx="310896" cy="310896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879592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2587752" y="4782312"/>
            <a:ext cx="310896" cy="310896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587752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ótima (comprimento 28,35)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7040880" y="1783080"/>
            <a:ext cx="4507992" cy="987552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26948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7269480" y="216712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cidades com coordenadas. Visitar todas uma vez e voltar à origem.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7040880" y="2880360"/>
            <a:ext cx="4507992" cy="987552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269480" y="2926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7269480" y="326440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o comprimento total da rota.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7040880" y="3977640"/>
            <a:ext cx="4507992" cy="987552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2694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Espaço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7269480" y="436168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10! = 3,6 milhões de ordens. Com 30 cidades, 2,7 × 10³².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7040880" y="5074920"/>
            <a:ext cx="4507992" cy="987552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269480" y="5120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Aplicações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7269480" y="54589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Entregas, perfuração de placas, rotas de coleta e inspeção.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· CAIXEIRO VIAJANTE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Representação por permutação: o crossover precisa mudar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8600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2608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2608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6616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0624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0624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4632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2560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286000" y="256032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86000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926080" y="256032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926080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566160" y="256032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66160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206240" y="256032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06240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846320" y="256032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46320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em 3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286000" y="338328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286000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2926080" y="338328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926080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566160" y="338328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566160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206240" y="338328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206240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846320" y="338328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846320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5760720" y="3383280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cidades e omite outras: rota inválida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640080" y="42976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1440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914400" y="4800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rota é uma permutação: cada cidade aparece exatamente uma vez. O crossover de um ponto não preserva isso.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199632" y="42976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473952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6473952" y="4800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próprios para permutações: crossover de ordem (OX) e mutação por troca de duas cidades.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· CAIXEIRO VIAJANTE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Crossover de ordem (OX) passo a passo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8600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2608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2608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6616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0624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0624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4632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0" y="182880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560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2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286000" y="256032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286000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926080" y="256032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26080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566160" y="256032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566160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206240" y="256032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206240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846320" y="256032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46320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86400" y="2560320"/>
            <a:ext cx="585216" cy="585216"/>
          </a:xfrm>
          <a:prstGeom prst="roundRect">
            <a:avLst>
              <a:gd name="adj" fmla="val 937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0" y="2560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0" y="182880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 sorteado do pai 1: posições 1 e 2 (cidades 1 e 2)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40080" y="3291840"/>
            <a:ext cx="10911535" cy="841248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8680" y="3474720"/>
            <a:ext cx="475488" cy="475488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8680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1554480" y="329184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Copiar um trecho do pai 1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303520" y="329184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dois cortes e leva o trecho [1, 2] para o filho, na mesma posição.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40080" y="4251960"/>
            <a:ext cx="10911535" cy="841248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68680" y="4434840"/>
            <a:ext cx="475488" cy="475488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8680" y="4434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1554480" y="425196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Listar o resto, na ordem do pai 2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303520" y="425196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pai 2 sem as cidades 1 e 2: 3, 5, 0, 4.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40080" y="5212080"/>
            <a:ext cx="10911535" cy="841248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68680" y="5394960"/>
            <a:ext cx="475488" cy="475488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8680" y="5394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1554480" y="521208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Preencher o filho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5303520" y="521208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3 antes do trecho e 5, 0, 4 depois: [3, 1, 2, 5, 0, 4].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CAIXEIRO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Caixeiro em Python (1/4): cidades e comprimento da rota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tsp.py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permutations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953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comprimento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5219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486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(x, y) das 10 cidades.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9552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55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3154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math.dist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595360" y="35204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euclidiana entre duas cidades.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95528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552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595360" y="45262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+ 1) % len(rota)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48920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o ciclo: da última volta à primeira.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CAIXEIRO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Caixeiro em Python (2/4): crossover de ordem e mutação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931920"/>
          </a:xfrm>
          <a:prstGeom prst="roundRect">
            <a:avLst>
              <a:gd name="adj" fmla="val 279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tsp.py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cruzamento_ox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mutar_troca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219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meio = p1[a:b]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 copiado do pai 1.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955280" y="29535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9552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595360" y="286207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0" y="3227832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do pai 2 que faltam, na ordem dele.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955280" y="403250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552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3941064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resto[:a] + meio + ...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595360" y="4306824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o filho: sempre uma permutação válida.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955280" y="5111496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95528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8595360" y="5020056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rota[i], rota[j] = ...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595360" y="5385816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duas cidades de lugar.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CAIXEIRO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Caixeiro em Python (3/4): o algoritmo genético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3931920"/>
          </a:xfrm>
          <a:prstGeom prst="roundRect">
            <a:avLst>
              <a:gd name="adj" fmla="val 279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tsp.py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ga_tsp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geracoes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geracoes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comprimento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comprimento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comprimento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mutar_troca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cruzamento_ox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953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2197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comprimento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2296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1783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min(...)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21488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menor é melhor: aptidão = comprimento.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22960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31546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pop.sort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869680" y="35204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para pegar os 2 melhores.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22960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869680" y="45262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 = pop[:2]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48920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Elitismo com 2 indivíduos.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CAIXEIRO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Caixeiro em Python (4/4): comparando as abordagens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22376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tsp.py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vizinho_mais_proximo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main: 1000 rotas aleatorias, vizinho mais proximo,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675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GA e a solucao exata (9! rotas com a cidade 0 fixa)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46720" y="1783080"/>
            <a:ext cx="3502152" cy="4343400"/>
          </a:xfrm>
          <a:prstGeom prst="roundRect">
            <a:avLst>
              <a:gd name="adj" fmla="val 31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Vizinho mais próximo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242316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gulosa: da cidade atual, sempre vá à mais próxima ainda não visitada. Rápida, sem garantia, e boa referência para comparar o GA.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CAIXEIRO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o GA encontra a rota ótima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87568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Comprimento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47888" y="178308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de 1000 rotas aleatórias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687568" y="231343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37,73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47888" y="2313432"/>
            <a:ext cx="3227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ingênua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86207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862072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Vizinho mais próximo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687568" y="286207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31,18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247888" y="2862072"/>
            <a:ext cx="3227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gulosa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41071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410712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687568" y="341071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28,35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47888" y="3410712"/>
            <a:ext cx="3227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gerações, população 60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395935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959352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exata (9! = 362 880 rotas)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687568" y="395935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28,35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247888" y="3959352"/>
            <a:ext cx="3227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bruta confirma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736592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36592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 chegou ao ótimo com cerca de 9 000 avaliações, contra 362 880 da força bruta. A rota que ele devolveu é a mesma, percorrida no sentido contrário. Com 30 cidades a força bruta é inviável, e o GA ainda funciona (sem garantia de ótimo).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ENXAME DE PARTÍCULAS (PSO)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PSO: um bando procurando comida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Partículas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74320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partícula é uma solução candidata, com posição e velocidade no espaço de busca.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Memória própria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74320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lembra a melhor posição que já visitou (pbest).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Memória social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74320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conhece a melhor posição de todo o enxame (gbest). Cada uma é puxada para os dois pontos.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(Particle Swarm Optimization) foi proposto por James Kennedy e Russell Eberhart em 1995, inspirado no voo coordenado de aves e peixes. Não há cruzamento nem seleção: as partículas se movem e aprendem umas com as outras.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ENXAME DE PARTÍCULAS (PSO)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de movimento de cada partícula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554480"/>
          </a:xfrm>
          <a:prstGeom prst="roundRect">
            <a:avLst>
              <a:gd name="adj" fmla="val 7059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 ←  w·v  +  c₁·r₁·(pbest − x)  +  c₂·r₂·(gbest − x)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060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 ←  x + v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3566160"/>
            <a:ext cx="3493008" cy="2560320"/>
          </a:xfrm>
          <a:prstGeom prst="roundRect">
            <a:avLst>
              <a:gd name="adj" fmla="val 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3657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Inércia  w·v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48056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na direção em que ia. Mantém a exploração.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7972" y="3566160"/>
            <a:ext cx="3493008" cy="2560320"/>
          </a:xfrm>
          <a:prstGeom prst="roundRect">
            <a:avLst>
              <a:gd name="adj" fmla="val 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6572" y="3657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Cognitivo  c₁·r₁·(pbest − x)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6572" y="448056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Puxa de volta à melhor posição que ela mesma achou.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55864" y="3566160"/>
            <a:ext cx="3493008" cy="2560320"/>
          </a:xfrm>
          <a:prstGeom prst="roundRect">
            <a:avLst>
              <a:gd name="adj" fmla="val 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84464" y="3657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 c₂·r₂·(gbest − x)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284464" y="448056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Puxa em direção à melhor posição do enxame.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ENXAME DE PARTÍCULAS (PSO)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passo de PSO em uma dimensão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14400" y="2926080"/>
            <a:ext cx="10332720" cy="0"/>
          </a:xfrm>
          <a:prstGeom prst="line">
            <a:avLst/>
          </a:prstGeom>
          <a:noFill/>
          <a:ln w="38100">
            <a:solidFill>
              <a:srgbClr val="9DB0A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83080" y="2697480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3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23560" y="26974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pbest = 6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098280" y="2697480"/>
            <a:ext cx="457200" cy="45720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gbest = 9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331720" y="2331720"/>
            <a:ext cx="3154680" cy="0"/>
          </a:xfrm>
          <a:prstGeom prst="line">
            <a:avLst/>
          </a:prstGeom>
          <a:noFill/>
          <a:ln w="38100">
            <a:solidFill>
              <a:srgbClr val="0B8A5B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37744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cognitivo: puxa para pbest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331720" y="2651760"/>
            <a:ext cx="6629400" cy="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603504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puxa para gbest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3931920"/>
            <a:ext cx="10911535" cy="2194560"/>
          </a:xfrm>
          <a:prstGeom prst="roundRect">
            <a:avLst>
              <a:gd name="adj" fmla="val 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40233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v = 0, w = 0,7, c₁ = c₂ = 1,5 e r₁ = r₂ = 0,5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805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0,7·0 + 1,5·0,5·(6 − 3) + 1,5·0,5·(9 − 3) = 2,25 + 4,5 = 6,75      x passa de 3 a 9,75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02920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r₁ e r₂ são sorteios entre 0 e 1: a cada passo, a partícula é puxada com força diferente. Esse acaso evita que todas caiam no mesmo lugar. Aqui a partícula ultrapassa o gbest e voltará no passo seguinte.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de teste: Rastrigin, cheia de vales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30936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874520"/>
          <a:ext cx="61264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132320" y="1783080"/>
            <a:ext cx="4416552" cy="1371600"/>
          </a:xfrm>
          <a:prstGeom prst="roundRect">
            <a:avLst>
              <a:gd name="adj" fmla="val 8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69480" y="178308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f(x, y) = 20 + x² + y² − 10[cos(2πx) + cos(2πy)]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132320" y="3337560"/>
            <a:ext cx="4416552" cy="841248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0" y="3337560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global: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f(0, 0) = 0.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132320" y="4297680"/>
            <a:ext cx="4416552" cy="841248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15200" y="4297680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mínimos locais: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grid de vales: a descida do gradiente cai no vale mais próximo.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132320" y="5257800"/>
            <a:ext cx="4416552" cy="841248"/>
          </a:xfrm>
          <a:prstGeom prst="roundRect">
            <a:avLst>
              <a:gd name="adj" fmla="val 130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0" y="5257800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Domínio: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e y em [−5,12; 5,12].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PSO em Python (1/4): função e parâmetros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8686800" cy="3131820"/>
          </a:xfrm>
          <a:prstGeom prst="roundRect">
            <a:avLst>
              <a:gd name="adj" fmla="val 350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8138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8138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8138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rastrigin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8138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8138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8138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8138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5257800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5257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  </a:t>
            </a:r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do espaço de busca.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47972" y="5257800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6572" y="5257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 </a:t>
            </a:r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da inércia.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55864" y="5257800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84464" y="5257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C1, C2  </a:t>
            </a:r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cognitivo e social.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PSO em Python (2/4): o enxame inicial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77240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675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pso.py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2237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n_part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iteracoes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72237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72237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n_part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72237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n_part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72237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pbest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72237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gbest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pbest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rastrigin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59536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235440" y="178308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235440" y="21488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 aleatórias no quadrado.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595360" y="29535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9536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235440" y="286207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235440" y="322783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Começam paradas.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595360" y="403250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9536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235440" y="3941064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pbest, gbest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235440" y="4306824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própria e melhor do grupo.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4434840"/>
            <a:ext cx="7772400" cy="1691640"/>
          </a:xfrm>
          <a:prstGeom prst="roundRect">
            <a:avLst>
              <a:gd name="adj" fmla="val 648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449884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p[:] copia a lista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" y="493776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cópia, pbest e pos apontariam para a mesma lista, e mover a partícula alteraria seu “melhor” sem querer: é o bug do apelido da aula 05.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PSO em Python (3/4): atualizar velocidade e posição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841248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pso.py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863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iteracoes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7863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7863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"iter {it:2}: melhor f = {rastrigin(*gbest):.4f}"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7863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n_part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7863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7863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7863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7863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pbest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7863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gbest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7863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394960"/>
            <a:ext cx="10911535" cy="777240"/>
          </a:xfrm>
          <a:prstGeom prst="roundRect">
            <a:avLst>
              <a:gd name="adj" fmla="val 1411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539496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linhas de vel[i][d] são exatamente a regra do slide 40, dimensão por dimensão (d = 0 é x, d = 1 é y). A posição é limitada a [−LIM, LIM] por max e min.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PSO em Python (4/4): atualizar as melhores posições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pso.py (final do arquivo)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rastrigin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rastrigin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pbest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pbest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rastrigin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pbest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rastrigin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gbest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gbest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pbest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gbest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rastrigin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rastrigin(*pbest[i])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Achou algo melhor que seu recorde pessoal?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552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3154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pbest[i] = pos[i][:]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35204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o pessoal.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95528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552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45262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rastrigin(*gbest)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595360" y="48920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melhor que o do grupo? Então o grupo aprende.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Executando o PSO: o enxame converge para (0, 0)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4846320" cy="2712720"/>
          </a:xfrm>
          <a:prstGeom prst="roundRect">
            <a:avLst>
              <a:gd name="adj" fmla="val 404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pso.py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0: melhor f = 9.0631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10: melhor f = 1.4200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20: melhor f = 0.0788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30: melhor f = 0.0359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2425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40: melhor f = 0.0003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7190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50: melhor f = 0.0001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01955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[-0.001, 0.0] 0.0001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0" y="1783080"/>
            <a:ext cx="5879592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20" name="Chart 0" descr=""/>
          <p:cNvGraphicFramePr/>
          <p:nvPr/>
        </p:nvGraphicFramePr>
        <p:xfrm>
          <a:off x="5760720" y="1874520"/>
          <a:ext cx="569671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hape 17"/>
          <p:cNvSpPr/>
          <p:nvPr/>
        </p:nvSpPr>
        <p:spPr>
          <a:xfrm>
            <a:off x="640080" y="475488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68680" y="47548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20 partículas e 50 iterações (1 020 avaliações), o PSO chegou perto do mínimo global. Uma busca aleatória com o mesmo número de avaliações parou em 1,72.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Afinando o PSO: inércia, cognição e sociedade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395728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se aumentar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10528" y="1783080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(inércia)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395728" y="231343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exploração: voos longos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510528" y="2313432"/>
            <a:ext cx="4965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nunca assentar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95351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95351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c₁ (cognitivo)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395728" y="295351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confia mais em si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510528" y="2953512"/>
            <a:ext cx="4965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Enxame se dispersa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59359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59359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c₂ (social)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395728" y="359359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mais o líder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510528" y="3593592"/>
            <a:ext cx="4965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prematura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23367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23367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Partículas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2395728" y="423367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cobertura do espaço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510528" y="4233672"/>
            <a:ext cx="4965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avaliações por iteração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07492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07492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teste com w = 0,4, 0,7 e 0,9 (semente 7, 50 iterações) deu f = 0,0000, 0,0001 e 0,2212. Inércia alta demais atrapalhou aqui; com outra semente o resultado pode mudar. Compare várias execuções.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COLÔNIA DE FORMIGAS (ACO)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Formigas e feromônio: a terceira família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formiga monta uma solução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560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caixeiro viajante, escolhe a próxima cidade por sorteio. Cidades próximas e com muito feromônio são mais prováveis.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99632" y="17830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28232" y="1965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823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68312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 o caminho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28232" y="2560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o comprimento da rota que percorreu.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639312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822192"/>
            <a:ext cx="457200" cy="45720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3822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Deposita feromônio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41655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curtas recebem mais. Todas as trilhas evaporam um pouco a cada rodada.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99632" y="3639312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28232" y="382219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28232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068312" y="3822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28232" y="441655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melhores trilhas se reforçam e atraem mais formigas.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5486400"/>
            <a:ext cx="10911535" cy="685800"/>
          </a:xfrm>
          <a:prstGeom prst="roundRect">
            <a:avLst>
              <a:gd name="adj" fmla="val 16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4864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Proposto por Marco Dorigo nos anos 1990. Probabilidade de escolher o caminho: proporcional a τᵅ · ηᵝ (feromônio × proximidade).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genético × PSO × colônia de formigas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761488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87568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13648" y="178308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10908792" cy="768096"/>
          </a:xfrm>
          <a:prstGeom prst="roundRect">
            <a:avLst>
              <a:gd name="adj" fmla="val 952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Inspiração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761488" y="2313432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687568" y="2313432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Bando de aves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613648" y="2313432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Formigas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136392"/>
            <a:ext cx="10908792" cy="768096"/>
          </a:xfrm>
          <a:prstGeom prst="roundRect">
            <a:avLst>
              <a:gd name="adj" fmla="val 9524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13639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761488" y="3136392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Cromossomo (bits, permutação)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687568" y="3136392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números reais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613648" y="3136392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 em um grafo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959352"/>
            <a:ext cx="10908792" cy="768096"/>
          </a:xfrm>
          <a:prstGeom prst="roundRect">
            <a:avLst>
              <a:gd name="adj" fmla="val 952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95935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761488" y="3959352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Seleção, crossover, mutação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687568" y="3959352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Velocidade, pbest e gbest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613648" y="3959352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Feromônio e evaporação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782312"/>
            <a:ext cx="10908792" cy="768096"/>
          </a:xfrm>
          <a:prstGeom prst="roundRect">
            <a:avLst>
              <a:gd name="adj" fmla="val 9524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78231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761488" y="4782312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Combinatórios e mistos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687568" y="4782312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contínuos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613648" y="4782312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e grafos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variantes de todos eles: GA com representação real, PSO discreto, ACO contínuo. A tabela mostra o uso mais típico.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vale usar metaheurísticas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Logística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Roteirização de entregas, janelas de tempo, carregamento de caminhões.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Escalonamento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pessoal, horários de aulas, sequenciamento de produção.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0050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422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peças e antenas, calibração de parâmetros de simuladores.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0050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1422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de máquina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hiperparâmetros e até treino de redes neurais (neuroevolução).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640080" y="5852160"/>
            <a:ext cx="10911535" cy="365760"/>
          </a:xfrm>
          <a:prstGeom prst="roundRect">
            <a:avLst>
              <a:gd name="adj" fmla="val 3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 candidatos: espaço enorme, função fácil de avaliar, solução “boa o bastante” aceitável.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essas técnicas não garantem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garantia de ótimo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GA achou o ótimo em 19 de 20 execuções na mochila. Com 30 de capacidade foram 12 de 20.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avaliar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avaliações da função objetivo: se cada uma custa minutos (uma simulação), o total pesa.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005072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2336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708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2336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Muitos parâmetros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91947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População, taxas e pesos mudam o resultado. Exige experimentos.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4005072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2336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708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2336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há método universal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91947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teorema “no free lunch” (Wolpert e Macready, 1997): sem conhecer o problema, nenhum algoritmo vence todos os outros em média.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Esquecer a semente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mudam a cada execução. Use random.seed para reproduzir e várias sementes para avaliar.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com uma só execução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sorteio feliz engana. Rode 20 ou 30 vezes e olhe a média.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 errado para permutações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de um ponto gera rotas inválidas. Use OX ou outro operador próprio.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Copiar listas por apelido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PSO e no GA, use cópias (p[:] ou lista nova), senão a “melhor” posição muda sozinha.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mutação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OneMax, rode o GA com P_MUT = 0 em várias sementes e compare a média final com a de P_MUT = 1/N.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Mochila maior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88036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Aumente CAPACIDADE para 30. Qual o valor ótimo? O GA o encontra em quantas de 20 execuções?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 ingênua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397764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o comprimento da rota que visita as cidades na ordem 0, 1, 2, ..., 9. É muito pior que a ótima?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Inércia no PSO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507492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o PSO com W = 0,4, 0,7 e 0,9 (semente 7). Qual dá o menor f ao final?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1 e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969770"/>
          </a:xfrm>
          <a:prstGeom prst="roundRect">
            <a:avLst>
              <a:gd name="adj" fmla="val 557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1 (parametros.py)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p_mut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media final (30 execucoes):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0.0 -&gt; 25.5   1/30 -&gt; 30.0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0.2 -&gt; 26.3   0.5  -&gt; 23.6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935730"/>
            <a:ext cx="5852160" cy="2190750"/>
          </a:xfrm>
          <a:prstGeom prst="roundRect">
            <a:avLst>
              <a:gd name="adj" fmla="val 500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3935730"/>
            <a:ext cx="530352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mutação a população perde genes e estaciona em 25,5. Com 1/N chega a 30 (o máximo).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611112" y="1783080"/>
            <a:ext cx="4937760" cy="1969770"/>
          </a:xfrm>
          <a:prstGeom prst="roundRect">
            <a:avLst>
              <a:gd name="adj" fmla="val 557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228600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mochila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253365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CAPACIDADE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278130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otimo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forca_bruta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885432" y="302895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otimo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119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885432" y="327660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GA igual ao otimo: 12 de 20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611112" y="3935730"/>
            <a:ext cx="4937760" cy="2190750"/>
          </a:xfrm>
          <a:prstGeom prst="roundRect">
            <a:avLst>
              <a:gd name="adj" fmla="val 500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0" y="3935730"/>
            <a:ext cx="443484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= 119. O GA acertou em 12 de 20: o problema mais folgado é mais difícil para ele. Aumente a população ou as gerações.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3 e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474470"/>
          </a:xfrm>
          <a:prstGeom prst="roundRect">
            <a:avLst>
              <a:gd name="adj" fmla="val 744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tsp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comprimento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55.97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440430"/>
            <a:ext cx="5852160" cy="2686050"/>
          </a:xfrm>
          <a:prstGeom prst="roundRect">
            <a:avLst>
              <a:gd name="adj" fmla="val 408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440430"/>
            <a:ext cx="5303520" cy="268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55,97, quase o dobro dos 28,35 da rota ótima: a ordem das cidades importa muito.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11112" y="178308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2084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final (semente 7)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611112" y="2313432"/>
            <a:ext cx="4937760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20840" y="231343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23134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611112" y="2880360"/>
            <a:ext cx="4937760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20840" y="28803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32520" y="288036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0.0001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611112" y="3447288"/>
            <a:ext cx="4937760" cy="512064"/>
          </a:xfrm>
          <a:prstGeom prst="roundRect">
            <a:avLst>
              <a:gd name="adj" fmla="val 1428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20840" y="34472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732520" y="344728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0.2212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611112" y="4160520"/>
            <a:ext cx="4937760" cy="1965960"/>
          </a:xfrm>
          <a:prstGeom prst="roundRect">
            <a:avLst>
              <a:gd name="adj" fmla="val 558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0" y="4160520"/>
            <a:ext cx="4434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0,4 deu o menor valor aqui; 0,9 explora demais e ainda não assentou. É uma semente: confirme com várias.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07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37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Metaheurísticas buscam boas soluções em espaços grandes, sem garantia de ótimo.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70891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514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genético combina seleção, crossover, mutação e elitismo.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8615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91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representação define os operadores: bits na mochila, permutação no caixeiro.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263390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0690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PSO move partículas pela inércia, pela memória própria e pela do grupo.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01752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89520" y="228600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589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0" y="2240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fuzzy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589520" y="306324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89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ML e fluxo de trabalho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589520" y="38404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589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0" y="3794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de decisão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7373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próxima aula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7373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os exercícios e teste outros parâmetros. Na aula 08, a lógica fuzzy lida com conceitos vagos, como “quente” e “frio”, entre o 0 e o 1.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sujeito a ajustes.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07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07 - Heurísticas evolutivas e enxame</dc:title>
  <dc:subject>PptxGenJS Presentation</dc:subject>
  <dc:creator>Inteligência Artificial</dc:creator>
  <cp:lastModifiedBy>Inteligência Artificial</cp:lastModifiedBy>
  <cp:revision>1</cp:revision>
  <dcterms:created xsi:type="dcterms:W3CDTF">2026-10-08T10:54:48Z</dcterms:created>
  <dcterms:modified xsi:type="dcterms:W3CDTF">2026-10-08T10:54:48Z</dcterms:modified>
</cp:coreProperties>
</file>