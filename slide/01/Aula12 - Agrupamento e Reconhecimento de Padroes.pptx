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6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Inércia por k (cai sempre)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inércia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20402.3</c:v>
                </c:pt>
                <c:pt idx="1">
                  <c:v>5763.5</c:v>
                </c:pt>
                <c:pt idx="2">
                  <c:v>566.9</c:v>
                </c:pt>
                <c:pt idx="3">
                  <c:v>496.8</c:v>
                </c:pt>
                <c:pt idx="4">
                  <c:v>426.3</c:v>
                </c:pt>
                <c:pt idx="5">
                  <c:v>361.1</c:v>
                </c:pt>
                <c:pt idx="6">
                  <c:v>320</c:v>
                </c:pt>
                <c:pt idx="7">
                  <c:v>272.7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Silhueta por k (pico em k = 3)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silhueta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0.705</c:v>
                </c:pt>
                <c:pt idx="1">
                  <c:v>0.848</c:v>
                </c:pt>
                <c:pt idx="2">
                  <c:v>0.66</c:v>
                </c:pt>
                <c:pt idx="3">
                  <c:v>0.492</c:v>
                </c:pt>
                <c:pt idx="4">
                  <c:v>0.331</c:v>
                </c:pt>
                <c:pt idx="5">
                  <c:v>0.336</c:v>
                </c:pt>
                <c:pt idx="6">
                  <c:v>0.362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Variância explicada acumulada (dígitos)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variância acumulada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0.149</c:v>
                </c:pt>
                <c:pt idx="1">
                  <c:v>0.285</c:v>
                </c:pt>
                <c:pt idx="2">
                  <c:v>0.403</c:v>
                </c:pt>
                <c:pt idx="3">
                  <c:v>0.487</c:v>
                </c:pt>
                <c:pt idx="4">
                  <c:v>0.545</c:v>
                </c:pt>
                <c:pt idx="5">
                  <c:v>0.594</c:v>
                </c:pt>
                <c:pt idx="6">
                  <c:v>0.637</c:v>
                </c:pt>
                <c:pt idx="7">
                  <c:v>0.674</c:v>
                </c:pt>
                <c:pt idx="8">
                  <c:v>0.707</c:v>
                </c:pt>
                <c:pt idx="9">
                  <c:v>0.738</c:v>
                </c:pt>
                <c:pt idx="10">
                  <c:v>0.762</c:v>
                </c:pt>
                <c:pt idx="11">
                  <c:v>0.785</c:v>
                </c:pt>
                <c:pt idx="12">
                  <c:v>0.803</c:v>
                </c:pt>
                <c:pt idx="13">
                  <c:v>0.821</c:v>
                </c:pt>
                <c:pt idx="14">
                  <c:v>0.835</c:v>
                </c:pt>
                <c:pt idx="15">
                  <c:v>0.849</c:v>
                </c:pt>
                <c:pt idx="16">
                  <c:v>0.863</c:v>
                </c:pt>
                <c:pt idx="17">
                  <c:v>0.875</c:v>
                </c:pt>
                <c:pt idx="18">
                  <c:v>0.885</c:v>
                </c:pt>
                <c:pt idx="19">
                  <c:v>0.894</c:v>
                </c:pt>
                <c:pt idx="20">
                  <c:v>0.903</c:v>
                </c:pt>
                <c:pt idx="21">
                  <c:v>0.911</c:v>
                </c:pt>
                <c:pt idx="22">
                  <c:v>0.919</c:v>
                </c:pt>
                <c:pt idx="23">
                  <c:v>0.926</c:v>
                </c:pt>
                <c:pt idx="24">
                  <c:v>0.933</c:v>
                </c:pt>
                <c:pt idx="25">
                  <c:v>0.939</c:v>
                </c:pt>
                <c:pt idx="26">
                  <c:v>0.945</c:v>
                </c:pt>
                <c:pt idx="27">
                  <c:v>0.95</c:v>
                </c:pt>
                <c:pt idx="28">
                  <c:v>0.955</c:v>
                </c:pt>
                <c:pt idx="29">
                  <c:v>0.959</c:v>
                </c:pt>
                <c:pt idx="30">
                  <c:v>0.963</c:v>
                </c:pt>
                <c:pt idx="31">
                  <c:v>0.966</c:v>
                </c:pt>
                <c:pt idx="32">
                  <c:v>0.97</c:v>
                </c:pt>
                <c:pt idx="33">
                  <c:v>0.973</c:v>
                </c:pt>
                <c:pt idx="34">
                  <c:v>0.976</c:v>
                </c:pt>
                <c:pt idx="35">
                  <c:v>0.979</c:v>
                </c:pt>
                <c:pt idx="36">
                  <c:v>0.982</c:v>
                </c:pt>
                <c:pt idx="37">
                  <c:v>0.984</c:v>
                </c:pt>
                <c:pt idx="38">
                  <c:v>0.986</c:v>
                </c:pt>
                <c:pt idx="39">
                  <c:v>0.988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1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e reconhecimento de padrões sem rótulos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mapas auto-organizáveis (SOM) e PCA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377440" y="539496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77440" y="5394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114800" y="539496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0" y="53949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577840" y="539496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77840" y="53949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040880" y="539496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40880" y="5394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ML (aula 09)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supervisionado: dados com rótulo, treino e teste, métricas e validação cruzada.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(aula 10)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legível, treinado para prever um rótulo conhecido.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neurais (aula 11)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Neurônios, camadas e backpropagation, de novo aprendendo a partir de exemplos rotulados.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e quando não existe rótulo nenhum? Vamos deixar o algoritmo descobrir grupos e padrões sozinho.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sem rótulo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agrupar e como medir semelhança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zero, passo a passo, e com scikit-learn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k e avaliar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Inércia, silhueta, escala e inicialização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grupos não são “bolinhas”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Mapas auto-organizáveis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do zero e com MiniSom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e projeto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dimensões e segmentar clientes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rótulo e sem rótulo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 (aulas 09 a 11)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 (hoje)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X e rótulo 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atributos X, sem rótulo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935224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9352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935224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o rótulo de exemplos novos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935224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estrutura escondida nos dados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557016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5570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557016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no conjunto de teste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557016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internas e interpretação humana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178808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1788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178808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Spam, diagnóstico, preço de imóvel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178808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clientes, compressão, visualização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02920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50292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rótulo não existe “resposta certa” para conferir. O agrupamento sempre pede interpretação: os grupos fazem sentido para o problema?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Agrupar: reunir o que é parecido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Segmentar clientes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clientes por idade, renda e consumo para campanhas diferentes.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 textos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notícias ou chamados parecidos sem categorias prévias.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422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Comprimir imagens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uma foto a poucas cores representativas (quantização de cores).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422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Encontrar o incomum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longe de todos os grupos podem ser erros ou casos raros.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40080" y="5806440"/>
            <a:ext cx="10911535" cy="411480"/>
          </a:xfrm>
          <a:prstGeom prst="roundRect">
            <a:avLst>
              <a:gd name="adj" fmla="val 2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agrupamento começa por uma pergunta: o que significa “parecido” para este problema?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SEMELHANÇA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Semelhança como distância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d(a, b) = √( (a₁ − b₁)² + (a₂ − b₂)² + … 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6949440" cy="3017520"/>
          </a:xfrm>
          <a:prstGeom prst="roundRect">
            <a:avLst>
              <a:gd name="adj" fmla="val 363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30175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2416" y="30175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3584" y="30175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54480" y="295351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distancias.py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3375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7185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9090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0995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"diferenca:"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2900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"distancia euclidiana:"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805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 np.linalg.norm  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8615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0520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425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43306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"distancias:"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99832" y="2834640"/>
            <a:ext cx="3749040" cy="1493520"/>
          </a:xfrm>
          <a:prstGeom prst="roundRect">
            <a:avLst>
              <a:gd name="adj" fmla="val 734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01000" y="30175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02168" y="30175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03336" y="30175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14232" y="29535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333756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diferenca: [3. 4.]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352806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 euclidiana: 5.0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371856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np.linalg.norm  : 5.0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074152" y="390906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distancias: [ 0.    1.12  9.9  11.67]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799832" y="443484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74152" y="4434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hipotenusa do triângulo 3-4-5 (aula 03). Quanto menor a distância, mais parecidos os pontos.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K-means: quatro passos que se repetem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k, o número de grupos, e sorteie k centroides iniciais.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07969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36569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3656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322369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Atribuir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636569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vai para o grupo do centroide mais próximo.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5858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4458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4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090258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Recalcular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404458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centroide passa a ser a média dos pontos do seu grupo.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943746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72346" y="196596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7234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858146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9172346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 ao passo 2 até nenhum ponto mudar de grupo.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9834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98348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vem das k médias (means): cada centroide é a média do seu grupo. O termo “k-means” foi cunhado por MacQueen em 1967; o procedimento iterativo costuma ser chamado de algoritmo de Lloyd.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PASSO A PASSO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exemplo com 6 pontos e k =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94436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até c0 (1, 1)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23036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até c1 (5, 7)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516368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979408" y="17830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(1,0  1,0)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944368" y="23134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230368" y="23134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516368" y="2313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979408" y="231343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c0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77063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770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(1,5  2,0)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944368" y="27706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27706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6.10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516368" y="27706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979408" y="277063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22783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2278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(3,0  4,0)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944368" y="32278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230368" y="32278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516368" y="3227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979408" y="322783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empate: fica com o 1º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368503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36850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(5,0  7,0)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2944368" y="3685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7.21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230368" y="3685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516368" y="36850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979408" y="368503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c1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414223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808" y="41422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(3,5  5,0)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944368" y="41422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4.72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230368" y="41422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2.50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7516368" y="41422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979408" y="414223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0080" y="459943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9808" y="4599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(4,5  5,0)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2944368" y="45994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5.32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5230368" y="45994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2.06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516368" y="4599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8979408" y="459943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40080" y="5166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centroides: c0 = média dos 3 primeiros = (1,83; 2,33) e c1 = média dos 3 últimos = (4,33; 5,67). Na rodada seguinte ninguém muda de grupo: convergiu.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exemplo em código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858000" cy="4160520"/>
          </a:xfrm>
          <a:prstGeom prst="roundRect">
            <a:avLst>
              <a:gd name="adj" fmla="val 263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kmeans_passo.py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67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57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centroides iniciais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10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00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191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"distancias (iteracao 1):\n"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381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572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"iteracao"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"rotulos:"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762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centroides:"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953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allclose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143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convergiu"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334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524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80960" y="1783080"/>
            <a:ext cx="3867912" cy="2788920"/>
          </a:xfrm>
          <a:prstGeom prst="roundRect">
            <a:avLst>
              <a:gd name="adj" fmla="val 39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8212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8329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8446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95360" y="1901952"/>
            <a:ext cx="2770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955280" y="228600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distancias (iteracao 1):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955280" y="245745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[[0.   7.21]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955280" y="262890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[1.12 6.1 ]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7955280" y="280035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[3.61 3.61]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955280" y="297180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[7.21 0.  ]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955280" y="314325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[4.72 2.5 ]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7955280" y="331470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[5.32 2.06]]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7955280" y="348615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iteracao 1 rotulos: [0, 0, 0, 1, 1, 1]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7955280" y="365760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centroides: [[1.83, 2.33], [4.33, 5.67]]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7955280" y="382905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iteracao 2 rotulos: [0, 0, 0, 1, 1, 1]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7955280" y="400050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centroides: [[1.83, 2.33], [4.33, 5.67]]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7955280" y="4171950"/>
            <a:ext cx="3319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convergiu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680960" y="5074920"/>
            <a:ext cx="3867912" cy="1051560"/>
          </a:xfrm>
          <a:prstGeom prst="roundRect">
            <a:avLst>
              <a:gd name="adj" fmla="val 1043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955280" y="5074920"/>
            <a:ext cx="3319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X[:, None, :] - c[None, :, :] calcula todas as distâncias de uma vez (broadcasting, aula 03).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em NumPy (1/3): distâncias e atribuição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017520"/>
          </a:xfrm>
          <a:prstGeom prst="roundRect">
            <a:avLst>
              <a:gd name="adj" fmla="val 363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kmeans_zero.py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743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429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iteracoes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57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14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iteracoes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343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(pontos × centroides) de distâncias.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955280" y="31546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30632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X[rng.choice(...)]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4290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k pontos reais como centroides iniciais.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955280" y="44348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43434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argmin(axis=1)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70916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centroide mais próximo de cada ponto.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em NumPy (2/3): atualizar e parar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788920"/>
          </a:xfrm>
          <a:prstGeom prst="roundRect">
            <a:avLst>
              <a:gd name="adj" fmla="val 39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kmeans_zero.py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allclose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57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86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114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mean(axis=0)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centroide = média dos pontos do grupo.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31546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0632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np.any(...)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4290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grupo ficou vazio, mantém o centroide.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44348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3434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70916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quadrados das distâncias ao centroide.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" y="4800600"/>
            <a:ext cx="6949440" cy="1325880"/>
          </a:xfrm>
          <a:prstGeom prst="roundRect">
            <a:avLst>
              <a:gd name="adj" fmla="val 827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480060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termina quando os centroides param de se mover (allclose) ou quando atinge o limite de iterações.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em NumPy (3/3): rodando com 5 sementes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kmeans_zero.py (bloco principal)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make_blobs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make_blobs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n_samples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cluster_std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"semente"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"inercia"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"iteracoes"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"centroides (semente 2):\n"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91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"tamanhos:"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bincount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89520" y="1783080"/>
            <a:ext cx="3959352" cy="2636520"/>
          </a:xfrm>
          <a:prstGeom prst="roundRect">
            <a:avLst>
              <a:gd name="adj" fmla="val 416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9068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9185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9302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03920" y="1901952"/>
            <a:ext cx="2862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(resumida)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0" y="22860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0 inercia 5693.4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63840" y="24765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iteracoes 10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0" y="26670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1 inercia 5693.4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0" y="28575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iteracoes 10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863840" y="30480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2 inercia 566.9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63840" y="32385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iteracoes 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34290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3 inercia 566.9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63840" y="36195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iteracoes 2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0" y="38100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4 inercia 566.9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63840" y="4000500"/>
            <a:ext cx="341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iteracoes 3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algoritmo, mesmos dados, resultados diferentes: as sementes 0 e 1 terminaram com inércia 5693,4, dez vezes pior que 566,9. Veja por quê no próximo slide.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ARMADILHA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mau começo: mínimo local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aconteceu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semente 0 os tamanhos ficaram em 55, 45 e 200: dois centroides dividiram um grupo real, e um terceiro cobriu dois grupos juntos.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K-means não corrige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só melhora a inércia localmente. Ele converge, mas pode parar num mínimo local, não no melhor.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evitar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várias vezes e ficar com a menor inércia (n_init) e usar um sorteio inicial mais esperto (k-means++).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scikit-learn faz as duas coisas por padrão: init="k-means++" e n_init=10 (valor padrão em versões antigas; versões recentes usam "auto"). Por isso, nos exemplos com scikit-learn, passamos n_init=10 de forma explícita.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SCIKIT-LEARN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KMeans do scikit-learn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265541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2/blo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6089904" cy="24359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223760" y="1783080"/>
            <a:ext cx="4325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rótulos (esquerda), o K-means encontra 3 grupos (direita). Os X pretos são os centroides.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621378"/>
            <a:ext cx="6949440" cy="1779270"/>
          </a:xfrm>
          <a:prstGeom prst="roundRect">
            <a:avLst>
              <a:gd name="adj" fmla="val 61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41248" y="4804258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42416" y="4804258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43584" y="4804258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554480" y="4740250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kmeans_sklearn.py (imports omitidos)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5124298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make_blobs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n_samples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cluster_std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5333848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5543398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5752948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"inercia:"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5962498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"iteracoes:"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n_iter_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799832" y="4621378"/>
            <a:ext cx="3749040" cy="1150620"/>
          </a:xfrm>
          <a:prstGeom prst="roundRect">
            <a:avLst>
              <a:gd name="adj" fmla="val 953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01000" y="4804258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02168" y="4804258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03336" y="4804258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714232" y="474025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8074152" y="5124298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inercia: 566.9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8074152" y="5333848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iteracoes: 2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SCIKIT-LEARN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Centroides, tamanhos e novos pontos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779270"/>
          </a:xfrm>
          <a:prstGeom prst="roundRect">
            <a:avLst>
              <a:gd name="adj" fmla="val 61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kmeans_sklearn.py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"centroides:\n"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cluster_centers_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"tamanhos:"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adjusted_rand_score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 contra os grupos reais:"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"novo ponto (0, 0) -&gt;"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99832" y="1783080"/>
            <a:ext cx="374904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074152" y="2286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centroides: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074152" y="2476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[[-2.63  9.04]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074152" y="2667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[-6.88 -6.98]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074152" y="2857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[ 4.75  2.01]]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074152" y="3048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tamanhos: [100, 100, 100]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3238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 contra os grupos reais: 1.0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3429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 ponto (0, 0) -&gt; 2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0080" y="3790950"/>
            <a:ext cx="6949440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379095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(índice de Rand ajustado) compara dois agrupamentos: 1,0 = idênticos; perto de 0 = tão ruim quanto sortear grupos. Só é possível calcular quando se conhece os grupos reais, o que é raro na vida real.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maneiras de avaliar um agrupamento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Inércia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quadrados das distâncias de cada ponto ao seu centroide. Menor é melhor, mas sempre cai quando k cresce (k = n daria inércia 0).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Silhueta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ponto, compara a distância ao próprio grupo com a distância ao grupo vizinho. Vai de −1 a 1; perto de 1 = bem separado.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resultado com grupos conhecidos. Serve para validar o método em dados de teste, não para dados reais sem rótulo.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medida decide sozinha: combine inércia e silhueta com o conhecimento do problema (os grupos fazem sentido para o negócio?).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ESCOLHENDO 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 k de 1 a 8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1569720"/>
          </a:xfrm>
          <a:prstGeom prst="roundRect">
            <a:avLst>
              <a:gd name="adj" fmla="val 699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kmeans_k.py (imports e dados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"nan"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16952" y="178308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26680" y="1783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54964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10412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16952" y="2267712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26680" y="22677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2267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20402.3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104120" y="2267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16952" y="265176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26680" y="26517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549640" y="2651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5763.5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104120" y="2651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0.705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616952" y="3035808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26680" y="30358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549640" y="3035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566.9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104120" y="3035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0.848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616952" y="3419856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26680" y="34198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549640" y="3419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496.8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0104120" y="3419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0.660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616952" y="3803904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26680" y="38039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549640" y="38039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426.3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104120" y="38039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616952" y="4187952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26680" y="4187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549640" y="4187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361.1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104120" y="4187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0.331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616952" y="457200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726680" y="4572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8549640" y="4572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320.0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104120" y="4572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0.336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616952" y="4956048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26680" y="4956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8549640" y="49560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272.7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0104120" y="49560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0.362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40080" y="3977640"/>
            <a:ext cx="6766560" cy="2148840"/>
          </a:xfrm>
          <a:prstGeom prst="roundRect">
            <a:avLst>
              <a:gd name="adj" fmla="val 510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14400" y="3977640"/>
            <a:ext cx="6217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inércia despenca de 5763 (k = 2) para 567 (k = 3) e depois só diminui devagar: é o “joelho”. A silhueta confirma: o máximo está em k = 3 (0,848). Os dados foram gerados com 3 grupos, então k = 3 é de fato o certo.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ESCOLHENDO 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método do joelho e a silhueta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28800"/>
          <a:ext cx="5166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199632" y="17830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9" name="Chart 1" descr=""/>
          <p:cNvGraphicFramePr/>
          <p:nvPr/>
        </p:nvGraphicFramePr>
        <p:xfrm>
          <a:off x="6291072" y="1828800"/>
          <a:ext cx="5166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640080" y="557784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14400" y="5577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Joelho = onde a curva da inércia dobra. Pico da silhueta = melhor separação entre grupos.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Sorteio comum contra k-means++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223760" cy="2407920"/>
          </a:xfrm>
          <a:prstGeom prst="roundRect">
            <a:avLst>
              <a:gd name="adj" fmla="val 45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kmeans_init.py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675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make_blobs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n_samples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cluster_std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675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675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"random"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"k-means++"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675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675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675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675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675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"min"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"max"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74152" y="17830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838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738360" y="1783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0" y="1783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74152" y="2313432"/>
            <a:ext cx="3474720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83880" y="23134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738360" y="231343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822.7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698480" y="231343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7233.6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074152" y="2770632"/>
            <a:ext cx="347472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83880" y="27706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k-means++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738360" y="277063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822.7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98480" y="277063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822.7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0080" y="4419600"/>
            <a:ext cx="10911535" cy="1706880"/>
          </a:xfrm>
          <a:prstGeom prst="roundRect">
            <a:avLst>
              <a:gd name="adj" fmla="val 64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4419600"/>
            <a:ext cx="10362895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n_init=1 (uma única tentativa) e sorteio comum, só 4 das 10 sementes chegaram ao melhor valor (822,7); 4 pararam perto de 2660 e 2 perto de 7230. O k-means++ escolhe centroides iniciais espalhados e acertou em todas as 10.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exige atributos na mesma escala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22376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kmeans_escala.py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column_stack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os grupos diferem pela idade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 sem escala:"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adjusted_rand_score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675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 com escala:"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adjusted_rand_score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57032" y="1783080"/>
            <a:ext cx="1600200" cy="1737360"/>
          </a:xfrm>
          <a:prstGeom prst="roundRect">
            <a:avLst>
              <a:gd name="adj" fmla="val 6857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57032" y="1892808"/>
            <a:ext cx="1600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0,007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8394192" y="2825496"/>
            <a:ext cx="132588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escala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948672" y="1783080"/>
            <a:ext cx="1600200" cy="1737360"/>
          </a:xfrm>
          <a:prstGeom prst="roundRect">
            <a:avLst>
              <a:gd name="adj" fmla="val 68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948672" y="1892808"/>
            <a:ext cx="16002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10085832" y="2825496"/>
            <a:ext cx="132588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escala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4838700"/>
            <a:ext cx="10911535" cy="1287780"/>
          </a:xfrm>
          <a:prstGeom prst="roundRect">
            <a:avLst>
              <a:gd name="adj" fmla="val 852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4838700"/>
            <a:ext cx="10362895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grupos que diferem só pela idade (25 contra 50 anos), mas a renda varia em milhares de reais. Sem escala, a renda domina a distância e o agrupamento vira ruído (ARI 0,007). Com StandardScaler, acerta tudo.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DO K-MEANS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K-means não é a melhor escolha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 de k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grupos tem de ser informado; escolher mal produz grupos sem sentido.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esféricas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bem com grupos arredondados e de tamanho parecido; falha com formas alongadas ou curvas.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Sensível a outliers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média é puxada por pontos extremos, e todo ponto é obrigado a pertencer a algum grupo.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do começo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parar em mínimos locais; use n_init e k-means++ e confira com mais de uma semente.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em forma de lua: K-means contra DBSCAN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2520086"/>
          </a:xfrm>
          <a:prstGeom prst="roundRect">
            <a:avLst>
              <a:gd name="adj" fmla="val 43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2/lu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6089904" cy="230063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69480" y="17830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69480" y="1892808"/>
            <a:ext cx="21031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0,234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2825496"/>
            <a:ext cx="182880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do K-means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445752" y="17830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45752" y="1892808"/>
            <a:ext cx="21031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9582912" y="2825496"/>
            <a:ext cx="182880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do DBSCAN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486046"/>
            <a:ext cx="6949440" cy="1684020"/>
          </a:xfrm>
          <a:prstGeom prst="roundRect">
            <a:avLst>
              <a:gd name="adj" fmla="val 651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4668926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42416" y="4668926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43584" y="4668926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554480" y="4604918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kmeans_luas.py (imports omitidos)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14400" y="4988966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make_moons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n_samples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914400" y="5179466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5369966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DBSCAN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914400" y="5560466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"K-means ARI:"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adjusted_rand_score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914400" y="5750966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"DBSCAN  ARI:"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adjusted_rand_score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799832" y="4486046"/>
            <a:ext cx="3749040" cy="1150620"/>
          </a:xfrm>
          <a:prstGeom prst="roundRect">
            <a:avLst>
              <a:gd name="adj" fmla="val 953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001000" y="4668926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02168" y="4668926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03336" y="4668926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714232" y="460491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074152" y="4988966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K-means ARI: 0.234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074152" y="5198516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DBSCAN  ARI: 1.0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DBSCAN: grupos por densidade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 da vizinhança. Dois pontos mais próximos que eps são “vizinhos”.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min_samples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6517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vizinhos um ponto precisa para ser “central” de um grupo denso.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Ruído (−1)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6517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que não pertencem a nenhum grupo denso recebem o rótulo −1.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34340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54680" y="434340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421728" y="434340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873752"/>
            <a:ext cx="10911535" cy="256032"/>
          </a:xfrm>
          <a:prstGeom prst="roundRect">
            <a:avLst>
              <a:gd name="adj" fmla="val 2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873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154680" y="4873752"/>
            <a:ext cx="399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21728" y="4873752"/>
            <a:ext cx="399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(informa eps)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184648"/>
            <a:ext cx="10911535" cy="256032"/>
          </a:xfrm>
          <a:prstGeom prst="roundRect">
            <a:avLst>
              <a:gd name="adj" fmla="val 2857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184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dos grupos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154680" y="5184648"/>
            <a:ext cx="399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Esférica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21728" y="5184648"/>
            <a:ext cx="399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495544"/>
            <a:ext cx="10911535" cy="256032"/>
          </a:xfrm>
          <a:prstGeom prst="roundRect">
            <a:avLst>
              <a:gd name="adj" fmla="val 2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495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154680" y="5495544"/>
            <a:ext cx="399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 em algum grupo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421728" y="5495544"/>
            <a:ext cx="399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Viram ruído (−1)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AUTO-ORGANIZÁVEIS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SOM: um mapa 2D que respeita a vizinhança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grade de neurônios, cada um com um vetor de pesos do tamanho dos dados. Proposto por Teuvo Kohonen nos anos 1980.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sem rótulos: dados parecidos ativam neurônios vizinhos na grade, e a estrutura dos dados aparece no mapa.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dados de muitas dimensões em 2D, explorar grupos e comprimir informação.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para a rede da aula 11: aqui não há erro a minimizar nem backpropagation. Os neurônios competem, e o vencedor (e seus vizinhos) se aproximam do dado.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AUTO-ORGANIZÁVEIS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grade de neurônios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45820" y="18516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77340" y="18516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08860" y="18516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40380" y="18516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71900" y="18516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5820" y="258318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77340" y="2583180"/>
            <a:ext cx="502920" cy="5029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08860" y="2583180"/>
            <a:ext cx="502920" cy="5029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40380" y="2583180"/>
            <a:ext cx="502920" cy="5029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71900" y="258318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5820" y="331470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77340" y="3314700"/>
            <a:ext cx="502920" cy="5029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308860" y="33147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40380" y="3314700"/>
            <a:ext cx="502920" cy="5029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71900" y="331470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5820" y="404622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77340" y="4046220"/>
            <a:ext cx="502920" cy="5029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08860" y="4046220"/>
            <a:ext cx="502920" cy="5029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40380" y="4046220"/>
            <a:ext cx="502920" cy="5029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71900" y="404622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5820" y="477774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577340" y="477774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308860" y="477774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040380" y="477774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71900" y="477774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5440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5 × 5 neurônios. O laranja é o vencedor (BMU); os verde-claros são seus vizinhos.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26480" y="178308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5508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neurônio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355080" y="22860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um vetor de pesos com o mesmo tamanho de um exemplo (4 números na íris).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126480" y="324612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5508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Vizinhança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6355080" y="37490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 próximos na grade devem ficar parecidos entre si; é isso que dá ordem ao mapa.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126480" y="470916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5508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355080" y="52120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exemplo puxa o neurônio mais parecido (e seus vizinhos) na sua direção.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AUTO-ORGANIZÁVEIS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do SOM, passo a passo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1109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7830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Sortear um exemplo x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178308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vetor de dados escolhido ao acaso.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77977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779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6517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 o vencedor (BMU)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26517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neurônio de menor distância ‖x − w‖.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364845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5204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a vizinhança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352044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exp(−d² / 2σ²), com d = distância na grade até o vencedor.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38912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51713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3891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Atualizar os pesos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0" y="438912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+ η · h · (x − w), para todos os neurônios.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25780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538581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2578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Diminuir η e σ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0" y="525780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começo o mapa se ordena; no fim, ajusta os detalhes.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AUTO-ORGANIZÁVEIS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função de vizinhança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 na grade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49300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50468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1636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528048" y="17830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3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3134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504688" y="23134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0.607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516368" y="23134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0.135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28048" y="2313432"/>
            <a:ext cx="1947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0.011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86207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8620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93008" y="28620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04688" y="28620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516368" y="28620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0.607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528048" y="2862072"/>
            <a:ext cx="1947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65760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Vencedor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452628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1: recebe a atualização inteira (η · (x − w)).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347972" y="365760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6572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Vizinhos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76572" y="452628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cai com a distância: quanto mais longe, menos se move.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55864" y="365760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84464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grande ou pequeno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452628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grande: o mapa inteiro se move junto (ordenação global). σ pequeno: só o vencedor muda (ajuste fino).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em NumPy (1/3): preparação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772400" cy="1988820"/>
          </a:xfrm>
          <a:prstGeom prst="roundRect">
            <a:avLst>
              <a:gd name="adj" fmla="val 55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675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som_zero.py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2237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705100"/>
            <a:ext cx="72237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treinar_som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colunas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14650"/>
            <a:ext cx="72237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124200"/>
            <a:ext cx="72237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colunas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72237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jj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meshgrid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colunas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indexing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"ij"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59536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178308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235440" y="21488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Pesos: (linhas, colunas, dimensão).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595360" y="3108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301752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338328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iniciais sorteados no intervalo dos dados.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95360" y="43434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953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35440" y="425196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ii, jj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0" y="46177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de cada neurônio na grade.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4000500"/>
            <a:ext cx="7772400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400050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é um tensor 3D: W[i, j] é o vetor de pesos do neurônio da linha i, coluna j.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em NumPy (2/3): o laço de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040880" cy="3036570"/>
          </a:xfrm>
          <a:prstGeom prst="roundRect">
            <a:avLst>
              <a:gd name="adj" fmla="val 36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som_zero.py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bj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unravel_index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jj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bj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lr, sigma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Decaem com o tempo (frac vai de 0 a 1).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d.argmin()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de x a todos os neurônios; o menor é o vencedor.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+= lr * h * (x - W)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se movem para x, com peso h.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em NumPy (3/3): funções de apoio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1988820"/>
          </a:xfrm>
          <a:prstGeom prst="roundRect">
            <a:avLst>
              <a:gd name="adj" fmla="val 55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som_zero.py (parte 3)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vencedor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unravel_index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12420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erro_quantizacao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vencedor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vencedor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(linha, coluna) do neurônio mais próximo.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0" y="33375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324612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erro_quantizacao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361188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média entre cada dado e seu vencedor. Menor = mapa mais fiel.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000500"/>
            <a:ext cx="7315200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40005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de quantização mede o quanto o mapa “representa” os dados. Ele cai quando os neurônios se espalham pelas regiões onde há dados.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Treinando o SOM na íris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040880" cy="2617470"/>
          </a:xfrm>
          <a:prstGeom prst="roundRect">
            <a:avLst>
              <a:gd name="adj" fmla="val 419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som_zero.py (bloco principal, 1/2)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treinar_som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treinar_som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de quantizacao antes 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erro_quantizacao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64922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de quantizacao depois:"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erro_quantizacao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82712" y="1783080"/>
            <a:ext cx="3566160" cy="1074420"/>
          </a:xfrm>
          <a:prstGeom prst="roundRect">
            <a:avLst>
              <a:gd name="adj" fmla="val 102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838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850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862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897112" y="190195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228600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de quantizacao antes : 0.303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257032" y="245745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de quantizacao depois: 0.105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0080" y="4629150"/>
            <a:ext cx="10911535" cy="1497330"/>
          </a:xfrm>
          <a:prstGeom prst="roundRect">
            <a:avLst>
              <a:gd name="adj" fmla="val 732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4629150"/>
            <a:ext cx="10362895" cy="1497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epocas=0 o mapa é só o sorteio inicial (erro 0,303). Depois de 3000 passos, os neurônios cobrem os dados e o erro cai para 0,105. A íris é normalizada entre 0 e 1 (MinMaxScaler) porque o SOM usa distâncias.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classe cada neurônio representa?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2617470"/>
          </a:xfrm>
          <a:prstGeom prst="roundRect">
            <a:avLst>
              <a:gd name="adj" fmla="val 419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som_zero.py (bloco principal, 2/2)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setdefault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vencedor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"classe predominante em cada neuronio:"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16952" y="1783080"/>
            <a:ext cx="3931920" cy="2407920"/>
          </a:xfrm>
          <a:prstGeom prst="roundRect">
            <a:avLst>
              <a:gd name="adj" fmla="val 45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891272" y="22860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predominante em cada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91272" y="249555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neuronio: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91272" y="27051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2 2 2 2 2 1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891272" y="291465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2 2 1 2 1 2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91272" y="31242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2 2 1 1 1 1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91272" y="333375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2 1 . 1 1 1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891272" y="354330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 0 0 . 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891272" y="3752850"/>
            <a:ext cx="33832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0 0 0 0 0 0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" y="4629150"/>
            <a:ext cx="6766560" cy="1497330"/>
          </a:xfrm>
          <a:prstGeom prst="roundRect">
            <a:avLst>
              <a:gd name="adj" fmla="val 732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4400" y="4629150"/>
            <a:ext cx="6217920" cy="1497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flor achamos o neurônio vencedor e registramos a classe real (só para conferir; o treino não viu rótulos). “.” = neurônio que nenhuma flor escolheu.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O MAPA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como imagem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627632" y="1920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2763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40864" y="1920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40864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54096" y="1920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5409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67328" y="1920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6732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80560" y="1920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14400" y="2633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627632" y="2633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627632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340864" y="2633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340864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054096" y="2633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54096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767328" y="2633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67328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480560" y="2633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80560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14400" y="334670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627632" y="334670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627632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2340864" y="334670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340864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054096" y="334670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054096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767328" y="334670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767328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480560" y="334670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480560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14400" y="405993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" y="4059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627632" y="405993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627632" y="4059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2340864" y="405993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5D3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340864" y="4059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3054096" y="405993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054096" y="4059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3767328" y="405993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767328" y="4059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4480560" y="405993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480560" y="4059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914400" y="47731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5D3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14400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627632" y="47731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5D3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627632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2340864" y="47731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340864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3054096" y="47731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054096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3767328" y="47731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5D3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767328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4480560" y="47731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480560" y="4773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914400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14400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1627632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627632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2340864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2340864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3054096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3054096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3767328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3767328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4480560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480560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5486400" y="2011680"/>
            <a:ext cx="365760" cy="3657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59893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setosa</a:t>
            </a:r>
            <a:endParaRPr lang="en-US" sz="1400" dirty="0"/>
          </a:p>
        </p:txBody>
      </p:sp>
      <p:sp>
        <p:nvSpPr>
          <p:cNvPr id="80" name="Shape 77"/>
          <p:cNvSpPr/>
          <p:nvPr/>
        </p:nvSpPr>
        <p:spPr>
          <a:xfrm>
            <a:off x="5486400" y="2560320"/>
            <a:ext cx="365760" cy="3657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59893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versicolor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5486400" y="3108960"/>
            <a:ext cx="365760" cy="3657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5989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virginica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5669280" y="3840480"/>
            <a:ext cx="5879592" cy="1051560"/>
          </a:xfrm>
          <a:prstGeom prst="roundRect">
            <a:avLst>
              <a:gd name="adj" fmla="val 1043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5852160" y="38404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Setosa isolada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0 ocupa um canto do mapa, longe das outras.</a:t>
            </a:r>
            <a:endParaRPr lang="en-US" sz="1400" dirty="0"/>
          </a:p>
        </p:txBody>
      </p:sp>
      <p:sp>
        <p:nvSpPr>
          <p:cNvPr id="86" name="Shape 83"/>
          <p:cNvSpPr/>
          <p:nvPr/>
        </p:nvSpPr>
        <p:spPr>
          <a:xfrm>
            <a:off x="5669280" y="5029200"/>
            <a:ext cx="5879592" cy="1051560"/>
          </a:xfrm>
          <a:prstGeom prst="roundRect">
            <a:avLst>
              <a:gd name="adj" fmla="val 1043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5852160" y="502920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Versicolor e virginica vizinhas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classes 1 e 2 se misturam na fronteira: na íris elas realmente se sobrepõem.</a:t>
            </a:r>
            <a:endParaRPr lang="en-US" sz="1400" dirty="0"/>
          </a:p>
        </p:txBody>
      </p:sp>
      <p:sp>
        <p:nvSpPr>
          <p:cNvPr id="88" name="Text 8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MINISOM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biblioteca MiniSom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446020"/>
          </a:xfrm>
          <a:prstGeom prst="roundRect">
            <a:avLst>
              <a:gd name="adj" fmla="val 44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som_minisom.py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de quantizacao antes 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quantization_error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de quantizacao depois:"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quantization_error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topografico:"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topographic_error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"vencedor da 1a flor:"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"pesos:"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get_weights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99832" y="1783080"/>
            <a:ext cx="3749040" cy="1588770"/>
          </a:xfrm>
          <a:prstGeom prst="roundRect">
            <a:avLst>
              <a:gd name="adj" fmla="val 69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074152" y="228600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de quantizacao antes : 0.486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245745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de quantizacao depois: 0.086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62890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topografico: 0.04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280035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vencedor da 1a flor: (1, 3)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297180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pesos: (6, 6, 4)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40080" y="4457700"/>
            <a:ext cx="10911535" cy="1668780"/>
          </a:xfrm>
          <a:prstGeom prst="roundRect">
            <a:avLst>
              <a:gd name="adj" fmla="val 657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4457700"/>
            <a:ext cx="10362895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com pip install minisom. O erro topográfico é a fração de exemplos cujos dois melhores neurônios não são vizinhos na grade: 0,04 = 4%, ou seja, a vizinhança foi bem preservada. MiniSom(6, 6, 4): grade 6 × 6, dados com 4 atributos.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MINISOM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U-matrix: onde estão as fronteiras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3373526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2/som_ir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7278624" cy="315407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1874520"/>
            <a:ext cx="274320" cy="2743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4108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setosa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75320" y="2331720"/>
            <a:ext cx="274320" cy="2743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410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 = versicolor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75320" y="2788920"/>
            <a:ext cx="274320" cy="2743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410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= virginica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83880" y="3337560"/>
            <a:ext cx="3364992" cy="1600200"/>
          </a:xfrm>
          <a:prstGeom prst="roundRect">
            <a:avLst>
              <a:gd name="adj" fmla="val 68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21040" y="333756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U-matrix: cada célula mostra a distância média até os vizinhos. Verde-escuro = fronteira entre regiões; claro = região homogênea.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5385206"/>
            <a:ext cx="10911535" cy="741274"/>
          </a:xfrm>
          <a:prstGeom prst="roundRect">
            <a:avLst>
              <a:gd name="adj" fmla="val 1480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4400" y="5385206"/>
            <a:ext cx="10362895" cy="7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escura no centro separa a setosa (esquerda) das outras duas espécies. No painel direito, cada ponto é uma flor posicionada no seu neurônio vencedor (com um pequeno deslocamento para não sobrepor).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MINISOM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SOM de cores: ver a organização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247949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2/som_c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6729984" cy="302849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783080"/>
            <a:ext cx="3730752" cy="1463040"/>
          </a:xfrm>
          <a:prstGeom prst="roundRect">
            <a:avLst>
              <a:gd name="adj" fmla="val 7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0100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cores RGB sorteadas: cada cor é um ponto 3D (vermelho, verde, azul).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818120" y="3383280"/>
            <a:ext cx="3730752" cy="1463040"/>
          </a:xfrm>
          <a:prstGeom prst="roundRect">
            <a:avLst>
              <a:gd name="adj" fmla="val 7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0100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01000" y="3886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mapa 10 × 10 em que cores parecidas ficam lado a lado, com transições suaves.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259629"/>
            <a:ext cx="10911535" cy="866851"/>
          </a:xfrm>
          <a:prstGeom prst="roundRect">
            <a:avLst>
              <a:gd name="adj" fmla="val 1265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4400" y="5259629"/>
            <a:ext cx="10362895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rótulo, nenhuma cor “conhecida”: a organização surge só da competição entre neurônios e da vizinhança. É o efeito de auto-organização.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MINISOM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do SOM de cores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255520"/>
          </a:xfrm>
          <a:prstGeom prst="roundRect">
            <a:avLst>
              <a:gd name="adj" fmla="val 486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som_cores.py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200 cores RGB aleatorias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antes 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quantization_error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depois:"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quantization_error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 do neuronio (0, 0):"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get_weights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 do neuronio (0, 1):"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get_weights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799832" y="1783080"/>
            <a:ext cx="374904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074152" y="2286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antes : 0.29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074152" y="2476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depois: 0.132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2667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 do neuronio (0, 0):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857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[0.8  0.49 0.91]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30480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 do neuronio (0, 1):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3238500"/>
            <a:ext cx="320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[0.85 0.56 0.86]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4267200"/>
            <a:ext cx="10911535" cy="1859280"/>
          </a:xfrm>
          <a:prstGeom prst="roundRect">
            <a:avLst>
              <a:gd name="adj" fmla="val 590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4267200"/>
            <a:ext cx="10362895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primeiros neurônios vizinhos têm cores quase iguais ([0.8, 0.49, 0.91] e [0.85, 0.56, 0.86]). A topologia se preservou. sigma=3.0 no começo ordena o mapa todo.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ou K-means?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rótulo de grupo por ponto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posição num mapa 2D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916936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9169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Vizinhança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916936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independentes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916936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 vizinhos se parecem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52044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principal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52044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52044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e exploração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123944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1239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123944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dos grupos, em lote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123944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exemplo por vez, com vizinhança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72744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7274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4727448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(número de grupos)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4727448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mapa, σ e η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5559552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559552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podem se combinar: usar o SOM para enxergar os dados e o K-means sobre os pesos do mapa para formar grupos.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Dimensionalidade: quando há atributos demais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dá para desenhar 64 dimensões (dígitos) nem 4 (íris). Projetar em 2 permite ver os dados.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Comprimir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atributos são redundantes. Poucos componentes podem guardar quase toda a informação.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Acelerar e limpar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atributos tornam o treino mais rápido e podem reduzir ruído.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(Análise de Componentes Principais) cria novos atributos, combinações dos antigos, ordenados pela quantidade de variação que explicam. Foi proposto por Karl Pearson em 1901 e é um dos métodos mais usados até hoje.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ideia: achar a direção de maior variação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574871" y="4258604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1105" y="3472948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98463" y="3581151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38356" y="2772613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73214" y="393871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82796" y="3509913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39990" y="4731398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71703" y="3272866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4445" y="4214553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03392" y="3381207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50458" y="3475133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36087" y="4534511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982" y="3811171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76232" y="4098953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01031" y="3590685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24216" y="3713381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73319" y="3658278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71610" y="4224877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95755" y="4446251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631432" y="446056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87512" y="335427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02583" y="4175630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36224" y="4260598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72231" y="356224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98374" y="271167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87823" y="3968815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69328" y="433798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86556" y="3812387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4352" y="3386740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80263" y="3314161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684727" y="5240098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61868" y="380975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113539" y="3825715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037144" y="2942996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673164" y="289501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032783" y="464104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810056" y="468583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828597" y="4574816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336704" y="332757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947051" y="445433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548884" y="395874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163947" y="3207674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234318" y="3709120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927126" y="3695940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014487" y="3478260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903092" y="441386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303575" y="3024694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836267" y="3851333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13917" y="4991256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661623" y="3812323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32876" y="463477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5009" y="4771207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113258" y="4818717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954152" y="437372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380892" y="4646587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691418" y="4503065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444105" y="3852405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580919" y="3499283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565110" y="446904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851506" y="4428428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578960" y="3411216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084293" y="3431381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892448" y="400776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004155" y="5124255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435929" y="3426180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396979" y="3971002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807867" y="2916578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560614" y="4399849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960457" y="3498817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681733" y="4301468"/>
            <a:ext cx="128016" cy="128016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V="1">
            <a:off x="1479760" y="2792115"/>
            <a:ext cx="4172800" cy="2279611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127773" y="3129459"/>
            <a:ext cx="876773" cy="1604923"/>
          </a:xfrm>
          <a:prstGeom prst="line">
            <a:avLst/>
          </a:prstGeom>
          <a:noFill/>
          <a:ln w="38100">
            <a:solidFill>
              <a:srgbClr val="D6336C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93776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1</a:t>
            </a:r>
            <a:endParaRPr lang="en-US" sz="1200" dirty="0"/>
          </a:p>
        </p:txBody>
      </p:sp>
      <p:sp>
        <p:nvSpPr>
          <p:cNvPr id="80" name="Text 77"/>
          <p:cNvSpPr txBox="1"/>
          <p:nvPr/>
        </p:nvSpPr>
        <p:spPr>
          <a:xfrm>
            <a:off x="301752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2</a:t>
            </a:r>
            <a:endParaRPr lang="en-US" sz="1200" dirty="0"/>
          </a:p>
        </p:txBody>
      </p:sp>
      <p:sp>
        <p:nvSpPr>
          <p:cNvPr id="81" name="Shape 78"/>
          <p:cNvSpPr/>
          <p:nvPr/>
        </p:nvSpPr>
        <p:spPr>
          <a:xfrm>
            <a:off x="6675120" y="1783080"/>
            <a:ext cx="487375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90372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1</a:t>
            </a:r>
            <a:endParaRPr lang="en-US" sz="1500" dirty="0"/>
          </a:p>
        </p:txBody>
      </p:sp>
      <p:sp>
        <p:nvSpPr>
          <p:cNvPr id="83" name="Text 80"/>
          <p:cNvSpPr txBox="1"/>
          <p:nvPr/>
        </p:nvSpPr>
        <p:spPr>
          <a:xfrm>
            <a:off x="6903720" y="22860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 ao longo da qual os dados mais se espalham: a direção de maior variância.</a:t>
            </a:r>
            <a:endParaRPr lang="en-US" sz="1300" dirty="0"/>
          </a:p>
        </p:txBody>
      </p:sp>
      <p:sp>
        <p:nvSpPr>
          <p:cNvPr id="84" name="Shape 81"/>
          <p:cNvSpPr/>
          <p:nvPr/>
        </p:nvSpPr>
        <p:spPr>
          <a:xfrm>
            <a:off x="6675120" y="3246120"/>
            <a:ext cx="487375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903720" y="3337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2</a:t>
            </a:r>
            <a:endParaRPr lang="en-US" sz="1500" dirty="0"/>
          </a:p>
        </p:txBody>
      </p:sp>
      <p:sp>
        <p:nvSpPr>
          <p:cNvPr id="86" name="Text 83"/>
          <p:cNvSpPr txBox="1"/>
          <p:nvPr/>
        </p:nvSpPr>
        <p:spPr>
          <a:xfrm>
            <a:off x="6903720" y="3749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à primeira; captura a maior variação que sobrou.</a:t>
            </a:r>
            <a:endParaRPr lang="en-US" sz="1300" dirty="0"/>
          </a:p>
        </p:txBody>
      </p:sp>
      <p:sp>
        <p:nvSpPr>
          <p:cNvPr id="87" name="Shape 84"/>
          <p:cNvSpPr/>
          <p:nvPr/>
        </p:nvSpPr>
        <p:spPr>
          <a:xfrm>
            <a:off x="6675120" y="4709160"/>
            <a:ext cx="487375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90372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Projetar</a:t>
            </a:r>
            <a:endParaRPr lang="en-US" sz="1500" dirty="0"/>
          </a:p>
        </p:txBody>
      </p:sp>
      <p:sp>
        <p:nvSpPr>
          <p:cNvPr id="89" name="Text 86"/>
          <p:cNvSpPr txBox="1"/>
          <p:nvPr/>
        </p:nvSpPr>
        <p:spPr>
          <a:xfrm>
            <a:off x="6903720" y="52120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cada ponto por sua posição nesses eixos. Guardar só os primeiros componentes reduz as dimensões.</a:t>
            </a:r>
            <a:endParaRPr lang="en-US" sz="1300" dirty="0"/>
          </a:p>
        </p:txBody>
      </p:sp>
      <p:sp>
        <p:nvSpPr>
          <p:cNvPr id="90" name="Text 8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em cinco passos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1109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7830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Subtrair a média de cada atributo.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17830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= X − X.mean(0)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65176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77977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79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Covariância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6517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atributos variam juntos.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265176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np.cov(Xc, rowvar=False)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52044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364845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554480" y="35204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Autovetores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52044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Direções (autovetores) e variâncias (autovalores) de C.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35204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np.linalg.eigh(C)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438912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" y="451713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554480" y="43891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840480" y="438912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maior autovalor para o menor.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138160" y="43891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argsort(...)[::-1]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525780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2960" y="5385816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554480" y="52578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Projetar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3840480" y="52578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pelos k primeiros autovetores.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138160" y="5257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Xc @ V[:, :k]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em NumPy, na íris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412480" cy="3036570"/>
          </a:xfrm>
          <a:prstGeom prst="roundRect">
            <a:avLst>
              <a:gd name="adj" fmla="val 36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pca_zero.py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centralizar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rowvar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matriz de covariancia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eigh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autovalores e autovetores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argsort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do maior para o menor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"autovalores:"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"variancia explicada:"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5) projetar em 2 componentes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"forma de Z:"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"primeira flor em 2D:"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4183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418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0" y="17830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eigh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0" y="214884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matrizes simétricas, como a covariância.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 variância cada componente guarda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1569720"/>
          </a:xfrm>
          <a:prstGeom prst="roundRect">
            <a:avLst>
              <a:gd name="adj" fmla="val 699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8463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autovalores: [4.228 0.243 0.078 0.024]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48463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variancia explicada: [0.925 0.053 0.017 0.005]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48463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 de Z: (150, 2)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48463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primeira flor em 2D: [2.684 0.319]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1783080"/>
            <a:ext cx="514807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10528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56448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Autovalor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893808" y="178308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2313432"/>
            <a:ext cx="5148072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10528" y="23134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156448" y="2313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4.228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893808" y="2313432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92.5%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2770632"/>
            <a:ext cx="514807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10528" y="27706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156448" y="2770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0.243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893808" y="2770632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0" y="3227832"/>
            <a:ext cx="514807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10528" y="32278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156448" y="32278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0.078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893808" y="3227832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0" y="3685032"/>
            <a:ext cx="514807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10528" y="36850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156448" y="3685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0.024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9893808" y="3685032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0080" y="4206240"/>
            <a:ext cx="10911535" cy="1920240"/>
          </a:xfrm>
          <a:prstGeom prst="roundRect">
            <a:avLst>
              <a:gd name="adj" fmla="val 571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14400" y="4206240"/>
            <a:ext cx="103628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componente sozinho guarda 92,5% da variação da íris (sem padronizar) e os dois primeiros, 97,8%. As 4 medidas são muito correlacionadas, por isso quase tudo cabe em 2 dimensões. Cada flor passou de 4 números para 2 (a primeira, para (2,684; 0,319)).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SCIKIT-LEARN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com scikit-learn (e padronizando)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2636520"/>
          </a:xfrm>
          <a:prstGeom prst="roundRect">
            <a:avLst>
              <a:gd name="adj" fmla="val 416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pca_sklearn.py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n_components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"variancia explicada:"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explained_variance_ratio_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explained_variance_ratio_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"componente 1:"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"componente 2:"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inverse_transform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de reconstrucao:"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138160" y="1783080"/>
            <a:ext cx="3410712" cy="1931670"/>
          </a:xfrm>
          <a:prstGeom prst="roundRect">
            <a:avLst>
              <a:gd name="adj" fmla="val 568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3932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4049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4166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52560" y="1901952"/>
            <a:ext cx="2313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86000"/>
            <a:ext cx="28620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variancia explicada: [0.73  0.229]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412480" y="2457450"/>
            <a:ext cx="28620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soma: 0.958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628900"/>
            <a:ext cx="28620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 1: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2800350"/>
            <a:ext cx="28620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[ 0.52 -0.27  0.58  0.56]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2971800"/>
            <a:ext cx="28620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 2: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412480" y="3143250"/>
            <a:ext cx="28620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[0.38 0.92 0.02 0.07]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3314700"/>
            <a:ext cx="28620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de reconstrucao: 0.042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4648200"/>
            <a:ext cx="10911535" cy="1478280"/>
          </a:xfrm>
          <a:prstGeom prst="roundRect">
            <a:avLst>
              <a:gd name="adj" fmla="val 742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4400" y="4648200"/>
            <a:ext cx="10362895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Padronizando, o primeiro componente cai de 92,5% para 73,0%: sem escala, o atributo de maior valor numérico domina. Os dois componentes somam 95,8%.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são os componentes?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127248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sépala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230368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Larg. sépala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33488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pétala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436608" y="17830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Larg. pétala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(73,0%)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127248" y="23134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230368" y="23134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−0.27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333488" y="23134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0.58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436608" y="2313432"/>
            <a:ext cx="2039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86207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8620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(22,9%)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127248" y="286207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0.38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286207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333488" y="286207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436608" y="2862072"/>
            <a:ext cx="2039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47472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1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43434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sépala e pétala com sinais parecidos (0,52; 0,58; 0,56) e a largura da sépala com sinal oposto. Funciona como um “tamanho geral” da flor.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347972" y="347472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6572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76572" y="43434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só largura da sépala (0,92): captura a variação que o componente 1 não explica.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55864" y="347472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84464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43434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é uma mistura. O sinal e a escala são arbitrários, e interpretar exige olhar os pesos.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íris vista em 2 dimensões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86400" cy="4068377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2/pca_ir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5266944" cy="384892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0" y="1783080"/>
            <a:ext cx="51480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62940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Setosa à parte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629400" y="2286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espécie setosa fica bem separada das outras no primeiro componente.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0" y="3246120"/>
            <a:ext cx="5148072" cy="1325880"/>
          </a:xfrm>
          <a:prstGeom prst="roundRect">
            <a:avLst>
              <a:gd name="adj" fmla="val 827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9400" y="3337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espécies se tocam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37490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e virginica têm uma zona de sobreposição, como no SOM.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4709160"/>
            <a:ext cx="51480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2940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95,8% preservados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52120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 guardam quase toda a variação das quatro.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DÍGITOS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componentes manter?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28800"/>
          <a:ext cx="6126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315200" y="1783080"/>
            <a:ext cx="423367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2492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guardada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802368" y="17830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0" y="2313432"/>
            <a:ext cx="423367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24928" y="2313432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802368" y="2313432"/>
            <a:ext cx="1673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0" y="2816352"/>
            <a:ext cx="423367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24928" y="2816352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9802368" y="2816352"/>
            <a:ext cx="1673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0" y="3319272"/>
            <a:ext cx="423367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24928" y="3319272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802368" y="3319272"/>
            <a:ext cx="1673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315200" y="4023360"/>
            <a:ext cx="4233672" cy="2103120"/>
          </a:xfrm>
          <a:prstGeom prst="roundRect">
            <a:avLst>
              <a:gd name="adj" fmla="val 521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589520" y="4023360"/>
            <a:ext cx="36850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64 pixels de cada dígito podem ser resumidos em 29 componentes com 95% da variação. Escolher o número de componentes é um compromisso entre compressão e perda de informação.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DÍGITOS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Contando componentes e agrupando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589020"/>
          </a:xfrm>
          <a:prstGeom prst="roundRect">
            <a:avLst>
              <a:gd name="adj" fmla="val 30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pca_digitos.py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load_digits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16.0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explained_variance_ratio_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 da variancia:"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"componentes"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ari64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adjusted_rand_score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"K-means nos 64 pixels, ARI:"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ari64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n_components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7625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ari20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adjusted_rand_score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953000"/>
            <a:ext cx="6400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"K-means em 20 componentes, ARI:"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ari20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99832" y="1783080"/>
            <a:ext cx="3749040" cy="1760220"/>
          </a:xfrm>
          <a:prstGeom prst="roundRect">
            <a:avLst>
              <a:gd name="adj" fmla="val 62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228600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80 % da variancia: 13 componentes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074152" y="245745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90 % da variancia: 21 componentes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074152" y="262890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95 % da variancia: 29 componentes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074152" y="280035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K-means nos 64 pixels, ARI: 0.666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074152" y="297180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K-means em 20 componentes,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074152" y="314325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ARI: 0.668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0080" y="5554980"/>
            <a:ext cx="10911535" cy="571500"/>
          </a:xfrm>
          <a:prstGeom prst="roundRect">
            <a:avLst>
              <a:gd name="adj" fmla="val 192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5554980"/>
            <a:ext cx="103628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do K-means é praticamente o mesmo (0,666 e 0,668) usando 20 em vez de 64 atributos: PCA comprime sem estragar o agrupamento. Mas nem o K-means nem a PCA acham os 10 dígitos perfeitamente (ARI &lt; 1).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DÍGITOS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dígitos em 2 componentes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20640" cy="4178105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2/pca_digi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4901184" cy="395864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35040" y="1783080"/>
            <a:ext cx="5513832" cy="1325880"/>
          </a:xfrm>
          <a:prstGeom prst="roundRect">
            <a:avLst>
              <a:gd name="adj" fmla="val 827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6364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28,5%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22860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componentes guardam 28,5% da variância dos 64 pixels: pouca informação, então haverá sobreposição.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3246120"/>
            <a:ext cx="551383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6364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útil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3749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assim a projeção mostra que dígitos iguais tendem a ficar próximos, sem usar rótulos no cálculo.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4709160"/>
            <a:ext cx="551383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6364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Cores = rótulos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52120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cores só foram aplicadas depois, para conferir. A PCA não as viu.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Segmentação de clientes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Problema: uma loja quer campanhas diferentes para tipos diferentes de cliente, mas não tem nenhuma classificação pronta.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8404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renda mensal e uma nota de gasto de 0 a 100 para 300 clientes. Dados fictícios gerados para a aula.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7972" y="329184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6572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6572" y="38404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os atributos e aplicar K-means com k = 3 dentro de um pipeline.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55864" y="329184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84464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38404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silhueta e descrever cada segmento pelas médias de idade, renda e gasto.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1411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vida real os dados vêm de um cadastro, e escolher k seria parte do trabalho (aula de hoje: inércia e silhueta).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Segmentação (1/2): gerando os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2407920"/>
          </a:xfrm>
          <a:prstGeom prst="roundRect">
            <a:avLst>
              <a:gd name="adj" fmla="val 45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segmentacao.py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gasto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column_stack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gasto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vstack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"renda"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"gasto"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17830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21488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renda, gasto e tamanho de 3 perfis escondidos.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412480" y="31546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306324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rng.normal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052560" y="342900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varia em torno do perfil.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412480" y="44348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052560" y="43434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052560" y="470916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300 clientes, sem a coluna do perfil.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4419600"/>
            <a:ext cx="7498080" cy="1706880"/>
          </a:xfrm>
          <a:prstGeom prst="roundRect">
            <a:avLst>
              <a:gd name="adj" fmla="val 64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4419600"/>
            <a:ext cx="694944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K-means não verá os perfis usados para gerar os dados: ele só recebe a tabela.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Segmentação (2/2): agrupar e descrever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2255520"/>
          </a:xfrm>
          <a:prstGeom prst="roundRect">
            <a:avLst>
              <a:gd name="adj" fmla="val 486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segmentacao.py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"segmento"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fit_predict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"renda"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"gasto"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"silhueta:"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"segmento"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"segmento"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"size"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"mean"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"renda"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"mean"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65836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"gasto"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"mean"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82712" y="1783080"/>
            <a:ext cx="3566160" cy="1760220"/>
          </a:xfrm>
          <a:prstGeom prst="roundRect">
            <a:avLst>
              <a:gd name="adj" fmla="val 62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838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850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862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897112" y="190195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(colunas resumidas)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228600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silhueta: 0.597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245745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clientes idade renda gasto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257032" y="262890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257032" y="280035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0   100  44.9  9089.8  29.3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257032" y="297180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1   100  23.7  2488.6  68.9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257032" y="3143250"/>
            <a:ext cx="3017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2   100  37.7  4852.5  55.4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40080" y="4267200"/>
            <a:ext cx="10911535" cy="1859280"/>
          </a:xfrm>
          <a:prstGeom prst="roundRect">
            <a:avLst>
              <a:gd name="adj" fmla="val 590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4267200"/>
            <a:ext cx="10362895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make_pipeline(StandardScaler(), KMeans(...)) garante que a escala usada no treino seja a mesma usada para novos clientes (aula 09). A numeração dos segmentos (0, 1, 2) é arbitrária.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Dando nome aos segmentos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121408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401568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498848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(R$)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61888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242048" y="17830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2313432"/>
            <a:ext cx="10908792" cy="539496"/>
          </a:xfrm>
          <a:prstGeom prst="roundRect">
            <a:avLst>
              <a:gd name="adj" fmla="val 135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2313432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121408" y="2313432"/>
            <a:ext cx="1097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01568" y="2313432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23,7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8848" y="2313432"/>
            <a:ext cx="1280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2 488,6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961888" y="2313432"/>
            <a:ext cx="1097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68,9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242048" y="2313432"/>
            <a:ext cx="42336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Jovens, renda baixa, gasto alto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2907792"/>
            <a:ext cx="10908792" cy="539496"/>
          </a:xfrm>
          <a:prstGeom prst="roundRect">
            <a:avLst>
              <a:gd name="adj" fmla="val 13559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2907792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2121408" y="2907792"/>
            <a:ext cx="1097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401568" y="2907792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37,7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498848" y="2907792"/>
            <a:ext cx="1280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4 852,5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961888" y="2907792"/>
            <a:ext cx="1097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55,4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242048" y="2907792"/>
            <a:ext cx="42336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Intermediários em tudo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" y="3502152"/>
            <a:ext cx="10908792" cy="539496"/>
          </a:xfrm>
          <a:prstGeom prst="roundRect">
            <a:avLst>
              <a:gd name="adj" fmla="val 135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" y="3502152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2121408" y="3502152"/>
            <a:ext cx="1097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401568" y="3502152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44,9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498848" y="3502152"/>
            <a:ext cx="1280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9 089,8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961888" y="3502152"/>
            <a:ext cx="1097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29,3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242048" y="3502152"/>
            <a:ext cx="42336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velhos, renda alta, gasto baixo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429768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nomes e as ações (por exemplo, promoções parceladas para o segmento 1 e produtos premium para o segmento 0) são decisões humanas: o algoritmo só agrupou números. Silhueta 0,597: grupos razoavelmente separados.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usar agrupamento e redução de dimensão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e CRM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clientes, personalização de ofertas, análise de comportamento.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Exploração de dados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um conjunto novo antes de modelar: SOM e PCA mostram estrutura e redundância.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Pré-processamento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para reduzir atributos antes de outro modelo; agrupamento para criar atributos novos.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 de anomalias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distantes de todos os grupos (ou ruído no DBSCAN) merecem investigação.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 ÉTICA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ao agrupar pessoas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não são verdades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k, a escala ou o algoritmo muda os grupos. Todo agrupamento é uma interpretação.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de discriminação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por atributos sensíveis ou seus substitutos pode excluir ou prejudicar grupos (aula 01).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de clientes exigem base legal e minimização (LGPD).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Explicar o resultado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os segmentos com números e valide com quem conhece o negócio antes de agir.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Esquecer a escala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SOM e PCA usam distâncias e variâncias. Padronize (StandardScaler ou MinMaxScaler).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uma vez só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n_init e k-means++, ou várias sementes, e compare a inércia.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k por palpite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inércia e silhueta e confirme com o conhecimento do problema.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grupos como rótulos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dos grupos são arbitrários; sem validação, não são “classes” reais.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 e centroide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17830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(3, 4) está mais perto de qual centroide: (0, 0) ou (5, 5)? Calcule as duas distâncias.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k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28803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make_blobs(300 pontos, 4 centros, cluster_std=1.2, random_state=7) e calcule a silhueta para k de 2 a 6. Qual k vence?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nos dígitos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39776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pixels divididos por 16, quantos componentes são necessários para guardar 99% da variância?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 do mapa SOM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389120" y="50749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MiniSom 3 × 3 e 8 × 8 na íris (3000 iterações) e compare os erros de quantização e topográfico.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569720"/>
          </a:xfrm>
          <a:prstGeom prst="roundRect">
            <a:avLst>
              <a:gd name="adj" fmla="val 699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linalg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"distancias:"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 centroide"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535680"/>
            <a:ext cx="6949440" cy="1779270"/>
          </a:xfrm>
          <a:prstGeom prst="roundRect">
            <a:avLst>
              <a:gd name="adj" fmla="val 61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37185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37185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3584" y="37185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36545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386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make_blobs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n_samples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cluster_std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481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4577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6672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8768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99832" y="1783080"/>
            <a:ext cx="3749040" cy="1569720"/>
          </a:xfrm>
          <a:prstGeom prst="roundRect">
            <a:avLst>
              <a:gd name="adj" fmla="val 699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55280" y="1783080"/>
            <a:ext cx="3474720" cy="156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Distâncias 5,00 e 2,24: o ponto fica com o centroide (5, 5).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799832" y="3535680"/>
            <a:ext cx="3749040" cy="347472"/>
          </a:xfrm>
          <a:prstGeom prst="roundRect">
            <a:avLst>
              <a:gd name="adj" fmla="val 26316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09560" y="35356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3535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99832" y="3956304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09560" y="3956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956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0.583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99832" y="4285488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09560" y="4285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006840" y="4285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0.745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799832" y="4614672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909560" y="4614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006840" y="4614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0.767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799832" y="4943856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909560" y="4943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9006840" y="4943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0.677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799832" y="5273040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909560" y="527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9006840" y="527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0.598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40080" y="5711952"/>
            <a:ext cx="10911535" cy="457200"/>
          </a:xfrm>
          <a:prstGeom prst="roundRect">
            <a:avLst>
              <a:gd name="adj" fmla="val 24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" y="5711952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vence (0,767), que é o número de centros gerados.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360170"/>
          </a:xfrm>
          <a:prstGeom prst="roundRect">
            <a:avLst>
              <a:gd name="adj" fmla="val 80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load_digits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explained_variance_ratio_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"99% da variancia:"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"componentes"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326130"/>
            <a:ext cx="6949440" cy="1988820"/>
          </a:xfrm>
          <a:prstGeom prst="roundRect">
            <a:avLst>
              <a:gd name="adj" fmla="val 55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350901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2416" y="350901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350901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54480" y="344500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290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386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481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MiniSom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4577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6672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"{n}x{n}: quantizacao"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quantization_error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8768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topografico"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topographic_error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99832" y="1783080"/>
            <a:ext cx="3749040" cy="1360170"/>
          </a:xfrm>
          <a:prstGeom prst="roundRect">
            <a:avLst>
              <a:gd name="adj" fmla="val 80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55280" y="1783080"/>
            <a:ext cx="3474720" cy="1360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componentes (de 64) guardam 99% da variância.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799832" y="332613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09560" y="332613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823960" y="332613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241280" y="332613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Topográfico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799832" y="3856482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09560" y="385648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3×3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823960" y="385648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0.156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241280" y="385648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0.047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99832" y="4313682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909560" y="431368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8×8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823960" y="431368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0" y="431368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0.113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799832" y="4880610"/>
            <a:ext cx="3749040" cy="1245870"/>
          </a:xfrm>
          <a:prstGeom prst="roundRect">
            <a:avLst>
              <a:gd name="adj" fmla="val 880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74152" y="4880610"/>
            <a:ext cx="320040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maior: erro de quantização menor (mais neurônios para representar os dados), mas erro topográfico maior (vizinhança menos preservada).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12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rótulos, agrupamos por distância: K-means alterna atribuir e recalcular médias.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k com inércia e silhueta, padronize os atributos e use k-means++ com n_init.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acha grupos de qualquer forma; SOM organiza os dados num mapa 2D.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reduz dimensões guardando a maior variância, útil para ver e comprimir dados.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reconhecimento de imagem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Tendências, escolha de técnicas e projeto final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rode a segmentação com k = 2 e k = 4 para comparar as silhuetas. Na aula 13, um agente que aprende por tentativa e erro, sem dados prontos.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12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12 - Agrupamento e reconhecimento de padroes</dc:title>
  <dc:subject>PptxGenJS Presentation</dc:subject>
  <dc:creator>Inteligência Artificial</dc:creator>
  <cp:lastModifiedBy>Inteligência Artificial</cp:lastModifiedBy>
  <cp:revision>1</cp:revision>
  <dcterms:created xsi:type="dcterms:W3CDTF">2026-10-08T13:17:40Z</dcterms:created>
  <dcterms:modified xsi:type="dcterms:W3CDTF">2026-10-08T13:17:40Z</dcterms:modified>
</cp:coreProperties>
</file>