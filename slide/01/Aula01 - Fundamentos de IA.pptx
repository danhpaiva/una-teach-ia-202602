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Resultado: custo = x²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= x²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-3.0</c:v>
                  </c:pt>
                  <c:pt idx="1">
                    <c:v>-2.5</c:v>
                  </c:pt>
                  <c:pt idx="2">
                    <c:v>-2.0</c:v>
                  </c:pt>
                  <c:pt idx="3">
                    <c:v>-1.5</c:v>
                  </c:pt>
                  <c:pt idx="4">
                    <c:v>-1.0</c:v>
                  </c:pt>
                  <c:pt idx="5">
                    <c:v>-0.5</c:v>
                  </c:pt>
                  <c:pt idx="6">
                    <c:v>0.0</c:v>
                  </c:pt>
                  <c:pt idx="7">
                    <c:v>0.5</c:v>
                  </c:pt>
                  <c:pt idx="8">
                    <c:v>1.0</c:v>
                  </c:pt>
                  <c:pt idx="9">
                    <c:v>1.5</c:v>
                  </c:pt>
                  <c:pt idx="10">
                    <c:v>2.0</c:v>
                  </c:pt>
                  <c:pt idx="11">
                    <c:v>2.5</c:v>
                  </c:pt>
                  <c:pt idx="12">
                    <c:v>3.0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6.25</c:v>
                </c:pt>
                <c:pt idx="2">
                  <c:v>4</c:v>
                </c:pt>
                <c:pt idx="3">
                  <c:v>2.25</c:v>
                </c:pt>
                <c:pt idx="4">
                  <c:v>1</c:v>
                </c:pt>
                <c:pt idx="5">
                  <c:v>0.25</c:v>
                </c:pt>
                <c:pt idx="6">
                  <c:v>0</c:v>
                </c:pt>
                <c:pt idx="7">
                  <c:v>0.25</c:v>
                </c:pt>
                <c:pt idx="8">
                  <c:v>1</c:v>
                </c:pt>
                <c:pt idx="9">
                  <c:v>2.25</c:v>
                </c:pt>
                <c:pt idx="10">
                  <c:v>4</c:v>
                </c:pt>
                <c:pt idx="11">
                  <c:v>6.25</c:v>
                </c:pt>
                <c:pt idx="12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IA, ética e ambiente Python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conceito ao primeiro script rodando no VS Code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5477256"/>
            <a:ext cx="402336" cy="402336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557784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43584" y="5394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265176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0" y="5477256"/>
            <a:ext cx="402336" cy="402336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557784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255264" y="5394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66344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5477256"/>
            <a:ext cx="402336" cy="402336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5577840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66944" y="5394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67512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66560" y="5477256"/>
            <a:ext cx="402336" cy="402336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557784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78624" y="5394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868680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778240" y="5477256"/>
            <a:ext cx="402336" cy="402336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557784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290304" y="53949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(e o que não é) IA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488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formas de definir inteligência em máquinas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761488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6700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pouco de história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303580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Turing, em 1950, à IA generativa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648456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5570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× Machine Learning × Deep Learning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9227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termos se encaixam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535424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535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4439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e regulação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80974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Viés, privacidade, LGPD e o que o desenvolvedor deve fazer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542239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53309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Prática: ambiente e primeiros scripts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56967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venv, NumPy, Pandas, Matplotlib e um chatbot de regras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498080" y="1783080"/>
            <a:ext cx="4050792" cy="4343400"/>
          </a:xfrm>
          <a:prstGeom prst="roundRect">
            <a:avLst>
              <a:gd name="adj" fmla="val 2709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 final você será capaz de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772400" y="2651760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412" y="2747772"/>
            <a:ext cx="192024" cy="192024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32104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IA, ML e DL com exemplos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7772400" y="3502152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412" y="3598164"/>
            <a:ext cx="192024" cy="19202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321040" y="34564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Apontar riscos éticos e legais de um sistema de IA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7772400" y="4352544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412" y="4448556"/>
            <a:ext cx="192024" cy="19202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321040" y="430682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um ambiente Python reproduzível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7772400" y="5202936"/>
            <a:ext cx="384048" cy="384048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8412" y="5298948"/>
            <a:ext cx="192024" cy="19202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8321040" y="515721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NumPy, Pandas e Matplotlib no VS Code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Inteligência Artificial?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como humanos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o raciocínio humano (ciência cognitiva): como a mente resolve problemas?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Agir como humanos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no Teste de Turing: conversar de modo indistinguível de uma pessoa.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Pensar racionalmente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 “leis do pensamento”: chegar a conclusões corretas a partir de premissas.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DA DISCIPLINA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7159752" y="44165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Agir racionalmente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racional: age para atingir o melhor resultado esperado. É a nossa abordagem.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Russell &amp; Norvig (Inteligência Artificial: uma abordagem moderna): eixos pensar/agir × humano/racional.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Teste de Turing: agir como humano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jogo da imitação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146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propôs o teste em 1950, no artigo “Computing Machinery and Intelligence”.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interrogador conversa por texto com duas entidades ocultas: uma pessoa e uma máquina.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ele não consegue dizer quem é quem, a máquina “passou”.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 clássica: o argumento do Quarto Chinês (Searle, 1980) — imitar respostas não prova compreensão.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75120" y="3520440"/>
            <a:ext cx="822960" cy="8229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37261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5508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Interrogador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3931920"/>
            <a:ext cx="109728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595360" y="2880360"/>
            <a:ext cx="0" cy="21031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95360" y="2880360"/>
            <a:ext cx="11887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595360" y="4983480"/>
            <a:ext cx="11887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9875520" y="2468880"/>
            <a:ext cx="822960" cy="8229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0" y="26746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5554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875520" y="4572000"/>
            <a:ext cx="822960" cy="8229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47777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5548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5836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“Quem é a máquina?”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Setenta anos de IA em oito marcos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publica “Computing Machinery and Intelligence”.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22599" y="17830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05479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605479" y="24688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de Dartmouth: John McCarthy cunha o termo “inteligência artificial”.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05118" y="17830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87998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1966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387998" y="24688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(Weizenbaum, MIT): chatbot baseado em regras.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987638" y="17830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70518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1980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9170518" y="24688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dos sistemas especialistas, seguido de um novo “inverno”.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9776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6634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Blue, da IBM, vence Garry Kasparov no xadrez.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422599" y="39776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05479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3605479" y="46634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vence a ImageNet: o deep learning decola.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05118" y="39776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87998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387998" y="46634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vence Lee Sedol no jogo de Go.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987638" y="39776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70518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2017–2022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9170518" y="46634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e LLMs; ChatGPT populariza a IA generativa.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picos de entusiasmo houve os “invernos da IA” (anos 1970 e fim dos 1980): expectativas infladas, cortes de financiamento.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IA, Machine Learning e Deep Learning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280160" y="1783080"/>
            <a:ext cx="4297680" cy="429768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20240" y="2926080"/>
            <a:ext cx="3017520" cy="301752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06040" y="4023360"/>
            <a:ext cx="1645920" cy="1645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830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389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533095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031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7804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178040" y="23134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técnica que faça máquinas exibirem comportamento inteligente: busca, regras, lógica, aprendizado.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17920" y="3291840"/>
            <a:ext cx="533095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46520" y="347472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6118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7804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7178040" y="38221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aprendem padrões a partir de dados, em vez de regras escritas à mão.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217920" y="4800600"/>
            <a:ext cx="5330952" cy="1371600"/>
          </a:xfrm>
          <a:prstGeom prst="roundRect">
            <a:avLst>
              <a:gd name="adj" fmla="val 8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498348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12064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7804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178040" y="53309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com redes neurais profundas. Domina imagem, voz e texto.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famílias de técnicas de 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154680"/>
          </a:xfrm>
          <a:prstGeom prst="roundRect">
            <a:avLst>
              <a:gd name="adj" fmla="val 347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945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Simbólica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explícito: regras, lógica e busca. Raciocínio legível e explicável.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02, 04 a 06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47972" y="1783080"/>
            <a:ext cx="3493008" cy="3154680"/>
          </a:xfrm>
          <a:prstGeom prst="roundRect">
            <a:avLst>
              <a:gd name="adj" fmla="val 347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22292" y="2011680"/>
            <a:ext cx="731520" cy="7315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72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22292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Conexionista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622292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Neurônios artificiais que aprendem padrões a partir de exemplos.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622292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11, 14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55864" y="1783080"/>
            <a:ext cx="3493008" cy="3154680"/>
          </a:xfrm>
          <a:prstGeom prst="roundRect">
            <a:avLst>
              <a:gd name="adj" fmla="val 347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30184" y="2011680"/>
            <a:ext cx="731520" cy="7315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1945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30184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Evolutiva e social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330184" y="33375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Populações e enxames que otimizam por seleção, mutação e cooperação.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330184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5166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4400" y="5367528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50468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5285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prática, os sistemas reais são híbridos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1645920" y="5669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 (08), árvores de decisão (10), agrupamento (12) e reforço (13) combinam ideias das três famílias.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DISCIPLINA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15 aulas: cada conceito vira código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8745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e ética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64358" y="178308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01518" y="216712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01518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95878" y="18745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 busca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88636" y="178308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25796" y="216712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25796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820156" y="18745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para IA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12914" y="178308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50074" y="216712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50074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044434" y="18745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e lógica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537192" y="178308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74352" y="216712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74352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268712" y="187452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funcional e simbólica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358444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371600" y="32918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baseados em conhecimento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864358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001518" y="358444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001518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3595878" y="32918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Evolutiva e enxame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088636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225796" y="358444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225796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0156" y="32918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7312914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450074" y="358444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50074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8044434" y="32918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ML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9537192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674352" y="358444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674352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0268712" y="329184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40080" y="461772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7240" y="500176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7240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1371600" y="470916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2864358" y="461772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001518" y="500176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001518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3595878" y="470916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e padrões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5088636" y="461772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225796" y="500176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225796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57" name="Text 54"/>
          <p:cNvSpPr txBox="1"/>
          <p:nvPr/>
        </p:nvSpPr>
        <p:spPr>
          <a:xfrm>
            <a:off x="5820156" y="470916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7312914" y="461772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450074" y="500176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450074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8044434" y="470916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9537192" y="4617720"/>
            <a:ext cx="2011680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674352" y="5001768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674352" y="5001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0268712" y="470916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 e projeto</a:t>
            </a:r>
            <a:endParaRPr lang="en-US" sz="1300" dirty="0"/>
          </a:p>
        </p:txBody>
      </p:sp>
      <p:sp>
        <p:nvSpPr>
          <p:cNvPr id="66" name="Text 63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práticas em Python + VS Code: de busca e lógica até redes neurais, K-means, SOM e CNNs.</a:t>
            </a:r>
            <a:endParaRPr lang="en-US" sz="1400" dirty="0"/>
          </a:p>
        </p:txBody>
      </p:sp>
      <p:sp>
        <p:nvSpPr>
          <p:cNvPr id="67" name="Text 6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IA já está — e a técnica por trás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84248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214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84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 produtos e filmes a partir do histórico de uso.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 · aula 09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47972" y="17830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6572" y="1984248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2140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08092" y="1984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computacional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576572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rostos, placas e lesões em imagens.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76572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· aula 14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55864" y="17830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1984248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2140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15984" y="1984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Voz e linguagem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84464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Assistentes, tradução e chatbots.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284464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· aulas 11 e 15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4224528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6168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Saúde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868680" y="4937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ao diagnóstico por imagem e triagem.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68680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e deep learning · aulas 10 e 14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47972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76572" y="4224528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3732" y="436168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308092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Veículos autônomos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4576572" y="4937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 o ambiente e decidir em tempo real.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4576572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Visão, busca e reforço · aulas 02, 13, 14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055864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284464" y="4224528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4" y="4361688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015984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Finanças</a:t>
            </a:r>
            <a:endParaRPr lang="en-US" sz="1700" dirty="0"/>
          </a:p>
        </p:txBody>
      </p:sp>
      <p:sp>
        <p:nvSpPr>
          <p:cNvPr id="40" name="Text 31"/>
          <p:cNvSpPr txBox="1"/>
          <p:nvPr/>
        </p:nvSpPr>
        <p:spPr>
          <a:xfrm>
            <a:off x="8284464" y="4937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fraudes e avaliar risco de crédito.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8284464" y="5623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e agrupamento · aulas 10 e 12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PARADIGMA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Programar regras × aprender com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965960"/>
          </a:xfrm>
          <a:prstGeom prst="roundRect">
            <a:avLst>
              <a:gd name="adj" fmla="val 558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92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tradicional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05840" y="24688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0" y="24688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0" y="24688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0" y="24688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24688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5715000" y="2926080"/>
            <a:ext cx="64008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458200" y="2926080"/>
            <a:ext cx="64008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40080" y="3931920"/>
            <a:ext cx="10911535" cy="1965960"/>
          </a:xfrm>
          <a:prstGeom prst="roundRect">
            <a:avLst>
              <a:gd name="adj" fmla="val 558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de máquina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1005840" y="46177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57600" y="46177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00800" y="46177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144000" y="46177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017520" y="46177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5715000" y="5074920"/>
            <a:ext cx="64008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458200" y="5074920"/>
            <a:ext cx="64008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ML, as “regras” são os parâmetros ajustados no treino — e depois aplicadas a dados novos.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EM 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princípios para uma IA responsável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como e por que o sistema decide.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Justiça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7432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discriminar pessoas ou grupos.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488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2011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7432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o mínimo e proteger dados pessoais.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38862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5196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868680" y="4846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responde pelas decisões e danos.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4347972" y="38862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576572" y="411480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3732" y="425196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08092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30" name="Text 22"/>
          <p:cNvSpPr txBox="1"/>
          <p:nvPr/>
        </p:nvSpPr>
        <p:spPr>
          <a:xfrm>
            <a:off x="4576572" y="4846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contra falhas, abusos e ataques.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8055864" y="3886200"/>
            <a:ext cx="3493008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284464" y="411480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4" y="425196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015984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Supervisão humana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8284464" y="4846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no circuito em decisões de alto impacto.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recorrentes nas diretrizes da OCDE, da UNESCO e da União Europeia.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EM IA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viés chega ao mundo real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246120"/>
          </a:xfrm>
          <a:prstGeom prst="roundRect">
            <a:avLst>
              <a:gd name="adj" fmla="val 338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213741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 · 2016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 ProPublica sobre um software de risco de reincidência nos EUA apontou taxas de falso positivo maiores para réus negros. O fornecedor contestou a metodologia.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3246120"/>
          </a:xfrm>
          <a:prstGeom prst="roundRect">
            <a:avLst>
              <a:gd name="adj" fmla="val 338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02" y="213741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16652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· 2018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9748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a Reuters, uma ferramenta experimental de triagem de currículos penalizava currículos com a palavra “women’s”, aprendida de dados históricos. O projeto foi descontinuado.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3246120"/>
          </a:xfrm>
          <a:prstGeom prst="roundRect">
            <a:avLst>
              <a:gd name="adj" fmla="val 338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94" y="213741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24544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Shades · 2018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97480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Buolamwini e Gebru mediram sistemas comerciais de análise facial: o erro foi muito maior para mulheres de pele escura do que para homens de pele clara.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25780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44068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0" y="556641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52578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viés nasce nos dados, na modelagem e no uso do sistema — não apenas no algoritmo. Auditar é parte do trabalho.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LEI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Regulação: LGPD, AI Act e o cenário brasileiro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13.709/2018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8346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para tratar dados pessoais. Garante ao titular o direito de pedir revisão de decisões tomadas só por tratamento automatizado.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47972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657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488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08092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Act (UE)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308092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 (UE) 2024/1689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576572" y="28346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a IA por níveis de risco: de práticas proibidas a sistemas de alto risco com exigências rígidas.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55864" y="1783080"/>
            <a:ext cx="3493008" cy="3108960"/>
          </a:xfrm>
          <a:prstGeom prst="roundRect">
            <a:avLst>
              <a:gd name="adj" fmla="val 35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488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15984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Brasil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015984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2338/2023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284464" y="28346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marco legal da IA em tramitação no Congresso. Verifique sempre o status atual antes de citar.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0080" y="512064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" y="5193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do desenvolvedor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914400" y="5650992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733288"/>
            <a:ext cx="164592" cy="16459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25880" y="55778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mínimos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3593592" y="5650992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5733288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005072" y="55778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documentadas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272784" y="5650992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5733288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684264" y="55778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8951976" y="5650992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4272" y="5733288"/>
            <a:ext cx="164592" cy="16459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9363456" y="55778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viés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AMBIENTE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kit de ferramentas da disciplina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em python.org. No instalador, marque “Add python.exe to PATH”.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gratuito da Microsoft. Abra a pasta do projeto com File › Open Folder.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Extensões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Python, Pylance e Jupyter (todas da Microsoft) na aba Extensions.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Bibliotecas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 e Matplotlib hoje; scikit-learn, scikit-fuzzy e Keras nas próximas aulas.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confira no terminal com python --version. Se aparecer um número de versão, o PATH está certo.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AMBIENTE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virtual: um projeto, um ambiente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do VS Code (Ctrl+`)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ia-aula01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ia-aula01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.\.venv\Scripts\Activate.ps1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--version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3.14.6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0" y="1783080"/>
            <a:ext cx="423367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4380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1488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275320" y="201168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venv?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543800" y="2697480"/>
            <a:ext cx="3776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as bibliotecas de cada projeto. Evita conflito de versões entre aulas.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4069080"/>
            <a:ext cx="4233672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543800" y="4297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43484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275320" y="429768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bloqueado?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7543800" y="4983480"/>
            <a:ext cx="3776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PowerShell recusar o Activate.ps1, rode uma vez: Set-ExecutionPolicy -Scope CurrentUser RemoteSigned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4892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VS Code: Ctrl+Shift+P › “Python: Select Interpreter” › escolha o que está em .venv.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AMBIENTE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Instalando bibliotecas com pip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as bibliotecas de hoje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 pandas matplotlib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registrar as versões do projeto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recriar o ambiente em outra máquina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1264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(.venv) 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98080" y="1783080"/>
            <a:ext cx="4050792" cy="4343400"/>
          </a:xfrm>
          <a:prstGeom prst="roundRect">
            <a:avLst>
              <a:gd name="adj" fmla="val 270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projeto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2423160"/>
            <a:ext cx="3566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ia-aula01/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0" y="2788920"/>
            <a:ext cx="3566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.venv/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3154680"/>
            <a:ext cx="3566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check_env.py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3520440"/>
            <a:ext cx="3566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numpy_demo.py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3886200"/>
            <a:ext cx="3566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pandas_demo.py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251960"/>
            <a:ext cx="3566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grafico.py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4617720"/>
            <a:ext cx="3566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chatbot.py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4983480"/>
            <a:ext cx="35661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48920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requirements.txt vai para o Git; a pasta .venv não.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PRIMEIRO SCRIPT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check_env.py: o ambiente está pronto?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check_env.py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    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"NumPy     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__version__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"Pandas    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__version__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"Matplotlib:"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__version__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42632" y="1783080"/>
            <a:ext cx="4206240" cy="2065020"/>
          </a:xfrm>
          <a:prstGeom prst="roundRect">
            <a:avLst>
              <a:gd name="adj" fmla="val 53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de exemplo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16952" y="22860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check_env.py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616952" y="25527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  : 3.14.6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616952" y="28194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     : 2.5.3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616952" y="30861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   : 3.0.6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616952" y="33528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Matplotlib: 3.11.2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4610100"/>
            <a:ext cx="6400800" cy="1508760"/>
          </a:xfrm>
          <a:prstGeom prst="roundRect">
            <a:avLst>
              <a:gd name="adj" fmla="val 727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68680" y="483870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97586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600200" y="48387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executar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868680" y="55245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▷ no canto do editor, ou no terminal: python check_env.py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7342632" y="40690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571232" y="42976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443484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302752" y="4297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ModuleNotFoundError?</a:t>
            </a:r>
            <a:endParaRPr lang="en-US" sz="1700" dirty="0"/>
          </a:p>
        </p:txBody>
      </p:sp>
      <p:sp>
        <p:nvSpPr>
          <p:cNvPr id="36" name="Text 31"/>
          <p:cNvSpPr txBox="1"/>
          <p:nvPr/>
        </p:nvSpPr>
        <p:spPr>
          <a:xfrm>
            <a:off x="7571232" y="4983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venv não está ativo ou o pip install não rodou nele.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NUMPY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 a matemática da IA em arrays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858000" cy="3931920"/>
          </a:xfrm>
          <a:prstGeom prst="roundRect">
            <a:avLst>
              <a:gd name="adj" fmla="val 279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numpy_demo.py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7.2 9.0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[7.5 8.  9. 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9530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5219700"/>
            <a:ext cx="63093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(2, 3) (3, 2)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26680" y="1783080"/>
            <a:ext cx="3822192" cy="2148840"/>
          </a:xfrm>
          <a:prstGeom prst="roundRect">
            <a:avLst>
              <a:gd name="adj" fmla="val 510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552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14884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686800" y="201168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Vetorização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7955280" y="2697480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no array inteiro, sem for: mais curto e muito mais rápido.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7726680" y="4114800"/>
            <a:ext cx="3822192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955280" y="43434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48056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686800" y="434340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Elo com IA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7955280" y="5029200"/>
            <a:ext cx="3364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escalar é a soma ponderada de um neurônio (aula 11).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PANDAS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Pandas: dados em tabelas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9224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pandas_demo.py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"aluno"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"Diego"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"horas"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"aprovado"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594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"aprovado"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"horas"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42632" y="1783080"/>
            <a:ext cx="420624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616952" y="22860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aluno  horas  nota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616952" y="25527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Bruno      5   6.5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616952" y="28194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Carla      8   9.0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616952" y="30861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Diego      4   6.0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616952" y="33528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616952" y="36195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  2.000000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616952" y="3886200"/>
            <a:ext cx="3657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5.666667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342632" y="457200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89520" y="4681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dos dados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589520" y="50292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estuda mais horas tende a ser aprovado: a média foi 5,7 h contra 2,0 h.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5806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DataFrame · df[condição] = filtro · groupby = agregação por grupo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MATPLOTLIB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Matplotlib: ver os dados para entender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126480" cy="3665220"/>
          </a:xfrm>
          <a:prstGeom prst="roundRect">
            <a:avLst>
              <a:gd name="adj" fmla="val 299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grafico.py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pyplot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linspace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8862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 = x²"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1529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xlabel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"parâmetro"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4196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ylabel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6863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953000"/>
            <a:ext cx="55778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949440" y="1783080"/>
            <a:ext cx="4599432" cy="3657600"/>
          </a:xfrm>
          <a:prstGeom prst="roundRect">
            <a:avLst>
              <a:gd name="adj" fmla="val 3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7040880" y="1874520"/>
          <a:ext cx="4416552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640080" y="562356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gráfico reaparece na aula 03: minimizar o custo é “descer a parábola” até o mínimo.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MINI-PROJETO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de regras (1/2): a base de conhecimento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04088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"Olá! Como posso ajudar?"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"preço"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"Nossos planos começam em R$ 29."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"horário"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"Atendemos de segunda a sexta, 8h às 18h."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"tchau"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"Até logo!"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197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486400"/>
            <a:ext cx="64922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"Não entendi. Pode reformular?"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010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10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64108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641080" y="2148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lower() ignora maiúsculas.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001000" y="29718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010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64108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64108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o dicionário de regras.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001000" y="406908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10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64108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641080" y="4343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palavra-chave que casar.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001000" y="51663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0100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8641080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641080" y="5440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match: pede para reformular.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· MINI-PROJETO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de regras (2/2): o laço e um teste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297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"Você: 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"Bot:"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"Até logo!"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48463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45352" y="1783080"/>
            <a:ext cx="530352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476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488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59752" y="1901952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519672" y="22860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chatbot.py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19672" y="25527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Você: oi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519672" y="28194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 Olá! Como posso ajudar?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519672" y="30861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Você: boa noite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519672" y="33528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 Olá! Como posso ajudar?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519672" y="36195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Você: tchau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519672" y="3886200"/>
            <a:ext cx="4754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Bot: Até logo!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457200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14400" y="484632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98348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7373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Achou o bug?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1737360" y="5166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“boa noite” contém “oi”, então o bot cumprimentou fora de hora. Regras escritas à mão não antecipam todas as variações da linguagem. Você vai corrigir isso nos exercícios.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REGRAS AO APRENDIZADO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à mão × modelo que aprende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regras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nasce a lógica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por uma pessoa, regra a regra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Inferida de exemplos nos dados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999232"/>
            <a:ext cx="10911535" cy="630936"/>
          </a:xfrm>
          <a:prstGeom prst="roundRect">
            <a:avLst>
              <a:gd name="adj" fmla="val 1159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999232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de linguagem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9992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que foi previsto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9992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para casos parecidos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685032"/>
            <a:ext cx="10911535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685032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6850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novo exige uma regra nova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6850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Retreinar com dados novos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370832"/>
            <a:ext cx="10911535" cy="630936"/>
          </a:xfrm>
          <a:prstGeom prst="roundRect">
            <a:avLst>
              <a:gd name="adj" fmla="val 11594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370832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3708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Alta: cada regra é legível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3708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Menor: depende do modelo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056632"/>
            <a:ext cx="10911535" cy="630936"/>
          </a:xfrm>
          <a:prstGeom prst="roundRect">
            <a:avLst>
              <a:gd name="adj" fmla="val 1159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5056632"/>
            <a:ext cx="2194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necessários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50566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5056632"/>
            <a:ext cx="39927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exemplos de qualidade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592531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dois “ganha sempre”: escolher a técnica pelo problema é uma das metas da disciplina.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regra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7830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Acrescente a palavra “obrigado” ao dicionário REGRAS, com uma resposta, e teste no terminal.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Corrigir o bug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288036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“boa noite” deixar de responder como “oi”. Dica: compare palavras inteiras com texto.split().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0" y="39776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DataFrame com 3 produtos (nome, preço, estoque) e filtre os que têm estoque abaixo de 10.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50749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gráfico, plote y = 2x + 1 e y = x² e inclua a legenda.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 dos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76072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52120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"Não entendi."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297680"/>
            <a:ext cx="576072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389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1: basta uma nova chave em REGRAS.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892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do exercício 2: “oi!” (com pontuação) deixa de casar. Em seguida, tente remover a pontuação com strip().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611112" y="1783080"/>
            <a:ext cx="493776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2860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DataFrame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25527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85432" y="28194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"estoque"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885432" y="30861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885432" y="33528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"estoque"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885432" y="36195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611112" y="4297680"/>
            <a:ext cx="493776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12280" y="44805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13448" y="44805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14616" y="44805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525512" y="44165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 (x do exemplo anterior)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885432" y="48006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"2x+1"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885432" y="50673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"x²"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885432" y="53340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885432" y="5600700"/>
            <a:ext cx="43891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830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é um campo amplo; ML e DL são partes dele.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" y="2542032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644902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49631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visões de IA; nós adotamos o agir racional.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40080" y="3255264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358134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09544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Viés, privacidade e responsabilidade são parte do projeto.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40080" y="3968496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071366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39227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pronto: VS Code, venv, NumPy, Pandas, Matplotlib.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 busca (BFS, DFS, A*)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para IA: derivadas e gradiente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do conhecimento e lógica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deixe o ambiente funcionando. Daremos o primeiro passo na resolução de problemas por busca.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01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01 - Fundamentos de IA, ética e ambiente Python</dc:title>
  <dc:subject>PptxGenJS Presentation</dc:subject>
  <dc:creator>Inteligência Artificial</dc:creator>
  <cp:lastModifiedBy>Inteligência Artificial</cp:lastModifiedBy>
  <cp:revision>1</cp:revision>
  <dcterms:created xsi:type="dcterms:W3CDTF">2026-10-07T19:22:34Z</dcterms:created>
  <dcterms:modified xsi:type="dcterms:W3CDTF">2026-10-07T19:22:34Z</dcterms:modified>
</cp:coreProperties>
</file>