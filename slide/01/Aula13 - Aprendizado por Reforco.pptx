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4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Retorno por episódio (média a cada 25)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médio por 25 episódios</c:v>
                </c:pt>
              </c:strCache>
            </c:strRef>
          </c:tx>
          <c:spPr>
            <a:solidFill>
              <a:srgbClr val="0B8A5B"/>
            </a:solidFill>
            <a:ln w="38100" cap="flat">
              <a:solidFill>
                <a:srgbClr val="0B8A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8A5B"/>
              </a:solidFill>
              <a:ln w="9525" cap="flat">
                <a:solidFill>
                  <a:srgbClr val="0B8A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</c:v>
                  </c:pt>
                  <c:pt idx="1">
                    <c:v>50</c:v>
                  </c:pt>
                  <c:pt idx="2">
                    <c:v>75</c:v>
                  </c:pt>
                  <c:pt idx="3">
                    <c:v>100</c:v>
                  </c:pt>
                  <c:pt idx="4">
                    <c:v>125</c:v>
                  </c:pt>
                  <c:pt idx="5">
                    <c:v>150</c:v>
                  </c:pt>
                  <c:pt idx="6">
                    <c:v>175</c:v>
                  </c:pt>
                  <c:pt idx="7">
                    <c:v>200</c:v>
                  </c:pt>
                  <c:pt idx="8">
                    <c:v>225</c:v>
                  </c:pt>
                  <c:pt idx="9">
                    <c:v>250</c:v>
                  </c:pt>
                  <c:pt idx="10">
                    <c:v>275</c:v>
                  </c:pt>
                  <c:pt idx="11">
                    <c:v>300</c:v>
                  </c:pt>
                  <c:pt idx="12">
                    <c:v>325</c:v>
                  </c:pt>
                  <c:pt idx="13">
                    <c:v>350</c:v>
                  </c:pt>
                  <c:pt idx="14">
                    <c:v>375</c:v>
                  </c:pt>
                  <c:pt idx="15">
                    <c:v>400</c:v>
                  </c:pt>
                  <c:pt idx="16">
                    <c:v>425</c:v>
                  </c:pt>
                  <c:pt idx="17">
                    <c:v>450</c:v>
                  </c:pt>
                  <c:pt idx="18">
                    <c:v>475</c:v>
                  </c:pt>
                  <c:pt idx="19">
                    <c:v>500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-22.2</c:v>
                </c:pt>
                <c:pt idx="1">
                  <c:v>-9.3</c:v>
                </c:pt>
                <c:pt idx="2">
                  <c:v>-3</c:v>
                </c:pt>
                <c:pt idx="3">
                  <c:v>-0.3</c:v>
                </c:pt>
                <c:pt idx="4">
                  <c:v>1.2</c:v>
                </c:pt>
                <c:pt idx="5">
                  <c:v>3.1</c:v>
                </c:pt>
                <c:pt idx="6">
                  <c:v>4</c:v>
                </c:pt>
                <c:pt idx="7">
                  <c:v>3.3</c:v>
                </c:pt>
                <c:pt idx="8">
                  <c:v>4.4</c:v>
                </c:pt>
                <c:pt idx="9">
                  <c:v>4.6</c:v>
                </c:pt>
                <c:pt idx="10">
                  <c:v>4.4</c:v>
                </c:pt>
                <c:pt idx="11">
                  <c:v>4.4</c:v>
                </c:pt>
                <c:pt idx="12">
                  <c:v>4.6</c:v>
                </c:pt>
                <c:pt idx="13">
                  <c:v>4.8</c:v>
                </c:pt>
                <c:pt idx="14">
                  <c:v>4.8</c:v>
                </c:pt>
                <c:pt idx="15">
                  <c:v>4.8</c:v>
                </c:pt>
                <c:pt idx="16">
                  <c:v>4.7</c:v>
                </c:pt>
                <c:pt idx="17">
                  <c:v>4.7</c:v>
                </c:pt>
                <c:pt idx="18">
                  <c:v>4.6</c:v>
                </c:pt>
                <c:pt idx="19">
                  <c:v>4.6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A12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B1A12"/>
                </a:solidFill>
                <a:latin typeface="Calibri"/>
              </a:rPr>
              <a:t>CartPole: retorno por episódio (média a cada 500)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retorno de treino</c:v>
                </c:pt>
              </c:strCache>
            </c:strRef>
          </c:tx>
          <c:spPr>
            <a:solidFill>
              <a:srgbClr val="FF7A2F"/>
            </a:solidFill>
            <a:ln w="38100" cap="flat">
              <a:solidFill>
                <a:srgbClr val="FF7A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7A2F"/>
              </a:solidFill>
              <a:ln w="9525" cap="flat">
                <a:solidFill>
                  <a:srgbClr val="FF7A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500</c:v>
                  </c:pt>
                  <c:pt idx="1">
                    <c:v>1000</c:v>
                  </c:pt>
                  <c:pt idx="2">
                    <c:v>1500</c:v>
                  </c:pt>
                  <c:pt idx="3">
                    <c:v>2000</c:v>
                  </c:pt>
                  <c:pt idx="4">
                    <c:v>2500</c:v>
                  </c:pt>
                  <c:pt idx="5">
                    <c:v>3000</c:v>
                  </c:pt>
                  <c:pt idx="6">
                    <c:v>3500</c:v>
                  </c:pt>
                  <c:pt idx="7">
                    <c:v>4000</c:v>
                  </c:pt>
                  <c:pt idx="8">
                    <c:v>4500</c:v>
                  </c:pt>
                  <c:pt idx="9">
                    <c:v>5000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22.4</c:v>
                </c:pt>
                <c:pt idx="1">
                  <c:v>41.2</c:v>
                </c:pt>
                <c:pt idx="2">
                  <c:v>113.8</c:v>
                </c:pt>
                <c:pt idx="3">
                  <c:v>321.5</c:v>
                </c:pt>
                <c:pt idx="4">
                  <c:v>386.9</c:v>
                </c:pt>
                <c:pt idx="5">
                  <c:v>386.7</c:v>
                </c:pt>
                <c:pt idx="6">
                  <c:v>399.5</c:v>
                </c:pt>
                <c:pt idx="7">
                  <c:v>365.3</c:v>
                </c:pt>
                <c:pt idx="8">
                  <c:v>239.6</c:v>
                </c:pt>
                <c:pt idx="9">
                  <c:v>256.5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C5D3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4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image" Target="../media/image-5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97280"/>
            <a:ext cx="1097280" cy="109728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3464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reforço: aprender por tentativa e erro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do zero e o ambiente Gymnasium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539496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5394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19456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9456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20624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0624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217920" y="5394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5394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229600" y="539496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0" y="539496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AULAS PASSADAS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viemos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(aula 02)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percebe o ambiente, escolhe ações e busca atingir objetivos. Lá, o caminho era calculado por busca.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ML (aula 09)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Supervisionado, não supervisionado e por reforço. Só o terceiro ficou sem prática até hoje.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rótulo (aula 12)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Descobrir estrutura sem resposta certa. Agora haverá um sinal, mas fraco: uma recompensa.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14400" y="512064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2578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37360" y="475488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um agente que ninguém ensinou o caminho aprende sozinho, testando ações e observando o que ganha ou perde.</a:t>
            </a:r>
            <a:endParaRPr lang="en-US" sz="19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fazer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de reforço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Agente, ambiente, recompensa e retorno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atualização, com um passo numérico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6304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ambiente do zero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46304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GridWorld e Q-learning em NumPy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17920" y="20574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α, γ e a exploração com ε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34290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91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Gymnasium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3749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FrozenLake, Taxi e CartPole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217920" y="4800600"/>
            <a:ext cx="594360" cy="59436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1792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4663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 e limites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7040880" y="5120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contra off-policy e o que vem depois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terceiro tipo de aprendizado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127248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36208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070848" y="178308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1343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1343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Supervisionado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27248" y="231343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com rótulo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36208" y="231343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certa, para cada exemplo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070848" y="2313432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spam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04495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supervisionado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127248" y="304495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sem rótulo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36208" y="304495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070848" y="3044952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clientes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77647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377647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reforço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3127248" y="377647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Experiências do próprio agente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236208" y="377647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Recompensa, muitas vezes atrasada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9070848" y="3776472"/>
            <a:ext cx="2404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Jogar, controlar um robô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reforço ninguém diz qual ação era a certa: o agente só descobre, depois, se o resultado foi bom. Ele precisa testar, errar e ligar o resultado final às decisões que o causaram.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POR REFORÇO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agente–ambiente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097280" y="26517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51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138160" y="265176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0" y="2651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023360" y="3017520"/>
            <a:ext cx="4114800" cy="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0" y="3017520"/>
            <a:ext cx="457200" cy="0"/>
          </a:xfrm>
          <a:prstGeom prst="line">
            <a:avLst/>
          </a:prstGeom>
          <a:noFill/>
          <a:ln w="38100">
            <a:solidFill>
              <a:srgbClr val="FF7A2F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420624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34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23360" y="3657600"/>
            <a:ext cx="4114800" cy="0"/>
          </a:xfrm>
          <a:prstGeom prst="line">
            <a:avLst/>
          </a:prstGeom>
          <a:noFill/>
          <a:ln w="38100">
            <a:solidFill>
              <a:srgbClr val="0B8A5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23360" y="3657600"/>
            <a:ext cx="457200" cy="0"/>
          </a:xfrm>
          <a:prstGeom prst="line">
            <a:avLst/>
          </a:prstGeom>
          <a:noFill/>
          <a:ln w="38100">
            <a:solidFill>
              <a:srgbClr val="0B8A5B"/>
            </a:solidFill>
            <a:prstDash val="solid"/>
            <a:headEnd type="triangle"/>
          </a:ln>
        </p:spPr>
      </p:sp>
      <p:sp>
        <p:nvSpPr>
          <p:cNvPr id="15" name="Text 12"/>
          <p:cNvSpPr txBox="1"/>
          <p:nvPr/>
        </p:nvSpPr>
        <p:spPr>
          <a:xfrm>
            <a:off x="4206240" y="3703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estado s′ e recompensa 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Observar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5394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vê o estado s atual do ambiente.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47972" y="452628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6572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Agir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6572" y="5394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uma ação a e a executa.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55864" y="4526280"/>
            <a:ext cx="3493008" cy="1600200"/>
          </a:xfrm>
          <a:prstGeom prst="roundRect">
            <a:avLst>
              <a:gd name="adj" fmla="val 685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84464" y="47091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Receber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284464" y="5394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ambiente devolve s′ e uma recompensa r; o ciclo recomeça.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palavras que vamos usar o tempo todo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(s)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4688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agente observa agora, por exemplo, a posição em uma grade.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6572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(a)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76572" y="24688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agente pode fazer: andar para cima, baixo, esquerda ou direita.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84464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Recompensa (r)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84464" y="24688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que o ambiente devolve depois de cada ação. Pode ser negativo.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(π)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agente: em cada estado, qual ação escolher.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347972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6572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Episódio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576572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partida completa, do estado inicial até um estado final.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55864" y="4023360"/>
            <a:ext cx="3493008" cy="2103120"/>
          </a:xfrm>
          <a:prstGeom prst="roundRect">
            <a:avLst>
              <a:gd name="adj" fmla="val 521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84464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 (G)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das recompensas de um episódio (com desconto, veja adiante).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PRIMEIRO AMBIENTE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GridWorld: uma grade 4 ×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3464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3464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4048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40480" y="283464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2296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82880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3464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2880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3464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4048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40480" y="48463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5669280" y="1920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1874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(0, 0)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669280" y="2560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09360" y="2514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(3, 3): +10 e o episódio termina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669280" y="3200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09360" y="31546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 (1, 3): −10 e o episódio termina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669280" y="3840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309360" y="37947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outra casa: −1 por passo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669280" y="4572000"/>
            <a:ext cx="5879592" cy="1554480"/>
          </a:xfrm>
          <a:prstGeom prst="roundRect">
            <a:avLst>
              <a:gd name="adj" fmla="val 705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852160" y="4572000"/>
            <a:ext cx="5532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Ações: cima, direita, baixo, esquerda. Bater na parede = ficar parado (e pagar −1). O −1 por passo faz o agente querer terminar logo; a armadilha ensina a evitar o caminho curto, mas perigoso.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Retorno: somar as recompensas, com desconto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= r₀ + γ·r₁ + γ²·r₂ + γ³·r₃ + 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6949440" cy="2407920"/>
          </a:xfrm>
          <a:prstGeom prst="roundRect">
            <a:avLst>
              <a:gd name="adj" fmla="val 45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30175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2416" y="30175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3584" y="30175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54480" y="295351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retorno.py (parte 1)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33756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recompensas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tres passos custam -1 e a meta paga 10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75666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96621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438531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459486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recompensas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80441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"gamma"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 retorno"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99832" y="2834640"/>
            <a:ext cx="3749040" cy="1569720"/>
          </a:xfrm>
          <a:prstGeom prst="roundRect">
            <a:avLst>
              <a:gd name="adj" fmla="val 699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01000" y="301752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02168" y="301752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03336" y="301752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14232" y="29535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074152" y="333756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0.0 -&gt; retorno -1.0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8074152" y="354711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0.5 -&gt; retorno -0.5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074152" y="375666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0.9 -&gt; retorno 4.58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074152" y="3966210"/>
            <a:ext cx="3200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1.0 -&gt; retorno 7.0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40080" y="566928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566928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(gama), entre 0 e 1, é o fator de desconto. Com γ = 0 só importa a recompensa imediata (−1); com γ = 1 todas valem igual (−1 −1 −1 + 10 = 7).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descontar o futuro?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035040" cy="1360170"/>
          </a:xfrm>
          <a:prstGeom prst="roundRect">
            <a:avLst>
              <a:gd name="adj" fmla="val 80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486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"valor de 1 ponto daqui a n passos (gamma = 0.9):"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5486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54864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n ="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76872" y="1783080"/>
            <a:ext cx="457200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8660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(passos)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0,9ⁿ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76872" y="2267712"/>
            <a:ext cx="4572000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86600" y="226771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372600" y="226771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976872" y="2679192"/>
            <a:ext cx="4572000" cy="356616"/>
          </a:xfrm>
          <a:prstGeom prst="roundRect">
            <a:avLst>
              <a:gd name="adj" fmla="val 2051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86600" y="267919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372600" y="267919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76872" y="3090672"/>
            <a:ext cx="4572000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86600" y="309067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372600" y="309067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0.590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76872" y="3502152"/>
            <a:ext cx="4572000" cy="356616"/>
          </a:xfrm>
          <a:prstGeom prst="roundRect">
            <a:avLst>
              <a:gd name="adj" fmla="val 20513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86600" y="350215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9372600" y="350215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0.349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976872" y="3913632"/>
            <a:ext cx="4572000" cy="356616"/>
          </a:xfrm>
          <a:prstGeom prst="roundRect">
            <a:avLst>
              <a:gd name="adj" fmla="val 20513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86600" y="391363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372600" y="3913632"/>
            <a:ext cx="2103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" y="443484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pequeno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5303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imediatista: prefere ganhos rápidos, ignora consequências distantes.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347972" y="443484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76572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perto de 1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4576572" y="5303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paciente: valoriza metas distantes (0,99 é comum).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055864" y="4434840"/>
            <a:ext cx="3493008" cy="1691640"/>
          </a:xfrm>
          <a:prstGeom prst="roundRect">
            <a:avLst>
              <a:gd name="adj" fmla="val 64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284464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Matemática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8284464" y="53035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desconto mantém o retorno finito e dá preferência a chegar logo.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E VALOR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Política, valor do estado e valor da 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π(s)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agente faz em cada estado. É o resultado final que queremos: uma tabela “estado → melhor ação”.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V(s)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esperado partindo do estado s e seguindo a política. Estados perto da meta valem mais.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da ação Q(s, a)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esperado ao tomar a ação a em s e seguir a política depois. Com Q, escolher é fácil: pegue a ação de maior Q.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Q-learning aprende a tabela Q(s, a) por tentativa e erro. A política é derivada dela: π(s) = ação com maior Q(s, a).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Q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Q: uma linha por estado, uma coluna por 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76148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95604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150608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345168" y="1783080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(início)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2761488" y="23134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-0.44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956048" y="23134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1.81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50608" y="231343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345168" y="2313432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-0.12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86207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86207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761488" y="286207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956048" y="286207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150608" y="286207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9345168" y="2862072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41071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4107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2761488" y="34107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956048" y="34107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150608" y="341071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345168" y="3410712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395935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395935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(meta)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2761488" y="395935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956048" y="395935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150608" y="3959352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345168" y="3959352"/>
            <a:ext cx="21305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do estado inicial, depois de treinar: a ação “direita” tem o maior valor (1,81), então a política manda ir para a direita. O GridWorld tem 16 estados × 4 ações = 64 números para aprender. Os valores acima vêm do treino que faremos nos próximos slides.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regra de atualização do Q-learning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78308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Q(s, a)  ←  Q(s, a) + α · [ r + γ · max Q(s′, a′) − Q(s, a) ]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0632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 = r + γ · max Q(s′, a′)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0632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agente acabou de aprender: a recompensa recebida mais o melhor valor possível do próximo estado, com desconto.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087368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08736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= alvo − Q(s, a)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4087368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o que ele achava e o que viu agora (erro de diferença temporal, TD).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5111496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11149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(taxa de aprendizado)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5111496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do erro é absorvido. Com α = 0,1, cada experiência ajusta 10% do erro.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atualização, com números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3036570"/>
          </a:xfrm>
          <a:prstGeom prst="roundRect">
            <a:avLst>
              <a:gd name="adj" fmla="val 361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q_passo.py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q_atual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Q(s, a) antes da atualizacao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recompensa recebida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melhor_prox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max Q(s', a') no proximo estado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melhor_prox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433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q_atual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528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q_novo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q_atual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9624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"alvo      ="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1719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 (TD) ="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3815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 novo    ="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q_novo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42632" y="178308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616952" y="2286000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      = 0.8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616952" y="2514600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(TD) = 0.3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16952" y="2743200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novo    = 0.53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342632" y="3931920"/>
            <a:ext cx="4206240" cy="2194560"/>
          </a:xfrm>
          <a:prstGeom prst="roundRect">
            <a:avLst>
              <a:gd name="adj" fmla="val 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616952" y="39319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= −1 + 0,9 × 2,0 = 0,8. O agente achava 0,5 e agora viu 0,8: o erro é +0,3. Com α = 0,1, o novo valor sobe 0,03, para 0,53. Pouco a pouco, milhares de passos assim criam a tabela.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 ou aproveitar? A política ε-gulosa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ações novas para descobrir se existe algo melhor, mesmo arriscando perder.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Aproveitar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que já se sabe e escolher a ação de maior Q.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651760"/>
          </a:xfrm>
          <a:prstGeom prst="roundRect">
            <a:avLst>
              <a:gd name="adj" fmla="val 4138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ε-gulosa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probabilidade ε escolhe uma ação aleatória; com 1 − ε escolhe a de maior Q. ε começa alto e diminui.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explorar, o agente pode ficar preso à primeira estratégia razoável que achou. Explorar demais, por outro lado, o impede de usar o que aprendeu. O equilíbrio (exploração × aproveitamento) é um tema central do reforço.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GRIDWORLD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 em Python (1/3): estado e reinício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680960" cy="4160520"/>
          </a:xfrm>
          <a:prstGeom prst="roundRect">
            <a:avLst>
              <a:gd name="adj" fmla="val 263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gridworld.py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67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ACOES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"cima"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"direita"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"baixo"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"esquerda"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57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38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GridWorld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"Grade 4x4. Inicio (0, 0), meta (3, 3) = +10, armadilha (1, 3) = -10."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19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810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4000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armadilha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191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572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762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953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334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524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5039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03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17830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0" y="21488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Deslocamento (linha, coluna) de cada ação.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50392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5039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31546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estado()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144000" y="35204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(linha, coluna) em um número de 0 a 15.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50392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039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45262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reset()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9144000" y="48920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ao início e devolve o estado inicial.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GRIDWORLD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 em Python (2/3): o passo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gridworld.py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armadilha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min(max(...))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posição dentro da grade: parede = ficar parado.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devolve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(novo estado, recompensa, terminou?)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ou armadilha encerram o episódio.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GRIDWORLD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 em Python (3/3): testando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1988820"/>
          </a:xfrm>
          <a:prstGeom prst="roundRect">
            <a:avLst>
              <a:gd name="adj" fmla="val 55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gridworld.py (bloco principal)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GridWorld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"estado inicial:"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 estado"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"recompensa"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"fim"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42632" y="1783080"/>
            <a:ext cx="4206240" cy="1931670"/>
          </a:xfrm>
          <a:prstGeom prst="roundRect">
            <a:avLst>
              <a:gd name="adj" fmla="val 568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16952" y="228600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inicial: 0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7616952" y="245745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direita -&gt; estado 1 recompensa -1 fim False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616952" y="262890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direita -&gt; estado 2 recompensa -1 fim False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7616952" y="280035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baixo -&gt; estado 6 recompensa -1 fim False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616952" y="297180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baixo -&gt; estado 10 recompensa -1 fim False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616952" y="314325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baixo -&gt; estado 14 recompensa -1 fim False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616952" y="331470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direita -&gt; estado 15 recompensa 10 fim True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429768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que já soubesse o caminho faria direita, direita, baixo, baixo, baixo, direita: cinco passos a −1 mais a meta (+10) dão retorno 5. O Q-learning precisa descobrir isso sozinho.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 em NumPy (1/3): escolher a 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331720"/>
          </a:xfrm>
          <a:prstGeom prst="roundRect">
            <a:avLst>
              <a:gd name="adj" fmla="val 470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qlearning_grid.py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514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gridworld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GridWorld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ACOES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718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escolher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004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4290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657600"/>
            <a:ext cx="6400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2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rng.random() &lt; eps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probabilidade ε: ação aleatória (explorar).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955280" y="33375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552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32461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Q[s].argmax()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595360" y="36118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Senão: a ação de maior valor (aproveitar).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40080" y="4343400"/>
            <a:ext cx="6949440" cy="1783080"/>
          </a:xfrm>
          <a:prstGeom prst="roundRect">
            <a:avLst>
              <a:gd name="adj" fmla="val 6154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4400" y="4343400"/>
            <a:ext cx="6400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é uma matriz 16 × 4. Q[s] é a linha do estado s, com 4 valores, um por ação.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 em NumPy (2/3): o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3970020"/>
          </a:xfrm>
          <a:prstGeom prst="roundRect">
            <a:avLst>
              <a:gd name="adj" fmla="val 27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qlearning_grid.py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max_passos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GridWorld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max_passos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escolher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91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381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572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762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953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1435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5334000"/>
            <a:ext cx="67665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γ · max Q(s′): no estado final não há futuro (0).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229600" y="33375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8869680" y="324612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Q[s, a] += ...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869680" y="361188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do slide 12, em uma linha.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229600" y="480060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296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8869680" y="470916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 * decaimento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869680" y="50749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cai de 1,0 para 0,05 ao longo dos episódios.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DO ZERO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 em NumPy (3/3): a política aprendida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3646170"/>
          </a:xfrm>
          <a:prstGeom prst="roundRect">
            <a:avLst>
              <a:gd name="adj" fmla="val 300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qlearning_grid.py (bloco principal)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"^"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"politica aprendida (T = armadilha, M = meta):"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3147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4861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6576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8290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0005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1719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3434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5148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linha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6863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 do estado inicial:"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485775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"primeiros 50 episodios:"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5029200"/>
            <a:ext cx="62179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"ultimos 50 episodios  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616952" y="1783080"/>
            <a:ext cx="3931920" cy="2103120"/>
          </a:xfrm>
          <a:prstGeom prst="roundRect">
            <a:avLst>
              <a:gd name="adj" fmla="val 521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1812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1928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22045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531352" y="190195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91272" y="2286000"/>
            <a:ext cx="3383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politica aprendida (T = armadilha, M = meta):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7891272" y="2457450"/>
            <a:ext cx="3383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v ^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7891272" y="2628900"/>
            <a:ext cx="3383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v T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891272" y="2800350"/>
            <a:ext cx="3383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v v v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891272" y="2971800"/>
            <a:ext cx="3383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&gt; &gt; M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7891272" y="3143250"/>
            <a:ext cx="3383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do estado inicial: [-0.44  1.81  0.02 -0.12]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7891272" y="3314700"/>
            <a:ext cx="3383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primeiros 50 episodios: -15.78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7891272" y="3486150"/>
            <a:ext cx="33832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ultimos 50 episodios  : 4.6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616952" y="457200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91272" y="457200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 médio saiu de −15,8 para 4,6 (o ótimo é 5; a diferença é a exploração residual de ε = 0,05).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política aprendida, desenhada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82880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28800" y="18288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283464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4640" y="18288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84048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8288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2296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83464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182880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828800" y="283464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283464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34640" y="283464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384048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40480" y="283464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82296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384048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182880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828800" y="384048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283464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34640" y="384048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28" name="Shape 25"/>
          <p:cNvSpPr/>
          <p:nvPr/>
        </p:nvSpPr>
        <p:spPr>
          <a:xfrm>
            <a:off x="384048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840480" y="384048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82296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2960" y="48463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2" name="Shape 29"/>
          <p:cNvSpPr/>
          <p:nvPr/>
        </p:nvSpPr>
        <p:spPr>
          <a:xfrm>
            <a:off x="182880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828800" y="48463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Shape 31"/>
          <p:cNvSpPr/>
          <p:nvPr/>
        </p:nvSpPr>
        <p:spPr>
          <a:xfrm>
            <a:off x="283464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834640" y="48463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6" name="Shape 33"/>
          <p:cNvSpPr/>
          <p:nvPr/>
        </p:nvSpPr>
        <p:spPr>
          <a:xfrm>
            <a:off x="384048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840480" y="48463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800" dirty="0"/>
          </a:p>
        </p:txBody>
      </p:sp>
      <p:sp>
        <p:nvSpPr>
          <p:cNvPr id="38" name="Shape 35"/>
          <p:cNvSpPr/>
          <p:nvPr/>
        </p:nvSpPr>
        <p:spPr>
          <a:xfrm>
            <a:off x="5303520" y="1783080"/>
            <a:ext cx="624535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532120" y="18745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Caminho seguro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532120" y="228600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início, a política desce pela coluna 1 e segue pela última linha até a meta, longe da armadilha.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303520" y="3246120"/>
            <a:ext cx="6245352" cy="1325880"/>
          </a:xfrm>
          <a:prstGeom prst="roundRect">
            <a:avLst>
              <a:gd name="adj" fmla="val 827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532120" y="33375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Cantos pouco visitados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374904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“↑” no canto superior direito quase nunca foi treinado: o agente raramente passa ali. A tabela só é confiável onde há experiência.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303520" y="4709160"/>
            <a:ext cx="624535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532120" y="4800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mapa nenhum</a:t>
            </a:r>
            <a:endParaRPr lang="en-US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5212080"/>
            <a:ext cx="5806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momento algum entregamos o mapa ou o caminho: a política saiu só de recompensas.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curva de aprendizado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28800"/>
          <a:ext cx="6492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78308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Começo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28600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−22,2: o agente anda quase ao acaso e cai na armadilha.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498080" y="324612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374904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~125 episódios a média já passa de 0.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98080" y="470916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80960" y="4800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Fim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5212080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 perto de 4,6 a 4,8 (ótimo = 5).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e γ: o que muda no GridWorld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852160" cy="2255520"/>
          </a:xfrm>
          <a:prstGeom prst="roundRect">
            <a:avLst>
              <a:gd name="adj" fmla="val 486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hiperparametros_q.py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3035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media_final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3035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3035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53035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38500"/>
            <a:ext cx="53035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media_final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53035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53035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media_final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0" y="1783080"/>
            <a:ext cx="192024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93408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607808" y="17830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583680" y="2267712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93408" y="22677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607808" y="22677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583680" y="265176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93408" y="26517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607808" y="26517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4.64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83680" y="3035808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693408" y="30358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07808" y="30358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4.59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583680" y="3419856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93408" y="341985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607808" y="341985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4.33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869680" y="1783080"/>
            <a:ext cx="2651760" cy="411480"/>
          </a:xfrm>
          <a:prstGeom prst="roundRect">
            <a:avLst>
              <a:gd name="adj" fmla="val 22222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979408" y="17830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893808" y="1783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869680" y="2267712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79408" y="22677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9893808" y="22677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-173.42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869680" y="2651760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979408" y="26517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9893808" y="2651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4.71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869680" y="3035808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979408" y="30358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9893808" y="30358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4.64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869680" y="3419856"/>
            <a:ext cx="2651760" cy="329184"/>
          </a:xfrm>
          <a:prstGeom prst="roundRect">
            <a:avLst>
              <a:gd name="adj" fmla="val 22222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979408" y="341985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9893808" y="34198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4.69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40080" y="4114800"/>
            <a:ext cx="10911535" cy="2011680"/>
          </a:xfrm>
          <a:prstGeom prst="roundRect">
            <a:avLst>
              <a:gd name="adj" fmla="val 5455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4400" y="4114800"/>
            <a:ext cx="103628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médio nos 50 últimos episódios, em 5 sementes. Neste problema pequeno e determinístico, α entre 0,01 e 0,5 dá praticamente o mesmo (4,6): a diferença só aparece em α = 1,0. Já com γ = 0 o agente é cego ao futuro: nunca “enxerga” a meta e vaga até o limite de 200 passos (retorno de −173).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ε: quanto explorar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1874520"/>
          </a:xfrm>
          <a:prstGeom prst="roundRect">
            <a:avLst>
              <a:gd name="adj" fmla="val 585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hiperparametros_q.py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"exploracao (alfa 0.1, gamma 0.9):"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"eps fixo 0.5"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"eps fixo 0.05"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"eps decai de 1.0 a 0.05"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media_final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525512" y="17830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3524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1955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525512" y="231343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35240" y="231343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fixo 0,5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0195560" y="231343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-2.86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25512" y="281635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35240" y="281635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fixo 0,05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195560" y="281635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525512" y="331927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35240" y="331927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decai 1,0 → 0,05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10195560" y="3319272"/>
            <a:ext cx="1280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" y="4023360"/>
            <a:ext cx="10911535" cy="2103120"/>
          </a:xfrm>
          <a:prstGeom prst="roundRect">
            <a:avLst>
              <a:gd name="adj" fmla="val 521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4023360"/>
            <a:ext cx="103628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ε fixo em 0,5 o agente continua jogando metade das vezes ao acaso, mesmo sabendo o caminho, e o retorno cai para −2,9. Com ε baixo e fixo funciona bem aqui, e decair de 1,0 a 0,05 foi o melhor. Em ambientes mais difíceis (próximos slides), explorar no começo é o que decide se há aprendizado.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Gymnasium: ambientes prontos para testar agentes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Python (sucessora do Gym, da OpenAI, mantida pela Farama Foundation) com ambientes padronizados.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usar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ambientes têm a mesma interface: o mesmo agente roda em jogos simples e em problemas de controle.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Instalação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gymnasium. Os ambientes desta aula (FrozenLake, Taxi, CartPole, CliffWalking) já vêm incluídos.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a versão 1.4 do Gymnasium. Os nomes e versões dos ambientes mudam com o tempo (por exemplo, o Taxi-v3 virou Taxi-v4): confira a documentação da sua versão.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API: make, reset e step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858000" cy="3017520"/>
          </a:xfrm>
          <a:prstGeom prst="roundRect">
            <a:avLst>
              <a:gd name="adj" fmla="val 363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760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gym_basico.py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gymnasium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67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"FrozenLake-v1"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is_slippery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57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"estados:"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observation_space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acoes:"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action_space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38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"estado inicial:"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 esq, 1 baixo, 2 dir, 3 cima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terminou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truncou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"acao"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 estado"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"recompensa"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"terminou"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terminou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"truncou"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truncou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terminou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truncou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63093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680960" y="1783080"/>
            <a:ext cx="3867912" cy="2865120"/>
          </a:xfrm>
          <a:prstGeom prst="roundRect">
            <a:avLst>
              <a:gd name="adj" fmla="val 383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8212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08329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8446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95360" y="1901952"/>
            <a:ext cx="2770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(quebrada em linhas)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22860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estados: Discrete(16)  acoes: Discrete(4)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7955280" y="24384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inicial: 0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7955280" y="25908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 2 -&gt; estado 1 recompensa 0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7955280" y="27432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terminou False truncou False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7955280" y="28956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 2 -&gt; estado 2 recompensa 0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7955280" y="30480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terminou False truncou False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7955280" y="32004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 1 -&gt; estado 6 recompensa 0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7955280" y="33528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terminou False truncou False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7955280" y="35052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 1 -&gt; estado 10 recompensa 0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7955280" y="36576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terminou False truncou False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7955280" y="38100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 1 -&gt; estado 14 recompensa 0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7955280" y="39624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terminou False truncou False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7955280" y="41148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acao 2 -&gt; estado 15 recompensa 1.0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7955280" y="4267200"/>
            <a:ext cx="331927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terminou True truncou False</a:t>
            </a:r>
            <a:endParaRPr lang="en-US" sz="8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step devolve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035808" y="1783080"/>
            <a:ext cx="8439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23134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observação (estado)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035808" y="2313432"/>
            <a:ext cx="8439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estado. Em FrozenLake e Taxi é um inteiro; em CartPole, quatro números reais.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2880360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8803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recompensa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035808" y="2880360"/>
            <a:ext cx="8439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desta ação (FrozenLake: 1 só na meta, 0 nas demais).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447288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" y="34472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035808" y="3447288"/>
            <a:ext cx="8439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 o episódio acabou de verdade (meta, buraco, pole caiu).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014216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4014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truncated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035808" y="4014216"/>
            <a:ext cx="8439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se acabou por limite de tempo (100 passos no FrozenLake, 500 no CartPole).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581144"/>
            <a:ext cx="10908792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45811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035808" y="4581144"/>
            <a:ext cx="8439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 com dados extras, normalmente ignorado.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5212080"/>
            <a:ext cx="10911535" cy="914400"/>
          </a:xfrm>
          <a:prstGeom prst="roundRect">
            <a:avLst>
              <a:gd name="adj" fmla="val 12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52120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importa: ao atingir um estado final não há futuro para somar (terminated), mas ao ser interrompido por tempo o episódio poderia continuar.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FROZENLAKE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FrozenLake: atravessar o lago congelado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2880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3464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182880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28800" y="283464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83464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0480" y="283464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40480" y="283464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2880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3464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840480" y="384048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840480" y="384048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82296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8463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82880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83464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0" y="4846320"/>
            <a:ext cx="950976" cy="950976"/>
          </a:xfrm>
          <a:prstGeom prst="roundRect">
            <a:avLst>
              <a:gd name="adj" fmla="val 7692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840480" y="4846320"/>
            <a:ext cx="9509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5303520" y="1920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0" y="1874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(estado 0)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30352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5D3CA"/>
          </a:solidFill>
          <a:ln w="12700">
            <a:solidFill>
              <a:srgbClr val="C5D3C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43600" y="24688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Gelo firme: pode pisar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303520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43600" y="3063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Buraco: o episódio acaba sem ganho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30352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43600" y="36576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(estado 15): recompensa 1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5303520" y="4434840"/>
            <a:ext cx="6245352" cy="1691640"/>
          </a:xfrm>
          <a:prstGeom prst="roundRect">
            <a:avLst>
              <a:gd name="adj" fmla="val 648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0" y="4434840"/>
            <a:ext cx="5897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Ações: 0 esquerda, 1 baixo, 2 direita, 3 cima. A recompensa só aparece na meta (1) e é 0 em todo o resto: recompensa esparsa. Com is_slippery=True o gelo é escorregadio e a ação nem sempre faz o que se pede (o ambiente passa a ser estocástico).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FROZENLAKE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base: um agente aleatório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frozen_aleatorio.py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gymnasium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667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"FrozenLake-v1"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is_slippery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57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action_space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sucessos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38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action_space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sucessos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"agente aleatorio: meta em"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sucessos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891272" y="178308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91272" y="189280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 de 2000</a:t>
            </a:r>
            <a:endParaRPr lang="en-US" sz="4000" dirty="0"/>
          </a:p>
        </p:txBody>
      </p:sp>
      <p:sp>
        <p:nvSpPr>
          <p:cNvPr id="25" name="Text 22"/>
          <p:cNvSpPr txBox="1"/>
          <p:nvPr/>
        </p:nvSpPr>
        <p:spPr>
          <a:xfrm>
            <a:off x="8028432" y="28803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 com chegada à meta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891272" y="384048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65592" y="38404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1,7% de sucesso ao acaso. Na maioria dos episódios o agente nunca vê recompensa nenhuma, então não há o que aprender: é o problema da recompensa esparsa.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FROZENLAKE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 no Gymnasium (1/3): o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315200" cy="2617470"/>
          </a:xfrm>
          <a:prstGeom prst="roundRect">
            <a:avLst>
              <a:gd name="adj" fmla="val 419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frozen_q.py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observation_space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action_space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_000_000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67665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17830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observation_space.n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869680" y="214884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estados (16).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29600" y="33375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869680" y="324612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env.reset(seed=...)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361188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o ambiente; a semente torna o episódio reproduzível.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0080" y="4629150"/>
            <a:ext cx="7315200" cy="1497330"/>
          </a:xfrm>
          <a:prstGeom prst="roundRect">
            <a:avLst>
              <a:gd name="adj" fmla="val 7328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14400" y="4629150"/>
            <a:ext cx="6766560" cy="1497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código serve para qualquer ambiente de estados discretos do Gymnasium: só depende de observation_space.n e action_space.n.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FROZENLAKE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 no Gymnasium (2/3): a atualização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13232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035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frozen_q.py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action_space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658368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0467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467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17830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if term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0" y="214884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estado final (meta ou buraco) não há futuro.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804672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467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0" y="31546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 or trunc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0" y="352044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episódio acaba por final ou por tempo.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4672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0" y="452628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 0.999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0" y="489204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cai devagar, ao longo de milhares de episódios.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FROZENLAKE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 no Gymnasium (3/3): avaliando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frozen_q.py (parte 3)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taxa_sucesso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1242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3337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5433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7528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96240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71950"/>
            <a:ext cx="585216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42632" y="1783080"/>
            <a:ext cx="4206240" cy="1931670"/>
          </a:xfrm>
          <a:prstGeom prst="roundRect">
            <a:avLst>
              <a:gd name="adj" fmla="val 568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43800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44968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46136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57032" y="190195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frozen_q.py (principal, resumido)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7616952" y="228600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__name__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"__main__"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616952" y="245745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escorregadio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616952" y="262890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"FrozenLake-v1"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7616952" y="280035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is_slippery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escorregadio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616952" y="297180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7616952" y="314325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"is_slippery ="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escorregadio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616952" y="3314700"/>
            <a:ext cx="3657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 sucesso:"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taxa_sucesso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14400" y="4892040"/>
            <a:ext cx="103628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usa só a política gulosa (sem ε) e sementes diferentes das do treino: mede o que o agente aprendeu, não a sorte.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FROZENLAKE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do acaso à política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aleatório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7972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47972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485132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gelo firme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55864" y="1783080"/>
            <a:ext cx="3493008" cy="1828800"/>
          </a:xfrm>
          <a:prstGeom prst="roundRect">
            <a:avLst>
              <a:gd name="adj" fmla="val 6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55864" y="1892808"/>
            <a:ext cx="3493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72,8%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193024" y="2880360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Q-learning, gelo escorregadio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840480"/>
            <a:ext cx="5669280" cy="1150620"/>
          </a:xfrm>
          <a:prstGeom prst="roundRect">
            <a:avLst>
              <a:gd name="adj" fmla="val 9536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40233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40233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3584" y="40233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3959352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de frozen_q.py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343400"/>
            <a:ext cx="51206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is_slippery = False -&gt; sucesso da politica gulosa: 1.0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552950"/>
            <a:ext cx="51206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is_slippery = True -&gt; sucesso da politica gulosa: 0.728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92240" y="3840480"/>
            <a:ext cx="5056632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66560" y="3840480"/>
            <a:ext cx="4507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escorregadio, nem a melhor política possível chega sempre à meta, porque a ação nem sempre faz o que se pede. Por isso 72,8% é um bom resultado, não uma falha (e treinar muito mais, 20 000 episódios, só levou a 74,1%).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explorar, nada se aprende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400800" cy="2255520"/>
          </a:xfrm>
          <a:prstGeom prst="roundRect">
            <a:avLst>
              <a:gd name="adj" fmla="val 4865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303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frozen_eps.py (imports omitidos)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"FrozenLake-v1"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is_slippery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"eps = 0 (nunca explora)"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"eps fixo 0.9"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"eps fixo 0.1"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eps_min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decaimento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"eps decai de 1.0 a 0.05"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kw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585216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 sucesso:"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taxa_sucesso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25512" y="178308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3524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28700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525512" y="231343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35240" y="231343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0287000" y="231343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25512" y="281635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35240" y="281635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fixo 0,9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0287000" y="281635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525512" y="331927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35240" y="331927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fixo 0,1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0287000" y="331927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525512" y="3822192"/>
            <a:ext cx="4023360" cy="448056"/>
          </a:xfrm>
          <a:prstGeom prst="roundRect">
            <a:avLst>
              <a:gd name="adj" fmla="val 1632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635240" y="3822192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decai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0287000" y="3822192"/>
            <a:ext cx="11887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080" y="4480560"/>
            <a:ext cx="10911535" cy="1645920"/>
          </a:xfrm>
          <a:prstGeom prst="roundRect">
            <a:avLst>
              <a:gd name="adj" fmla="val 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14400" y="4480560"/>
            <a:ext cx="1036289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ε = 0 a tabela Q fica toda zerada (o agente nunca viu recompensa) e ele repete a mesma ação. Com ε = 0,1 em 2000 episódios, também não deu: a meta é difícil de achar com tão pouca exploração. No GridWorld a recompensa de −1 por passo guiava; aqui o sinal é raro.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Taxi: buscar e levar um passageiro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grade 5 × 5, o táxi vai até o passageiro, o pega e o leva ao destino (um dos 4 pontos coloridos).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estados (posição do táxi × posição do passageiro × destino) e 6 ações: 4 movimentos, pegar e deixar.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Recompensas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por passo, +20 ao entregar o passageiro, −10 por pegar ou deixar em lugar errado.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Q aqui tem 500 × 6 = 3000 números, e o agente precisa aprender uma sequência: ir, pegar, ir, deixar. O Q-learning propaga a recompensa final para trás, passo a passo.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Taxi com Q-learning (1/2): treino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680960" cy="4160520"/>
          </a:xfrm>
          <a:prstGeom prst="roundRect">
            <a:avLst>
              <a:gd name="adj" fmla="val 263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583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taxi_q.py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gymnasium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57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"Taxi-v4"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48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"estados:"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observation_space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acoes:"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action_space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238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429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observation_space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action_space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619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810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000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_000_000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191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762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953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5143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3340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5524500"/>
            <a:ext cx="71323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50392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03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0" y="178308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Taxi-v4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0" y="214884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versão atual; versões antigas (v3) saíram.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503920" y="33375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039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144000" y="324612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 episódios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144000" y="3611880"/>
            <a:ext cx="2404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suficiente para cobrir quase todos os 500 estados.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Taxi com Q-learning (2/2): comparando com o acaso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863840" cy="3208020"/>
          </a:xfrm>
          <a:prstGeom prst="roundRect">
            <a:avLst>
              <a:gd name="adj" fmla="val 3420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taxi_q.py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politica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politica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381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"agente aleatorio, retorno medio:"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572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"agente Q-learning, retorno medio:"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595360" y="1783080"/>
            <a:ext cx="2953512" cy="1303020"/>
          </a:xfrm>
          <a:prstGeom prst="roundRect">
            <a:avLst>
              <a:gd name="adj" fmla="val 842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9652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99769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9886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09760" y="1901952"/>
            <a:ext cx="1856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 (resumida)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869680" y="2286000"/>
            <a:ext cx="24048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estados: 500  acoes: 6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869680" y="2476500"/>
            <a:ext cx="24048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aleatorio: -761.5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2667000"/>
            <a:ext cx="240487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Q-learning: 8.0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40080" y="5166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aleatório perde 761,5 pontos por episódio em média (muitos passos e penalidades de −10). O treinado fica com +8,0: entrega o passageiro em poucos passos.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CartPole: equilibrar uma haste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carrinho se move para a esquerda ou direita (2 ações) para manter uma haste em pé.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estado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números reais: posição e velocidade do carrinho, ângulo e velocidade angular da haste. Contínuo: não cabe numa tabela.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743200"/>
          </a:xfrm>
          <a:prstGeom prst="roundRect">
            <a:avLst>
              <a:gd name="adj" fmla="val 4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recompensa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a cada passo em que a haste fica em pé. O episódio acaba se ela cair, ou aos 500 passos (máximo).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75488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tabela Q precisa de estados discretos, vamos discretizar: dividir cada número em faixas (bins) e tratar cada combinação de faixas como um estado.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Discretizando o estado contínuo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49808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cartpole_q.py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"CartPole-v1"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1242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discretizar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433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528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96240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171950"/>
            <a:ext cx="694944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4124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124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17830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052560" y="21488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útil de cada variável; valores fora são cortados (clip).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4124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124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052560" y="31546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9052560" y="35204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6 × 12 × 12 = 5184 estados discretos.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4124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124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052560" y="4526280"/>
            <a:ext cx="2496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052560" y="4892040"/>
            <a:ext cx="2496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 faixa o valor caiu (0 a n − 1).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 com estado discretizado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863840" cy="3970020"/>
          </a:xfrm>
          <a:prstGeom prst="roundRect">
            <a:avLst>
              <a:gd name="adj" fmla="val 2764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cartpole_q.py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_000_000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discretizar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91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discretizar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381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572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762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953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143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0.999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14400" y="5334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6868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86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326880" y="178308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bins + (2,)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326880" y="214884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6×6×12×12×2.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68680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6868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326880" y="315468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+ (a,)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9326880" y="352044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da célula (estado, ação).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Avaliando o agente do CartPole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766560" cy="2636520"/>
          </a:xfrm>
          <a:prstGeom prst="roundRect">
            <a:avLst>
              <a:gd name="adj" fmla="val 4162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669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cartpole_q.py (parte 3)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avaliar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discretizar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2179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totais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589520" y="178308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89520" y="189280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315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21,2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7726680" y="288036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601200" y="1783080"/>
            <a:ext cx="1947672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601200" y="1892808"/>
            <a:ext cx="1947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165,7</a:t>
            </a:r>
            <a:endParaRPr lang="en-US" sz="4000" dirty="0"/>
          </a:p>
        </p:txBody>
      </p:sp>
      <p:sp>
        <p:nvSpPr>
          <p:cNvPr id="26" name="Text 23"/>
          <p:cNvSpPr txBox="1"/>
          <p:nvPr/>
        </p:nvSpPr>
        <p:spPr>
          <a:xfrm>
            <a:off x="9738360" y="2880360"/>
            <a:ext cx="1673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0080" y="4663440"/>
            <a:ext cx="10911535" cy="1463040"/>
          </a:xfrm>
          <a:prstGeom prst="roundRect">
            <a:avLst>
              <a:gd name="adj" fmla="val 75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" y="466344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aprender, a haste cai em ~21 passos. Depois de 5000 episódios, a média sobe para 165,7 (o máximo é 500). Melhorou muito, mas não resolveu o problema: a discretização perde informação e o Q-learning tabular é instável aqui (próximo slide).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nem sempre é uma subida constante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731520" y="1828800"/>
          <a:ext cx="6492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7498080" y="178308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680960" y="1856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Subida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22199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~22 para quase 400 em ~3500 episódios.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498080" y="324612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80960" y="3319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Oscilação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368503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o retorno cai e sobe (de 399,5 para 239,6 e 256,5): a política “esquece” e reaprende.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498080" y="4709160"/>
            <a:ext cx="4050792" cy="1325880"/>
          </a:xfrm>
          <a:prstGeom prst="roundRect">
            <a:avLst>
              <a:gd name="adj" fmla="val 827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80960" y="4782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quê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5148072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discretizados agrupam situações diferentes, e ε-exploração e α constante adicionam ruído. Soluções: RL profundo, mais ajuste e mais dados.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ambientes da aula lado a lado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08792" cy="457200"/>
          </a:xfrm>
          <a:prstGeom prst="roundRect">
            <a:avLst>
              <a:gd name="adj" fmla="val 20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487168" y="1783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224528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21808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65008" y="1783080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31343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231343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GridWorld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2487168" y="231343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224528" y="231343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321808" y="231343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por passo, +10 / −10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065008" y="2313432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4,6 (ótimo = 5)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286207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286207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FrozenLake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2487168" y="286207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224528" y="286207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321808" y="286207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só na meta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065008" y="2862072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(firme); 72,8% (escorregadio)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341071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9808" y="341071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Taxi-v4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2487168" y="341071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224528" y="341071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321808" y="341071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−1; +20; −10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065008" y="3410712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+8,0 (aleatório: −761,5)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3959352"/>
            <a:ext cx="10908792" cy="493776"/>
          </a:xfrm>
          <a:prstGeom prst="roundRect">
            <a:avLst>
              <a:gd name="adj" fmla="val 14815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9808" y="395935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CartPole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2487168" y="395935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contínuo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224528" y="3959352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5321808" y="3959352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por passo em pé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065008" y="3959352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165,7 (aleatório: 21,2)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4800600"/>
            <a:ext cx="10911535" cy="1325880"/>
          </a:xfrm>
          <a:prstGeom prst="roundRect">
            <a:avLst>
              <a:gd name="adj" fmla="val 8276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800600"/>
            <a:ext cx="1036289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algoritmo (Q-learning tabular) resolveu três dos quatro. O CartPole mostrou o limite: quando o estado é contínuo ou enorme, a tabela deixa de ser a ferramenta certa.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CliffWalking: um penhasco ao lado do caminho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64208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05456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46704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87952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70448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11696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52944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94192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35440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76688" y="1828800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664208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05456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46704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87952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0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70448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11696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52944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94192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35440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076688" y="2395728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2960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664208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05456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46704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187952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29200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70448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11696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52944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94192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235440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076688" y="2962656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22960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22960" y="352958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664208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505456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346704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187952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029200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870448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711696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552944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394192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235440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0076688" y="3529584"/>
            <a:ext cx="786384" cy="512064"/>
          </a:xfrm>
          <a:prstGeom prst="roundRect">
            <a:avLst>
              <a:gd name="adj" fmla="val 14286"/>
            </a:avLst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076688" y="352958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17373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1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penhasco: −100 e volta ao início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640080" y="4572000"/>
            <a:ext cx="3493008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68680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Recompensas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868680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por passo; cair no penhasco custa −100 e leva de volta ao início.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4347972" y="4572000"/>
            <a:ext cx="3493008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576572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Caminho curto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576572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 ao penhasco: 13 passos (retorno −13), mas qualquer passo em falso custa caro.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8055864" y="4572000"/>
            <a:ext cx="3493008" cy="1554480"/>
          </a:xfrm>
          <a:prstGeom prst="roundRect">
            <a:avLst>
              <a:gd name="adj" fmla="val 70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84464" y="4754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Caminho seguro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8284464" y="544068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linha de cima: mais longo, longe do risco.</a:t>
            </a:r>
            <a:endParaRPr lang="en-US" sz="1400" dirty="0"/>
          </a:p>
        </p:txBody>
      </p:sp>
      <p:sp>
        <p:nvSpPr>
          <p:cNvPr id="66" name="Text 6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Off-policy (Q-learning) e on-policy (SARSA)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1828800"/>
          </a:xfrm>
          <a:prstGeom prst="roundRect">
            <a:avLst>
              <a:gd name="adj" fmla="val 6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783080"/>
            <a:ext cx="10362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Q-learning:  Q(s, a) ← Q(s, a) + α · [ r + γ · max Q(s′, a′) − Q(s, a) ]
</a:t>
            </a:r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SARSA:  Q(s, a) ← Q(s, a) + α · [ r + γ · Q(s′, a′) − Q(s, a) ]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Q-learning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o valor da melhor ação possível no próximo estado (max), mesmo que a exploração escolha outra. Por isso é off-policy: aprende a política ótima enquanto age de outro jeito.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7972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6572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6572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 ação a′ que o agente realmente vai tomar (inclusive as exploratórias). É on-policy: aprende o valor da política que está seguindo, ε incluído.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55864" y="3840480"/>
            <a:ext cx="3493008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84464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6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Consequência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284464" y="4709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Q-learning aprende o caminho rente ao penhasco; o SARSA, que conta com os deslizes da exploração, prefere o caminho seguro.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 e Q-learning no mesmo código (1/2)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2827020"/>
          </a:xfrm>
          <a:prstGeom prst="roundRect">
            <a:avLst>
              <a:gd name="adj" fmla="val 3881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cliff_sarsa.py (parte 1)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epsilon_gulosa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146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3337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5433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"CliffWalking-v1"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7528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default_rng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9624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41719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95528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55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17830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595360" y="21488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"q-learning" ou "sarsa": a única diferença no código.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32461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595360" y="31546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= 1.0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595360" y="35204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desconto: episódios curtos, recompensa direta.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955280" y="46177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8595360" y="4526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estados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595360" y="489204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4 × 12.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SARSA e Q-learning no mesmo código (2/2)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7863840" cy="3589020"/>
          </a:xfrm>
          <a:prstGeom prst="roundRect">
            <a:avLst>
              <a:gd name="adj" fmla="val 305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6766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cliff_sarsa.py (parte 2)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episodios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76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_000_000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67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epsilon_gulosa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57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3048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238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429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epsilon_gulosa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rng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619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"q-learning"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10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</a:t>
            </a:r>
            <a:pPr indent="0" marL="0">
              <a:buNone/>
            </a:pPr>
            <a:r>
              <a:rPr lang="en-US" sz="1000" dirty="0">
                <a:solidFill>
                  <a:srgbClr val="8FA6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SARSA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91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381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572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7625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953000"/>
            <a:ext cx="7315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686800" y="187452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9326880" y="178308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9326880" y="214884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única linha que muda: max Q(s′) ou Q(s′, a′).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686800" y="3337560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9326880" y="3246120"/>
            <a:ext cx="2221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326880" y="3611880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seguinte já é escolhida antes da atualização.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Resultado: quem aprende o quê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3646170"/>
          </a:xfrm>
          <a:prstGeom prst="roundRect">
            <a:avLst>
              <a:gd name="adj" fmla="val 3009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cliff_sarsa.py (parte 3)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retorno_guloso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574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"CliffWalking-v1"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289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003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9718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31432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argmax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3147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passos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" y="34861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290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"q-learning"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"sarsa"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005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guloso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1719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3434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5148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46863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guloso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retorno_guloso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85775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retorno durante o treino:"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5029200"/>
            <a:ext cx="64008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buNone/>
            </a:pPr>
            <a:r>
              <a:rPr lang="en-US" sz="9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"| mediana da politica gulosa:"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guloso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9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799832" y="178308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09560" y="1783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281160" y="1783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treino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0469880" y="17830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gulosa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799832" y="2496312"/>
            <a:ext cx="3749040" cy="539496"/>
          </a:xfrm>
          <a:prstGeom prst="roundRect">
            <a:avLst>
              <a:gd name="adj" fmla="val 1355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09560" y="2496312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9281160" y="2496312"/>
            <a:ext cx="1005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-50.6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0469880" y="2496312"/>
            <a:ext cx="1005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799832" y="3090672"/>
            <a:ext cx="3749040" cy="539496"/>
          </a:xfrm>
          <a:prstGeom prst="roundRect">
            <a:avLst>
              <a:gd name="adj" fmla="val 13559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909560" y="3090672"/>
            <a:ext cx="1188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281160" y="3090672"/>
            <a:ext cx="1005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-25.9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469880" y="3090672"/>
            <a:ext cx="1005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-17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799832" y="39319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74152" y="39319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encontra o caminho mais curto (−13), mas, enquanto explora com ε = 0,1, cai no penhasco com frequência (−50,6). SARSA aceita um caminho mais longo (−17) e se sai melhor durante o treino (−25,9).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do Q-learning tabular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tabela cresce demais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jogo de tabuleiro ou uma imagem têm mais estados do que átomos para guardá-los. Sem tabela, é preciso aproximar Q com um modelo (redes neurais).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Muita experiência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episódios para problemas pequenos. No mundo real, cada tentativa custa tempo, dinheiro ou risco.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contínuos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Discretizar perde informação e exige ajuste manual (como no CartPole).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Instabilidade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desempenho pode oscilar entre execuções e mudar muito com α, ε e a semente.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Q-learning ao reforço profundo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Hoje: tabela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 guardado numa tabela. Funciona para poucos estados discretos.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Reforço profundo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neural (aula 11) recebe o estado e devolve Q para cada ação. É a ideia por trás do DQN, publicado pela DeepMind em 2015 para jogar jogos de Atari.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926080"/>
          </a:xfrm>
          <a:prstGeom prst="roundRect">
            <a:avLst>
              <a:gd name="adj" fmla="val 375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notáveis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2016, o AlphaGo venceu o campeão mundial Lee Sedol no jogo de Go, combinando reforço e redes profundas.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937760"/>
            <a:ext cx="10911535" cy="1188720"/>
          </a:xfrm>
          <a:prstGeom prst="roundRect">
            <a:avLst>
              <a:gd name="adj" fmla="val 923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9377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14 veremos redes profundas para imagens, e na 15, as tendências. Reforço profundo exige mais dados e computação do que cabe em uma aula, mas parte exatamente do que fizemos hoje.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E SEGURANÇA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recompensa é o que você pede, não o que quer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Recompensa mal definida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maximiza o número que recebe, não a sua intenção. Se há um atalho que dá pontos sem cumprir o objetivo, ele pode encontrá-lo.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47972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BE3EC"/>
          </a:solidFill>
          <a:ln w="12700">
            <a:solidFill>
              <a:srgbClr val="FBE3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76572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732" y="2103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0809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 hipotético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6572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robô de limpeza premiado por “sujeira recolhida” poderia aprender a derramar sujeira para recolher de novo.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55864" y="1783080"/>
            <a:ext cx="3493008" cy="2834640"/>
          </a:xfrm>
          <a:prstGeom prst="roundRect">
            <a:avLst>
              <a:gd name="adj" fmla="val 3871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1598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Exploração tem custo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284464" y="2651760"/>
            <a:ext cx="3063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ações aleatórias é inaceitável em hospitais, carros ou finanças. Por isso se treina em simulação e com limites de segurança.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14400" y="484632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colocar um agente de reforço no mundo real: defina recompensas que representem o objetivo de verdade, teste em simulação, limite as ações perigosas e mantenha supervisão humana.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reforço é usado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Jogos e simulação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que aprendem a jogar partidas inteiras, e personagens de jogos que se adaptam.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Robótica e controle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andar, agarrar objetos ou controlar processos industriais, geralmente primeiro em simulação.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 e preços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que mostrar ou o preço a cada visita, aprendendo com a resposta do usuário.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Alocação de recursos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uso de servidores, rotas ou estoque quando o resultado só aparece depois.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nesta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Esquecer de explorar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= 0 ou ε pequeno demais: com recompensa esparsa a tabela fica zerada.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199632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28232" y="2011680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1488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59752" y="20116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Tratar tempo limite como fim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28232" y="26974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Distinga terminated de truncated. No estado final não há futuro; no truncamento, há.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2511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com ε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868680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a política gulosa, com sementes diferentes das do treino.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199632" y="3959352"/>
            <a:ext cx="5349240" cy="2011680"/>
          </a:xfrm>
          <a:prstGeom prst="roundRect">
            <a:avLst>
              <a:gd name="adj" fmla="val 5455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428232" y="4187952"/>
            <a:ext cx="548640" cy="54864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32511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2" y="41879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Julgar por uma execução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428232" y="4873752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reforço é ruidoso: repita com várias sementes e compare médias.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massa: quatro exercícios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02996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7830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 com desconto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17830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retorno das recompensas [1, 1, 1, 10] com γ = 0,5 e com γ = 0,9.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88036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12724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8803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atualização de Q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288036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α = 0,5 e γ = 0,9, Q(s, a) = 2, r = 1 e máx Q(s′) = 4, calcule o alvo, o erro e o novo Q(s, a).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397764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45920" y="39776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episódios?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397764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FrozenLake escorregadio, treine com 500, 2000, 5000 e 20 000 episódios e meça a taxa de sucesso.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11429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5321808"/>
            <a:ext cx="457200" cy="45720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645920" y="507492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Efeito do γ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4389120" y="50749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FrozenLake sem escorregar, treine 3000 episódios com γ = 0, 0,5, 0,9 e 0,99. O que acontece?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1 e 2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779270"/>
          </a:xfrm>
          <a:prstGeom prst="roundRect">
            <a:avLst>
              <a:gd name="adj" fmla="val 61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9146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1242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"gamma"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745230"/>
            <a:ext cx="6949440" cy="1779270"/>
          </a:xfrm>
          <a:prstGeom prst="roundRect">
            <a:avLst>
              <a:gd name="adj" fmla="val 61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1248" y="392811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42416" y="392811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43584" y="392811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386410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2481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4577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46672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48768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"alvo"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erro"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0863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Q novo"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alfa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alvo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99832" y="178308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55280" y="17830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0,5: 1 + 0,5 + 0,25 + 1,25 = 3,0.  γ = 0,9: 1 + 0,9 + 0,81 + 7,29 = 10,0. Quanto maior γ, mais a meta distante pesa.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799832" y="379476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955280" y="37947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= 1 + 0,9 × 4 = 4,6; erro = 4,6 − 2 = 2,6; Q novo = 2 + 0,5 × 2,6 = 3,3.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Gabarito: exercícios 3 e 4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6949440" cy="1360170"/>
          </a:xfrm>
          <a:prstGeom prst="roundRect">
            <a:avLst>
              <a:gd name="adj" fmla="val 80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96596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2416" y="196596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3584" y="196596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54480" y="190195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22860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"FrozenLake-v1"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is_slippery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4955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7051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"episodios -&gt;"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taxa_sucesso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326130"/>
            <a:ext cx="6949440" cy="1360170"/>
          </a:xfrm>
          <a:prstGeom prst="roundRect">
            <a:avLst>
              <a:gd name="adj" fmla="val 8067"/>
            </a:avLst>
          </a:prstGeom>
          <a:solidFill>
            <a:srgbClr val="0A1B13"/>
          </a:solidFill>
          <a:ln w="12700">
            <a:solidFill>
              <a:srgbClr val="0A1B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" y="3509010"/>
            <a:ext cx="118872" cy="118872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42416" y="3509010"/>
            <a:ext cx="118872" cy="118872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243584" y="3509010"/>
            <a:ext cx="118872" cy="118872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554480" y="3445002"/>
            <a:ext cx="5852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" y="38290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"FrozenLake-v1"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is_slippery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403860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48150"/>
            <a:ext cx="64008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8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"gamma"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7EE2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"-&gt;"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taxa_sucesso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treinar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3000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buNone/>
            </a:pPr>
            <a:r>
              <a:rPr lang="en-US" sz="1100" dirty="0">
                <a:solidFill>
                  <a:srgbClr val="E9F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99832" y="1783080"/>
            <a:ext cx="3749040" cy="365760"/>
          </a:xfrm>
          <a:prstGeom prst="roundRect">
            <a:avLst>
              <a:gd name="adj" fmla="val 25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095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921240" y="1783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99832" y="2221992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90956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921240" y="2221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0.116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799832" y="2551176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0956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921240" y="25511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0.726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799832" y="2880360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095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9921240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0.728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799832" y="3209544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909560" y="3209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9921240" y="3209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0.741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799832" y="3611880"/>
            <a:ext cx="3749040" cy="365760"/>
          </a:xfrm>
          <a:prstGeom prst="roundRect">
            <a:avLst>
              <a:gd name="adj" fmla="val 25000"/>
            </a:avLst>
          </a:prstGeom>
          <a:solidFill>
            <a:srgbClr val="0F2A1D"/>
          </a:solidFill>
          <a:ln w="12700">
            <a:solidFill>
              <a:srgbClr val="0F2A1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90956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992124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799832" y="4050792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90956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9921240" y="40507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799832" y="4379976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909560" y="4379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9921240" y="4379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799832" y="4709160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F1F6F3"/>
          </a:solidFill>
          <a:ln w="12700">
            <a:solidFill>
              <a:srgbClr val="F1F6F3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909560" y="4709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9921240" y="4709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799832" y="5038344"/>
            <a:ext cx="3749040" cy="274320"/>
          </a:xfrm>
          <a:prstGeom prst="roundRect">
            <a:avLst>
              <a:gd name="adj" fmla="val 26667"/>
            </a:avLst>
          </a:prstGeom>
          <a:solidFill>
            <a:srgbClr val="E6EEE9"/>
          </a:solidFill>
          <a:ln w="12700">
            <a:solidFill>
              <a:srgbClr val="E6EEE9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909560" y="5038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9921240" y="50383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A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640080" y="5577840"/>
            <a:ext cx="10911535" cy="548640"/>
          </a:xfrm>
          <a:prstGeom prst="roundRect">
            <a:avLst>
              <a:gd name="adj" fmla="val 20000"/>
            </a:avLst>
          </a:prstGeom>
          <a:solidFill>
            <a:srgbClr val="FFEBDD"/>
          </a:solidFill>
          <a:ln w="12700">
            <a:solidFill>
              <a:srgbClr val="FFEBD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14400" y="557784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3: com 500 episódios falta experiência; depois de ~2000 o ganho é pequeno. Ex. 4: γ = 0 não enxerga a meta.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2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023360" cy="40233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80015" y="-822960"/>
            <a:ext cx="2743200" cy="274320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645920" y="4846320"/>
            <a:ext cx="3474720" cy="347472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486400"/>
            <a:ext cx="2194560" cy="2194560"/>
          </a:xfrm>
          <a:prstGeom prst="ellipse">
            <a:avLst/>
          </a:prstGeom>
          <a:ln w="15875">
            <a:solidFill>
              <a:srgbClr val="1B43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420624"/>
            <a:ext cx="329184" cy="329184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02920"/>
            <a:ext cx="164592" cy="16459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PRÓXIMOS PASSOS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86868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levamos da aula 13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31670"/>
            <a:ext cx="205740" cy="2057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17373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age, recebe estado e recompensa, e busca maximizar o retorno com desconto γ.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08910"/>
            <a:ext cx="205740" cy="2057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514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aprende Q(s, a) com a regra Q ← Q + α[r + γ max Q′ − Q], explorando com ε-gulosa.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486150"/>
            <a:ext cx="205740" cy="2057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Gymnasium padroniza ambientes (reset/step); a tabela Q resolveu FrozenLake e Taxi, mas não o CartPole.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5FE3A1"/>
          </a:solidFill>
          <a:ln w="12700">
            <a:solidFill>
              <a:srgbClr val="5FE3A1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263390"/>
            <a:ext cx="205740" cy="2057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0690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SARSA (on-policy) e Q-learning (off-policy) diferem em uma linha e aprendem caminhos diferentes.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315200" y="1691640"/>
            <a:ext cx="4233672" cy="3017520"/>
          </a:xfrm>
          <a:prstGeom prst="roundRect">
            <a:avLst>
              <a:gd name="adj" fmla="val 363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589520" y="2286000"/>
            <a:ext cx="502920" cy="50292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589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8229600" y="224028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learning: reconhecimento de imagem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589520" y="3154680"/>
            <a:ext cx="502920" cy="502920"/>
          </a:xfrm>
          <a:prstGeom prst="ellipse">
            <a:avLst/>
          </a:prstGeom>
          <a:solidFill>
            <a:srgbClr val="0B8A5B"/>
          </a:solidFill>
          <a:ln w="12700">
            <a:solidFill>
              <a:srgbClr val="0B8A5B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8229600" y="3108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Tendências, escolha de técnicas e projeto final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40080" y="4983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FF7A2F"/>
          </a:solidFill>
          <a:ln w="12700">
            <a:solidFill>
              <a:srgbClr val="FF7A2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73736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 próxima aula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1737360" y="54681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os exercícios e troque a armadilha do GridWorld de lugar para ver a política mudar. Na aula 14, deep learning: redes convolucionais que reconhecem imagens.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sujeito a ajustes.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· Aula 13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1063721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5D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- Aula 13 - Aprendizado por reforco</dc:title>
  <dc:subject>PptxGenJS Presentation</dc:subject>
  <dc:creator>Inteligência Artificial</dc:creator>
  <cp:lastModifiedBy>Inteligência Artificial</cp:lastModifiedBy>
  <cp:revision>1</cp:revision>
  <dcterms:created xsi:type="dcterms:W3CDTF">2026-10-08T13:32:48Z</dcterms:created>
  <dcterms:modified xsi:type="dcterms:W3CDTF">2026-10-08T13:32:48Z</dcterms:modified>
</cp:coreProperties>
</file>