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5.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6.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A12"/>
                </a:solidFill>
                <a:latin typeface="Calibri"/>
              </a:defRPr>
            </a:pPr>
            <a:r>
              <a:rPr sz="1400" b="0" i="0" u="none" strike="noStrike">
                <a:solidFill>
                  <a:srgbClr val="0B1A12"/>
                </a:solidFill>
                <a:latin typeface="Calibri"/>
              </a:rPr>
              <a:t>Saída de cada ativação em função de z</a:t>
            </a:r>
          </a:p>
        </c:rich>
      </c:tx>
      <c:layout/>
      <c:overlay val="0"/>
    </c:title>
    <c:autoTitleDeleted val="0"/>
    <c:plotArea>
      <c:layout/>
      <c:lineChart>
        <c:varyColors val="0"/>
        <c:ser>
          <c:idx val="0"/>
          <c:order val="0"/>
          <c:tx>
            <c:strRef>
              <c:f>Sheet1!$B$1</c:f>
              <c:strCache>
                <c:ptCount val="1"/>
                <c:pt idx="0">
                  <c:v>sigmoide</c:v>
                </c:pt>
              </c:strCache>
            </c:strRef>
          </c:tx>
          <c:spPr>
            <a:solidFill>
              <a:srgbClr val="0B8A5B"/>
            </a:solidFill>
            <a:ln w="38100" cap="flat">
              <a:solidFill>
                <a:srgbClr val="0B8A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8A5B"/>
              </a:solidFill>
              <a:ln w="9525" cap="flat">
                <a:solidFill>
                  <a:srgbClr val="0B8A5B"/>
                </a:solidFill>
                <a:prstDash val="solid"/>
                <a:round/>
              </a:ln>
              <a:effectLst/>
            </c:spPr>
          </c:marker>
          <c:cat>
            <c:multiLvlStrRef>
              <c:f>Sheet1!$A$2:$A$18</c:f>
              <c:multiLvlStrCache>
                <c:ptCount val="17"/>
                <c:lvl>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lvl>
              </c:multiLvlStrCache>
            </c:multiLvlStrRef>
          </c:cat>
          <c:val>
            <c:numRef>
              <c:f>Sheet1!$B$2:$B$18</c:f>
              <c:numCache>
                <c:formatCode>General</c:formatCode>
                <c:ptCount val="17"/>
                <c:pt idx="0">
                  <c:v>0.018</c:v>
                </c:pt>
                <c:pt idx="1">
                  <c:v>0.029</c:v>
                </c:pt>
                <c:pt idx="2">
                  <c:v>0.047</c:v>
                </c:pt>
                <c:pt idx="3">
                  <c:v>0.076</c:v>
                </c:pt>
                <c:pt idx="4">
                  <c:v>0.119</c:v>
                </c:pt>
                <c:pt idx="5">
                  <c:v>0.182</c:v>
                </c:pt>
                <c:pt idx="6">
                  <c:v>0.269</c:v>
                </c:pt>
                <c:pt idx="7">
                  <c:v>0.378</c:v>
                </c:pt>
                <c:pt idx="8">
                  <c:v>0.5</c:v>
                </c:pt>
                <c:pt idx="9">
                  <c:v>0.622</c:v>
                </c:pt>
                <c:pt idx="10">
                  <c:v>0.731</c:v>
                </c:pt>
                <c:pt idx="11">
                  <c:v>0.818</c:v>
                </c:pt>
                <c:pt idx="12">
                  <c:v>0.881</c:v>
                </c:pt>
                <c:pt idx="13">
                  <c:v>0.924</c:v>
                </c:pt>
                <c:pt idx="14">
                  <c:v>0.953</c:v>
                </c:pt>
                <c:pt idx="15">
                  <c:v>0.971</c:v>
                </c:pt>
                <c:pt idx="16">
                  <c:v>0.982</c:v>
                </c:pt>
              </c:numCache>
            </c:numRef>
          </c:val>
          <c:smooth val="0"/>
        </c:ser>
        <c:ser>
          <c:idx val="1"/>
          <c:order val="1"/>
          <c:tx>
            <c:strRef>
              <c:f>Sheet1!$C$1</c:f>
              <c:strCache>
                <c:ptCount val="1"/>
                <c:pt idx="0">
                  <c:v>tanh</c:v>
                </c:pt>
              </c:strCache>
            </c:strRef>
          </c:tx>
          <c:spPr>
            <a:solidFill>
              <a:srgbClr val="FF7A2F"/>
            </a:solidFill>
            <a:ln w="38100" cap="flat">
              <a:solidFill>
                <a:srgbClr val="FF7A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7A2F"/>
              </a:solidFill>
              <a:ln w="9525" cap="flat">
                <a:solidFill>
                  <a:srgbClr val="FF7A2F"/>
                </a:solidFill>
                <a:prstDash val="solid"/>
                <a:round/>
              </a:ln>
              <a:effectLst/>
            </c:spPr>
          </c:marker>
          <c:cat>
            <c:multiLvlStrRef>
              <c:f>Sheet1!$A$2:$A$18</c:f>
              <c:multiLvlStrCache>
                <c:ptCount val="17"/>
                <c:lvl>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lvl>
              </c:multiLvlStrCache>
            </c:multiLvlStrRef>
          </c:cat>
          <c:val>
            <c:numRef>
              <c:f>Sheet1!$C$2:$C$18</c:f>
              <c:numCache>
                <c:formatCode>General</c:formatCode>
                <c:ptCount val="17"/>
                <c:pt idx="0">
                  <c:v>-0.999</c:v>
                </c:pt>
                <c:pt idx="1">
                  <c:v>-0.998</c:v>
                </c:pt>
                <c:pt idx="2">
                  <c:v>-0.995</c:v>
                </c:pt>
                <c:pt idx="3">
                  <c:v>-0.987</c:v>
                </c:pt>
                <c:pt idx="4">
                  <c:v>-0.964</c:v>
                </c:pt>
                <c:pt idx="5">
                  <c:v>-0.905</c:v>
                </c:pt>
                <c:pt idx="6">
                  <c:v>-0.762</c:v>
                </c:pt>
                <c:pt idx="7">
                  <c:v>-0.462</c:v>
                </c:pt>
                <c:pt idx="8">
                  <c:v>0</c:v>
                </c:pt>
                <c:pt idx="9">
                  <c:v>0.462</c:v>
                </c:pt>
                <c:pt idx="10">
                  <c:v>0.762</c:v>
                </c:pt>
                <c:pt idx="11">
                  <c:v>0.905</c:v>
                </c:pt>
                <c:pt idx="12">
                  <c:v>0.964</c:v>
                </c:pt>
                <c:pt idx="13">
                  <c:v>0.987</c:v>
                </c:pt>
                <c:pt idx="14">
                  <c:v>0.995</c:v>
                </c:pt>
                <c:pt idx="15">
                  <c:v>0.998</c:v>
                </c:pt>
                <c:pt idx="16">
                  <c:v>0.999</c:v>
                </c:pt>
              </c:numCache>
            </c:numRef>
          </c:val>
          <c:smooth val="0"/>
        </c:ser>
        <c:ser>
          <c:idx val="2"/>
          <c:order val="2"/>
          <c:tx>
            <c:strRef>
              <c:f>Sheet1!$D$1</c:f>
              <c:strCache>
                <c:ptCount val="1"/>
                <c:pt idx="0">
                  <c:v>ReLU</c:v>
                </c:pt>
              </c:strCache>
            </c:strRef>
          </c:tx>
          <c:spPr>
            <a:solidFill>
              <a:srgbClr val="D6336C"/>
            </a:solidFill>
            <a:ln w="38100" cap="flat">
              <a:solidFill>
                <a:srgbClr val="D633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6336C"/>
              </a:solidFill>
              <a:ln w="9525" cap="flat">
                <a:solidFill>
                  <a:srgbClr val="D6336C"/>
                </a:solidFill>
                <a:prstDash val="solid"/>
                <a:round/>
              </a:ln>
              <a:effectLst/>
            </c:spPr>
          </c:marker>
          <c:cat>
            <c:multiLvlStrRef>
              <c:f>Sheet1!$A$2:$A$18</c:f>
              <c:multiLvlStrCache>
                <c:ptCount val="17"/>
                <c:lvl>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lvl>
              </c:multiLvlStrCache>
            </c:multiLvlStrRef>
          </c:cat>
          <c:val>
            <c:numRef>
              <c:f>Sheet1!$D$2:$D$18</c:f>
              <c:numCache>
                <c:formatCode>General</c:formatCode>
                <c:ptCount val="17"/>
                <c:pt idx="0">
                  <c:v>0</c:v>
                </c:pt>
                <c:pt idx="1">
                  <c:v>0</c:v>
                </c:pt>
                <c:pt idx="2">
                  <c:v>0</c:v>
                </c:pt>
                <c:pt idx="3">
                  <c:v>0</c:v>
                </c:pt>
                <c:pt idx="4">
                  <c:v>0</c:v>
                </c:pt>
                <c:pt idx="5">
                  <c:v>0</c:v>
                </c:pt>
                <c:pt idx="6">
                  <c:v>0</c:v>
                </c:pt>
                <c:pt idx="7">
                  <c:v>0</c:v>
                </c:pt>
                <c:pt idx="8">
                  <c:v>0</c:v>
                </c:pt>
                <c:pt idx="9">
                  <c:v>0.5</c:v>
                </c:pt>
                <c:pt idx="10">
                  <c:v>1</c:v>
                </c:pt>
                <c:pt idx="11">
                  <c:v>1.5</c:v>
                </c:pt>
                <c:pt idx="12">
                  <c:v>2</c:v>
                </c:pt>
                <c:pt idx="13">
                  <c:v>2.5</c:v>
                </c:pt>
                <c:pt idx="14">
                  <c:v>3</c:v>
                </c:pt>
                <c:pt idx="15">
                  <c:v>3.5</c:v>
                </c:pt>
                <c:pt idx="16">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45B"/>
                </a:solidFill>
                <a:latin typeface="Calibri"/>
              </a:defRPr>
            </a:pPr>
            <a:endParaRPr lang="en-US"/>
          </a:p>
        </c:txPr>
        <c:crossAx val="2094734552"/>
        <c:crosses val="autoZero"/>
        <c:auto val="1"/>
        <c:lblAlgn val="ctr"/>
        <c:noMultiLvlLbl val="1"/>
      </c:catAx>
      <c:valAx>
        <c:axId val="2094734552"/>
        <c:scaling>
          <c:orientation val="minMax"/>
          <c:max val="4"/>
          <c:min val="-1.2"/>
        </c:scaling>
        <c:delete val="0"/>
        <c:axPos val="l"/>
        <c:majorGridlines>
          <c:spPr>
            <a:ln w="6350" cap="flat">
              <a:solidFill>
                <a:srgbClr val="C5D3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4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A1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A12"/>
                </a:solidFill>
                <a:latin typeface="Calibri"/>
              </a:defRPr>
            </a:pPr>
            <a:r>
              <a:rPr sz="1400" b="0" i="0" u="none" strike="noStrike">
                <a:solidFill>
                  <a:srgbClr val="0B1A12"/>
                </a:solidFill>
                <a:latin typeface="Calibri"/>
              </a:rPr>
              <a:t>Perda por época (XOR)</a:t>
            </a:r>
          </a:p>
        </c:rich>
      </c:tx>
      <c:layout/>
      <c:overlay val="0"/>
    </c:title>
    <c:autoTitleDeleted val="0"/>
    <c:plotArea>
      <c:layout/>
      <c:lineChart>
        <c:varyColors val="0"/>
        <c:ser>
          <c:idx val="0"/>
          <c:order val="0"/>
          <c:tx>
            <c:strRef>
              <c:f>Sheet1!$B$1</c:f>
              <c:strCache>
                <c:ptCount val="1"/>
                <c:pt idx="0">
                  <c:v>α = 1,0</c:v>
                </c:pt>
              </c:strCache>
            </c:strRef>
          </c:tx>
          <c:spPr>
            <a:solidFill>
              <a:srgbClr val="0B8A5B"/>
            </a:solidFill>
            <a:ln w="38100" cap="flat">
              <a:solidFill>
                <a:srgbClr val="0B8A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8A5B"/>
              </a:solidFill>
              <a:ln w="9525" cap="flat">
                <a:solidFill>
                  <a:srgbClr val="0B8A5B"/>
                </a:solidFill>
                <a:prstDash val="solid"/>
                <a:round/>
              </a:ln>
              <a:effectLst/>
            </c:spPr>
          </c:marker>
          <c:cat>
            <c:multiLvlStrRef>
              <c:f>Sheet1!$A$2:$A$21</c:f>
              <c:multiLvlStrCache>
                <c:ptCount val="20"/>
                <c:lvl>
                  <c:pt idx="0">
                    <c:v>0</c:v>
                  </c:pt>
                  <c:pt idx="1">
                    <c:v>150</c:v>
                  </c:pt>
                  <c:pt idx="2">
                    <c:v>300</c:v>
                  </c:pt>
                  <c:pt idx="3">
                    <c:v>450</c:v>
                  </c:pt>
                  <c:pt idx="4">
                    <c:v>600</c:v>
                  </c:pt>
                  <c:pt idx="5">
                    <c:v>750</c:v>
                  </c:pt>
                  <c:pt idx="6">
                    <c:v>900</c:v>
                  </c:pt>
                  <c:pt idx="7">
                    <c:v>1050</c:v>
                  </c:pt>
                  <c:pt idx="8">
                    <c:v>1200</c:v>
                  </c:pt>
                  <c:pt idx="9">
                    <c:v>1350</c:v>
                  </c:pt>
                  <c:pt idx="10">
                    <c:v>1500</c:v>
                  </c:pt>
                  <c:pt idx="11">
                    <c:v>1650</c:v>
                  </c:pt>
                  <c:pt idx="12">
                    <c:v>1800</c:v>
                  </c:pt>
                  <c:pt idx="13">
                    <c:v>1950</c:v>
                  </c:pt>
                  <c:pt idx="14">
                    <c:v>2100</c:v>
                  </c:pt>
                  <c:pt idx="15">
                    <c:v>2250</c:v>
                  </c:pt>
                  <c:pt idx="16">
                    <c:v>2400</c:v>
                  </c:pt>
                  <c:pt idx="17">
                    <c:v>2550</c:v>
                  </c:pt>
                  <c:pt idx="18">
                    <c:v>2700</c:v>
                  </c:pt>
                  <c:pt idx="19">
                    <c:v>2850</c:v>
                  </c:pt>
                </c:lvl>
              </c:multiLvlStrCache>
            </c:multiLvlStrRef>
          </c:cat>
          <c:val>
            <c:numRef>
              <c:f>Sheet1!$B$2:$B$21</c:f>
              <c:numCache>
                <c:formatCode>General</c:formatCode>
                <c:ptCount val="20"/>
                <c:pt idx="0">
                  <c:v>0.9258</c:v>
                </c:pt>
                <c:pt idx="1">
                  <c:v>0.6852</c:v>
                </c:pt>
                <c:pt idx="2">
                  <c:v>0.5613</c:v>
                </c:pt>
                <c:pt idx="3">
                  <c:v>0.1704</c:v>
                </c:pt>
                <c:pt idx="4">
                  <c:v>0.0605</c:v>
                </c:pt>
                <c:pt idx="5">
                  <c:v>0.0346</c:v>
                </c:pt>
                <c:pt idx="6">
                  <c:v>0.0239</c:v>
                </c:pt>
                <c:pt idx="7">
                  <c:v>0.0182</c:v>
                </c:pt>
                <c:pt idx="8">
                  <c:v>0.0147</c:v>
                </c:pt>
                <c:pt idx="9">
                  <c:v>0.0123</c:v>
                </c:pt>
                <c:pt idx="10">
                  <c:v>0.0105</c:v>
                </c:pt>
                <c:pt idx="11">
                  <c:v>0.0092</c:v>
                </c:pt>
                <c:pt idx="12">
                  <c:v>0.0082</c:v>
                </c:pt>
                <c:pt idx="13">
                  <c:v>0.0074</c:v>
                </c:pt>
                <c:pt idx="14">
                  <c:v>0.0067</c:v>
                </c:pt>
                <c:pt idx="15">
                  <c:v>0.0062</c:v>
                </c:pt>
                <c:pt idx="16">
                  <c:v>0.0057</c:v>
                </c:pt>
                <c:pt idx="17">
                  <c:v>0.0053</c:v>
                </c:pt>
                <c:pt idx="18">
                  <c:v>0.0049</c:v>
                </c:pt>
                <c:pt idx="19">
                  <c:v>0.0046</c:v>
                </c:pt>
              </c:numCache>
            </c:numRef>
          </c:val>
          <c:smooth val="0"/>
        </c:ser>
        <c:ser>
          <c:idx val="1"/>
          <c:order val="1"/>
          <c:tx>
            <c:strRef>
              <c:f>Sheet1!$C$1</c:f>
              <c:strCache>
                <c:ptCount val="1"/>
                <c:pt idx="0">
                  <c:v>α = 0,1</c:v>
                </c:pt>
              </c:strCache>
            </c:strRef>
          </c:tx>
          <c:spPr>
            <a:solidFill>
              <a:srgbClr val="D6336C"/>
            </a:solidFill>
            <a:ln w="38100" cap="flat">
              <a:solidFill>
                <a:srgbClr val="D633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6336C"/>
              </a:solidFill>
              <a:ln w="9525" cap="flat">
                <a:solidFill>
                  <a:srgbClr val="D6336C"/>
                </a:solidFill>
                <a:prstDash val="solid"/>
                <a:round/>
              </a:ln>
              <a:effectLst/>
            </c:spPr>
          </c:marker>
          <c:cat>
            <c:multiLvlStrRef>
              <c:f>Sheet1!$A$2:$A$21</c:f>
              <c:multiLvlStrCache>
                <c:ptCount val="20"/>
                <c:lvl>
                  <c:pt idx="0">
                    <c:v>0</c:v>
                  </c:pt>
                  <c:pt idx="1">
                    <c:v>150</c:v>
                  </c:pt>
                  <c:pt idx="2">
                    <c:v>300</c:v>
                  </c:pt>
                  <c:pt idx="3">
                    <c:v>450</c:v>
                  </c:pt>
                  <c:pt idx="4">
                    <c:v>600</c:v>
                  </c:pt>
                  <c:pt idx="5">
                    <c:v>750</c:v>
                  </c:pt>
                  <c:pt idx="6">
                    <c:v>900</c:v>
                  </c:pt>
                  <c:pt idx="7">
                    <c:v>1050</c:v>
                  </c:pt>
                  <c:pt idx="8">
                    <c:v>1200</c:v>
                  </c:pt>
                  <c:pt idx="9">
                    <c:v>1350</c:v>
                  </c:pt>
                  <c:pt idx="10">
                    <c:v>1500</c:v>
                  </c:pt>
                  <c:pt idx="11">
                    <c:v>1650</c:v>
                  </c:pt>
                  <c:pt idx="12">
                    <c:v>1800</c:v>
                  </c:pt>
                  <c:pt idx="13">
                    <c:v>1950</c:v>
                  </c:pt>
                  <c:pt idx="14">
                    <c:v>2100</c:v>
                  </c:pt>
                  <c:pt idx="15">
                    <c:v>2250</c:v>
                  </c:pt>
                  <c:pt idx="16">
                    <c:v>2400</c:v>
                  </c:pt>
                  <c:pt idx="17">
                    <c:v>2550</c:v>
                  </c:pt>
                  <c:pt idx="18">
                    <c:v>2700</c:v>
                  </c:pt>
                  <c:pt idx="19">
                    <c:v>2850</c:v>
                  </c:pt>
                </c:lvl>
              </c:multiLvlStrCache>
            </c:multiLvlStrRef>
          </c:cat>
          <c:val>
            <c:numRef>
              <c:f>Sheet1!$C$2:$C$21</c:f>
              <c:numCache>
                <c:formatCode>General</c:formatCode>
                <c:ptCount val="20"/>
                <c:pt idx="0">
                  <c:v>0.9258</c:v>
                </c:pt>
                <c:pt idx="1">
                  <c:v>0.694</c:v>
                </c:pt>
                <c:pt idx="2">
                  <c:v>0.6933</c:v>
                </c:pt>
                <c:pt idx="3">
                  <c:v>0.6927</c:v>
                </c:pt>
                <c:pt idx="4">
                  <c:v>0.6922</c:v>
                </c:pt>
                <c:pt idx="5">
                  <c:v>0.6915</c:v>
                </c:pt>
                <c:pt idx="6">
                  <c:v>0.6908</c:v>
                </c:pt>
                <c:pt idx="7">
                  <c:v>0.6898</c:v>
                </c:pt>
                <c:pt idx="8">
                  <c:v>0.6885</c:v>
                </c:pt>
                <c:pt idx="9">
                  <c:v>0.6868</c:v>
                </c:pt>
                <c:pt idx="10">
                  <c:v>0.6844</c:v>
                </c:pt>
                <c:pt idx="11">
                  <c:v>0.681</c:v>
                </c:pt>
                <c:pt idx="12">
                  <c:v>0.6764</c:v>
                </c:pt>
                <c:pt idx="13">
                  <c:v>0.6702</c:v>
                </c:pt>
                <c:pt idx="14">
                  <c:v>0.662</c:v>
                </c:pt>
                <c:pt idx="15">
                  <c:v>0.6514</c:v>
                </c:pt>
                <c:pt idx="16">
                  <c:v>0.6378</c:v>
                </c:pt>
                <c:pt idx="17">
                  <c:v>0.621</c:v>
                </c:pt>
                <c:pt idx="18">
                  <c:v>0.6006</c:v>
                </c:pt>
                <c:pt idx="19">
                  <c:v>0.5765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45B"/>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C5D3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4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A1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A12"/>
                </a:solidFill>
                <a:latin typeface="Calibri"/>
              </a:defRPr>
            </a:pPr>
            <a:r>
              <a:rPr sz="1400" b="0" i="0" u="none" strike="noStrike">
                <a:solidFill>
                  <a:srgbClr val="0B1A12"/>
                </a:solidFill>
                <a:latin typeface="Calibri"/>
              </a:rPr>
              <a:t>loss_curve_ (a cada 20 iterações)</a:t>
            </a:r>
          </a:p>
        </c:rich>
      </c:tx>
      <c:layout/>
      <c:overlay val="0"/>
    </c:title>
    <c:autoTitleDeleted val="0"/>
    <c:plotArea>
      <c:layout/>
      <c:lineChart>
        <c:varyColors val="0"/>
        <c:ser>
          <c:idx val="0"/>
          <c:order val="0"/>
          <c:tx>
            <c:strRef>
              <c:f>Sheet1!$B$1</c:f>
              <c:strCache>
                <c:ptCount val="1"/>
                <c:pt idx="0">
                  <c:v>perda de treino</c:v>
                </c:pt>
              </c:strCache>
            </c:strRef>
          </c:tx>
          <c:spPr>
            <a:solidFill>
              <a:srgbClr val="0B8A5B"/>
            </a:solidFill>
            <a:ln w="38100" cap="flat">
              <a:solidFill>
                <a:srgbClr val="0B8A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8A5B"/>
              </a:solidFill>
              <a:ln w="9525" cap="flat">
                <a:solidFill>
                  <a:srgbClr val="0B8A5B"/>
                </a:solidFill>
                <a:prstDash val="solid"/>
                <a:round/>
              </a:ln>
              <a:effectLst/>
            </c:spPr>
          </c:marker>
          <c:cat>
            <c:multiLvlStrRef>
              <c:f>Sheet1!$A$2:$A$19</c:f>
              <c:multiLvlStrCache>
                <c:ptCount val="18"/>
                <c:lvl>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lvl>
              </c:multiLvlStrCache>
            </c:multiLvlStrRef>
          </c:cat>
          <c:val>
            <c:numRef>
              <c:f>Sheet1!$B$2:$B$19</c:f>
              <c:numCache>
                <c:formatCode>General</c:formatCode>
                <c:ptCount val="18"/>
                <c:pt idx="0">
                  <c:v>1.0079</c:v>
                </c:pt>
                <c:pt idx="1">
                  <c:v>0.5166</c:v>
                </c:pt>
                <c:pt idx="2">
                  <c:v>0.3135</c:v>
                </c:pt>
                <c:pt idx="3">
                  <c:v>0.208</c:v>
                </c:pt>
                <c:pt idx="4">
                  <c:v>0.152</c:v>
                </c:pt>
                <c:pt idx="5">
                  <c:v>0.1205</c:v>
                </c:pt>
                <c:pt idx="6">
                  <c:v>0.1013</c:v>
                </c:pt>
                <c:pt idx="7">
                  <c:v>0.0886</c:v>
                </c:pt>
                <c:pt idx="8">
                  <c:v>0.0798</c:v>
                </c:pt>
                <c:pt idx="9">
                  <c:v>0.0732</c:v>
                </c:pt>
                <c:pt idx="10">
                  <c:v>0.0678</c:v>
                </c:pt>
                <c:pt idx="11">
                  <c:v>0.0636</c:v>
                </c:pt>
                <c:pt idx="12">
                  <c:v>0.0601</c:v>
                </c:pt>
                <c:pt idx="13">
                  <c:v>0.057</c:v>
                </c:pt>
                <c:pt idx="14">
                  <c:v>0.0543</c:v>
                </c:pt>
                <c:pt idx="15">
                  <c:v>0.0518</c:v>
                </c:pt>
                <c:pt idx="16">
                  <c:v>0.0496</c:v>
                </c:pt>
                <c:pt idx="17">
                  <c:v>0.0476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45B"/>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C5D3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45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slideLayout" Target="../slideLayouts/slideLayout1.xml"/><Relationship Id="rId8"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1D"/>
        </a:solidFill>
      </p:bgPr>
    </p:bg>
    <p:spTree>
      <p:nvGrpSpPr>
        <p:cNvPr id="1" name=""/>
        <p:cNvGrpSpPr/>
        <p:nvPr/>
      </p:nvGrpSpPr>
      <p:grpSpPr>
        <a:xfrm>
          <a:off x="0" y="0"/>
          <a:ext cx="0" cy="0"/>
          <a:chOff x="0" y="0"/>
          <a:chExt cx="0" cy="0"/>
        </a:xfrm>
      </p:grpSpPr>
      <p:sp>
        <p:nvSpPr>
          <p:cNvPr id="2" name="Shape 0"/>
          <p:cNvSpPr/>
          <p:nvPr/>
        </p:nvSpPr>
        <p:spPr>
          <a:xfrm>
            <a:off x="9265615" y="-1463040"/>
            <a:ext cx="4023360" cy="4023360"/>
          </a:xfrm>
          <a:prstGeom prst="ellipse">
            <a:avLst/>
          </a:prstGeom>
          <a:ln w="15875">
            <a:solidFill>
              <a:srgbClr val="1B4332"/>
            </a:solidFill>
            <a:prstDash val="solid"/>
          </a:ln>
        </p:spPr>
      </p:sp>
      <p:sp>
        <p:nvSpPr>
          <p:cNvPr id="3" name="Shape 1"/>
          <p:cNvSpPr/>
          <p:nvPr/>
        </p:nvSpPr>
        <p:spPr>
          <a:xfrm>
            <a:off x="10180015" y="-822960"/>
            <a:ext cx="2743200" cy="2743200"/>
          </a:xfrm>
          <a:prstGeom prst="ellipse">
            <a:avLst/>
          </a:prstGeom>
          <a:ln w="15875">
            <a:solidFill>
              <a:srgbClr val="1B4332"/>
            </a:solidFill>
            <a:prstDash val="solid"/>
          </a:ln>
        </p:spPr>
      </p:sp>
      <p:sp>
        <p:nvSpPr>
          <p:cNvPr id="4" name="Shape 2"/>
          <p:cNvSpPr/>
          <p:nvPr/>
        </p:nvSpPr>
        <p:spPr>
          <a:xfrm>
            <a:off x="-1645920" y="4846320"/>
            <a:ext cx="3474720" cy="3474720"/>
          </a:xfrm>
          <a:prstGeom prst="ellipse">
            <a:avLst/>
          </a:prstGeom>
          <a:ln w="15875">
            <a:solidFill>
              <a:srgbClr val="1B4332"/>
            </a:solidFill>
            <a:prstDash val="solid"/>
          </a:ln>
        </p:spPr>
      </p:sp>
      <p:sp>
        <p:nvSpPr>
          <p:cNvPr id="5" name="Shape 3"/>
          <p:cNvSpPr/>
          <p:nvPr/>
        </p:nvSpPr>
        <p:spPr>
          <a:xfrm>
            <a:off x="-914400" y="5486400"/>
            <a:ext cx="2194560" cy="2194560"/>
          </a:xfrm>
          <a:prstGeom prst="ellipse">
            <a:avLst/>
          </a:prstGeom>
          <a:ln w="15875">
            <a:solidFill>
              <a:srgbClr val="1B4332"/>
            </a:solidFill>
            <a:prstDash val="solid"/>
          </a:ln>
        </p:spPr>
      </p:sp>
      <p:sp>
        <p:nvSpPr>
          <p:cNvPr id="6" name="Shape 4"/>
          <p:cNvSpPr/>
          <p:nvPr/>
        </p:nvSpPr>
        <p:spPr>
          <a:xfrm>
            <a:off x="640080" y="1097280"/>
            <a:ext cx="1097280" cy="1097280"/>
          </a:xfrm>
          <a:prstGeom prst="ellipse">
            <a:avLst/>
          </a:prstGeom>
          <a:solidFill>
            <a:srgbClr val="FF7A2F"/>
          </a:solidFill>
          <a:ln w="12700">
            <a:solidFill>
              <a:srgbClr val="FF7A2F"/>
            </a:solidFill>
            <a:prstDash val="solid"/>
          </a:ln>
        </p:spPr>
      </p:sp>
      <p:pic>
        <p:nvPicPr>
          <p:cNvPr id="7" name="Image 0" descr="preencoded.png">    </p:cNvPr>
          <p:cNvPicPr>
            <a:picLocks noChangeAspect="1"/>
          </p:cNvPicPr>
          <p:nvPr/>
        </p:nvPicPr>
        <p:blipFill>
          <a:blip r:embed="rId1"/>
          <a:stretch>
            <a:fillRect/>
          </a:stretch>
        </p:blipFill>
        <p:spPr>
          <a:xfrm>
            <a:off x="914400" y="1371600"/>
            <a:ext cx="548640" cy="548640"/>
          </a:xfrm>
          <a:prstGeom prst="rect">
            <a:avLst/>
          </a:prstGeom>
        </p:spPr>
      </p:pic>
      <p:sp>
        <p:nvSpPr>
          <p:cNvPr id="8" name="Text 5"/>
          <p:cNvSpPr txBox="1"/>
          <p:nvPr/>
        </p:nvSpPr>
        <p:spPr>
          <a:xfrm>
            <a:off x="640080" y="2423160"/>
            <a:ext cx="8229600" cy="365760"/>
          </a:xfrm>
          <a:prstGeom prst="rect">
            <a:avLst/>
          </a:prstGeom>
          <a:noFill/>
          <a:ln/>
        </p:spPr>
        <p:txBody>
          <a:bodyPr wrap="square" lIns="0" tIns="0" rIns="0" bIns="0" rtlCol="0" anchor="ctr"/>
          <a:lstStyle/>
          <a:p>
            <a:pPr indent="0" marL="0">
              <a:buNone/>
            </a:pPr>
            <a:r>
              <a:rPr lang="en-US" sz="1400" b="1" spc="300" kern="0" dirty="0">
                <a:solidFill>
                  <a:srgbClr val="5FE3A1"/>
                </a:solidFill>
                <a:latin typeface="Calibri" pitchFamily="34" charset="0"/>
                <a:ea typeface="Calibri" pitchFamily="34" charset="-122"/>
                <a:cs typeface="Calibri" pitchFamily="34" charset="-120"/>
              </a:rPr>
              <a:t>INTELIGÊNCIA ARTIFICIAL · AULA 11</a:t>
            </a:r>
            <a:endParaRPr lang="en-US" sz="1400" dirty="0"/>
          </a:p>
        </p:txBody>
      </p:sp>
      <p:sp>
        <p:nvSpPr>
          <p:cNvPr id="9" name="Text 6"/>
          <p:cNvSpPr txBox="1"/>
          <p:nvPr/>
        </p:nvSpPr>
        <p:spPr>
          <a:xfrm>
            <a:off x="640080" y="2834640"/>
            <a:ext cx="1024128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Redes neurais artificiais: do neurônio ao backpropagation</a:t>
            </a:r>
            <a:endParaRPr lang="en-US" sz="4400" dirty="0"/>
          </a:p>
        </p:txBody>
      </p:sp>
      <p:sp>
        <p:nvSpPr>
          <p:cNvPr id="10" name="Text 7"/>
          <p:cNvSpPr txBox="1"/>
          <p:nvPr/>
        </p:nvSpPr>
        <p:spPr>
          <a:xfrm>
            <a:off x="640080" y="4526280"/>
            <a:ext cx="10058400" cy="457200"/>
          </a:xfrm>
          <a:prstGeom prst="rect">
            <a:avLst/>
          </a:prstGeom>
          <a:noFill/>
          <a:ln/>
        </p:spPr>
        <p:txBody>
          <a:bodyPr wrap="square" lIns="0" tIns="0" rIns="0" bIns="0" rtlCol="0" anchor="ctr"/>
          <a:lstStyle/>
          <a:p>
            <a:pPr indent="0" marL="0">
              <a:buNone/>
            </a:pPr>
            <a:r>
              <a:rPr lang="en-US" sz="2000" dirty="0">
                <a:solidFill>
                  <a:srgbClr val="C5D3CA"/>
                </a:solidFill>
                <a:latin typeface="Calibri" pitchFamily="34" charset="0"/>
                <a:ea typeface="Calibri" pitchFamily="34" charset="-122"/>
                <a:cs typeface="Calibri" pitchFamily="34" charset="-120"/>
              </a:rPr>
              <a:t>Perceptron, MLP do zero em NumPy e scikit-learn</a:t>
            </a:r>
            <a:endParaRPr lang="en-US" sz="2000" dirty="0"/>
          </a:p>
        </p:txBody>
      </p:sp>
      <p:sp>
        <p:nvSpPr>
          <p:cNvPr id="11" name="Shape 8"/>
          <p:cNvSpPr/>
          <p:nvPr/>
        </p:nvSpPr>
        <p:spPr>
          <a:xfrm>
            <a:off x="640080" y="5394960"/>
            <a:ext cx="1554480" cy="566928"/>
          </a:xfrm>
          <a:prstGeom prst="roundRect">
            <a:avLst>
              <a:gd name="adj" fmla="val 50000"/>
            </a:avLst>
          </a:prstGeom>
          <a:solidFill>
            <a:srgbClr val="1B4332"/>
          </a:solidFill>
          <a:ln w="12700">
            <a:solidFill>
              <a:srgbClr val="1B4332"/>
            </a:solidFill>
            <a:prstDash val="solid"/>
          </a:ln>
        </p:spPr>
      </p:sp>
      <p:sp>
        <p:nvSpPr>
          <p:cNvPr id="12" name="Text 9"/>
          <p:cNvSpPr txBox="1"/>
          <p:nvPr/>
        </p:nvSpPr>
        <p:spPr>
          <a:xfrm>
            <a:off x="640080" y="5394960"/>
            <a:ext cx="15544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Neurônio</a:t>
            </a:r>
            <a:endParaRPr lang="en-US" sz="1500" dirty="0"/>
          </a:p>
        </p:txBody>
      </p:sp>
      <p:sp>
        <p:nvSpPr>
          <p:cNvPr id="13" name="Shape 10"/>
          <p:cNvSpPr/>
          <p:nvPr/>
        </p:nvSpPr>
        <p:spPr>
          <a:xfrm>
            <a:off x="2377440" y="5394960"/>
            <a:ext cx="1828800" cy="566928"/>
          </a:xfrm>
          <a:prstGeom prst="roundRect">
            <a:avLst>
              <a:gd name="adj" fmla="val 50000"/>
            </a:avLst>
          </a:prstGeom>
          <a:solidFill>
            <a:srgbClr val="1B4332"/>
          </a:solidFill>
          <a:ln w="12700">
            <a:solidFill>
              <a:srgbClr val="1B4332"/>
            </a:solidFill>
            <a:prstDash val="solid"/>
          </a:ln>
        </p:spPr>
      </p:sp>
      <p:sp>
        <p:nvSpPr>
          <p:cNvPr id="14" name="Text 11"/>
          <p:cNvSpPr txBox="1"/>
          <p:nvPr/>
        </p:nvSpPr>
        <p:spPr>
          <a:xfrm>
            <a:off x="2377440" y="5394960"/>
            <a:ext cx="18288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Perceptron</a:t>
            </a:r>
            <a:endParaRPr lang="en-US" sz="1500" dirty="0"/>
          </a:p>
        </p:txBody>
      </p:sp>
      <p:sp>
        <p:nvSpPr>
          <p:cNvPr id="15" name="Shape 12"/>
          <p:cNvSpPr/>
          <p:nvPr/>
        </p:nvSpPr>
        <p:spPr>
          <a:xfrm>
            <a:off x="4389120" y="5394960"/>
            <a:ext cx="2468880" cy="566928"/>
          </a:xfrm>
          <a:prstGeom prst="roundRect">
            <a:avLst>
              <a:gd name="adj" fmla="val 50000"/>
            </a:avLst>
          </a:prstGeom>
          <a:solidFill>
            <a:srgbClr val="1B4332"/>
          </a:solidFill>
          <a:ln w="12700">
            <a:solidFill>
              <a:srgbClr val="1B4332"/>
            </a:solidFill>
            <a:prstDash val="solid"/>
          </a:ln>
        </p:spPr>
      </p:sp>
      <p:sp>
        <p:nvSpPr>
          <p:cNvPr id="16" name="Text 13"/>
          <p:cNvSpPr txBox="1"/>
          <p:nvPr/>
        </p:nvSpPr>
        <p:spPr>
          <a:xfrm>
            <a:off x="4389120" y="5394960"/>
            <a:ext cx="24688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Camadas ocultas</a:t>
            </a:r>
            <a:endParaRPr lang="en-US" sz="1500" dirty="0"/>
          </a:p>
        </p:txBody>
      </p:sp>
      <p:sp>
        <p:nvSpPr>
          <p:cNvPr id="17" name="Shape 14"/>
          <p:cNvSpPr/>
          <p:nvPr/>
        </p:nvSpPr>
        <p:spPr>
          <a:xfrm>
            <a:off x="7040880" y="5394960"/>
            <a:ext cx="2468880" cy="566928"/>
          </a:xfrm>
          <a:prstGeom prst="roundRect">
            <a:avLst>
              <a:gd name="adj" fmla="val 50000"/>
            </a:avLst>
          </a:prstGeom>
          <a:solidFill>
            <a:srgbClr val="1B4332"/>
          </a:solidFill>
          <a:ln w="12700">
            <a:solidFill>
              <a:srgbClr val="1B4332"/>
            </a:solidFill>
            <a:prstDash val="solid"/>
          </a:ln>
        </p:spPr>
      </p:sp>
      <p:sp>
        <p:nvSpPr>
          <p:cNvPr id="18" name="Text 15"/>
          <p:cNvSpPr txBox="1"/>
          <p:nvPr/>
        </p:nvSpPr>
        <p:spPr>
          <a:xfrm>
            <a:off x="7040880" y="5394960"/>
            <a:ext cx="24688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Backpropagation</a:t>
            </a:r>
            <a:endParaRPr lang="en-US" sz="1500" dirty="0"/>
          </a:p>
        </p:txBody>
      </p:sp>
      <p:sp>
        <p:nvSpPr>
          <p:cNvPr id="19" name="Shape 16"/>
          <p:cNvSpPr/>
          <p:nvPr/>
        </p:nvSpPr>
        <p:spPr>
          <a:xfrm>
            <a:off x="9692640" y="5394960"/>
            <a:ext cx="2194560" cy="566928"/>
          </a:xfrm>
          <a:prstGeom prst="roundRect">
            <a:avLst>
              <a:gd name="adj" fmla="val 50000"/>
            </a:avLst>
          </a:prstGeom>
          <a:solidFill>
            <a:srgbClr val="1B4332"/>
          </a:solidFill>
          <a:ln w="12700">
            <a:solidFill>
              <a:srgbClr val="1B4332"/>
            </a:solidFill>
            <a:prstDash val="solid"/>
          </a:ln>
        </p:spPr>
      </p:sp>
      <p:sp>
        <p:nvSpPr>
          <p:cNvPr id="20" name="Text 17"/>
          <p:cNvSpPr txBox="1"/>
          <p:nvPr/>
        </p:nvSpPr>
        <p:spPr>
          <a:xfrm>
            <a:off x="9692640" y="5394960"/>
            <a:ext cx="219456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MLPClassifier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NA AULA PASSADA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De onde viemos</a:t>
            </a:r>
            <a:endParaRPr lang="en-US" sz="3000" dirty="0"/>
          </a:p>
        </p:txBody>
      </p:sp>
      <p:sp>
        <p:nvSpPr>
          <p:cNvPr id="6" name="Shape 3"/>
          <p:cNvSpPr/>
          <p:nvPr/>
        </p:nvSpPr>
        <p:spPr>
          <a:xfrm>
            <a:off x="640080" y="1783080"/>
            <a:ext cx="3493008" cy="2651760"/>
          </a:xfrm>
          <a:prstGeom prst="roundRect">
            <a:avLst>
              <a:gd name="adj" fmla="val 4138"/>
            </a:avLst>
          </a:prstGeom>
          <a:solidFill>
            <a:srgbClr val="F1F6F3"/>
          </a:solidFill>
          <a:ln w="12700">
            <a:solidFill>
              <a:srgbClr val="F1F6F3"/>
            </a:solidFill>
            <a:prstDash val="solid"/>
          </a:ln>
        </p:spPr>
      </p:sp>
      <p:sp>
        <p:nvSpPr>
          <p:cNvPr id="7" name="Shape 4"/>
          <p:cNvSpPr/>
          <p:nvPr/>
        </p:nvSpPr>
        <p:spPr>
          <a:xfrm>
            <a:off x="868680" y="1965960"/>
            <a:ext cx="548640" cy="548640"/>
          </a:xfrm>
          <a:prstGeom prst="ellipse">
            <a:avLst/>
          </a:prstGeom>
          <a:solidFill>
            <a:srgbClr val="0B8A5B"/>
          </a:solidFill>
          <a:ln w="12700">
            <a:solidFill>
              <a:srgbClr val="0B8A5B"/>
            </a:solidFill>
            <a:prstDash val="solid"/>
          </a:ln>
        </p:spPr>
      </p:sp>
      <p:pic>
        <p:nvPicPr>
          <p:cNvPr id="8" name="Image 1" descr="preencoded.png">    </p:cNvPr>
          <p:cNvPicPr>
            <a:picLocks noChangeAspect="1"/>
          </p:cNvPicPr>
          <p:nvPr/>
        </p:nvPicPr>
        <p:blipFill>
          <a:blip r:embed="rId2"/>
          <a:stretch>
            <a:fillRect/>
          </a:stretch>
        </p:blipFill>
        <p:spPr>
          <a:xfrm>
            <a:off x="1005840" y="2103120"/>
            <a:ext cx="274320" cy="274320"/>
          </a:xfrm>
          <a:prstGeom prst="rect">
            <a:avLst/>
          </a:prstGeom>
        </p:spPr>
      </p:pic>
      <p:sp>
        <p:nvSpPr>
          <p:cNvPr id="9" name="Text 5"/>
          <p:cNvSpPr txBox="1"/>
          <p:nvPr/>
        </p:nvSpPr>
        <p:spPr>
          <a:xfrm>
            <a:off x="1600200" y="1965960"/>
            <a:ext cx="2377440" cy="548640"/>
          </a:xfrm>
          <a:prstGeom prst="rect">
            <a:avLst/>
          </a:prstGeom>
          <a:noFill/>
          <a:ln/>
        </p:spPr>
        <p:txBody>
          <a:bodyPr wrap="square" lIns="0" tIns="0" rIns="0" bIns="0" rtlCol="0" anchor="ctr"/>
          <a:lstStyle/>
          <a:p>
            <a:pPr indent="0" marL="0">
              <a:buNone/>
            </a:pPr>
            <a:r>
              <a:rPr lang="en-US" sz="1600" b="1" dirty="0">
                <a:solidFill>
                  <a:srgbClr val="0B1A12"/>
                </a:solidFill>
                <a:latin typeface="Cambria" pitchFamily="34" charset="0"/>
                <a:ea typeface="Cambria" pitchFamily="34" charset="-122"/>
                <a:cs typeface="Cambria" pitchFamily="34" charset="-120"/>
              </a:rPr>
              <a:t>Gradiente (aula 03)</a:t>
            </a:r>
            <a:endParaRPr lang="en-US" sz="1600" dirty="0"/>
          </a:p>
        </p:txBody>
      </p:sp>
      <p:sp>
        <p:nvSpPr>
          <p:cNvPr id="10" name="Text 6"/>
          <p:cNvSpPr txBox="1"/>
          <p:nvPr/>
        </p:nvSpPr>
        <p:spPr>
          <a:xfrm>
            <a:off x="868680" y="2651760"/>
            <a:ext cx="3063240" cy="16916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A regra da cadeia e a descida do gradiente treinaram uma regressão linear: w ← w − α·∂J/∂w.</a:t>
            </a:r>
            <a:endParaRPr lang="en-US" sz="1400" dirty="0"/>
          </a:p>
        </p:txBody>
      </p:sp>
      <p:sp>
        <p:nvSpPr>
          <p:cNvPr id="11" name="Shape 7"/>
          <p:cNvSpPr/>
          <p:nvPr/>
        </p:nvSpPr>
        <p:spPr>
          <a:xfrm>
            <a:off x="4347972" y="1783080"/>
            <a:ext cx="3493008" cy="2651760"/>
          </a:xfrm>
          <a:prstGeom prst="roundRect">
            <a:avLst>
              <a:gd name="adj" fmla="val 4138"/>
            </a:avLst>
          </a:prstGeom>
          <a:solidFill>
            <a:srgbClr val="F1F6F3"/>
          </a:solidFill>
          <a:ln w="12700">
            <a:solidFill>
              <a:srgbClr val="F1F6F3"/>
            </a:solidFill>
            <a:prstDash val="solid"/>
          </a:ln>
        </p:spPr>
      </p:sp>
      <p:sp>
        <p:nvSpPr>
          <p:cNvPr id="12" name="Shape 8"/>
          <p:cNvSpPr/>
          <p:nvPr/>
        </p:nvSpPr>
        <p:spPr>
          <a:xfrm>
            <a:off x="4576572" y="1965960"/>
            <a:ext cx="548640" cy="548640"/>
          </a:xfrm>
          <a:prstGeom prst="ellipse">
            <a:avLst/>
          </a:prstGeom>
          <a:solidFill>
            <a:srgbClr val="0B8A5B"/>
          </a:solidFill>
          <a:ln w="12700">
            <a:solidFill>
              <a:srgbClr val="0B8A5B"/>
            </a:solidFill>
            <a:prstDash val="solid"/>
          </a:ln>
        </p:spPr>
      </p:sp>
      <p:pic>
        <p:nvPicPr>
          <p:cNvPr id="13" name="Image 2" descr="preencoded.png">    </p:cNvPr>
          <p:cNvPicPr>
            <a:picLocks noChangeAspect="1"/>
          </p:cNvPicPr>
          <p:nvPr/>
        </p:nvPicPr>
        <p:blipFill>
          <a:blip r:embed="rId3"/>
          <a:stretch>
            <a:fillRect/>
          </a:stretch>
        </p:blipFill>
        <p:spPr>
          <a:xfrm>
            <a:off x="4713732" y="2103120"/>
            <a:ext cx="274320" cy="274320"/>
          </a:xfrm>
          <a:prstGeom prst="rect">
            <a:avLst/>
          </a:prstGeom>
        </p:spPr>
      </p:pic>
      <p:sp>
        <p:nvSpPr>
          <p:cNvPr id="14" name="Text 9"/>
          <p:cNvSpPr txBox="1"/>
          <p:nvPr/>
        </p:nvSpPr>
        <p:spPr>
          <a:xfrm>
            <a:off x="5308092" y="1965960"/>
            <a:ext cx="2377440" cy="548640"/>
          </a:xfrm>
          <a:prstGeom prst="rect">
            <a:avLst/>
          </a:prstGeom>
          <a:noFill/>
          <a:ln/>
        </p:spPr>
        <p:txBody>
          <a:bodyPr wrap="square" lIns="0" tIns="0" rIns="0" bIns="0" rtlCol="0" anchor="ctr"/>
          <a:lstStyle/>
          <a:p>
            <a:pPr indent="0" marL="0">
              <a:buNone/>
            </a:pPr>
            <a:r>
              <a:rPr lang="en-US" sz="1600" b="1" dirty="0">
                <a:solidFill>
                  <a:srgbClr val="0B1A12"/>
                </a:solidFill>
                <a:latin typeface="Cambria" pitchFamily="34" charset="0"/>
                <a:ea typeface="Cambria" pitchFamily="34" charset="-122"/>
                <a:cs typeface="Cambria" pitchFamily="34" charset="-120"/>
              </a:rPr>
              <a:t>Fluxo de ML (aula 09)</a:t>
            </a:r>
            <a:endParaRPr lang="en-US" sz="1600" dirty="0"/>
          </a:p>
        </p:txBody>
      </p:sp>
      <p:sp>
        <p:nvSpPr>
          <p:cNvPr id="15" name="Text 10"/>
          <p:cNvSpPr txBox="1"/>
          <p:nvPr/>
        </p:nvSpPr>
        <p:spPr>
          <a:xfrm>
            <a:off x="4576572" y="2651760"/>
            <a:ext cx="3063240" cy="16916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Treino e teste, validação cruzada, pipeline e métricas honestas.</a:t>
            </a:r>
            <a:endParaRPr lang="en-US" sz="1400" dirty="0"/>
          </a:p>
        </p:txBody>
      </p:sp>
      <p:sp>
        <p:nvSpPr>
          <p:cNvPr id="16" name="Shape 11"/>
          <p:cNvSpPr/>
          <p:nvPr/>
        </p:nvSpPr>
        <p:spPr>
          <a:xfrm>
            <a:off x="8055864" y="1783080"/>
            <a:ext cx="3493008" cy="2651760"/>
          </a:xfrm>
          <a:prstGeom prst="roundRect">
            <a:avLst>
              <a:gd name="adj" fmla="val 4138"/>
            </a:avLst>
          </a:prstGeom>
          <a:solidFill>
            <a:srgbClr val="F1F6F3"/>
          </a:solidFill>
          <a:ln w="12700">
            <a:solidFill>
              <a:srgbClr val="F1F6F3"/>
            </a:solidFill>
            <a:prstDash val="solid"/>
          </a:ln>
        </p:spPr>
      </p:sp>
      <p:sp>
        <p:nvSpPr>
          <p:cNvPr id="17" name="Shape 12"/>
          <p:cNvSpPr/>
          <p:nvPr/>
        </p:nvSpPr>
        <p:spPr>
          <a:xfrm>
            <a:off x="8284464" y="1965960"/>
            <a:ext cx="548640" cy="548640"/>
          </a:xfrm>
          <a:prstGeom prst="ellipse">
            <a:avLst/>
          </a:prstGeom>
          <a:solidFill>
            <a:srgbClr val="0B8A5B"/>
          </a:solidFill>
          <a:ln w="12700">
            <a:solidFill>
              <a:srgbClr val="0B8A5B"/>
            </a:solidFill>
            <a:prstDash val="solid"/>
          </a:ln>
        </p:spPr>
      </p:sp>
      <p:pic>
        <p:nvPicPr>
          <p:cNvPr id="18" name="Image 3" descr="preencoded.png">    </p:cNvPr>
          <p:cNvPicPr>
            <a:picLocks noChangeAspect="1"/>
          </p:cNvPicPr>
          <p:nvPr/>
        </p:nvPicPr>
        <p:blipFill>
          <a:blip r:embed="rId4"/>
          <a:stretch>
            <a:fillRect/>
          </a:stretch>
        </p:blipFill>
        <p:spPr>
          <a:xfrm>
            <a:off x="8421624" y="2103120"/>
            <a:ext cx="274320" cy="274320"/>
          </a:xfrm>
          <a:prstGeom prst="rect">
            <a:avLst/>
          </a:prstGeom>
        </p:spPr>
      </p:pic>
      <p:sp>
        <p:nvSpPr>
          <p:cNvPr id="19" name="Text 13"/>
          <p:cNvSpPr txBox="1"/>
          <p:nvPr/>
        </p:nvSpPr>
        <p:spPr>
          <a:xfrm>
            <a:off x="9015984" y="1965960"/>
            <a:ext cx="2377440" cy="548640"/>
          </a:xfrm>
          <a:prstGeom prst="rect">
            <a:avLst/>
          </a:prstGeom>
          <a:noFill/>
          <a:ln/>
        </p:spPr>
        <p:txBody>
          <a:bodyPr wrap="square" lIns="0" tIns="0" rIns="0" bIns="0" rtlCol="0" anchor="ctr"/>
          <a:lstStyle/>
          <a:p>
            <a:pPr indent="0" marL="0">
              <a:buNone/>
            </a:pPr>
            <a:r>
              <a:rPr lang="en-US" sz="1600" b="1" dirty="0">
                <a:solidFill>
                  <a:srgbClr val="0B1A12"/>
                </a:solidFill>
                <a:latin typeface="Cambria" pitchFamily="34" charset="0"/>
                <a:ea typeface="Cambria" pitchFamily="34" charset="-122"/>
                <a:cs typeface="Cambria" pitchFamily="34" charset="-120"/>
              </a:rPr>
              <a:t>Árvores (aula 10)</a:t>
            </a:r>
            <a:endParaRPr lang="en-US" sz="1600" dirty="0"/>
          </a:p>
        </p:txBody>
      </p:sp>
      <p:sp>
        <p:nvSpPr>
          <p:cNvPr id="20" name="Text 14"/>
          <p:cNvSpPr txBox="1"/>
          <p:nvPr/>
        </p:nvSpPr>
        <p:spPr>
          <a:xfrm>
            <a:off x="8284464" y="2651760"/>
            <a:ext cx="3063240" cy="16916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Modelos legíveis, mas de fronteiras “em degraus”. Falta flexibilidade para padrões complexos.</a:t>
            </a:r>
            <a:endParaRPr lang="en-US" sz="1400" dirty="0"/>
          </a:p>
        </p:txBody>
      </p:sp>
      <p:sp>
        <p:nvSpPr>
          <p:cNvPr id="21" name="Shape 15"/>
          <p:cNvSpPr/>
          <p:nvPr/>
        </p:nvSpPr>
        <p:spPr>
          <a:xfrm>
            <a:off x="640080" y="4754880"/>
            <a:ext cx="10911535" cy="1280160"/>
          </a:xfrm>
          <a:prstGeom prst="roundRect">
            <a:avLst>
              <a:gd name="adj" fmla="val 8571"/>
            </a:avLst>
          </a:prstGeom>
          <a:solidFill>
            <a:srgbClr val="0F2A1D"/>
          </a:solidFill>
          <a:ln w="12700">
            <a:solidFill>
              <a:srgbClr val="0F2A1D"/>
            </a:solidFill>
            <a:prstDash val="solid"/>
          </a:ln>
        </p:spPr>
      </p:sp>
      <p:sp>
        <p:nvSpPr>
          <p:cNvPr id="22" name="Shape 16"/>
          <p:cNvSpPr/>
          <p:nvPr/>
        </p:nvSpPr>
        <p:spPr>
          <a:xfrm>
            <a:off x="914400" y="5120640"/>
            <a:ext cx="548640" cy="548640"/>
          </a:xfrm>
          <a:prstGeom prst="ellipse">
            <a:avLst/>
          </a:prstGeom>
          <a:solidFill>
            <a:srgbClr val="FF7A2F"/>
          </a:solidFill>
          <a:ln w="12700">
            <a:solidFill>
              <a:srgbClr val="FF7A2F"/>
            </a:solidFill>
            <a:prstDash val="solid"/>
          </a:ln>
        </p:spPr>
      </p:sp>
      <p:pic>
        <p:nvPicPr>
          <p:cNvPr id="23" name="Image 4" descr="preencoded.png">    </p:cNvPr>
          <p:cNvPicPr>
            <a:picLocks noChangeAspect="1"/>
          </p:cNvPicPr>
          <p:nvPr/>
        </p:nvPicPr>
        <p:blipFill>
          <a:blip r:embed="rId5"/>
          <a:stretch>
            <a:fillRect/>
          </a:stretch>
        </p:blipFill>
        <p:spPr>
          <a:xfrm>
            <a:off x="1051560" y="5257800"/>
            <a:ext cx="274320" cy="274320"/>
          </a:xfrm>
          <a:prstGeom prst="rect">
            <a:avLst/>
          </a:prstGeom>
        </p:spPr>
      </p:pic>
      <p:sp>
        <p:nvSpPr>
          <p:cNvPr id="24" name="Text 17"/>
          <p:cNvSpPr txBox="1"/>
          <p:nvPr/>
        </p:nvSpPr>
        <p:spPr>
          <a:xfrm>
            <a:off x="1737360" y="4754880"/>
            <a:ext cx="9509760" cy="12801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Hoje: a regressão da aula 03 vira um neurônio. Empilhar neurônios cria redes capazes de aprender padrões não lineares.</a:t>
            </a:r>
            <a:endParaRPr lang="en-US" sz="1900" dirty="0"/>
          </a:p>
        </p:txBody>
      </p:sp>
      <p:sp>
        <p:nvSpPr>
          <p:cNvPr id="25" name="Text 18"/>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6" name="Text 19"/>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ROTEIRO DE HOJE</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 que vamos fazer nesta aula</a:t>
            </a:r>
            <a:endParaRPr lang="en-US" sz="3000" dirty="0"/>
          </a:p>
        </p:txBody>
      </p:sp>
      <p:sp>
        <p:nvSpPr>
          <p:cNvPr id="6" name="Shape 3"/>
          <p:cNvSpPr/>
          <p:nvPr/>
        </p:nvSpPr>
        <p:spPr>
          <a:xfrm>
            <a:off x="640080" y="2057400"/>
            <a:ext cx="594360" cy="594360"/>
          </a:xfrm>
          <a:prstGeom prst="ellipse">
            <a:avLst/>
          </a:prstGeom>
          <a:solidFill>
            <a:srgbClr val="0B8A5B"/>
          </a:solidFill>
          <a:ln w="12700">
            <a:solidFill>
              <a:srgbClr val="0B8A5B"/>
            </a:solidFill>
            <a:prstDash val="solid"/>
          </a:ln>
        </p:spPr>
      </p:sp>
      <p:sp>
        <p:nvSpPr>
          <p:cNvPr id="7" name="Text 4"/>
          <p:cNvSpPr txBox="1"/>
          <p:nvPr/>
        </p:nvSpPr>
        <p:spPr>
          <a:xfrm>
            <a:off x="640080" y="20574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1463040" y="1920240"/>
            <a:ext cx="4480560" cy="457200"/>
          </a:xfrm>
          <a:prstGeom prst="rect">
            <a:avLst/>
          </a:prstGeom>
          <a:noFill/>
          <a:ln/>
        </p:spPr>
        <p:txBody>
          <a:bodyPr wrap="square" lIns="0" tIns="0" rIns="0" bIns="0" rtlCol="0" anchor="ctr"/>
          <a:lstStyle/>
          <a:p>
            <a:pPr indent="0" marL="0">
              <a:buNone/>
            </a:pPr>
            <a:r>
              <a:rPr lang="en-US" sz="1900" b="1" dirty="0">
                <a:solidFill>
                  <a:srgbClr val="0B1A12"/>
                </a:solidFill>
                <a:latin typeface="Cambria" pitchFamily="34" charset="0"/>
                <a:ea typeface="Cambria" pitchFamily="34" charset="-122"/>
                <a:cs typeface="Cambria" pitchFamily="34" charset="-120"/>
              </a:rPr>
              <a:t>O neurônio artificial</a:t>
            </a:r>
            <a:endParaRPr lang="en-US" sz="1900" dirty="0"/>
          </a:p>
        </p:txBody>
      </p:sp>
      <p:sp>
        <p:nvSpPr>
          <p:cNvPr id="9" name="Text 6"/>
          <p:cNvSpPr txBox="1"/>
          <p:nvPr/>
        </p:nvSpPr>
        <p:spPr>
          <a:xfrm>
            <a:off x="1463040" y="2377440"/>
            <a:ext cx="4480560" cy="548640"/>
          </a:xfrm>
          <a:prstGeom prst="rect">
            <a:avLst/>
          </a:prstGeom>
          <a:noFill/>
          <a:ln/>
        </p:spPr>
        <p:txBody>
          <a:bodyPr wrap="square" lIns="0" tIns="0" rIns="0" bIns="0" rtlCol="0" anchor="t"/>
          <a:lstStyle/>
          <a:p>
            <a:pPr indent="0" marL="0">
              <a:buNone/>
            </a:pPr>
            <a:r>
              <a:rPr lang="en-US" sz="1500" dirty="0">
                <a:solidFill>
                  <a:srgbClr val="55645B"/>
                </a:solidFill>
                <a:latin typeface="Calibri" pitchFamily="34" charset="0"/>
                <a:ea typeface="Calibri" pitchFamily="34" charset="-122"/>
                <a:cs typeface="Calibri" pitchFamily="34" charset="-120"/>
              </a:rPr>
              <a:t>Pesos, bias e funções de ativação</a:t>
            </a:r>
            <a:endParaRPr lang="en-US" sz="1500" dirty="0"/>
          </a:p>
        </p:txBody>
      </p:sp>
      <p:sp>
        <p:nvSpPr>
          <p:cNvPr id="10" name="Shape 7"/>
          <p:cNvSpPr/>
          <p:nvPr/>
        </p:nvSpPr>
        <p:spPr>
          <a:xfrm>
            <a:off x="640080" y="3429000"/>
            <a:ext cx="594360" cy="594360"/>
          </a:xfrm>
          <a:prstGeom prst="ellipse">
            <a:avLst/>
          </a:prstGeom>
          <a:solidFill>
            <a:srgbClr val="0B8A5B"/>
          </a:solidFill>
          <a:ln w="12700">
            <a:solidFill>
              <a:srgbClr val="0B8A5B"/>
            </a:solidFill>
            <a:prstDash val="solid"/>
          </a:ln>
        </p:spPr>
      </p:sp>
      <p:sp>
        <p:nvSpPr>
          <p:cNvPr id="11" name="Text 8"/>
          <p:cNvSpPr txBox="1"/>
          <p:nvPr/>
        </p:nvSpPr>
        <p:spPr>
          <a:xfrm>
            <a:off x="640080" y="34290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1463040" y="3291840"/>
            <a:ext cx="4480560" cy="457200"/>
          </a:xfrm>
          <a:prstGeom prst="rect">
            <a:avLst/>
          </a:prstGeom>
          <a:noFill/>
          <a:ln/>
        </p:spPr>
        <p:txBody>
          <a:bodyPr wrap="square" lIns="0" tIns="0" rIns="0" bIns="0" rtlCol="0" anchor="ctr"/>
          <a:lstStyle/>
          <a:p>
            <a:pPr indent="0" marL="0">
              <a:buNone/>
            </a:pPr>
            <a:r>
              <a:rPr lang="en-US" sz="1900" b="1" dirty="0">
                <a:solidFill>
                  <a:srgbClr val="0B1A12"/>
                </a:solidFill>
                <a:latin typeface="Cambria" pitchFamily="34" charset="0"/>
                <a:ea typeface="Cambria" pitchFamily="34" charset="-122"/>
                <a:cs typeface="Cambria" pitchFamily="34" charset="-120"/>
              </a:rPr>
              <a:t>Perceptron</a:t>
            </a:r>
            <a:endParaRPr lang="en-US" sz="1900" dirty="0"/>
          </a:p>
        </p:txBody>
      </p:sp>
      <p:sp>
        <p:nvSpPr>
          <p:cNvPr id="13" name="Text 10"/>
          <p:cNvSpPr txBox="1"/>
          <p:nvPr/>
        </p:nvSpPr>
        <p:spPr>
          <a:xfrm>
            <a:off x="1463040" y="3749040"/>
            <a:ext cx="4480560" cy="548640"/>
          </a:xfrm>
          <a:prstGeom prst="rect">
            <a:avLst/>
          </a:prstGeom>
          <a:noFill/>
          <a:ln/>
        </p:spPr>
        <p:txBody>
          <a:bodyPr wrap="square" lIns="0" tIns="0" rIns="0" bIns="0" rtlCol="0" anchor="t"/>
          <a:lstStyle/>
          <a:p>
            <a:pPr indent="0" marL="0">
              <a:buNone/>
            </a:pPr>
            <a:r>
              <a:rPr lang="en-US" sz="1500" dirty="0">
                <a:solidFill>
                  <a:srgbClr val="55645B"/>
                </a:solidFill>
                <a:latin typeface="Calibri" pitchFamily="34" charset="0"/>
                <a:ea typeface="Calibri" pitchFamily="34" charset="-122"/>
                <a:cs typeface="Calibri" pitchFamily="34" charset="-120"/>
              </a:rPr>
              <a:t>A primeira regra de aprendizado, e seu limite: o XOR</a:t>
            </a:r>
            <a:endParaRPr lang="en-US" sz="1500" dirty="0"/>
          </a:p>
        </p:txBody>
      </p:sp>
      <p:sp>
        <p:nvSpPr>
          <p:cNvPr id="14" name="Shape 11"/>
          <p:cNvSpPr/>
          <p:nvPr/>
        </p:nvSpPr>
        <p:spPr>
          <a:xfrm>
            <a:off x="640080" y="4800600"/>
            <a:ext cx="594360" cy="594360"/>
          </a:xfrm>
          <a:prstGeom prst="ellipse">
            <a:avLst/>
          </a:prstGeom>
          <a:solidFill>
            <a:srgbClr val="0B8A5B"/>
          </a:solidFill>
          <a:ln w="12700">
            <a:solidFill>
              <a:srgbClr val="0B8A5B"/>
            </a:solidFill>
            <a:prstDash val="solid"/>
          </a:ln>
        </p:spPr>
      </p:sp>
      <p:sp>
        <p:nvSpPr>
          <p:cNvPr id="15" name="Text 12"/>
          <p:cNvSpPr txBox="1"/>
          <p:nvPr/>
        </p:nvSpPr>
        <p:spPr>
          <a:xfrm>
            <a:off x="640080" y="48006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3"/>
          <p:cNvSpPr txBox="1"/>
          <p:nvPr/>
        </p:nvSpPr>
        <p:spPr>
          <a:xfrm>
            <a:off x="1463040" y="4663440"/>
            <a:ext cx="4480560" cy="457200"/>
          </a:xfrm>
          <a:prstGeom prst="rect">
            <a:avLst/>
          </a:prstGeom>
          <a:noFill/>
          <a:ln/>
        </p:spPr>
        <p:txBody>
          <a:bodyPr wrap="square" lIns="0" tIns="0" rIns="0" bIns="0" rtlCol="0" anchor="ctr"/>
          <a:lstStyle/>
          <a:p>
            <a:pPr indent="0" marL="0">
              <a:buNone/>
            </a:pPr>
            <a:r>
              <a:rPr lang="en-US" sz="1900" b="1" dirty="0">
                <a:solidFill>
                  <a:srgbClr val="0B1A12"/>
                </a:solidFill>
                <a:latin typeface="Cambria" pitchFamily="34" charset="0"/>
                <a:ea typeface="Cambria" pitchFamily="34" charset="-122"/>
                <a:cs typeface="Cambria" pitchFamily="34" charset="-120"/>
              </a:rPr>
              <a:t>Redes com camadas ocultas</a:t>
            </a:r>
            <a:endParaRPr lang="en-US" sz="1900" dirty="0"/>
          </a:p>
        </p:txBody>
      </p:sp>
      <p:sp>
        <p:nvSpPr>
          <p:cNvPr id="17" name="Text 14"/>
          <p:cNvSpPr txBox="1"/>
          <p:nvPr/>
        </p:nvSpPr>
        <p:spPr>
          <a:xfrm>
            <a:off x="1463040" y="5120640"/>
            <a:ext cx="4480560" cy="548640"/>
          </a:xfrm>
          <a:prstGeom prst="rect">
            <a:avLst/>
          </a:prstGeom>
          <a:noFill/>
          <a:ln/>
        </p:spPr>
        <p:txBody>
          <a:bodyPr wrap="square" lIns="0" tIns="0" rIns="0" bIns="0" rtlCol="0" anchor="t"/>
          <a:lstStyle/>
          <a:p>
            <a:pPr indent="0" marL="0">
              <a:buNone/>
            </a:pPr>
            <a:r>
              <a:rPr lang="en-US" sz="1500" dirty="0">
                <a:solidFill>
                  <a:srgbClr val="55645B"/>
                </a:solidFill>
                <a:latin typeface="Calibri" pitchFamily="34" charset="0"/>
                <a:ea typeface="Calibri" pitchFamily="34" charset="-122"/>
                <a:cs typeface="Calibri" pitchFamily="34" charset="-120"/>
              </a:rPr>
              <a:t>Arquitetura, forward pass e parâmetros</a:t>
            </a:r>
            <a:endParaRPr lang="en-US" sz="1500" dirty="0"/>
          </a:p>
        </p:txBody>
      </p:sp>
      <p:sp>
        <p:nvSpPr>
          <p:cNvPr id="18" name="Shape 15"/>
          <p:cNvSpPr/>
          <p:nvPr/>
        </p:nvSpPr>
        <p:spPr>
          <a:xfrm>
            <a:off x="6217920" y="2057400"/>
            <a:ext cx="594360" cy="594360"/>
          </a:xfrm>
          <a:prstGeom prst="ellipse">
            <a:avLst/>
          </a:prstGeom>
          <a:solidFill>
            <a:srgbClr val="0B8A5B"/>
          </a:solidFill>
          <a:ln w="12700">
            <a:solidFill>
              <a:srgbClr val="0B8A5B"/>
            </a:solidFill>
            <a:prstDash val="solid"/>
          </a:ln>
        </p:spPr>
      </p:sp>
      <p:sp>
        <p:nvSpPr>
          <p:cNvPr id="19" name="Text 16"/>
          <p:cNvSpPr txBox="1"/>
          <p:nvPr/>
        </p:nvSpPr>
        <p:spPr>
          <a:xfrm>
            <a:off x="6217920" y="20574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7"/>
          <p:cNvSpPr txBox="1"/>
          <p:nvPr/>
        </p:nvSpPr>
        <p:spPr>
          <a:xfrm>
            <a:off x="7040880" y="1920240"/>
            <a:ext cx="4480560" cy="457200"/>
          </a:xfrm>
          <a:prstGeom prst="rect">
            <a:avLst/>
          </a:prstGeom>
          <a:noFill/>
          <a:ln/>
        </p:spPr>
        <p:txBody>
          <a:bodyPr wrap="square" lIns="0" tIns="0" rIns="0" bIns="0" rtlCol="0" anchor="ctr"/>
          <a:lstStyle/>
          <a:p>
            <a:pPr indent="0" marL="0">
              <a:buNone/>
            </a:pPr>
            <a:r>
              <a:rPr lang="en-US" sz="1900" b="1" dirty="0">
                <a:solidFill>
                  <a:srgbClr val="0B1A12"/>
                </a:solidFill>
                <a:latin typeface="Cambria" pitchFamily="34" charset="0"/>
                <a:ea typeface="Cambria" pitchFamily="34" charset="-122"/>
                <a:cs typeface="Cambria" pitchFamily="34" charset="-120"/>
              </a:rPr>
              <a:t>Backpropagation</a:t>
            </a:r>
            <a:endParaRPr lang="en-US" sz="1900" dirty="0"/>
          </a:p>
        </p:txBody>
      </p:sp>
      <p:sp>
        <p:nvSpPr>
          <p:cNvPr id="21" name="Text 18"/>
          <p:cNvSpPr txBox="1"/>
          <p:nvPr/>
        </p:nvSpPr>
        <p:spPr>
          <a:xfrm>
            <a:off x="7040880" y="2377440"/>
            <a:ext cx="4480560" cy="548640"/>
          </a:xfrm>
          <a:prstGeom prst="rect">
            <a:avLst/>
          </a:prstGeom>
          <a:noFill/>
          <a:ln/>
        </p:spPr>
        <p:txBody>
          <a:bodyPr wrap="square" lIns="0" tIns="0" rIns="0" bIns="0" rtlCol="0" anchor="t"/>
          <a:lstStyle/>
          <a:p>
            <a:pPr indent="0" marL="0">
              <a:buNone/>
            </a:pPr>
            <a:r>
              <a:rPr lang="en-US" sz="1500" dirty="0">
                <a:solidFill>
                  <a:srgbClr val="55645B"/>
                </a:solidFill>
                <a:latin typeface="Calibri" pitchFamily="34" charset="0"/>
                <a:ea typeface="Calibri" pitchFamily="34" charset="-122"/>
                <a:cs typeface="Calibri" pitchFamily="34" charset="-120"/>
              </a:rPr>
              <a:t>A regra da cadeia, com números e com código</a:t>
            </a:r>
            <a:endParaRPr lang="en-US" sz="1500" dirty="0"/>
          </a:p>
        </p:txBody>
      </p:sp>
      <p:sp>
        <p:nvSpPr>
          <p:cNvPr id="22" name="Shape 19"/>
          <p:cNvSpPr/>
          <p:nvPr/>
        </p:nvSpPr>
        <p:spPr>
          <a:xfrm>
            <a:off x="6217920" y="3429000"/>
            <a:ext cx="594360" cy="594360"/>
          </a:xfrm>
          <a:prstGeom prst="ellipse">
            <a:avLst/>
          </a:prstGeom>
          <a:solidFill>
            <a:srgbClr val="0B8A5B"/>
          </a:solidFill>
          <a:ln w="12700">
            <a:solidFill>
              <a:srgbClr val="0B8A5B"/>
            </a:solidFill>
            <a:prstDash val="solid"/>
          </a:ln>
        </p:spPr>
      </p:sp>
      <p:sp>
        <p:nvSpPr>
          <p:cNvPr id="23" name="Text 20"/>
          <p:cNvSpPr txBox="1"/>
          <p:nvPr/>
        </p:nvSpPr>
        <p:spPr>
          <a:xfrm>
            <a:off x="6217920" y="34290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1"/>
          <p:cNvSpPr txBox="1"/>
          <p:nvPr/>
        </p:nvSpPr>
        <p:spPr>
          <a:xfrm>
            <a:off x="7040880" y="3291840"/>
            <a:ext cx="4480560" cy="457200"/>
          </a:xfrm>
          <a:prstGeom prst="rect">
            <a:avLst/>
          </a:prstGeom>
          <a:noFill/>
          <a:ln/>
        </p:spPr>
        <p:txBody>
          <a:bodyPr wrap="square" lIns="0" tIns="0" rIns="0" bIns="0" rtlCol="0" anchor="ctr"/>
          <a:lstStyle/>
          <a:p>
            <a:pPr indent="0" marL="0">
              <a:buNone/>
            </a:pPr>
            <a:r>
              <a:rPr lang="en-US" sz="1900" b="1" dirty="0">
                <a:solidFill>
                  <a:srgbClr val="0B1A12"/>
                </a:solidFill>
                <a:latin typeface="Cambria" pitchFamily="34" charset="0"/>
                <a:ea typeface="Cambria" pitchFamily="34" charset="-122"/>
                <a:cs typeface="Cambria" pitchFamily="34" charset="-120"/>
              </a:rPr>
              <a:t>Uma rede do zero</a:t>
            </a:r>
            <a:endParaRPr lang="en-US" sz="1900" dirty="0"/>
          </a:p>
        </p:txBody>
      </p:sp>
      <p:sp>
        <p:nvSpPr>
          <p:cNvPr id="25" name="Text 22"/>
          <p:cNvSpPr txBox="1"/>
          <p:nvPr/>
        </p:nvSpPr>
        <p:spPr>
          <a:xfrm>
            <a:off x="7040880" y="3749040"/>
            <a:ext cx="4480560" cy="548640"/>
          </a:xfrm>
          <a:prstGeom prst="rect">
            <a:avLst/>
          </a:prstGeom>
          <a:noFill/>
          <a:ln/>
        </p:spPr>
        <p:txBody>
          <a:bodyPr wrap="square" lIns="0" tIns="0" rIns="0" bIns="0" rtlCol="0" anchor="t"/>
          <a:lstStyle/>
          <a:p>
            <a:pPr indent="0" marL="0">
              <a:buNone/>
            </a:pPr>
            <a:r>
              <a:rPr lang="en-US" sz="1500" dirty="0">
                <a:solidFill>
                  <a:srgbClr val="55645B"/>
                </a:solidFill>
                <a:latin typeface="Calibri" pitchFamily="34" charset="0"/>
                <a:ea typeface="Calibri" pitchFamily="34" charset="-122"/>
                <a:cs typeface="Calibri" pitchFamily="34" charset="-120"/>
              </a:rPr>
              <a:t>MLP em NumPy resolvendo o XOR</a:t>
            </a:r>
            <a:endParaRPr lang="en-US" sz="1500" dirty="0"/>
          </a:p>
        </p:txBody>
      </p:sp>
      <p:sp>
        <p:nvSpPr>
          <p:cNvPr id="26" name="Shape 23"/>
          <p:cNvSpPr/>
          <p:nvPr/>
        </p:nvSpPr>
        <p:spPr>
          <a:xfrm>
            <a:off x="6217920" y="4800600"/>
            <a:ext cx="594360" cy="594360"/>
          </a:xfrm>
          <a:prstGeom prst="ellipse">
            <a:avLst/>
          </a:prstGeom>
          <a:solidFill>
            <a:srgbClr val="0B8A5B"/>
          </a:solidFill>
          <a:ln w="12700">
            <a:solidFill>
              <a:srgbClr val="0B8A5B"/>
            </a:solidFill>
            <a:prstDash val="solid"/>
          </a:ln>
        </p:spPr>
      </p:sp>
      <p:sp>
        <p:nvSpPr>
          <p:cNvPr id="27" name="Text 24"/>
          <p:cNvSpPr txBox="1"/>
          <p:nvPr/>
        </p:nvSpPr>
        <p:spPr>
          <a:xfrm>
            <a:off x="6217920" y="48006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5"/>
          <p:cNvSpPr txBox="1"/>
          <p:nvPr/>
        </p:nvSpPr>
        <p:spPr>
          <a:xfrm>
            <a:off x="7040880" y="4663440"/>
            <a:ext cx="4480560" cy="457200"/>
          </a:xfrm>
          <a:prstGeom prst="rect">
            <a:avLst/>
          </a:prstGeom>
          <a:noFill/>
          <a:ln/>
        </p:spPr>
        <p:txBody>
          <a:bodyPr wrap="square" lIns="0" tIns="0" rIns="0" bIns="0" rtlCol="0" anchor="ctr"/>
          <a:lstStyle/>
          <a:p>
            <a:pPr indent="0" marL="0">
              <a:buNone/>
            </a:pPr>
            <a:r>
              <a:rPr lang="en-US" sz="1900" b="1" dirty="0">
                <a:solidFill>
                  <a:srgbClr val="0B1A12"/>
                </a:solidFill>
                <a:latin typeface="Cambria" pitchFamily="34" charset="0"/>
                <a:ea typeface="Cambria" pitchFamily="34" charset="-122"/>
                <a:cs typeface="Cambria" pitchFamily="34" charset="-120"/>
              </a:rPr>
              <a:t>scikit-learn e dígitos</a:t>
            </a:r>
            <a:endParaRPr lang="en-US" sz="1900" dirty="0"/>
          </a:p>
        </p:txBody>
      </p:sp>
      <p:sp>
        <p:nvSpPr>
          <p:cNvPr id="29" name="Text 26"/>
          <p:cNvSpPr txBox="1"/>
          <p:nvPr/>
        </p:nvSpPr>
        <p:spPr>
          <a:xfrm>
            <a:off x="7040880" y="5120640"/>
            <a:ext cx="4480560" cy="548640"/>
          </a:xfrm>
          <a:prstGeom prst="rect">
            <a:avLst/>
          </a:prstGeom>
          <a:noFill/>
          <a:ln/>
        </p:spPr>
        <p:txBody>
          <a:bodyPr wrap="square" lIns="0" tIns="0" rIns="0" bIns="0" rtlCol="0" anchor="t"/>
          <a:lstStyle/>
          <a:p>
            <a:pPr indent="0" marL="0">
              <a:buNone/>
            </a:pPr>
            <a:r>
              <a:rPr lang="en-US" sz="1500" dirty="0">
                <a:solidFill>
                  <a:srgbClr val="55645B"/>
                </a:solidFill>
                <a:latin typeface="Calibri" pitchFamily="34" charset="0"/>
                <a:ea typeface="Calibri" pitchFamily="34" charset="-122"/>
                <a:cs typeface="Calibri" pitchFamily="34" charset="-120"/>
              </a:rPr>
              <a:t>MLPClassifier, escala, ajuste e reconhecimento de dígitos</a:t>
            </a:r>
            <a:endParaRPr lang="en-US" sz="1500" dirty="0"/>
          </a:p>
        </p:txBody>
      </p:sp>
      <p:sp>
        <p:nvSpPr>
          <p:cNvPr id="30" name="Text 27"/>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1" name="Text 28"/>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O NEURÔNIO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Inspiração biológica e cinco marcos</a:t>
            </a:r>
            <a:endParaRPr lang="en-US" sz="3000" dirty="0"/>
          </a:p>
        </p:txBody>
      </p:sp>
      <p:sp>
        <p:nvSpPr>
          <p:cNvPr id="6" name="Shape 3"/>
          <p:cNvSpPr/>
          <p:nvPr/>
        </p:nvSpPr>
        <p:spPr>
          <a:xfrm>
            <a:off x="640080" y="1783080"/>
            <a:ext cx="2011680" cy="3291840"/>
          </a:xfrm>
          <a:prstGeom prst="roundRect">
            <a:avLst>
              <a:gd name="adj" fmla="val 5455"/>
            </a:avLst>
          </a:prstGeom>
          <a:solidFill>
            <a:srgbClr val="F1F6F3"/>
          </a:solidFill>
          <a:ln w="12700">
            <a:solidFill>
              <a:srgbClr val="F1F6F3"/>
            </a:solidFill>
            <a:prstDash val="solid"/>
          </a:ln>
        </p:spPr>
      </p:sp>
      <p:sp>
        <p:nvSpPr>
          <p:cNvPr id="7" name="Text 4"/>
          <p:cNvSpPr txBox="1"/>
          <p:nvPr/>
        </p:nvSpPr>
        <p:spPr>
          <a:xfrm>
            <a:off x="777240" y="1874520"/>
            <a:ext cx="1737360" cy="548640"/>
          </a:xfrm>
          <a:prstGeom prst="rect">
            <a:avLst/>
          </a:prstGeom>
          <a:noFill/>
          <a:ln/>
        </p:spPr>
        <p:txBody>
          <a:bodyPr wrap="square" lIns="0" tIns="0" rIns="0" bIns="0" rtlCol="0" anchor="ctr"/>
          <a:lstStyle/>
          <a:p>
            <a:pPr indent="0" marL="0">
              <a:buNone/>
            </a:pPr>
            <a:r>
              <a:rPr lang="en-US" sz="2600" b="1" dirty="0">
                <a:solidFill>
                  <a:srgbClr val="066B47"/>
                </a:solidFill>
                <a:latin typeface="Cambria" pitchFamily="34" charset="0"/>
                <a:ea typeface="Cambria" pitchFamily="34" charset="-122"/>
                <a:cs typeface="Cambria" pitchFamily="34" charset="-120"/>
              </a:rPr>
              <a:t>1943</a:t>
            </a:r>
            <a:endParaRPr lang="en-US" sz="2600" dirty="0"/>
          </a:p>
        </p:txBody>
      </p:sp>
      <p:sp>
        <p:nvSpPr>
          <p:cNvPr id="8" name="Text 5"/>
          <p:cNvSpPr txBox="1"/>
          <p:nvPr/>
        </p:nvSpPr>
        <p:spPr>
          <a:xfrm>
            <a:off x="777240" y="2514600"/>
            <a:ext cx="1783080" cy="246888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McCulloch e Pitts propõem um modelo matemático do neurônio, com saída 0 ou 1.</a:t>
            </a:r>
            <a:endParaRPr lang="en-US" sz="1300" dirty="0"/>
          </a:p>
        </p:txBody>
      </p:sp>
      <p:sp>
        <p:nvSpPr>
          <p:cNvPr id="9" name="Shape 6"/>
          <p:cNvSpPr/>
          <p:nvPr/>
        </p:nvSpPr>
        <p:spPr>
          <a:xfrm>
            <a:off x="2862072" y="1783080"/>
            <a:ext cx="2011680" cy="3291840"/>
          </a:xfrm>
          <a:prstGeom prst="roundRect">
            <a:avLst>
              <a:gd name="adj" fmla="val 5455"/>
            </a:avLst>
          </a:prstGeom>
          <a:solidFill>
            <a:srgbClr val="F1F6F3"/>
          </a:solidFill>
          <a:ln w="12700">
            <a:solidFill>
              <a:srgbClr val="F1F6F3"/>
            </a:solidFill>
            <a:prstDash val="solid"/>
          </a:ln>
        </p:spPr>
      </p:sp>
      <p:sp>
        <p:nvSpPr>
          <p:cNvPr id="10" name="Text 7"/>
          <p:cNvSpPr txBox="1"/>
          <p:nvPr/>
        </p:nvSpPr>
        <p:spPr>
          <a:xfrm>
            <a:off x="2999232" y="1874520"/>
            <a:ext cx="1737360" cy="548640"/>
          </a:xfrm>
          <a:prstGeom prst="rect">
            <a:avLst/>
          </a:prstGeom>
          <a:noFill/>
          <a:ln/>
        </p:spPr>
        <p:txBody>
          <a:bodyPr wrap="square" lIns="0" tIns="0" rIns="0" bIns="0" rtlCol="0" anchor="ctr"/>
          <a:lstStyle/>
          <a:p>
            <a:pPr indent="0" marL="0">
              <a:buNone/>
            </a:pPr>
            <a:r>
              <a:rPr lang="en-US" sz="2600" b="1" dirty="0">
                <a:solidFill>
                  <a:srgbClr val="066B47"/>
                </a:solidFill>
                <a:latin typeface="Cambria" pitchFamily="34" charset="0"/>
                <a:ea typeface="Cambria" pitchFamily="34" charset="-122"/>
                <a:cs typeface="Cambria" pitchFamily="34" charset="-120"/>
              </a:rPr>
              <a:t>1958</a:t>
            </a:r>
            <a:endParaRPr lang="en-US" sz="2600" dirty="0"/>
          </a:p>
        </p:txBody>
      </p:sp>
      <p:sp>
        <p:nvSpPr>
          <p:cNvPr id="11" name="Text 8"/>
          <p:cNvSpPr txBox="1"/>
          <p:nvPr/>
        </p:nvSpPr>
        <p:spPr>
          <a:xfrm>
            <a:off x="2999232" y="2514600"/>
            <a:ext cx="1783080" cy="246888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Frank Rosenblatt apresenta o perceptron, que aprende seus pesos a partir de exemplos.</a:t>
            </a:r>
            <a:endParaRPr lang="en-US" sz="1300" dirty="0"/>
          </a:p>
        </p:txBody>
      </p:sp>
      <p:sp>
        <p:nvSpPr>
          <p:cNvPr id="12" name="Shape 9"/>
          <p:cNvSpPr/>
          <p:nvPr/>
        </p:nvSpPr>
        <p:spPr>
          <a:xfrm>
            <a:off x="5084064" y="1783080"/>
            <a:ext cx="2011680" cy="3291840"/>
          </a:xfrm>
          <a:prstGeom prst="roundRect">
            <a:avLst>
              <a:gd name="adj" fmla="val 5455"/>
            </a:avLst>
          </a:prstGeom>
          <a:solidFill>
            <a:srgbClr val="F1F6F3"/>
          </a:solidFill>
          <a:ln w="12700">
            <a:solidFill>
              <a:srgbClr val="F1F6F3"/>
            </a:solidFill>
            <a:prstDash val="solid"/>
          </a:ln>
        </p:spPr>
      </p:sp>
      <p:sp>
        <p:nvSpPr>
          <p:cNvPr id="13" name="Text 10"/>
          <p:cNvSpPr txBox="1"/>
          <p:nvPr/>
        </p:nvSpPr>
        <p:spPr>
          <a:xfrm>
            <a:off x="5221224" y="1874520"/>
            <a:ext cx="1737360" cy="548640"/>
          </a:xfrm>
          <a:prstGeom prst="rect">
            <a:avLst/>
          </a:prstGeom>
          <a:noFill/>
          <a:ln/>
        </p:spPr>
        <p:txBody>
          <a:bodyPr wrap="square" lIns="0" tIns="0" rIns="0" bIns="0" rtlCol="0" anchor="ctr"/>
          <a:lstStyle/>
          <a:p>
            <a:pPr indent="0" marL="0">
              <a:buNone/>
            </a:pPr>
            <a:r>
              <a:rPr lang="en-US" sz="2600" b="1" dirty="0">
                <a:solidFill>
                  <a:srgbClr val="066B47"/>
                </a:solidFill>
                <a:latin typeface="Cambria" pitchFamily="34" charset="0"/>
                <a:ea typeface="Cambria" pitchFamily="34" charset="-122"/>
                <a:cs typeface="Cambria" pitchFamily="34" charset="-120"/>
              </a:rPr>
              <a:t>1969</a:t>
            </a:r>
            <a:endParaRPr lang="en-US" sz="2600" dirty="0"/>
          </a:p>
        </p:txBody>
      </p:sp>
      <p:sp>
        <p:nvSpPr>
          <p:cNvPr id="14" name="Text 11"/>
          <p:cNvSpPr txBox="1"/>
          <p:nvPr/>
        </p:nvSpPr>
        <p:spPr>
          <a:xfrm>
            <a:off x="5221224" y="2514600"/>
            <a:ext cx="1783080" cy="246888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Minsky e Papert mostram limites do perceptron de uma camada, como o XOR.</a:t>
            </a:r>
            <a:endParaRPr lang="en-US" sz="1300" dirty="0"/>
          </a:p>
        </p:txBody>
      </p:sp>
      <p:sp>
        <p:nvSpPr>
          <p:cNvPr id="15" name="Shape 12"/>
          <p:cNvSpPr/>
          <p:nvPr/>
        </p:nvSpPr>
        <p:spPr>
          <a:xfrm>
            <a:off x="7306056" y="1783080"/>
            <a:ext cx="2011680" cy="3291840"/>
          </a:xfrm>
          <a:prstGeom prst="roundRect">
            <a:avLst>
              <a:gd name="adj" fmla="val 5455"/>
            </a:avLst>
          </a:prstGeom>
          <a:solidFill>
            <a:srgbClr val="F1F6F3"/>
          </a:solidFill>
          <a:ln w="12700">
            <a:solidFill>
              <a:srgbClr val="F1F6F3"/>
            </a:solidFill>
            <a:prstDash val="solid"/>
          </a:ln>
        </p:spPr>
      </p:sp>
      <p:sp>
        <p:nvSpPr>
          <p:cNvPr id="16" name="Text 13"/>
          <p:cNvSpPr txBox="1"/>
          <p:nvPr/>
        </p:nvSpPr>
        <p:spPr>
          <a:xfrm>
            <a:off x="7443216" y="1874520"/>
            <a:ext cx="1737360" cy="548640"/>
          </a:xfrm>
          <a:prstGeom prst="rect">
            <a:avLst/>
          </a:prstGeom>
          <a:noFill/>
          <a:ln/>
        </p:spPr>
        <p:txBody>
          <a:bodyPr wrap="square" lIns="0" tIns="0" rIns="0" bIns="0" rtlCol="0" anchor="ctr"/>
          <a:lstStyle/>
          <a:p>
            <a:pPr indent="0" marL="0">
              <a:buNone/>
            </a:pPr>
            <a:r>
              <a:rPr lang="en-US" sz="2600" b="1" dirty="0">
                <a:solidFill>
                  <a:srgbClr val="066B47"/>
                </a:solidFill>
                <a:latin typeface="Cambria" pitchFamily="34" charset="0"/>
                <a:ea typeface="Cambria" pitchFamily="34" charset="-122"/>
                <a:cs typeface="Cambria" pitchFamily="34" charset="-120"/>
              </a:rPr>
              <a:t>1986</a:t>
            </a:r>
            <a:endParaRPr lang="en-US" sz="2600" dirty="0"/>
          </a:p>
        </p:txBody>
      </p:sp>
      <p:sp>
        <p:nvSpPr>
          <p:cNvPr id="17" name="Text 14"/>
          <p:cNvSpPr txBox="1"/>
          <p:nvPr/>
        </p:nvSpPr>
        <p:spPr>
          <a:xfrm>
            <a:off x="7443216" y="2514600"/>
            <a:ext cx="1783080" cy="246888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Rumelhart, Hinton e Williams popularizam o backpropagation para redes com camadas ocultas.</a:t>
            </a:r>
            <a:endParaRPr lang="en-US" sz="1300" dirty="0"/>
          </a:p>
        </p:txBody>
      </p:sp>
      <p:sp>
        <p:nvSpPr>
          <p:cNvPr id="18" name="Shape 15"/>
          <p:cNvSpPr/>
          <p:nvPr/>
        </p:nvSpPr>
        <p:spPr>
          <a:xfrm>
            <a:off x="9528048" y="1783080"/>
            <a:ext cx="2011680" cy="3291840"/>
          </a:xfrm>
          <a:prstGeom prst="roundRect">
            <a:avLst>
              <a:gd name="adj" fmla="val 5455"/>
            </a:avLst>
          </a:prstGeom>
          <a:solidFill>
            <a:srgbClr val="FFEBDD"/>
          </a:solidFill>
          <a:ln w="12700">
            <a:solidFill>
              <a:srgbClr val="FFEBDD"/>
            </a:solidFill>
            <a:prstDash val="solid"/>
          </a:ln>
        </p:spPr>
      </p:sp>
      <p:sp>
        <p:nvSpPr>
          <p:cNvPr id="19" name="Text 16"/>
          <p:cNvSpPr txBox="1"/>
          <p:nvPr/>
        </p:nvSpPr>
        <p:spPr>
          <a:xfrm>
            <a:off x="9665208" y="1874520"/>
            <a:ext cx="1737360" cy="548640"/>
          </a:xfrm>
          <a:prstGeom prst="rect">
            <a:avLst/>
          </a:prstGeom>
          <a:noFill/>
          <a:ln/>
        </p:spPr>
        <p:txBody>
          <a:bodyPr wrap="square" lIns="0" tIns="0" rIns="0" bIns="0" rtlCol="0" anchor="ctr"/>
          <a:lstStyle/>
          <a:p>
            <a:pPr indent="0" marL="0">
              <a:buNone/>
            </a:pPr>
            <a:r>
              <a:rPr lang="en-US" sz="2600" b="1" dirty="0">
                <a:solidFill>
                  <a:srgbClr val="066B47"/>
                </a:solidFill>
                <a:latin typeface="Cambria" pitchFamily="34" charset="0"/>
                <a:ea typeface="Cambria" pitchFamily="34" charset="-122"/>
                <a:cs typeface="Cambria" pitchFamily="34" charset="-120"/>
              </a:rPr>
              <a:t>2012</a:t>
            </a:r>
            <a:endParaRPr lang="en-US" sz="2600" dirty="0"/>
          </a:p>
        </p:txBody>
      </p:sp>
      <p:sp>
        <p:nvSpPr>
          <p:cNvPr id="20" name="Text 17"/>
          <p:cNvSpPr txBox="1"/>
          <p:nvPr/>
        </p:nvSpPr>
        <p:spPr>
          <a:xfrm>
            <a:off x="9665208" y="2514600"/>
            <a:ext cx="1783080" cy="246888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AlexNet vence a ImageNet: o deep learning decola (aula 14).</a:t>
            </a:r>
            <a:endParaRPr lang="en-US" sz="1300" dirty="0"/>
          </a:p>
        </p:txBody>
      </p:sp>
      <p:sp>
        <p:nvSpPr>
          <p:cNvPr id="21" name="Shape 18"/>
          <p:cNvSpPr/>
          <p:nvPr/>
        </p:nvSpPr>
        <p:spPr>
          <a:xfrm>
            <a:off x="640080" y="5303520"/>
            <a:ext cx="10911535" cy="822960"/>
          </a:xfrm>
          <a:prstGeom prst="roundRect">
            <a:avLst>
              <a:gd name="adj" fmla="val 13333"/>
            </a:avLst>
          </a:prstGeom>
          <a:solidFill>
            <a:srgbClr val="FFEBDD"/>
          </a:solidFill>
          <a:ln w="12700">
            <a:solidFill>
              <a:srgbClr val="FFEBDD"/>
            </a:solidFill>
            <a:prstDash val="solid"/>
          </a:ln>
        </p:spPr>
      </p:sp>
      <p:sp>
        <p:nvSpPr>
          <p:cNvPr id="22" name="Text 19"/>
          <p:cNvSpPr txBox="1"/>
          <p:nvPr/>
        </p:nvSpPr>
        <p:spPr>
          <a:xfrm>
            <a:off x="914400" y="5303520"/>
            <a:ext cx="10362895" cy="82296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A analogia é só uma inspiração: neurônios artificiais são funções matemáticas simples, bem mais simples que as células do cérebro.</a:t>
            </a:r>
            <a:endParaRPr lang="en-US" sz="1400" dirty="0"/>
          </a:p>
        </p:txBody>
      </p:sp>
      <p:sp>
        <p:nvSpPr>
          <p:cNvPr id="23" name="Text 2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4" name="Text 2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O NEURÔNIO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 neurônio artificial: soma ponderada e ativação</a:t>
            </a:r>
            <a:endParaRPr lang="en-US" sz="3000" dirty="0"/>
          </a:p>
        </p:txBody>
      </p:sp>
      <p:sp>
        <p:nvSpPr>
          <p:cNvPr id="6" name="Shape 3"/>
          <p:cNvSpPr/>
          <p:nvPr/>
        </p:nvSpPr>
        <p:spPr>
          <a:xfrm>
            <a:off x="1737360" y="2286000"/>
            <a:ext cx="3017520" cy="1005840"/>
          </a:xfrm>
          <a:prstGeom prst="line">
            <a:avLst/>
          </a:prstGeom>
          <a:noFill/>
          <a:ln w="25400">
            <a:solidFill>
              <a:srgbClr val="55645B"/>
            </a:solidFill>
            <a:prstDash val="solid"/>
          </a:ln>
        </p:spPr>
      </p:sp>
      <p:sp>
        <p:nvSpPr>
          <p:cNvPr id="7" name="Shape 4"/>
          <p:cNvSpPr/>
          <p:nvPr/>
        </p:nvSpPr>
        <p:spPr>
          <a:xfrm>
            <a:off x="1188720" y="2011680"/>
            <a:ext cx="548640" cy="548640"/>
          </a:xfrm>
          <a:prstGeom prst="ellipse">
            <a:avLst/>
          </a:prstGeom>
          <a:solidFill>
            <a:srgbClr val="1B4332"/>
          </a:solidFill>
          <a:ln w="12700">
            <a:solidFill>
              <a:srgbClr val="FFFFFF"/>
            </a:solidFill>
            <a:prstDash val="solid"/>
          </a:ln>
        </p:spPr>
      </p:sp>
      <p:sp>
        <p:nvSpPr>
          <p:cNvPr id="8" name="Text 5"/>
          <p:cNvSpPr txBox="1"/>
          <p:nvPr/>
        </p:nvSpPr>
        <p:spPr>
          <a:xfrm>
            <a:off x="1188720" y="2011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x1</a:t>
            </a:r>
            <a:endParaRPr lang="en-US" sz="1600" dirty="0"/>
          </a:p>
        </p:txBody>
      </p:sp>
      <p:sp>
        <p:nvSpPr>
          <p:cNvPr id="9" name="Text 6"/>
          <p:cNvSpPr txBox="1"/>
          <p:nvPr/>
        </p:nvSpPr>
        <p:spPr>
          <a:xfrm>
            <a:off x="2834640" y="2423160"/>
            <a:ext cx="731520" cy="320040"/>
          </a:xfrm>
          <a:prstGeom prst="rect">
            <a:avLst/>
          </a:prstGeom>
          <a:noFill/>
          <a:ln/>
        </p:spPr>
        <p:txBody>
          <a:bodyPr wrap="square" lIns="0" tIns="0" rIns="0" bIns="0" rtlCol="0" anchor="t"/>
          <a:lstStyle/>
          <a:p>
            <a:pPr indent="0" marL="0">
              <a:buNone/>
            </a:pPr>
            <a:r>
              <a:rPr lang="en-US" sz="1400" b="1" dirty="0">
                <a:solidFill>
                  <a:srgbClr val="B34700"/>
                </a:solidFill>
                <a:latin typeface="Calibri" pitchFamily="34" charset="0"/>
                <a:ea typeface="Calibri" pitchFamily="34" charset="-122"/>
                <a:cs typeface="Calibri" pitchFamily="34" charset="-120"/>
              </a:rPr>
              <a:t>w1</a:t>
            </a:r>
            <a:endParaRPr lang="en-US" sz="1400" dirty="0"/>
          </a:p>
        </p:txBody>
      </p:sp>
      <p:sp>
        <p:nvSpPr>
          <p:cNvPr id="10" name="Shape 7"/>
          <p:cNvSpPr/>
          <p:nvPr/>
        </p:nvSpPr>
        <p:spPr>
          <a:xfrm>
            <a:off x="1737360" y="3291840"/>
            <a:ext cx="3017520" cy="0"/>
          </a:xfrm>
          <a:prstGeom prst="line">
            <a:avLst/>
          </a:prstGeom>
          <a:noFill/>
          <a:ln w="25400">
            <a:solidFill>
              <a:srgbClr val="55645B"/>
            </a:solidFill>
            <a:prstDash val="solid"/>
          </a:ln>
        </p:spPr>
      </p:sp>
      <p:sp>
        <p:nvSpPr>
          <p:cNvPr id="11" name="Shape 8"/>
          <p:cNvSpPr/>
          <p:nvPr/>
        </p:nvSpPr>
        <p:spPr>
          <a:xfrm>
            <a:off x="1188720" y="3017520"/>
            <a:ext cx="548640" cy="548640"/>
          </a:xfrm>
          <a:prstGeom prst="ellipse">
            <a:avLst/>
          </a:prstGeom>
          <a:solidFill>
            <a:srgbClr val="1B4332"/>
          </a:solidFill>
          <a:ln w="12700">
            <a:solidFill>
              <a:srgbClr val="FFFFFF"/>
            </a:solidFill>
            <a:prstDash val="solid"/>
          </a:ln>
        </p:spPr>
      </p:sp>
      <p:sp>
        <p:nvSpPr>
          <p:cNvPr id="12" name="Text 9"/>
          <p:cNvSpPr txBox="1"/>
          <p:nvPr/>
        </p:nvSpPr>
        <p:spPr>
          <a:xfrm>
            <a:off x="1188720" y="30175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x2</a:t>
            </a:r>
            <a:endParaRPr lang="en-US" sz="1600" dirty="0"/>
          </a:p>
        </p:txBody>
      </p:sp>
      <p:sp>
        <p:nvSpPr>
          <p:cNvPr id="13" name="Text 10"/>
          <p:cNvSpPr txBox="1"/>
          <p:nvPr/>
        </p:nvSpPr>
        <p:spPr>
          <a:xfrm>
            <a:off x="2834640" y="2926080"/>
            <a:ext cx="731520" cy="320040"/>
          </a:xfrm>
          <a:prstGeom prst="rect">
            <a:avLst/>
          </a:prstGeom>
          <a:noFill/>
          <a:ln/>
        </p:spPr>
        <p:txBody>
          <a:bodyPr wrap="square" lIns="0" tIns="0" rIns="0" bIns="0" rtlCol="0" anchor="t"/>
          <a:lstStyle/>
          <a:p>
            <a:pPr indent="0" marL="0">
              <a:buNone/>
            </a:pPr>
            <a:r>
              <a:rPr lang="en-US" sz="1400" b="1" dirty="0">
                <a:solidFill>
                  <a:srgbClr val="B34700"/>
                </a:solidFill>
                <a:latin typeface="Calibri" pitchFamily="34" charset="0"/>
                <a:ea typeface="Calibri" pitchFamily="34" charset="-122"/>
                <a:cs typeface="Calibri" pitchFamily="34" charset="-120"/>
              </a:rPr>
              <a:t>w2</a:t>
            </a:r>
            <a:endParaRPr lang="en-US" sz="1400" dirty="0"/>
          </a:p>
        </p:txBody>
      </p:sp>
      <p:sp>
        <p:nvSpPr>
          <p:cNvPr id="14" name="Shape 11"/>
          <p:cNvSpPr/>
          <p:nvPr/>
        </p:nvSpPr>
        <p:spPr>
          <a:xfrm flipV="1">
            <a:off x="1737360" y="3291840"/>
            <a:ext cx="3017520" cy="1005840"/>
          </a:xfrm>
          <a:prstGeom prst="line">
            <a:avLst/>
          </a:prstGeom>
          <a:noFill/>
          <a:ln w="25400">
            <a:solidFill>
              <a:srgbClr val="55645B"/>
            </a:solidFill>
            <a:prstDash val="solid"/>
          </a:ln>
        </p:spPr>
      </p:sp>
      <p:sp>
        <p:nvSpPr>
          <p:cNvPr id="15" name="Shape 12"/>
          <p:cNvSpPr/>
          <p:nvPr/>
        </p:nvSpPr>
        <p:spPr>
          <a:xfrm>
            <a:off x="1188720" y="4023360"/>
            <a:ext cx="548640" cy="548640"/>
          </a:xfrm>
          <a:prstGeom prst="ellipse">
            <a:avLst/>
          </a:prstGeom>
          <a:solidFill>
            <a:srgbClr val="1B4332"/>
          </a:solidFill>
          <a:ln w="12700">
            <a:solidFill>
              <a:srgbClr val="FFFFFF"/>
            </a:solidFill>
            <a:prstDash val="solid"/>
          </a:ln>
        </p:spPr>
      </p:sp>
      <p:sp>
        <p:nvSpPr>
          <p:cNvPr id="16" name="Text 13"/>
          <p:cNvSpPr txBox="1"/>
          <p:nvPr/>
        </p:nvSpPr>
        <p:spPr>
          <a:xfrm>
            <a:off x="1188720" y="4023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x3</a:t>
            </a:r>
            <a:endParaRPr lang="en-US" sz="1600" dirty="0"/>
          </a:p>
        </p:txBody>
      </p:sp>
      <p:sp>
        <p:nvSpPr>
          <p:cNvPr id="17" name="Text 14"/>
          <p:cNvSpPr txBox="1"/>
          <p:nvPr/>
        </p:nvSpPr>
        <p:spPr>
          <a:xfrm>
            <a:off x="2834640" y="4023360"/>
            <a:ext cx="731520" cy="320040"/>
          </a:xfrm>
          <a:prstGeom prst="rect">
            <a:avLst/>
          </a:prstGeom>
          <a:noFill/>
          <a:ln/>
        </p:spPr>
        <p:txBody>
          <a:bodyPr wrap="square" lIns="0" tIns="0" rIns="0" bIns="0" rtlCol="0" anchor="t"/>
          <a:lstStyle/>
          <a:p>
            <a:pPr indent="0" marL="0">
              <a:buNone/>
            </a:pPr>
            <a:r>
              <a:rPr lang="en-US" sz="1400" b="1" dirty="0">
                <a:solidFill>
                  <a:srgbClr val="B34700"/>
                </a:solidFill>
                <a:latin typeface="Calibri" pitchFamily="34" charset="0"/>
                <a:ea typeface="Calibri" pitchFamily="34" charset="-122"/>
                <a:cs typeface="Calibri" pitchFamily="34" charset="-120"/>
              </a:rPr>
              <a:t>w3</a:t>
            </a:r>
            <a:endParaRPr lang="en-US" sz="1400" dirty="0"/>
          </a:p>
        </p:txBody>
      </p:sp>
      <p:sp>
        <p:nvSpPr>
          <p:cNvPr id="18" name="Shape 15"/>
          <p:cNvSpPr/>
          <p:nvPr/>
        </p:nvSpPr>
        <p:spPr>
          <a:xfrm>
            <a:off x="4754880" y="2834640"/>
            <a:ext cx="1188720" cy="914400"/>
          </a:xfrm>
          <a:prstGeom prst="roundRect">
            <a:avLst>
              <a:gd name="adj" fmla="val 10000"/>
            </a:avLst>
          </a:prstGeom>
          <a:solidFill>
            <a:srgbClr val="0B8A5B"/>
          </a:solidFill>
          <a:ln w="12700">
            <a:solidFill>
              <a:srgbClr val="0B8A5B"/>
            </a:solidFill>
            <a:prstDash val="solid"/>
          </a:ln>
        </p:spPr>
      </p:sp>
      <p:sp>
        <p:nvSpPr>
          <p:cNvPr id="19" name="Text 16"/>
          <p:cNvSpPr txBox="1"/>
          <p:nvPr/>
        </p:nvSpPr>
        <p:spPr>
          <a:xfrm>
            <a:off x="4754880" y="2834640"/>
            <a:ext cx="118872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Σ + b</a:t>
            </a:r>
            <a:endParaRPr lang="en-US" sz="2000" dirty="0"/>
          </a:p>
        </p:txBody>
      </p:sp>
      <p:sp>
        <p:nvSpPr>
          <p:cNvPr id="20" name="Shape 17"/>
          <p:cNvSpPr/>
          <p:nvPr/>
        </p:nvSpPr>
        <p:spPr>
          <a:xfrm>
            <a:off x="5989320" y="3291840"/>
            <a:ext cx="1234440" cy="0"/>
          </a:xfrm>
          <a:prstGeom prst="line">
            <a:avLst/>
          </a:prstGeom>
          <a:noFill/>
          <a:ln w="25400">
            <a:solidFill>
              <a:srgbClr val="55645B"/>
            </a:solidFill>
            <a:prstDash val="solid"/>
          </a:ln>
        </p:spPr>
      </p:sp>
      <p:sp>
        <p:nvSpPr>
          <p:cNvPr id="21" name="Shape 18"/>
          <p:cNvSpPr/>
          <p:nvPr/>
        </p:nvSpPr>
        <p:spPr>
          <a:xfrm>
            <a:off x="7315200" y="2834640"/>
            <a:ext cx="1097280" cy="914400"/>
          </a:xfrm>
          <a:prstGeom prst="roundRect">
            <a:avLst>
              <a:gd name="adj" fmla="val 10000"/>
            </a:avLst>
          </a:prstGeom>
          <a:solidFill>
            <a:srgbClr val="FF7A2F"/>
          </a:solidFill>
          <a:ln w="12700">
            <a:solidFill>
              <a:srgbClr val="FF7A2F"/>
            </a:solidFill>
            <a:prstDash val="solid"/>
          </a:ln>
        </p:spPr>
      </p:sp>
      <p:sp>
        <p:nvSpPr>
          <p:cNvPr id="22" name="Text 19"/>
          <p:cNvSpPr txBox="1"/>
          <p:nvPr/>
        </p:nvSpPr>
        <p:spPr>
          <a:xfrm>
            <a:off x="7315200" y="2834640"/>
            <a:ext cx="1097280" cy="914400"/>
          </a:xfrm>
          <a:prstGeom prst="rect">
            <a:avLst/>
          </a:prstGeom>
          <a:noFill/>
          <a:ln/>
        </p:spPr>
        <p:txBody>
          <a:bodyPr wrap="square" lIns="0" tIns="0" rIns="0" bIns="0" rtlCol="0" anchor="ctr"/>
          <a:lstStyle/>
          <a:p>
            <a:pPr algn="ctr" indent="0" marL="0">
              <a:buNone/>
            </a:pPr>
            <a:r>
              <a:rPr lang="en-US" sz="2000" b="1" dirty="0">
                <a:solidFill>
                  <a:srgbClr val="0B1A12"/>
                </a:solidFill>
                <a:latin typeface="Calibri" pitchFamily="34" charset="0"/>
                <a:ea typeface="Calibri" pitchFamily="34" charset="-122"/>
                <a:cs typeface="Calibri" pitchFamily="34" charset="-120"/>
              </a:rPr>
              <a:t>f(z)</a:t>
            </a:r>
            <a:endParaRPr lang="en-US" sz="2000" dirty="0"/>
          </a:p>
        </p:txBody>
      </p:sp>
      <p:sp>
        <p:nvSpPr>
          <p:cNvPr id="23" name="Shape 20"/>
          <p:cNvSpPr/>
          <p:nvPr/>
        </p:nvSpPr>
        <p:spPr>
          <a:xfrm>
            <a:off x="8458200" y="3291840"/>
            <a:ext cx="685800" cy="0"/>
          </a:xfrm>
          <a:prstGeom prst="line">
            <a:avLst/>
          </a:prstGeom>
          <a:noFill/>
          <a:ln w="25400">
            <a:solidFill>
              <a:srgbClr val="55645B"/>
            </a:solidFill>
            <a:prstDash val="solid"/>
          </a:ln>
        </p:spPr>
      </p:sp>
      <p:sp>
        <p:nvSpPr>
          <p:cNvPr id="24" name="Text 21"/>
          <p:cNvSpPr txBox="1"/>
          <p:nvPr/>
        </p:nvSpPr>
        <p:spPr>
          <a:xfrm>
            <a:off x="9189720" y="2926080"/>
            <a:ext cx="548640" cy="731520"/>
          </a:xfrm>
          <a:prstGeom prst="rect">
            <a:avLst/>
          </a:prstGeom>
          <a:noFill/>
          <a:ln/>
        </p:spPr>
        <p:txBody>
          <a:bodyPr wrap="square" lIns="0" tIns="0" rIns="0" bIns="0" rtlCol="0" anchor="ctr"/>
          <a:lstStyle/>
          <a:p>
            <a:pPr indent="0" marL="0">
              <a:buNone/>
            </a:pPr>
            <a:r>
              <a:rPr lang="en-US" sz="3000" b="1" i="1" dirty="0">
                <a:solidFill>
                  <a:srgbClr val="0B1A12"/>
                </a:solidFill>
                <a:latin typeface="Cambria" pitchFamily="34" charset="0"/>
                <a:ea typeface="Cambria" pitchFamily="34" charset="-122"/>
                <a:cs typeface="Cambria" pitchFamily="34" charset="-120"/>
              </a:rPr>
              <a:t>ŷ</a:t>
            </a:r>
            <a:endParaRPr lang="en-US" sz="3000" dirty="0"/>
          </a:p>
        </p:txBody>
      </p:sp>
      <p:sp>
        <p:nvSpPr>
          <p:cNvPr id="25" name="Shape 22"/>
          <p:cNvSpPr/>
          <p:nvPr/>
        </p:nvSpPr>
        <p:spPr>
          <a:xfrm>
            <a:off x="8321040" y="1783080"/>
            <a:ext cx="3227832" cy="914400"/>
          </a:xfrm>
          <a:prstGeom prst="roundRect">
            <a:avLst>
              <a:gd name="adj" fmla="val 12000"/>
            </a:avLst>
          </a:prstGeom>
          <a:solidFill>
            <a:srgbClr val="0F2A1D"/>
          </a:solidFill>
          <a:ln w="12700">
            <a:solidFill>
              <a:srgbClr val="0F2A1D"/>
            </a:solidFill>
            <a:prstDash val="solid"/>
          </a:ln>
        </p:spPr>
      </p:sp>
      <p:sp>
        <p:nvSpPr>
          <p:cNvPr id="26" name="Text 23"/>
          <p:cNvSpPr txBox="1"/>
          <p:nvPr/>
        </p:nvSpPr>
        <p:spPr>
          <a:xfrm>
            <a:off x="8321040" y="1783080"/>
            <a:ext cx="3227832" cy="91440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ŷ = f(w·x + b)</a:t>
            </a:r>
            <a:endParaRPr lang="en-US" sz="2200" dirty="0"/>
          </a:p>
        </p:txBody>
      </p:sp>
      <p:sp>
        <p:nvSpPr>
          <p:cNvPr id="27" name="Shape 24"/>
          <p:cNvSpPr/>
          <p:nvPr/>
        </p:nvSpPr>
        <p:spPr>
          <a:xfrm>
            <a:off x="640080" y="5074920"/>
            <a:ext cx="3493008" cy="1051560"/>
          </a:xfrm>
          <a:prstGeom prst="roundRect">
            <a:avLst>
              <a:gd name="adj" fmla="val 10435"/>
            </a:avLst>
          </a:prstGeom>
          <a:solidFill>
            <a:srgbClr val="F1F6F3"/>
          </a:solidFill>
          <a:ln w="12700">
            <a:solidFill>
              <a:srgbClr val="F1F6F3"/>
            </a:solidFill>
            <a:prstDash val="solid"/>
          </a:ln>
        </p:spPr>
      </p:sp>
      <p:sp>
        <p:nvSpPr>
          <p:cNvPr id="28" name="Text 25"/>
          <p:cNvSpPr txBox="1"/>
          <p:nvPr/>
        </p:nvSpPr>
        <p:spPr>
          <a:xfrm>
            <a:off x="868680" y="5074920"/>
            <a:ext cx="3108960" cy="105156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Pesos w  </a:t>
            </a:r>
            <a:pPr indent="0" marL="0">
              <a:buNone/>
            </a:pPr>
            <a:r>
              <a:rPr lang="en-US" sz="1300" dirty="0">
                <a:solidFill>
                  <a:srgbClr val="0B1A12"/>
                </a:solidFill>
                <a:latin typeface="Calibri" pitchFamily="34" charset="0"/>
                <a:ea typeface="Calibri" pitchFamily="34" charset="-122"/>
                <a:cs typeface="Calibri" pitchFamily="34" charset="-120"/>
              </a:rPr>
              <a:t>Quanto cada entrada importa. É o que a rede aprende.</a:t>
            </a:r>
            <a:endParaRPr lang="en-US" sz="1400" dirty="0"/>
          </a:p>
        </p:txBody>
      </p:sp>
      <p:sp>
        <p:nvSpPr>
          <p:cNvPr id="29" name="Shape 26"/>
          <p:cNvSpPr/>
          <p:nvPr/>
        </p:nvSpPr>
        <p:spPr>
          <a:xfrm>
            <a:off x="4347972" y="5074920"/>
            <a:ext cx="3493008" cy="1051560"/>
          </a:xfrm>
          <a:prstGeom prst="roundRect">
            <a:avLst>
              <a:gd name="adj" fmla="val 10435"/>
            </a:avLst>
          </a:prstGeom>
          <a:solidFill>
            <a:srgbClr val="F1F6F3"/>
          </a:solidFill>
          <a:ln w="12700">
            <a:solidFill>
              <a:srgbClr val="F1F6F3"/>
            </a:solidFill>
            <a:prstDash val="solid"/>
          </a:ln>
        </p:spPr>
      </p:sp>
      <p:sp>
        <p:nvSpPr>
          <p:cNvPr id="30" name="Text 27"/>
          <p:cNvSpPr txBox="1"/>
          <p:nvPr/>
        </p:nvSpPr>
        <p:spPr>
          <a:xfrm>
            <a:off x="4576572" y="5074920"/>
            <a:ext cx="3108960" cy="105156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Viés (bias) b  </a:t>
            </a:r>
            <a:pPr indent="0" marL="0">
              <a:buNone/>
            </a:pPr>
            <a:r>
              <a:rPr lang="en-US" sz="1300" dirty="0">
                <a:solidFill>
                  <a:srgbClr val="0B1A12"/>
                </a:solidFill>
                <a:latin typeface="Calibri" pitchFamily="34" charset="0"/>
                <a:ea typeface="Calibri" pitchFamily="34" charset="-122"/>
                <a:cs typeface="Calibri" pitchFamily="34" charset="-120"/>
              </a:rPr>
              <a:t>Desloca o limiar de ativação do neurônio.</a:t>
            </a:r>
            <a:endParaRPr lang="en-US" sz="1400" dirty="0"/>
          </a:p>
        </p:txBody>
      </p:sp>
      <p:sp>
        <p:nvSpPr>
          <p:cNvPr id="31" name="Shape 28"/>
          <p:cNvSpPr/>
          <p:nvPr/>
        </p:nvSpPr>
        <p:spPr>
          <a:xfrm>
            <a:off x="8055864" y="5074920"/>
            <a:ext cx="3493008" cy="1051560"/>
          </a:xfrm>
          <a:prstGeom prst="roundRect">
            <a:avLst>
              <a:gd name="adj" fmla="val 10435"/>
            </a:avLst>
          </a:prstGeom>
          <a:solidFill>
            <a:srgbClr val="F1F6F3"/>
          </a:solidFill>
          <a:ln w="12700">
            <a:solidFill>
              <a:srgbClr val="F1F6F3"/>
            </a:solidFill>
            <a:prstDash val="solid"/>
          </a:ln>
        </p:spPr>
      </p:sp>
      <p:sp>
        <p:nvSpPr>
          <p:cNvPr id="32" name="Text 29"/>
          <p:cNvSpPr txBox="1"/>
          <p:nvPr/>
        </p:nvSpPr>
        <p:spPr>
          <a:xfrm>
            <a:off x="8284464" y="5074920"/>
            <a:ext cx="3108960" cy="105156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Ativação f  </a:t>
            </a:r>
            <a:pPr indent="0" marL="0">
              <a:buNone/>
            </a:pPr>
            <a:r>
              <a:rPr lang="en-US" sz="1300" dirty="0">
                <a:solidFill>
                  <a:srgbClr val="0B1A12"/>
                </a:solidFill>
                <a:latin typeface="Calibri" pitchFamily="34" charset="0"/>
                <a:ea typeface="Calibri" pitchFamily="34" charset="-122"/>
                <a:cs typeface="Calibri" pitchFamily="34" charset="-120"/>
              </a:rPr>
              <a:t>Introduz a não linearidade.</a:t>
            </a:r>
            <a:endParaRPr lang="en-US" sz="1400" dirty="0"/>
          </a:p>
        </p:txBody>
      </p:sp>
      <p:sp>
        <p:nvSpPr>
          <p:cNvPr id="33" name="Text 3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4" name="Text 3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O NEURÔNIO · PRÁTICA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Um neurônio que calcula AND e OR</a:t>
            </a:r>
            <a:endParaRPr lang="en-US" sz="3000" dirty="0"/>
          </a:p>
        </p:txBody>
      </p:sp>
      <p:sp>
        <p:nvSpPr>
          <p:cNvPr id="6" name="Shape 3"/>
          <p:cNvSpPr/>
          <p:nvPr/>
        </p:nvSpPr>
        <p:spPr>
          <a:xfrm>
            <a:off x="640080" y="1783080"/>
            <a:ext cx="7223760" cy="3208020"/>
          </a:xfrm>
          <a:prstGeom prst="roundRect">
            <a:avLst>
              <a:gd name="adj" fmla="val 3420"/>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61264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neuronio.py</a:t>
            </a:r>
            <a:endParaRPr lang="en-US" sz="1100" dirty="0"/>
          </a:p>
        </p:txBody>
      </p:sp>
      <p:sp>
        <p:nvSpPr>
          <p:cNvPr id="11" name="Text 8"/>
          <p:cNvSpPr txBox="1"/>
          <p:nvPr/>
        </p:nvSpPr>
        <p:spPr>
          <a:xfrm>
            <a:off x="914400" y="2286000"/>
            <a:ext cx="667512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import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numpy</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as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endParaRPr lang="en-US" sz="1300" dirty="0"/>
          </a:p>
        </p:txBody>
      </p:sp>
      <p:sp>
        <p:nvSpPr>
          <p:cNvPr id="12" name="Text 9"/>
          <p:cNvSpPr txBox="1"/>
          <p:nvPr/>
        </p:nvSpPr>
        <p:spPr>
          <a:xfrm>
            <a:off x="914400" y="2781300"/>
            <a:ext cx="667512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neuronio</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w</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b</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3" name="Text 10"/>
          <p:cNvSpPr txBox="1"/>
          <p:nvPr/>
        </p:nvSpPr>
        <p:spPr>
          <a:xfrm>
            <a:off x="914400" y="3028950"/>
            <a:ext cx="667512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dot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w</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b</a:t>
            </a:r>
            <a:endParaRPr lang="en-US" sz="1300" dirty="0"/>
          </a:p>
        </p:txBody>
      </p:sp>
      <p:sp>
        <p:nvSpPr>
          <p:cNvPr id="14" name="Text 11"/>
          <p:cNvSpPr txBox="1"/>
          <p:nvPr/>
        </p:nvSpPr>
        <p:spPr>
          <a:xfrm>
            <a:off x="914400" y="3276600"/>
            <a:ext cx="667512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if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&gt;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else</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endParaRPr lang="en-US" sz="1300" dirty="0"/>
          </a:p>
        </p:txBody>
      </p:sp>
      <p:sp>
        <p:nvSpPr>
          <p:cNvPr id="15" name="Text 12"/>
          <p:cNvSpPr txBox="1"/>
          <p:nvPr/>
        </p:nvSpPr>
        <p:spPr>
          <a:xfrm>
            <a:off x="914400" y="3771900"/>
            <a:ext cx="667512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w</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array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6" name="Text 13"/>
          <p:cNvSpPr txBox="1"/>
          <p:nvPr/>
        </p:nvSpPr>
        <p:spPr>
          <a:xfrm>
            <a:off x="914400" y="4019550"/>
            <a:ext cx="667512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entradas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7" name="Text 14"/>
          <p:cNvSpPr txBox="1"/>
          <p:nvPr/>
        </p:nvSpPr>
        <p:spPr>
          <a:xfrm>
            <a:off x="914400" y="4267200"/>
            <a:ext cx="6675120" cy="247650"/>
          </a:xfrm>
          <a:prstGeom prst="rect">
            <a:avLst/>
          </a:prstGeom>
          <a:noFill/>
          <a:ln/>
        </p:spPr>
        <p:txBody>
          <a:bodyPr wrap="none" lIns="0" tIns="0" rIns="0" bIns="0" rtlCol="0" anchor="ctr"/>
          <a:lstStyle/>
          <a:p>
            <a:pPr indent="0" marL="0">
              <a:buNone/>
            </a:pPr>
            <a:r>
              <a:rPr lang="en-US" sz="1300" dirty="0">
                <a:solidFill>
                  <a:srgbClr val="8CC8FF"/>
                </a:solidFill>
                <a:latin typeface="Courier New" pitchFamily="34" charset="0"/>
                <a:ea typeface="Courier New" pitchFamily="34" charset="-122"/>
                <a:cs typeface="Courier New" pitchFamily="34" charset="-120"/>
              </a:rPr>
              <a:t>print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"AND:"</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neuronio</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array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w</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1.5</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for</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in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entradas</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8" name="Text 15"/>
          <p:cNvSpPr txBox="1"/>
          <p:nvPr/>
        </p:nvSpPr>
        <p:spPr>
          <a:xfrm>
            <a:off x="914400" y="4514850"/>
            <a:ext cx="6675120" cy="247650"/>
          </a:xfrm>
          <a:prstGeom prst="rect">
            <a:avLst/>
          </a:prstGeom>
          <a:noFill/>
          <a:ln/>
        </p:spPr>
        <p:txBody>
          <a:bodyPr wrap="none" lIns="0" tIns="0" rIns="0" bIns="0" rtlCol="0" anchor="ctr"/>
          <a:lstStyle/>
          <a:p>
            <a:pPr indent="0" marL="0">
              <a:buNone/>
            </a:pPr>
            <a:r>
              <a:rPr lang="en-US" sz="1300" dirty="0">
                <a:solidFill>
                  <a:srgbClr val="8CC8FF"/>
                </a:solidFill>
                <a:latin typeface="Courier New" pitchFamily="34" charset="0"/>
                <a:ea typeface="Courier New" pitchFamily="34" charset="-122"/>
                <a:cs typeface="Courier New" pitchFamily="34" charset="-120"/>
              </a:rPr>
              <a:t>print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"OR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neuronio</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array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w</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0.5</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for</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in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entradas</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9" name="Shape 16"/>
          <p:cNvSpPr/>
          <p:nvPr/>
        </p:nvSpPr>
        <p:spPr>
          <a:xfrm>
            <a:off x="8074152" y="1783080"/>
            <a:ext cx="3474720" cy="1226820"/>
          </a:xfrm>
          <a:prstGeom prst="roundRect">
            <a:avLst>
              <a:gd name="adj" fmla="val 8944"/>
            </a:avLst>
          </a:prstGeom>
          <a:solidFill>
            <a:srgbClr val="0A1B13"/>
          </a:solidFill>
          <a:ln w="12700">
            <a:solidFill>
              <a:srgbClr val="0A1B13"/>
            </a:solidFill>
            <a:prstDash val="solid"/>
          </a:ln>
        </p:spPr>
      </p:sp>
      <p:sp>
        <p:nvSpPr>
          <p:cNvPr id="20" name="Shape 17"/>
          <p:cNvSpPr/>
          <p:nvPr/>
        </p:nvSpPr>
        <p:spPr>
          <a:xfrm>
            <a:off x="8275320" y="1965960"/>
            <a:ext cx="118872" cy="118872"/>
          </a:xfrm>
          <a:prstGeom prst="ellipse">
            <a:avLst/>
          </a:prstGeom>
          <a:solidFill>
            <a:srgbClr val="D6336C"/>
          </a:solidFill>
          <a:ln w="12700">
            <a:solidFill>
              <a:srgbClr val="D6336C"/>
            </a:solidFill>
            <a:prstDash val="solid"/>
          </a:ln>
        </p:spPr>
      </p:sp>
      <p:sp>
        <p:nvSpPr>
          <p:cNvPr id="21" name="Shape 18"/>
          <p:cNvSpPr/>
          <p:nvPr/>
        </p:nvSpPr>
        <p:spPr>
          <a:xfrm>
            <a:off x="8476488" y="1965960"/>
            <a:ext cx="118872" cy="118872"/>
          </a:xfrm>
          <a:prstGeom prst="ellipse">
            <a:avLst/>
          </a:prstGeom>
          <a:solidFill>
            <a:srgbClr val="FF7A2F"/>
          </a:solidFill>
          <a:ln w="12700">
            <a:solidFill>
              <a:srgbClr val="FF7A2F"/>
            </a:solidFill>
            <a:prstDash val="solid"/>
          </a:ln>
        </p:spPr>
      </p:sp>
      <p:sp>
        <p:nvSpPr>
          <p:cNvPr id="22" name="Shape 19"/>
          <p:cNvSpPr/>
          <p:nvPr/>
        </p:nvSpPr>
        <p:spPr>
          <a:xfrm>
            <a:off x="8677656" y="1965960"/>
            <a:ext cx="118872" cy="118872"/>
          </a:xfrm>
          <a:prstGeom prst="ellipse">
            <a:avLst/>
          </a:prstGeom>
          <a:solidFill>
            <a:srgbClr val="5FE3A1"/>
          </a:solidFill>
          <a:ln w="12700">
            <a:solidFill>
              <a:srgbClr val="5FE3A1"/>
            </a:solidFill>
            <a:prstDash val="solid"/>
          </a:ln>
        </p:spPr>
      </p:sp>
      <p:sp>
        <p:nvSpPr>
          <p:cNvPr id="23" name="Text 20"/>
          <p:cNvSpPr txBox="1"/>
          <p:nvPr/>
        </p:nvSpPr>
        <p:spPr>
          <a:xfrm>
            <a:off x="8988552" y="1901952"/>
            <a:ext cx="237744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Saída</a:t>
            </a:r>
            <a:endParaRPr lang="en-US" sz="1100" dirty="0"/>
          </a:p>
        </p:txBody>
      </p:sp>
      <p:sp>
        <p:nvSpPr>
          <p:cNvPr id="24" name="Text 21"/>
          <p:cNvSpPr txBox="1"/>
          <p:nvPr/>
        </p:nvSpPr>
        <p:spPr>
          <a:xfrm>
            <a:off x="8348472" y="2286000"/>
            <a:ext cx="292608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AND: [0, 0, 0, 1]</a:t>
            </a:r>
            <a:endParaRPr lang="en-US" sz="1300" dirty="0"/>
          </a:p>
        </p:txBody>
      </p:sp>
      <p:sp>
        <p:nvSpPr>
          <p:cNvPr id="25" name="Text 22"/>
          <p:cNvSpPr txBox="1"/>
          <p:nvPr/>
        </p:nvSpPr>
        <p:spPr>
          <a:xfrm>
            <a:off x="8348472" y="2533650"/>
            <a:ext cx="292608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OR : [0, 1, 1, 1]</a:t>
            </a:r>
            <a:endParaRPr lang="en-US" sz="1300" dirty="0"/>
          </a:p>
        </p:txBody>
      </p:sp>
      <p:sp>
        <p:nvSpPr>
          <p:cNvPr id="26" name="Shape 23"/>
          <p:cNvSpPr/>
          <p:nvPr/>
        </p:nvSpPr>
        <p:spPr>
          <a:xfrm>
            <a:off x="640080" y="5219700"/>
            <a:ext cx="10911535" cy="906780"/>
          </a:xfrm>
          <a:prstGeom prst="roundRect">
            <a:avLst>
              <a:gd name="adj" fmla="val 12101"/>
            </a:avLst>
          </a:prstGeom>
          <a:solidFill>
            <a:srgbClr val="FFEBDD"/>
          </a:solidFill>
          <a:ln w="12700">
            <a:solidFill>
              <a:srgbClr val="FFEBDD"/>
            </a:solidFill>
            <a:prstDash val="solid"/>
          </a:ln>
        </p:spPr>
      </p:sp>
      <p:sp>
        <p:nvSpPr>
          <p:cNvPr id="27" name="Text 24"/>
          <p:cNvSpPr txBox="1"/>
          <p:nvPr/>
        </p:nvSpPr>
        <p:spPr>
          <a:xfrm>
            <a:off x="914400" y="5219700"/>
            <a:ext cx="10362895" cy="90678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Os mesmos pesos (1 e 1) fazem AND ou OR: só o viés muda. Com b = −1,5 só dispara quando x1 + x2 ≥ 1,5, isto é, quando os dois valem 1. Com b = −0,5, basta um. Aqui os pesos foram escolhidos à mão; o perceptron vai aprendê-los.</a:t>
            </a:r>
            <a:endParaRPr lang="en-US" sz="1400" dirty="0"/>
          </a:p>
        </p:txBody>
      </p:sp>
      <p:sp>
        <p:nvSpPr>
          <p:cNvPr id="28" name="Text 25"/>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9" name="Text 26"/>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ATIVAÇÃO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Funções de ativação: a não linearidade da rede</a:t>
            </a:r>
            <a:endParaRPr lang="en-US" sz="3000" dirty="0"/>
          </a:p>
        </p:txBody>
      </p:sp>
      <p:sp>
        <p:nvSpPr>
          <p:cNvPr id="6" name="Shape 3"/>
          <p:cNvSpPr/>
          <p:nvPr/>
        </p:nvSpPr>
        <p:spPr>
          <a:xfrm>
            <a:off x="640080" y="1783080"/>
            <a:ext cx="6675120" cy="4343400"/>
          </a:xfrm>
          <a:prstGeom prst="roundRect">
            <a:avLst>
              <a:gd name="adj" fmla="val 2526"/>
            </a:avLst>
          </a:prstGeom>
          <a:solidFill>
            <a:srgbClr val="F1F6F3"/>
          </a:solidFill>
          <a:ln w="12700">
            <a:solidFill>
              <a:srgbClr val="F1F6F3"/>
            </a:solidFill>
            <a:prstDash val="solid"/>
          </a:ln>
        </p:spPr>
      </p:sp>
      <p:graphicFrame>
        <p:nvGraphicFramePr>
          <p:cNvPr id="7" name="Chart 0" descr=""/>
          <p:cNvGraphicFramePr/>
          <p:nvPr/>
        </p:nvGraphicFramePr>
        <p:xfrm>
          <a:off x="731520" y="1874520"/>
          <a:ext cx="6492240" cy="41605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498080" y="1783080"/>
            <a:ext cx="4050792" cy="2057400"/>
          </a:xfrm>
          <a:prstGeom prst="roundRect">
            <a:avLst>
              <a:gd name="adj" fmla="val 5333"/>
            </a:avLst>
          </a:prstGeom>
          <a:solidFill>
            <a:srgbClr val="F1F6F3"/>
          </a:solidFill>
          <a:ln w="12700">
            <a:solidFill>
              <a:srgbClr val="F1F6F3"/>
            </a:solidFill>
            <a:prstDash val="solid"/>
          </a:ln>
        </p:spPr>
      </p:sp>
      <p:sp>
        <p:nvSpPr>
          <p:cNvPr id="9" name="Text 5"/>
          <p:cNvSpPr txBox="1"/>
          <p:nvPr/>
        </p:nvSpPr>
        <p:spPr>
          <a:xfrm>
            <a:off x="7680960" y="1874520"/>
            <a:ext cx="3657600" cy="41148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Sem ativação</a:t>
            </a:r>
            <a:endParaRPr lang="en-US" sz="1600" dirty="0"/>
          </a:p>
        </p:txBody>
      </p:sp>
      <p:sp>
        <p:nvSpPr>
          <p:cNvPr id="10" name="Text 6"/>
          <p:cNvSpPr txBox="1"/>
          <p:nvPr/>
        </p:nvSpPr>
        <p:spPr>
          <a:xfrm>
            <a:off x="7680960" y="2331720"/>
            <a:ext cx="3703320" cy="14630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Várias camadas lineares equivalem a uma só. Sem não linearidade, a rede não ganha poder.</a:t>
            </a:r>
            <a:endParaRPr lang="en-US" sz="1400" dirty="0"/>
          </a:p>
        </p:txBody>
      </p:sp>
      <p:sp>
        <p:nvSpPr>
          <p:cNvPr id="11" name="Shape 7"/>
          <p:cNvSpPr/>
          <p:nvPr/>
        </p:nvSpPr>
        <p:spPr>
          <a:xfrm>
            <a:off x="7498080" y="3977640"/>
            <a:ext cx="4050792" cy="2057400"/>
          </a:xfrm>
          <a:prstGeom prst="roundRect">
            <a:avLst>
              <a:gd name="adj" fmla="val 5333"/>
            </a:avLst>
          </a:prstGeom>
          <a:solidFill>
            <a:srgbClr val="FFEBDD"/>
          </a:solidFill>
          <a:ln w="12700">
            <a:solidFill>
              <a:srgbClr val="FFEBDD"/>
            </a:solidFill>
            <a:prstDash val="solid"/>
          </a:ln>
        </p:spPr>
      </p:sp>
      <p:sp>
        <p:nvSpPr>
          <p:cNvPr id="12" name="Text 8"/>
          <p:cNvSpPr txBox="1"/>
          <p:nvPr/>
        </p:nvSpPr>
        <p:spPr>
          <a:xfrm>
            <a:off x="7680960" y="4069080"/>
            <a:ext cx="3657600" cy="411480"/>
          </a:xfrm>
          <a:prstGeom prst="rect">
            <a:avLst/>
          </a:prstGeom>
          <a:noFill/>
          <a:ln/>
        </p:spPr>
        <p:txBody>
          <a:bodyPr wrap="square" lIns="0" tIns="0" rIns="0" bIns="0" rtlCol="0" anchor="ctr"/>
          <a:lstStyle/>
          <a:p>
            <a:pPr indent="0" marL="0">
              <a:buNone/>
            </a:pPr>
            <a:r>
              <a:rPr lang="en-US" sz="1600" b="1" dirty="0">
                <a:solidFill>
                  <a:srgbClr val="B34700"/>
                </a:solidFill>
                <a:latin typeface="Cambria" pitchFamily="34" charset="0"/>
                <a:ea typeface="Cambria" pitchFamily="34" charset="-122"/>
                <a:cs typeface="Cambria" pitchFamily="34" charset="-120"/>
              </a:rPr>
              <a:t>Escolha</a:t>
            </a:r>
            <a:endParaRPr lang="en-US" sz="1600" dirty="0"/>
          </a:p>
        </p:txBody>
      </p:sp>
      <p:sp>
        <p:nvSpPr>
          <p:cNvPr id="13" name="Text 9"/>
          <p:cNvSpPr txBox="1"/>
          <p:nvPr/>
        </p:nvSpPr>
        <p:spPr>
          <a:xfrm>
            <a:off x="7680960" y="4526280"/>
            <a:ext cx="3703320" cy="14630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Sigmoide e tanh saturam nas pontas; a ReLU é simples e muito usada nas camadas ocultas.</a:t>
            </a:r>
            <a:endParaRPr lang="en-US" sz="1400" dirty="0"/>
          </a:p>
        </p:txBody>
      </p:sp>
      <p:sp>
        <p:nvSpPr>
          <p:cNvPr id="14" name="Text 1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15" name="Text 1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ATIVAÇÃO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As quatro ativações mais comuns</a:t>
            </a:r>
            <a:endParaRPr lang="en-US" sz="3000" dirty="0"/>
          </a:p>
        </p:txBody>
      </p:sp>
      <p:sp>
        <p:nvSpPr>
          <p:cNvPr id="6" name="Shape 3"/>
          <p:cNvSpPr/>
          <p:nvPr/>
        </p:nvSpPr>
        <p:spPr>
          <a:xfrm>
            <a:off x="640080" y="1783080"/>
            <a:ext cx="10908792"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1554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Nome</a:t>
            </a:r>
            <a:endParaRPr lang="en-US" sz="1200" dirty="0"/>
          </a:p>
        </p:txBody>
      </p:sp>
      <p:sp>
        <p:nvSpPr>
          <p:cNvPr id="8" name="Text 5"/>
          <p:cNvSpPr txBox="1"/>
          <p:nvPr/>
        </p:nvSpPr>
        <p:spPr>
          <a:xfrm>
            <a:off x="2487168" y="1783080"/>
            <a:ext cx="25603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Fórmula</a:t>
            </a:r>
            <a:endParaRPr lang="en-US" sz="1200" dirty="0"/>
          </a:p>
        </p:txBody>
      </p:sp>
      <p:sp>
        <p:nvSpPr>
          <p:cNvPr id="9" name="Text 6"/>
          <p:cNvSpPr txBox="1"/>
          <p:nvPr/>
        </p:nvSpPr>
        <p:spPr>
          <a:xfrm>
            <a:off x="5230368" y="1783080"/>
            <a:ext cx="14630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Saída</a:t>
            </a:r>
            <a:endParaRPr lang="en-US" sz="1200" dirty="0"/>
          </a:p>
        </p:txBody>
      </p:sp>
      <p:sp>
        <p:nvSpPr>
          <p:cNvPr id="10" name="Text 7"/>
          <p:cNvSpPr txBox="1"/>
          <p:nvPr/>
        </p:nvSpPr>
        <p:spPr>
          <a:xfrm>
            <a:off x="6876288" y="1783080"/>
            <a:ext cx="1920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Derivada</a:t>
            </a:r>
            <a:endParaRPr lang="en-US" sz="1200" dirty="0"/>
          </a:p>
        </p:txBody>
      </p:sp>
      <p:sp>
        <p:nvSpPr>
          <p:cNvPr id="11" name="Text 8"/>
          <p:cNvSpPr txBox="1"/>
          <p:nvPr/>
        </p:nvSpPr>
        <p:spPr>
          <a:xfrm>
            <a:off x="8979408" y="1783080"/>
            <a:ext cx="2496312"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Uso típico</a:t>
            </a:r>
            <a:endParaRPr lang="en-US" sz="1200" dirty="0"/>
          </a:p>
        </p:txBody>
      </p:sp>
      <p:sp>
        <p:nvSpPr>
          <p:cNvPr id="12" name="Shape 9"/>
          <p:cNvSpPr/>
          <p:nvPr/>
        </p:nvSpPr>
        <p:spPr>
          <a:xfrm>
            <a:off x="640080" y="2313432"/>
            <a:ext cx="10908792" cy="585216"/>
          </a:xfrm>
          <a:prstGeom prst="roundRect">
            <a:avLst>
              <a:gd name="adj" fmla="val 12500"/>
            </a:avLst>
          </a:prstGeom>
          <a:solidFill>
            <a:srgbClr val="F1F6F3"/>
          </a:solidFill>
          <a:ln w="12700">
            <a:solidFill>
              <a:srgbClr val="F1F6F3"/>
            </a:solidFill>
            <a:prstDash val="solid"/>
          </a:ln>
        </p:spPr>
      </p:sp>
      <p:sp>
        <p:nvSpPr>
          <p:cNvPr id="13" name="Text 10"/>
          <p:cNvSpPr txBox="1"/>
          <p:nvPr/>
        </p:nvSpPr>
        <p:spPr>
          <a:xfrm>
            <a:off x="749808" y="2313432"/>
            <a:ext cx="1554480" cy="58521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Degrau</a:t>
            </a:r>
            <a:endParaRPr lang="en-US" sz="1200" dirty="0"/>
          </a:p>
        </p:txBody>
      </p:sp>
      <p:sp>
        <p:nvSpPr>
          <p:cNvPr id="14" name="Text 11"/>
          <p:cNvSpPr txBox="1"/>
          <p:nvPr/>
        </p:nvSpPr>
        <p:spPr>
          <a:xfrm>
            <a:off x="2487168" y="2313432"/>
            <a:ext cx="256032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1 se z ≥ 0, senão 0</a:t>
            </a:r>
            <a:endParaRPr lang="en-US" sz="1100" dirty="0"/>
          </a:p>
        </p:txBody>
      </p:sp>
      <p:sp>
        <p:nvSpPr>
          <p:cNvPr id="15" name="Text 12"/>
          <p:cNvSpPr txBox="1"/>
          <p:nvPr/>
        </p:nvSpPr>
        <p:spPr>
          <a:xfrm>
            <a:off x="5230368" y="2313432"/>
            <a:ext cx="14630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 ou 1</a:t>
            </a:r>
            <a:endParaRPr lang="en-US" sz="1100" dirty="0"/>
          </a:p>
        </p:txBody>
      </p:sp>
      <p:sp>
        <p:nvSpPr>
          <p:cNvPr id="16" name="Text 13"/>
          <p:cNvSpPr txBox="1"/>
          <p:nvPr/>
        </p:nvSpPr>
        <p:spPr>
          <a:xfrm>
            <a:off x="6876288" y="2313432"/>
            <a:ext cx="19202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 (não serve)</a:t>
            </a:r>
            <a:endParaRPr lang="en-US" sz="1100" dirty="0"/>
          </a:p>
        </p:txBody>
      </p:sp>
      <p:sp>
        <p:nvSpPr>
          <p:cNvPr id="17" name="Text 14"/>
          <p:cNvSpPr txBox="1"/>
          <p:nvPr/>
        </p:nvSpPr>
        <p:spPr>
          <a:xfrm>
            <a:off x="8979408" y="2313432"/>
            <a:ext cx="2496312" cy="5852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Perceptron clássico</a:t>
            </a:r>
            <a:endParaRPr lang="en-US" sz="1200" dirty="0"/>
          </a:p>
        </p:txBody>
      </p:sp>
      <p:sp>
        <p:nvSpPr>
          <p:cNvPr id="18" name="Shape 15"/>
          <p:cNvSpPr/>
          <p:nvPr/>
        </p:nvSpPr>
        <p:spPr>
          <a:xfrm>
            <a:off x="640080" y="2953512"/>
            <a:ext cx="10908792" cy="585216"/>
          </a:xfrm>
          <a:prstGeom prst="roundRect">
            <a:avLst>
              <a:gd name="adj" fmla="val 12500"/>
            </a:avLst>
          </a:prstGeom>
          <a:solidFill>
            <a:srgbClr val="E6EEE9"/>
          </a:solidFill>
          <a:ln w="12700">
            <a:solidFill>
              <a:srgbClr val="E6EEE9"/>
            </a:solidFill>
            <a:prstDash val="solid"/>
          </a:ln>
        </p:spPr>
      </p:sp>
      <p:sp>
        <p:nvSpPr>
          <p:cNvPr id="19" name="Text 16"/>
          <p:cNvSpPr txBox="1"/>
          <p:nvPr/>
        </p:nvSpPr>
        <p:spPr>
          <a:xfrm>
            <a:off x="749808" y="2953512"/>
            <a:ext cx="1554480" cy="58521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Sigmoide</a:t>
            </a:r>
            <a:endParaRPr lang="en-US" sz="1200" dirty="0"/>
          </a:p>
        </p:txBody>
      </p:sp>
      <p:sp>
        <p:nvSpPr>
          <p:cNvPr id="20" name="Text 17"/>
          <p:cNvSpPr txBox="1"/>
          <p:nvPr/>
        </p:nvSpPr>
        <p:spPr>
          <a:xfrm>
            <a:off x="2487168" y="2953512"/>
            <a:ext cx="256032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1 / (1 + e⁻ᶻ)</a:t>
            </a:r>
            <a:endParaRPr lang="en-US" sz="1100" dirty="0"/>
          </a:p>
        </p:txBody>
      </p:sp>
      <p:sp>
        <p:nvSpPr>
          <p:cNvPr id="21" name="Text 18"/>
          <p:cNvSpPr txBox="1"/>
          <p:nvPr/>
        </p:nvSpPr>
        <p:spPr>
          <a:xfrm>
            <a:off x="5230368" y="2953512"/>
            <a:ext cx="14630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(0, 1)</a:t>
            </a:r>
            <a:endParaRPr lang="en-US" sz="1100" dirty="0"/>
          </a:p>
        </p:txBody>
      </p:sp>
      <p:sp>
        <p:nvSpPr>
          <p:cNvPr id="22" name="Text 19"/>
          <p:cNvSpPr txBox="1"/>
          <p:nvPr/>
        </p:nvSpPr>
        <p:spPr>
          <a:xfrm>
            <a:off x="6876288" y="2953512"/>
            <a:ext cx="19202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σ·(1 − σ)</a:t>
            </a:r>
            <a:endParaRPr lang="en-US" sz="1100" dirty="0"/>
          </a:p>
        </p:txBody>
      </p:sp>
      <p:sp>
        <p:nvSpPr>
          <p:cNvPr id="23" name="Text 20"/>
          <p:cNvSpPr txBox="1"/>
          <p:nvPr/>
        </p:nvSpPr>
        <p:spPr>
          <a:xfrm>
            <a:off x="8979408" y="2953512"/>
            <a:ext cx="2496312" cy="5852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Saída binária (probabilidade)</a:t>
            </a:r>
            <a:endParaRPr lang="en-US" sz="1200" dirty="0"/>
          </a:p>
        </p:txBody>
      </p:sp>
      <p:sp>
        <p:nvSpPr>
          <p:cNvPr id="24" name="Shape 21"/>
          <p:cNvSpPr/>
          <p:nvPr/>
        </p:nvSpPr>
        <p:spPr>
          <a:xfrm>
            <a:off x="640080" y="3593592"/>
            <a:ext cx="10908792" cy="585216"/>
          </a:xfrm>
          <a:prstGeom prst="roundRect">
            <a:avLst>
              <a:gd name="adj" fmla="val 12500"/>
            </a:avLst>
          </a:prstGeom>
          <a:solidFill>
            <a:srgbClr val="F1F6F3"/>
          </a:solidFill>
          <a:ln w="12700">
            <a:solidFill>
              <a:srgbClr val="F1F6F3"/>
            </a:solidFill>
            <a:prstDash val="solid"/>
          </a:ln>
        </p:spPr>
      </p:sp>
      <p:sp>
        <p:nvSpPr>
          <p:cNvPr id="25" name="Text 22"/>
          <p:cNvSpPr txBox="1"/>
          <p:nvPr/>
        </p:nvSpPr>
        <p:spPr>
          <a:xfrm>
            <a:off x="749808" y="3593592"/>
            <a:ext cx="1554480" cy="58521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Tanh</a:t>
            </a:r>
            <a:endParaRPr lang="en-US" sz="1200" dirty="0"/>
          </a:p>
        </p:txBody>
      </p:sp>
      <p:sp>
        <p:nvSpPr>
          <p:cNvPr id="26" name="Text 23"/>
          <p:cNvSpPr txBox="1"/>
          <p:nvPr/>
        </p:nvSpPr>
        <p:spPr>
          <a:xfrm>
            <a:off x="2487168" y="3593592"/>
            <a:ext cx="256032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(eᶻ − e⁻ᶻ)/(eᶻ + e⁻ᶻ)</a:t>
            </a:r>
            <a:endParaRPr lang="en-US" sz="1100" dirty="0"/>
          </a:p>
        </p:txBody>
      </p:sp>
      <p:sp>
        <p:nvSpPr>
          <p:cNvPr id="27" name="Text 24"/>
          <p:cNvSpPr txBox="1"/>
          <p:nvPr/>
        </p:nvSpPr>
        <p:spPr>
          <a:xfrm>
            <a:off x="5230368" y="3593592"/>
            <a:ext cx="14630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(−1, 1)</a:t>
            </a:r>
            <a:endParaRPr lang="en-US" sz="1100" dirty="0"/>
          </a:p>
        </p:txBody>
      </p:sp>
      <p:sp>
        <p:nvSpPr>
          <p:cNvPr id="28" name="Text 25"/>
          <p:cNvSpPr txBox="1"/>
          <p:nvPr/>
        </p:nvSpPr>
        <p:spPr>
          <a:xfrm>
            <a:off x="6876288" y="3593592"/>
            <a:ext cx="19202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1 − tanh²</a:t>
            </a:r>
            <a:endParaRPr lang="en-US" sz="1100" dirty="0"/>
          </a:p>
        </p:txBody>
      </p:sp>
      <p:sp>
        <p:nvSpPr>
          <p:cNvPr id="29" name="Text 26"/>
          <p:cNvSpPr txBox="1"/>
          <p:nvPr/>
        </p:nvSpPr>
        <p:spPr>
          <a:xfrm>
            <a:off x="8979408" y="3593592"/>
            <a:ext cx="2496312" cy="5852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Camadas ocultas</a:t>
            </a:r>
            <a:endParaRPr lang="en-US" sz="1200" dirty="0"/>
          </a:p>
        </p:txBody>
      </p:sp>
      <p:sp>
        <p:nvSpPr>
          <p:cNvPr id="30" name="Shape 27"/>
          <p:cNvSpPr/>
          <p:nvPr/>
        </p:nvSpPr>
        <p:spPr>
          <a:xfrm>
            <a:off x="640080" y="4233672"/>
            <a:ext cx="10908792" cy="585216"/>
          </a:xfrm>
          <a:prstGeom prst="roundRect">
            <a:avLst>
              <a:gd name="adj" fmla="val 12500"/>
            </a:avLst>
          </a:prstGeom>
          <a:solidFill>
            <a:srgbClr val="E6EEE9"/>
          </a:solidFill>
          <a:ln w="12700">
            <a:solidFill>
              <a:srgbClr val="E6EEE9"/>
            </a:solidFill>
            <a:prstDash val="solid"/>
          </a:ln>
        </p:spPr>
      </p:sp>
      <p:sp>
        <p:nvSpPr>
          <p:cNvPr id="31" name="Text 28"/>
          <p:cNvSpPr txBox="1"/>
          <p:nvPr/>
        </p:nvSpPr>
        <p:spPr>
          <a:xfrm>
            <a:off x="749808" y="4233672"/>
            <a:ext cx="1554480" cy="58521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ReLU</a:t>
            </a:r>
            <a:endParaRPr lang="en-US" sz="1200" dirty="0"/>
          </a:p>
        </p:txBody>
      </p:sp>
      <p:sp>
        <p:nvSpPr>
          <p:cNvPr id="32" name="Text 29"/>
          <p:cNvSpPr txBox="1"/>
          <p:nvPr/>
        </p:nvSpPr>
        <p:spPr>
          <a:xfrm>
            <a:off x="2487168" y="4233672"/>
            <a:ext cx="256032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max(0, z)</a:t>
            </a:r>
            <a:endParaRPr lang="en-US" sz="1100" dirty="0"/>
          </a:p>
        </p:txBody>
      </p:sp>
      <p:sp>
        <p:nvSpPr>
          <p:cNvPr id="33" name="Text 30"/>
          <p:cNvSpPr txBox="1"/>
          <p:nvPr/>
        </p:nvSpPr>
        <p:spPr>
          <a:xfrm>
            <a:off x="5230368" y="4233672"/>
            <a:ext cx="14630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 ∞)</a:t>
            </a:r>
            <a:endParaRPr lang="en-US" sz="1100" dirty="0"/>
          </a:p>
        </p:txBody>
      </p:sp>
      <p:sp>
        <p:nvSpPr>
          <p:cNvPr id="34" name="Text 31"/>
          <p:cNvSpPr txBox="1"/>
          <p:nvPr/>
        </p:nvSpPr>
        <p:spPr>
          <a:xfrm>
            <a:off x="6876288" y="4233672"/>
            <a:ext cx="1920240" cy="5852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 ou 1</a:t>
            </a:r>
            <a:endParaRPr lang="en-US" sz="1100" dirty="0"/>
          </a:p>
        </p:txBody>
      </p:sp>
      <p:sp>
        <p:nvSpPr>
          <p:cNvPr id="35" name="Text 32"/>
          <p:cNvSpPr txBox="1"/>
          <p:nvPr/>
        </p:nvSpPr>
        <p:spPr>
          <a:xfrm>
            <a:off x="8979408" y="4233672"/>
            <a:ext cx="2496312" cy="5852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Camadas ocultas (padrão)</a:t>
            </a:r>
            <a:endParaRPr lang="en-US" sz="1200" dirty="0"/>
          </a:p>
        </p:txBody>
      </p:sp>
      <p:sp>
        <p:nvSpPr>
          <p:cNvPr id="36" name="Shape 33"/>
          <p:cNvSpPr/>
          <p:nvPr/>
        </p:nvSpPr>
        <p:spPr>
          <a:xfrm>
            <a:off x="640080" y="5120640"/>
            <a:ext cx="10911535" cy="1005840"/>
          </a:xfrm>
          <a:prstGeom prst="roundRect">
            <a:avLst>
              <a:gd name="adj" fmla="val 10909"/>
            </a:avLst>
          </a:prstGeom>
          <a:solidFill>
            <a:srgbClr val="FFEBDD"/>
          </a:solidFill>
          <a:ln w="12700">
            <a:solidFill>
              <a:srgbClr val="FFEBDD"/>
            </a:solidFill>
            <a:prstDash val="solid"/>
          </a:ln>
        </p:spPr>
      </p:sp>
      <p:sp>
        <p:nvSpPr>
          <p:cNvPr id="37" name="Text 34"/>
          <p:cNvSpPr txBox="1"/>
          <p:nvPr/>
        </p:nvSpPr>
        <p:spPr>
          <a:xfrm>
            <a:off x="914400" y="5120640"/>
            <a:ext cx="10362895" cy="100584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O degrau tem derivada zero quase em toda parte: não dá para treinar com gradiente. Por isso as redes modernas usam ativações suaves (ou ReLU, com derivada simples).</a:t>
            </a:r>
            <a:endParaRPr lang="en-US" sz="1400" dirty="0"/>
          </a:p>
        </p:txBody>
      </p:sp>
      <p:sp>
        <p:nvSpPr>
          <p:cNvPr id="38" name="Text 35"/>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9" name="Text 36"/>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ATIVAÇÃO · PRÁTICA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Ativações em Python</a:t>
            </a:r>
            <a:endParaRPr lang="en-US" sz="3000" dirty="0"/>
          </a:p>
        </p:txBody>
      </p:sp>
      <p:sp>
        <p:nvSpPr>
          <p:cNvPr id="6" name="Shape 3"/>
          <p:cNvSpPr/>
          <p:nvPr/>
        </p:nvSpPr>
        <p:spPr>
          <a:xfrm>
            <a:off x="640080" y="1783080"/>
            <a:ext cx="6400800" cy="3950970"/>
          </a:xfrm>
          <a:prstGeom prst="roundRect">
            <a:avLst>
              <a:gd name="adj" fmla="val 277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30352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ativacoes.py (parte 1)</a:t>
            </a:r>
            <a:endParaRPr lang="en-US" sz="1100" dirty="0"/>
          </a:p>
        </p:txBody>
      </p:sp>
      <p:sp>
        <p:nvSpPr>
          <p:cNvPr id="11" name="Text 8"/>
          <p:cNvSpPr txBox="1"/>
          <p:nvPr/>
        </p:nvSpPr>
        <p:spPr>
          <a:xfrm>
            <a:off x="914400" y="2286000"/>
            <a:ext cx="585216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import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numpy</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as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endParaRPr lang="en-US" sz="1300" dirty="0"/>
          </a:p>
        </p:txBody>
      </p:sp>
      <p:sp>
        <p:nvSpPr>
          <p:cNvPr id="12" name="Text 9"/>
          <p:cNvSpPr txBox="1"/>
          <p:nvPr/>
        </p:nvSpPr>
        <p:spPr>
          <a:xfrm>
            <a:off x="914400" y="2781300"/>
            <a:ext cx="585216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degrau</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3" name="Text 10"/>
          <p:cNvSpPr txBox="1"/>
          <p:nvPr/>
        </p:nvSpPr>
        <p:spPr>
          <a:xfrm>
            <a:off x="914400" y="3028950"/>
            <a:ext cx="585216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where</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&gt;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0.0</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4" name="Text 11"/>
          <p:cNvSpPr txBox="1"/>
          <p:nvPr/>
        </p:nvSpPr>
        <p:spPr>
          <a:xfrm>
            <a:off x="914400" y="3524250"/>
            <a:ext cx="585216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sigmoide</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5" name="Text 12"/>
          <p:cNvSpPr txBox="1"/>
          <p:nvPr/>
        </p:nvSpPr>
        <p:spPr>
          <a:xfrm>
            <a:off x="914400" y="3771900"/>
            <a:ext cx="585216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exp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6" name="Text 13"/>
          <p:cNvSpPr txBox="1"/>
          <p:nvPr/>
        </p:nvSpPr>
        <p:spPr>
          <a:xfrm>
            <a:off x="914400" y="4267200"/>
            <a:ext cx="585216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tanh</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7" name="Text 14"/>
          <p:cNvSpPr txBox="1"/>
          <p:nvPr/>
        </p:nvSpPr>
        <p:spPr>
          <a:xfrm>
            <a:off x="914400" y="4514850"/>
            <a:ext cx="585216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tanh</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8" name="Text 15"/>
          <p:cNvSpPr txBox="1"/>
          <p:nvPr/>
        </p:nvSpPr>
        <p:spPr>
          <a:xfrm>
            <a:off x="914400" y="5010150"/>
            <a:ext cx="585216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relu</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9" name="Text 16"/>
          <p:cNvSpPr txBox="1"/>
          <p:nvPr/>
        </p:nvSpPr>
        <p:spPr>
          <a:xfrm>
            <a:off x="914400" y="5257800"/>
            <a:ext cx="585216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maximum</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z</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20" name="Shape 17"/>
          <p:cNvSpPr/>
          <p:nvPr/>
        </p:nvSpPr>
        <p:spPr>
          <a:xfrm>
            <a:off x="7342632" y="1783080"/>
            <a:ext cx="4206240" cy="411480"/>
          </a:xfrm>
          <a:prstGeom prst="roundRect">
            <a:avLst>
              <a:gd name="adj" fmla="val 22222"/>
            </a:avLst>
          </a:prstGeom>
          <a:solidFill>
            <a:srgbClr val="0F2A1D"/>
          </a:solidFill>
          <a:ln w="12700">
            <a:solidFill>
              <a:srgbClr val="0F2A1D"/>
            </a:solidFill>
            <a:prstDash val="solid"/>
          </a:ln>
        </p:spPr>
      </p:sp>
      <p:sp>
        <p:nvSpPr>
          <p:cNvPr id="21" name="Text 18"/>
          <p:cNvSpPr txBox="1"/>
          <p:nvPr/>
        </p:nvSpPr>
        <p:spPr>
          <a:xfrm>
            <a:off x="7452360" y="1783080"/>
            <a:ext cx="137160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z</a:t>
            </a:r>
            <a:endParaRPr lang="en-US" sz="1200" dirty="0"/>
          </a:p>
        </p:txBody>
      </p:sp>
      <p:sp>
        <p:nvSpPr>
          <p:cNvPr id="22" name="Text 19"/>
          <p:cNvSpPr txBox="1"/>
          <p:nvPr/>
        </p:nvSpPr>
        <p:spPr>
          <a:xfrm>
            <a:off x="9006840" y="1783080"/>
            <a:ext cx="118872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sigmoide</a:t>
            </a:r>
            <a:endParaRPr lang="en-US" sz="1200" dirty="0"/>
          </a:p>
        </p:txBody>
      </p:sp>
      <p:sp>
        <p:nvSpPr>
          <p:cNvPr id="23" name="Text 20"/>
          <p:cNvSpPr txBox="1"/>
          <p:nvPr/>
        </p:nvSpPr>
        <p:spPr>
          <a:xfrm>
            <a:off x="10378440" y="1783080"/>
            <a:ext cx="10972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tanh</a:t>
            </a:r>
            <a:endParaRPr lang="en-US" sz="1200" dirty="0"/>
          </a:p>
        </p:txBody>
      </p:sp>
      <p:sp>
        <p:nvSpPr>
          <p:cNvPr id="24" name="Shape 21"/>
          <p:cNvSpPr/>
          <p:nvPr/>
        </p:nvSpPr>
        <p:spPr>
          <a:xfrm>
            <a:off x="7342632" y="2267712"/>
            <a:ext cx="4206240" cy="356616"/>
          </a:xfrm>
          <a:prstGeom prst="roundRect">
            <a:avLst>
              <a:gd name="adj" fmla="val 20513"/>
            </a:avLst>
          </a:prstGeom>
          <a:solidFill>
            <a:srgbClr val="F1F6F3"/>
          </a:solidFill>
          <a:ln w="12700">
            <a:solidFill>
              <a:srgbClr val="F1F6F3"/>
            </a:solidFill>
            <a:prstDash val="solid"/>
          </a:ln>
        </p:spPr>
      </p:sp>
      <p:sp>
        <p:nvSpPr>
          <p:cNvPr id="25" name="Text 22"/>
          <p:cNvSpPr txBox="1"/>
          <p:nvPr/>
        </p:nvSpPr>
        <p:spPr>
          <a:xfrm>
            <a:off x="7452360" y="2267712"/>
            <a:ext cx="137160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-2.0</a:t>
            </a:r>
            <a:endParaRPr lang="en-US" sz="1100" dirty="0"/>
          </a:p>
        </p:txBody>
      </p:sp>
      <p:sp>
        <p:nvSpPr>
          <p:cNvPr id="26" name="Text 23"/>
          <p:cNvSpPr txBox="1"/>
          <p:nvPr/>
        </p:nvSpPr>
        <p:spPr>
          <a:xfrm>
            <a:off x="9006840" y="2267712"/>
            <a:ext cx="118872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0.119</a:t>
            </a:r>
            <a:endParaRPr lang="en-US" sz="1100" dirty="0"/>
          </a:p>
        </p:txBody>
      </p:sp>
      <p:sp>
        <p:nvSpPr>
          <p:cNvPr id="27" name="Text 24"/>
          <p:cNvSpPr txBox="1"/>
          <p:nvPr/>
        </p:nvSpPr>
        <p:spPr>
          <a:xfrm>
            <a:off x="10378440" y="2267712"/>
            <a:ext cx="10972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-0.964</a:t>
            </a:r>
            <a:endParaRPr lang="en-US" sz="1100" dirty="0"/>
          </a:p>
        </p:txBody>
      </p:sp>
      <p:sp>
        <p:nvSpPr>
          <p:cNvPr id="28" name="Shape 25"/>
          <p:cNvSpPr/>
          <p:nvPr/>
        </p:nvSpPr>
        <p:spPr>
          <a:xfrm>
            <a:off x="7342632" y="2679192"/>
            <a:ext cx="4206240" cy="356616"/>
          </a:xfrm>
          <a:prstGeom prst="roundRect">
            <a:avLst>
              <a:gd name="adj" fmla="val 20513"/>
            </a:avLst>
          </a:prstGeom>
          <a:solidFill>
            <a:srgbClr val="E6EEE9"/>
          </a:solidFill>
          <a:ln w="12700">
            <a:solidFill>
              <a:srgbClr val="E6EEE9"/>
            </a:solidFill>
            <a:prstDash val="solid"/>
          </a:ln>
        </p:spPr>
      </p:sp>
      <p:sp>
        <p:nvSpPr>
          <p:cNvPr id="29" name="Text 26"/>
          <p:cNvSpPr txBox="1"/>
          <p:nvPr/>
        </p:nvSpPr>
        <p:spPr>
          <a:xfrm>
            <a:off x="7452360" y="2679192"/>
            <a:ext cx="137160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-0.5</a:t>
            </a:r>
            <a:endParaRPr lang="en-US" sz="1100" dirty="0"/>
          </a:p>
        </p:txBody>
      </p:sp>
      <p:sp>
        <p:nvSpPr>
          <p:cNvPr id="30" name="Text 27"/>
          <p:cNvSpPr txBox="1"/>
          <p:nvPr/>
        </p:nvSpPr>
        <p:spPr>
          <a:xfrm>
            <a:off x="9006840" y="2679192"/>
            <a:ext cx="118872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0.378</a:t>
            </a:r>
            <a:endParaRPr lang="en-US" sz="1100" dirty="0"/>
          </a:p>
        </p:txBody>
      </p:sp>
      <p:sp>
        <p:nvSpPr>
          <p:cNvPr id="31" name="Text 28"/>
          <p:cNvSpPr txBox="1"/>
          <p:nvPr/>
        </p:nvSpPr>
        <p:spPr>
          <a:xfrm>
            <a:off x="10378440" y="2679192"/>
            <a:ext cx="10972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-0.462</a:t>
            </a:r>
            <a:endParaRPr lang="en-US" sz="1100" dirty="0"/>
          </a:p>
        </p:txBody>
      </p:sp>
      <p:sp>
        <p:nvSpPr>
          <p:cNvPr id="32" name="Shape 29"/>
          <p:cNvSpPr/>
          <p:nvPr/>
        </p:nvSpPr>
        <p:spPr>
          <a:xfrm>
            <a:off x="7342632" y="3090672"/>
            <a:ext cx="4206240" cy="356616"/>
          </a:xfrm>
          <a:prstGeom prst="roundRect">
            <a:avLst>
              <a:gd name="adj" fmla="val 20513"/>
            </a:avLst>
          </a:prstGeom>
          <a:solidFill>
            <a:srgbClr val="F1F6F3"/>
          </a:solidFill>
          <a:ln w="12700">
            <a:solidFill>
              <a:srgbClr val="F1F6F3"/>
            </a:solidFill>
            <a:prstDash val="solid"/>
          </a:ln>
        </p:spPr>
      </p:sp>
      <p:sp>
        <p:nvSpPr>
          <p:cNvPr id="33" name="Text 30"/>
          <p:cNvSpPr txBox="1"/>
          <p:nvPr/>
        </p:nvSpPr>
        <p:spPr>
          <a:xfrm>
            <a:off x="7452360" y="3090672"/>
            <a:ext cx="137160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0.0</a:t>
            </a:r>
            <a:endParaRPr lang="en-US" sz="1100" dirty="0"/>
          </a:p>
        </p:txBody>
      </p:sp>
      <p:sp>
        <p:nvSpPr>
          <p:cNvPr id="34" name="Text 31"/>
          <p:cNvSpPr txBox="1"/>
          <p:nvPr/>
        </p:nvSpPr>
        <p:spPr>
          <a:xfrm>
            <a:off x="9006840" y="3090672"/>
            <a:ext cx="118872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0.5</a:t>
            </a:r>
            <a:endParaRPr lang="en-US" sz="1100" dirty="0"/>
          </a:p>
        </p:txBody>
      </p:sp>
      <p:sp>
        <p:nvSpPr>
          <p:cNvPr id="35" name="Text 32"/>
          <p:cNvSpPr txBox="1"/>
          <p:nvPr/>
        </p:nvSpPr>
        <p:spPr>
          <a:xfrm>
            <a:off x="10378440" y="3090672"/>
            <a:ext cx="10972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0.0</a:t>
            </a:r>
            <a:endParaRPr lang="en-US" sz="1100" dirty="0"/>
          </a:p>
        </p:txBody>
      </p:sp>
      <p:sp>
        <p:nvSpPr>
          <p:cNvPr id="36" name="Shape 33"/>
          <p:cNvSpPr/>
          <p:nvPr/>
        </p:nvSpPr>
        <p:spPr>
          <a:xfrm>
            <a:off x="7342632" y="3502152"/>
            <a:ext cx="4206240" cy="356616"/>
          </a:xfrm>
          <a:prstGeom prst="roundRect">
            <a:avLst>
              <a:gd name="adj" fmla="val 20513"/>
            </a:avLst>
          </a:prstGeom>
          <a:solidFill>
            <a:srgbClr val="E6EEE9"/>
          </a:solidFill>
          <a:ln w="12700">
            <a:solidFill>
              <a:srgbClr val="E6EEE9"/>
            </a:solidFill>
            <a:prstDash val="solid"/>
          </a:ln>
        </p:spPr>
      </p:sp>
      <p:sp>
        <p:nvSpPr>
          <p:cNvPr id="37" name="Text 34"/>
          <p:cNvSpPr txBox="1"/>
          <p:nvPr/>
        </p:nvSpPr>
        <p:spPr>
          <a:xfrm>
            <a:off x="7452360" y="3502152"/>
            <a:ext cx="137160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0.5</a:t>
            </a:r>
            <a:endParaRPr lang="en-US" sz="1100" dirty="0"/>
          </a:p>
        </p:txBody>
      </p:sp>
      <p:sp>
        <p:nvSpPr>
          <p:cNvPr id="38" name="Text 35"/>
          <p:cNvSpPr txBox="1"/>
          <p:nvPr/>
        </p:nvSpPr>
        <p:spPr>
          <a:xfrm>
            <a:off x="9006840" y="3502152"/>
            <a:ext cx="118872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0.622</a:t>
            </a:r>
            <a:endParaRPr lang="en-US" sz="1100" dirty="0"/>
          </a:p>
        </p:txBody>
      </p:sp>
      <p:sp>
        <p:nvSpPr>
          <p:cNvPr id="39" name="Text 36"/>
          <p:cNvSpPr txBox="1"/>
          <p:nvPr/>
        </p:nvSpPr>
        <p:spPr>
          <a:xfrm>
            <a:off x="10378440" y="3502152"/>
            <a:ext cx="10972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0.462</a:t>
            </a:r>
            <a:endParaRPr lang="en-US" sz="1100" dirty="0"/>
          </a:p>
        </p:txBody>
      </p:sp>
      <p:sp>
        <p:nvSpPr>
          <p:cNvPr id="40" name="Shape 37"/>
          <p:cNvSpPr/>
          <p:nvPr/>
        </p:nvSpPr>
        <p:spPr>
          <a:xfrm>
            <a:off x="7342632" y="3913632"/>
            <a:ext cx="4206240" cy="356616"/>
          </a:xfrm>
          <a:prstGeom prst="roundRect">
            <a:avLst>
              <a:gd name="adj" fmla="val 20513"/>
            </a:avLst>
          </a:prstGeom>
          <a:solidFill>
            <a:srgbClr val="F1F6F3"/>
          </a:solidFill>
          <a:ln w="12700">
            <a:solidFill>
              <a:srgbClr val="F1F6F3"/>
            </a:solidFill>
            <a:prstDash val="solid"/>
          </a:ln>
        </p:spPr>
      </p:sp>
      <p:sp>
        <p:nvSpPr>
          <p:cNvPr id="41" name="Text 38"/>
          <p:cNvSpPr txBox="1"/>
          <p:nvPr/>
        </p:nvSpPr>
        <p:spPr>
          <a:xfrm>
            <a:off x="7452360" y="3913632"/>
            <a:ext cx="137160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2.0</a:t>
            </a:r>
            <a:endParaRPr lang="en-US" sz="1100" dirty="0"/>
          </a:p>
        </p:txBody>
      </p:sp>
      <p:sp>
        <p:nvSpPr>
          <p:cNvPr id="42" name="Text 39"/>
          <p:cNvSpPr txBox="1"/>
          <p:nvPr/>
        </p:nvSpPr>
        <p:spPr>
          <a:xfrm>
            <a:off x="9006840" y="3913632"/>
            <a:ext cx="118872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0.881</a:t>
            </a:r>
            <a:endParaRPr lang="en-US" sz="1100" dirty="0"/>
          </a:p>
        </p:txBody>
      </p:sp>
      <p:sp>
        <p:nvSpPr>
          <p:cNvPr id="43" name="Text 40"/>
          <p:cNvSpPr txBox="1"/>
          <p:nvPr/>
        </p:nvSpPr>
        <p:spPr>
          <a:xfrm>
            <a:off x="10378440" y="3913632"/>
            <a:ext cx="10972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0.964</a:t>
            </a:r>
            <a:endParaRPr lang="en-US" sz="1100" dirty="0"/>
          </a:p>
        </p:txBody>
      </p:sp>
      <p:sp>
        <p:nvSpPr>
          <p:cNvPr id="44" name="Shape 41"/>
          <p:cNvSpPr/>
          <p:nvPr/>
        </p:nvSpPr>
        <p:spPr>
          <a:xfrm>
            <a:off x="7342632" y="4572000"/>
            <a:ext cx="4206240" cy="1554480"/>
          </a:xfrm>
          <a:prstGeom prst="roundRect">
            <a:avLst>
              <a:gd name="adj" fmla="val 7059"/>
            </a:avLst>
          </a:prstGeom>
          <a:solidFill>
            <a:srgbClr val="FFEBDD"/>
          </a:solidFill>
          <a:ln w="12700">
            <a:solidFill>
              <a:srgbClr val="FFEBDD"/>
            </a:solidFill>
            <a:prstDash val="solid"/>
          </a:ln>
        </p:spPr>
      </p:sp>
      <p:sp>
        <p:nvSpPr>
          <p:cNvPr id="45" name="Text 42"/>
          <p:cNvSpPr txBox="1"/>
          <p:nvPr/>
        </p:nvSpPr>
        <p:spPr>
          <a:xfrm>
            <a:off x="7616952" y="4572000"/>
            <a:ext cx="3657600" cy="155448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Em z = 0 a sigmoide vale 0,5 e a tanh vale 0. Para z grande, ambas “saturam” (0,881 e 0,964 em z = 2) e a derivada fica pequena. É um problema clássico em redes profundas. O degrau e a ReLU: em z = 0,5 dão 1 e 0,5.</a:t>
            </a:r>
            <a:endParaRPr lang="en-US" sz="1300" dirty="0"/>
          </a:p>
        </p:txBody>
      </p:sp>
      <p:sp>
        <p:nvSpPr>
          <p:cNvPr id="46" name="Text 43"/>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47" name="Text 44"/>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PERCEPTRON</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 perceptron aprende errando e corrigindo</a:t>
            </a:r>
            <a:endParaRPr lang="en-US" sz="3000" dirty="0"/>
          </a:p>
        </p:txBody>
      </p:sp>
      <p:sp>
        <p:nvSpPr>
          <p:cNvPr id="6" name="Shape 3"/>
          <p:cNvSpPr/>
          <p:nvPr/>
        </p:nvSpPr>
        <p:spPr>
          <a:xfrm>
            <a:off x="640080" y="1783080"/>
            <a:ext cx="10911535" cy="1371600"/>
          </a:xfrm>
          <a:prstGeom prst="roundRect">
            <a:avLst>
              <a:gd name="adj" fmla="val 8000"/>
            </a:avLst>
          </a:prstGeom>
          <a:solidFill>
            <a:srgbClr val="0F2A1D"/>
          </a:solidFill>
          <a:ln w="12700">
            <a:solidFill>
              <a:srgbClr val="0F2A1D"/>
            </a:solidFill>
            <a:prstDash val="solid"/>
          </a:ln>
        </p:spPr>
      </p:sp>
      <p:sp>
        <p:nvSpPr>
          <p:cNvPr id="7" name="Text 4"/>
          <p:cNvSpPr txBox="1"/>
          <p:nvPr/>
        </p:nvSpPr>
        <p:spPr>
          <a:xfrm>
            <a:off x="914400" y="1783080"/>
            <a:ext cx="10362895" cy="1371600"/>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w  ←  w + η · (y − ŷ) · x          b  ←  b + η · (y − ŷ)</a:t>
            </a:r>
            <a:endParaRPr lang="en-US" sz="2400" dirty="0"/>
          </a:p>
        </p:txBody>
      </p:sp>
      <p:sp>
        <p:nvSpPr>
          <p:cNvPr id="8" name="Shape 5"/>
          <p:cNvSpPr/>
          <p:nvPr/>
        </p:nvSpPr>
        <p:spPr>
          <a:xfrm>
            <a:off x="640080" y="3383280"/>
            <a:ext cx="3493008" cy="2743200"/>
          </a:xfrm>
          <a:prstGeom prst="roundRect">
            <a:avLst>
              <a:gd name="adj" fmla="val 4000"/>
            </a:avLst>
          </a:prstGeom>
          <a:solidFill>
            <a:srgbClr val="F1F6F3"/>
          </a:solidFill>
          <a:ln w="12700">
            <a:solidFill>
              <a:srgbClr val="F1F6F3"/>
            </a:solidFill>
            <a:prstDash val="solid"/>
          </a:ln>
        </p:spPr>
      </p:sp>
      <p:sp>
        <p:nvSpPr>
          <p:cNvPr id="9" name="Text 6"/>
          <p:cNvSpPr txBox="1"/>
          <p:nvPr/>
        </p:nvSpPr>
        <p:spPr>
          <a:xfrm>
            <a:off x="868680" y="35661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Acertou (y = ŷ)</a:t>
            </a:r>
            <a:endParaRPr lang="en-US" sz="1600" dirty="0"/>
          </a:p>
        </p:txBody>
      </p:sp>
      <p:sp>
        <p:nvSpPr>
          <p:cNvPr id="10" name="Text 7"/>
          <p:cNvSpPr txBox="1"/>
          <p:nvPr/>
        </p:nvSpPr>
        <p:spPr>
          <a:xfrm>
            <a:off x="868680" y="4251960"/>
            <a:ext cx="3063240" cy="178308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Erro 0: nada muda. Os pesos já servem para esse exemplo.</a:t>
            </a:r>
            <a:endParaRPr lang="en-US" sz="1400" dirty="0"/>
          </a:p>
        </p:txBody>
      </p:sp>
      <p:sp>
        <p:nvSpPr>
          <p:cNvPr id="11" name="Shape 8"/>
          <p:cNvSpPr/>
          <p:nvPr/>
        </p:nvSpPr>
        <p:spPr>
          <a:xfrm>
            <a:off x="4347972" y="3383280"/>
            <a:ext cx="3493008" cy="2743200"/>
          </a:xfrm>
          <a:prstGeom prst="roundRect">
            <a:avLst>
              <a:gd name="adj" fmla="val 4000"/>
            </a:avLst>
          </a:prstGeom>
          <a:solidFill>
            <a:srgbClr val="F1F6F3"/>
          </a:solidFill>
          <a:ln w="12700">
            <a:solidFill>
              <a:srgbClr val="F1F6F3"/>
            </a:solidFill>
            <a:prstDash val="solid"/>
          </a:ln>
        </p:spPr>
      </p:sp>
      <p:sp>
        <p:nvSpPr>
          <p:cNvPr id="12" name="Text 9"/>
          <p:cNvSpPr txBox="1"/>
          <p:nvPr/>
        </p:nvSpPr>
        <p:spPr>
          <a:xfrm>
            <a:off x="4576572" y="35661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Previu 0, era 1</a:t>
            </a:r>
            <a:endParaRPr lang="en-US" sz="1600" dirty="0"/>
          </a:p>
        </p:txBody>
      </p:sp>
      <p:sp>
        <p:nvSpPr>
          <p:cNvPr id="13" name="Text 10"/>
          <p:cNvSpPr txBox="1"/>
          <p:nvPr/>
        </p:nvSpPr>
        <p:spPr>
          <a:xfrm>
            <a:off x="4576572" y="4251960"/>
            <a:ext cx="3063240" cy="178308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Erro +1: soma η·x aos pesos. Aumenta a soma para esse tipo de entrada.</a:t>
            </a:r>
            <a:endParaRPr lang="en-US" sz="1400" dirty="0"/>
          </a:p>
        </p:txBody>
      </p:sp>
      <p:sp>
        <p:nvSpPr>
          <p:cNvPr id="14" name="Shape 11"/>
          <p:cNvSpPr/>
          <p:nvPr/>
        </p:nvSpPr>
        <p:spPr>
          <a:xfrm>
            <a:off x="8055864" y="3383280"/>
            <a:ext cx="3493008" cy="2743200"/>
          </a:xfrm>
          <a:prstGeom prst="roundRect">
            <a:avLst>
              <a:gd name="adj" fmla="val 4000"/>
            </a:avLst>
          </a:prstGeom>
          <a:solidFill>
            <a:srgbClr val="F1F6F3"/>
          </a:solidFill>
          <a:ln w="12700">
            <a:solidFill>
              <a:srgbClr val="F1F6F3"/>
            </a:solidFill>
            <a:prstDash val="solid"/>
          </a:ln>
        </p:spPr>
      </p:sp>
      <p:sp>
        <p:nvSpPr>
          <p:cNvPr id="15" name="Text 12"/>
          <p:cNvSpPr txBox="1"/>
          <p:nvPr/>
        </p:nvSpPr>
        <p:spPr>
          <a:xfrm>
            <a:off x="8284464" y="35661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Previu 1, era 0</a:t>
            </a:r>
            <a:endParaRPr lang="en-US" sz="1600" dirty="0"/>
          </a:p>
        </p:txBody>
      </p:sp>
      <p:sp>
        <p:nvSpPr>
          <p:cNvPr id="16" name="Text 13"/>
          <p:cNvSpPr txBox="1"/>
          <p:nvPr/>
        </p:nvSpPr>
        <p:spPr>
          <a:xfrm>
            <a:off x="8284464" y="4251960"/>
            <a:ext cx="3063240" cy="178308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Erro −1: subtrai η·x. Diminui a soma. η (eta) é a taxa de aprendizado.</a:t>
            </a:r>
            <a:endParaRPr lang="en-US" sz="1400" dirty="0"/>
          </a:p>
        </p:txBody>
      </p:sp>
      <p:sp>
        <p:nvSpPr>
          <p:cNvPr id="17" name="Text 14"/>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18" name="Text 15"/>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PERCEPTRON · PRÁTICA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Perceptron em Python (1/2): a classe</a:t>
            </a:r>
            <a:endParaRPr lang="en-US" sz="3000" dirty="0"/>
          </a:p>
        </p:txBody>
      </p:sp>
      <p:sp>
        <p:nvSpPr>
          <p:cNvPr id="6" name="Shape 3"/>
          <p:cNvSpPr/>
          <p:nvPr/>
        </p:nvSpPr>
        <p:spPr>
          <a:xfrm>
            <a:off x="640080" y="1783080"/>
            <a:ext cx="6949440" cy="3398520"/>
          </a:xfrm>
          <a:prstGeom prst="roundRect">
            <a:avLst>
              <a:gd name="adj" fmla="val 3229"/>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perceptron.py</a:t>
            </a:r>
            <a:endParaRPr lang="en-US" sz="1100" dirty="0"/>
          </a:p>
        </p:txBody>
      </p:sp>
      <p:sp>
        <p:nvSpPr>
          <p:cNvPr id="11" name="Text 8"/>
          <p:cNvSpPr txBox="1"/>
          <p:nvPr/>
        </p:nvSpPr>
        <p:spPr>
          <a:xfrm>
            <a:off x="914400" y="2286000"/>
            <a:ext cx="6400800" cy="266700"/>
          </a:xfrm>
          <a:prstGeom prst="rect">
            <a:avLst/>
          </a:prstGeom>
          <a:noFill/>
          <a:ln/>
        </p:spPr>
        <p:txBody>
          <a:bodyPr wrap="none" lIns="0" tIns="0" rIns="0" bIns="0" rtlCol="0" anchor="ctr"/>
          <a:lstStyle/>
          <a:p>
            <a:pPr indent="0" marL="0">
              <a:buNone/>
            </a:pPr>
            <a:r>
              <a:rPr lang="en-US" sz="1400" dirty="0">
                <a:solidFill>
                  <a:srgbClr val="FF9D5C"/>
                </a:solidFill>
                <a:latin typeface="Courier New" pitchFamily="34" charset="0"/>
                <a:ea typeface="Courier New" pitchFamily="34" charset="-122"/>
                <a:cs typeface="Courier New" pitchFamily="34" charset="-120"/>
              </a:rPr>
              <a:t>import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numpy</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9D5C"/>
                </a:solidFill>
                <a:latin typeface="Courier New" pitchFamily="34" charset="0"/>
                <a:ea typeface="Courier New" pitchFamily="34" charset="-122"/>
                <a:cs typeface="Courier New" pitchFamily="34" charset="-120"/>
              </a:rPr>
              <a:t>as</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np</a:t>
            </a:r>
            <a:endParaRPr lang="en-US" sz="1400" dirty="0"/>
          </a:p>
        </p:txBody>
      </p:sp>
      <p:sp>
        <p:nvSpPr>
          <p:cNvPr id="12" name="Text 9"/>
          <p:cNvSpPr txBox="1"/>
          <p:nvPr/>
        </p:nvSpPr>
        <p:spPr>
          <a:xfrm>
            <a:off x="914400" y="2819400"/>
            <a:ext cx="6400800" cy="266700"/>
          </a:xfrm>
          <a:prstGeom prst="rect">
            <a:avLst/>
          </a:prstGeom>
          <a:noFill/>
          <a:ln/>
        </p:spPr>
        <p:txBody>
          <a:bodyPr wrap="none" lIns="0" tIns="0" rIns="0" bIns="0" rtlCol="0" anchor="ctr"/>
          <a:lstStyle/>
          <a:p>
            <a:pPr indent="0" marL="0">
              <a:buNone/>
            </a:pPr>
            <a:r>
              <a:rPr lang="en-US" sz="1400" dirty="0">
                <a:solidFill>
                  <a:srgbClr val="E9F2EC"/>
                </a:solidFill>
                <a:latin typeface="Courier New" pitchFamily="34" charset="0"/>
                <a:ea typeface="Courier New" pitchFamily="34" charset="-122"/>
                <a:cs typeface="Courier New" pitchFamily="34" charset="-120"/>
              </a:rPr>
              <a:t>class</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Perceptron</a:t>
            </a:r>
            <a:pPr indent="0" marL="0">
              <a:buNone/>
            </a:pPr>
            <a:r>
              <a:rPr lang="en-US" sz="1400" dirty="0">
                <a:solidFill>
                  <a:srgbClr val="E9F2EC"/>
                </a:solidFill>
                <a:latin typeface="Courier New" pitchFamily="34" charset="0"/>
                <a:ea typeface="Courier New" pitchFamily="34" charset="-122"/>
                <a:cs typeface="Courier New" pitchFamily="34" charset="-120"/>
              </a:rPr>
              <a:t>:</a:t>
            </a:r>
            <a:endParaRPr lang="en-US" sz="1400" dirty="0"/>
          </a:p>
        </p:txBody>
      </p:sp>
      <p:sp>
        <p:nvSpPr>
          <p:cNvPr id="13" name="Text 10"/>
          <p:cNvSpPr txBox="1"/>
          <p:nvPr/>
        </p:nvSpPr>
        <p:spPr>
          <a:xfrm>
            <a:off x="914400" y="3086100"/>
            <a:ext cx="6400800" cy="266700"/>
          </a:xfrm>
          <a:prstGeom prst="rect">
            <a:avLst/>
          </a:prstGeom>
          <a:noFill/>
          <a:ln/>
        </p:spPr>
        <p:txBody>
          <a:bodyPr wrap="none" lIns="0" tIns="0" rIns="0" bIns="0" rtlCol="0" anchor="ctr"/>
          <a:lstStyle/>
          <a:p>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9D5C"/>
                </a:solidFill>
                <a:latin typeface="Courier New" pitchFamily="34" charset="0"/>
                <a:ea typeface="Courier New" pitchFamily="34" charset="-122"/>
                <a:cs typeface="Courier New" pitchFamily="34" charset="-120"/>
              </a:rPr>
              <a:t>def</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__init__</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self</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n_entradas</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eta</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FFD166"/>
                </a:solidFill>
                <a:latin typeface="Courier New" pitchFamily="34" charset="0"/>
                <a:ea typeface="Courier New" pitchFamily="34" charset="-122"/>
                <a:cs typeface="Courier New" pitchFamily="34" charset="-120"/>
              </a:rPr>
              <a:t>0.1</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a:t>
            </a:r>
            <a:endParaRPr lang="en-US" sz="1400" dirty="0"/>
          </a:p>
        </p:txBody>
      </p:sp>
      <p:sp>
        <p:nvSpPr>
          <p:cNvPr id="14" name="Text 11"/>
          <p:cNvSpPr txBox="1"/>
          <p:nvPr/>
        </p:nvSpPr>
        <p:spPr>
          <a:xfrm>
            <a:off x="914400" y="3352800"/>
            <a:ext cx="6400800" cy="266700"/>
          </a:xfrm>
          <a:prstGeom prst="rect">
            <a:avLst/>
          </a:prstGeom>
          <a:noFill/>
          <a:ln/>
        </p:spPr>
        <p:txBody>
          <a:bodyPr wrap="none" lIns="0" tIns="0" rIns="0" bIns="0" rtlCol="0" anchor="ctr"/>
          <a:lstStyle/>
          <a:p>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self</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w</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np</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zeros</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n_entradas</a:t>
            </a:r>
            <a:pPr indent="0" marL="0">
              <a:buNone/>
            </a:pPr>
            <a:r>
              <a:rPr lang="en-US" sz="1400" dirty="0">
                <a:solidFill>
                  <a:srgbClr val="E9F2EC"/>
                </a:solidFill>
                <a:latin typeface="Courier New" pitchFamily="34" charset="0"/>
                <a:ea typeface="Courier New" pitchFamily="34" charset="-122"/>
                <a:cs typeface="Courier New" pitchFamily="34" charset="-120"/>
              </a:rPr>
              <a:t>)</a:t>
            </a:r>
            <a:endParaRPr lang="en-US" sz="1400" dirty="0"/>
          </a:p>
        </p:txBody>
      </p:sp>
      <p:sp>
        <p:nvSpPr>
          <p:cNvPr id="15" name="Text 12"/>
          <p:cNvSpPr txBox="1"/>
          <p:nvPr/>
        </p:nvSpPr>
        <p:spPr>
          <a:xfrm>
            <a:off x="914400" y="3619500"/>
            <a:ext cx="6400800" cy="266700"/>
          </a:xfrm>
          <a:prstGeom prst="rect">
            <a:avLst/>
          </a:prstGeom>
          <a:noFill/>
          <a:ln/>
        </p:spPr>
        <p:txBody>
          <a:bodyPr wrap="none" lIns="0" tIns="0" rIns="0" bIns="0" rtlCol="0" anchor="ctr"/>
          <a:lstStyle/>
          <a:p>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self</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b</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D166"/>
                </a:solidFill>
                <a:latin typeface="Courier New" pitchFamily="34" charset="0"/>
                <a:ea typeface="Courier New" pitchFamily="34" charset="-122"/>
                <a:cs typeface="Courier New" pitchFamily="34" charset="-120"/>
              </a:rPr>
              <a:t>0.0</a:t>
            </a:r>
            <a:endParaRPr lang="en-US" sz="1400" dirty="0"/>
          </a:p>
        </p:txBody>
      </p:sp>
      <p:sp>
        <p:nvSpPr>
          <p:cNvPr id="16" name="Text 13"/>
          <p:cNvSpPr txBox="1"/>
          <p:nvPr/>
        </p:nvSpPr>
        <p:spPr>
          <a:xfrm>
            <a:off x="914400" y="3886200"/>
            <a:ext cx="6400800" cy="266700"/>
          </a:xfrm>
          <a:prstGeom prst="rect">
            <a:avLst/>
          </a:prstGeom>
          <a:noFill/>
          <a:ln/>
        </p:spPr>
        <p:txBody>
          <a:bodyPr wrap="none" lIns="0" tIns="0" rIns="0" bIns="0" rtlCol="0" anchor="ctr"/>
          <a:lstStyle/>
          <a:p>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self</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eta</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eta</a:t>
            </a:r>
            <a:endParaRPr lang="en-US" sz="1400" dirty="0"/>
          </a:p>
        </p:txBody>
      </p:sp>
      <p:sp>
        <p:nvSpPr>
          <p:cNvPr id="17" name="Text 14"/>
          <p:cNvSpPr txBox="1"/>
          <p:nvPr/>
        </p:nvSpPr>
        <p:spPr>
          <a:xfrm>
            <a:off x="914400" y="4419600"/>
            <a:ext cx="6400800" cy="266700"/>
          </a:xfrm>
          <a:prstGeom prst="rect">
            <a:avLst/>
          </a:prstGeom>
          <a:noFill/>
          <a:ln/>
        </p:spPr>
        <p:txBody>
          <a:bodyPr wrap="none" lIns="0" tIns="0" rIns="0" bIns="0" rtlCol="0" anchor="ctr"/>
          <a:lstStyle/>
          <a:p>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9D5C"/>
                </a:solidFill>
                <a:latin typeface="Courier New" pitchFamily="34" charset="0"/>
                <a:ea typeface="Courier New" pitchFamily="34" charset="-122"/>
                <a:cs typeface="Courier New" pitchFamily="34" charset="-120"/>
              </a:rPr>
              <a:t>def</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prever</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self</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x</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a:t>
            </a:r>
            <a:endParaRPr lang="en-US" sz="1400" dirty="0"/>
          </a:p>
        </p:txBody>
      </p:sp>
      <p:sp>
        <p:nvSpPr>
          <p:cNvPr id="18" name="Text 15"/>
          <p:cNvSpPr txBox="1"/>
          <p:nvPr/>
        </p:nvSpPr>
        <p:spPr>
          <a:xfrm>
            <a:off x="914400" y="4686300"/>
            <a:ext cx="6400800" cy="266700"/>
          </a:xfrm>
          <a:prstGeom prst="rect">
            <a:avLst/>
          </a:prstGeom>
          <a:noFill/>
          <a:ln/>
        </p:spPr>
        <p:txBody>
          <a:bodyPr wrap="none" lIns="0" tIns="0" rIns="0" bIns="0" rtlCol="0" anchor="ctr"/>
          <a:lstStyle/>
          <a:p>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9D5C"/>
                </a:solidFill>
                <a:latin typeface="Courier New" pitchFamily="34" charset="0"/>
                <a:ea typeface="Courier New" pitchFamily="34" charset="-122"/>
                <a:cs typeface="Courier New" pitchFamily="34" charset="-120"/>
              </a:rPr>
              <a:t>return</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D166"/>
                </a:solidFill>
                <a:latin typeface="Courier New" pitchFamily="34" charset="0"/>
                <a:ea typeface="Courier New" pitchFamily="34" charset="-122"/>
                <a:cs typeface="Courier New" pitchFamily="34" charset="-120"/>
              </a:rPr>
              <a:t>1</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9D5C"/>
                </a:solidFill>
                <a:latin typeface="Courier New" pitchFamily="34" charset="0"/>
                <a:ea typeface="Courier New" pitchFamily="34" charset="-122"/>
                <a:cs typeface="Courier New" pitchFamily="34" charset="-120"/>
              </a:rPr>
              <a:t>if</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np</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dot</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self</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w</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x</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self</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b</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&gt;</a:t>
            </a:r>
            <a:pPr indent="0" marL="0">
              <a:buNone/>
            </a:pPr>
            <a:r>
              <a:rPr lang="en-US" sz="1400" dirty="0">
                <a:solidFill>
                  <a:srgbClr val="E9F2EC"/>
                </a:solidFill>
                <a:latin typeface="Courier New" pitchFamily="34" charset="0"/>
                <a:ea typeface="Courier New" pitchFamily="34" charset="-122"/>
                <a:cs typeface="Courier New" pitchFamily="34" charset="-120"/>
              </a:rPr>
              <a:t>=</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D166"/>
                </a:solidFill>
                <a:latin typeface="Courier New" pitchFamily="34" charset="0"/>
                <a:ea typeface="Courier New" pitchFamily="34" charset="-122"/>
                <a:cs typeface="Courier New" pitchFamily="34" charset="-120"/>
              </a:rPr>
              <a:t>0</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E9F2EC"/>
                </a:solidFill>
                <a:latin typeface="Courier New" pitchFamily="34" charset="0"/>
                <a:ea typeface="Courier New" pitchFamily="34" charset="-122"/>
                <a:cs typeface="Courier New" pitchFamily="34" charset="-120"/>
              </a:rPr>
              <a:t>else</a:t>
            </a:r>
            <a:pPr indent="0" marL="0">
              <a:buNone/>
            </a:pPr>
            <a:r>
              <a:rPr lang="en-US" sz="1400" dirty="0">
                <a:solidFill>
                  <a:srgbClr val="E9F2EC"/>
                </a:solidFill>
                <a:latin typeface="Courier New" pitchFamily="34" charset="0"/>
                <a:ea typeface="Courier New" pitchFamily="34" charset="-122"/>
                <a:cs typeface="Courier New" pitchFamily="34" charset="-120"/>
              </a:rPr>
              <a:t> </a:t>
            </a:r>
            <a:pPr indent="0" marL="0">
              <a:buNone/>
            </a:pPr>
            <a:r>
              <a:rPr lang="en-US" sz="1400" dirty="0">
                <a:solidFill>
                  <a:srgbClr val="FFD166"/>
                </a:solidFill>
                <a:latin typeface="Courier New" pitchFamily="34" charset="0"/>
                <a:ea typeface="Courier New" pitchFamily="34" charset="-122"/>
                <a:cs typeface="Courier New" pitchFamily="34" charset="-120"/>
              </a:rPr>
              <a:t>0</a:t>
            </a:r>
            <a:endParaRPr lang="en-US" sz="1400" dirty="0"/>
          </a:p>
        </p:txBody>
      </p:sp>
      <p:sp>
        <p:nvSpPr>
          <p:cNvPr id="19" name="Shape 16"/>
          <p:cNvSpPr/>
          <p:nvPr/>
        </p:nvSpPr>
        <p:spPr>
          <a:xfrm>
            <a:off x="7955280" y="1874520"/>
            <a:ext cx="457200" cy="457200"/>
          </a:xfrm>
          <a:prstGeom prst="ellipse">
            <a:avLst/>
          </a:prstGeom>
          <a:solidFill>
            <a:srgbClr val="0B8A5B"/>
          </a:solidFill>
          <a:ln w="12700">
            <a:solidFill>
              <a:srgbClr val="0B8A5B"/>
            </a:solidFill>
            <a:prstDash val="solid"/>
          </a:ln>
        </p:spPr>
      </p:sp>
      <p:sp>
        <p:nvSpPr>
          <p:cNvPr id="20" name="Text 17"/>
          <p:cNvSpPr txBox="1"/>
          <p:nvPr/>
        </p:nvSpPr>
        <p:spPr>
          <a:xfrm>
            <a:off x="79552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1" name="Text 18"/>
          <p:cNvSpPr txBox="1"/>
          <p:nvPr/>
        </p:nvSpPr>
        <p:spPr>
          <a:xfrm>
            <a:off x="8595360" y="178308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self.w, self.b</a:t>
            </a:r>
            <a:endParaRPr lang="en-US" sz="1400" dirty="0"/>
          </a:p>
        </p:txBody>
      </p:sp>
      <p:sp>
        <p:nvSpPr>
          <p:cNvPr id="22" name="Text 19"/>
          <p:cNvSpPr txBox="1"/>
          <p:nvPr/>
        </p:nvSpPr>
        <p:spPr>
          <a:xfrm>
            <a:off x="8595360" y="214884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Os parâmetros, começando em zero.</a:t>
            </a:r>
            <a:endParaRPr lang="en-US" sz="1400" dirty="0"/>
          </a:p>
        </p:txBody>
      </p:sp>
      <p:sp>
        <p:nvSpPr>
          <p:cNvPr id="23" name="Shape 20"/>
          <p:cNvSpPr/>
          <p:nvPr/>
        </p:nvSpPr>
        <p:spPr>
          <a:xfrm>
            <a:off x="7955280" y="3154680"/>
            <a:ext cx="457200" cy="457200"/>
          </a:xfrm>
          <a:prstGeom prst="ellipse">
            <a:avLst/>
          </a:prstGeom>
          <a:solidFill>
            <a:srgbClr val="0B8A5B"/>
          </a:solidFill>
          <a:ln w="12700">
            <a:solidFill>
              <a:srgbClr val="0B8A5B"/>
            </a:solidFill>
            <a:prstDash val="solid"/>
          </a:ln>
        </p:spPr>
      </p:sp>
      <p:sp>
        <p:nvSpPr>
          <p:cNvPr id="24" name="Text 21"/>
          <p:cNvSpPr txBox="1"/>
          <p:nvPr/>
        </p:nvSpPr>
        <p:spPr>
          <a:xfrm>
            <a:off x="795528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5" name="Text 22"/>
          <p:cNvSpPr txBox="1"/>
          <p:nvPr/>
        </p:nvSpPr>
        <p:spPr>
          <a:xfrm>
            <a:off x="8595360" y="306324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eta</a:t>
            </a:r>
            <a:endParaRPr lang="en-US" sz="1400" dirty="0"/>
          </a:p>
        </p:txBody>
      </p:sp>
      <p:sp>
        <p:nvSpPr>
          <p:cNvPr id="26" name="Text 23"/>
          <p:cNvSpPr txBox="1"/>
          <p:nvPr/>
        </p:nvSpPr>
        <p:spPr>
          <a:xfrm>
            <a:off x="8595360" y="342900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Taxa de aprendizado: o tamanho de cada correção.</a:t>
            </a:r>
            <a:endParaRPr lang="en-US" sz="1400" dirty="0"/>
          </a:p>
        </p:txBody>
      </p:sp>
      <p:sp>
        <p:nvSpPr>
          <p:cNvPr id="27" name="Shape 24"/>
          <p:cNvSpPr/>
          <p:nvPr/>
        </p:nvSpPr>
        <p:spPr>
          <a:xfrm>
            <a:off x="7955280" y="4434840"/>
            <a:ext cx="457200" cy="457200"/>
          </a:xfrm>
          <a:prstGeom prst="ellipse">
            <a:avLst/>
          </a:prstGeom>
          <a:solidFill>
            <a:srgbClr val="0B8A5B"/>
          </a:solidFill>
          <a:ln w="12700">
            <a:solidFill>
              <a:srgbClr val="0B8A5B"/>
            </a:solidFill>
            <a:prstDash val="solid"/>
          </a:ln>
        </p:spPr>
      </p:sp>
      <p:sp>
        <p:nvSpPr>
          <p:cNvPr id="28" name="Text 25"/>
          <p:cNvSpPr txBox="1"/>
          <p:nvPr/>
        </p:nvSpPr>
        <p:spPr>
          <a:xfrm>
            <a:off x="795528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9" name="Text 26"/>
          <p:cNvSpPr txBox="1"/>
          <p:nvPr/>
        </p:nvSpPr>
        <p:spPr>
          <a:xfrm>
            <a:off x="8595360" y="434340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prever</a:t>
            </a:r>
            <a:endParaRPr lang="en-US" sz="1400" dirty="0"/>
          </a:p>
        </p:txBody>
      </p:sp>
      <p:sp>
        <p:nvSpPr>
          <p:cNvPr id="30" name="Text 27"/>
          <p:cNvSpPr txBox="1"/>
          <p:nvPr/>
        </p:nvSpPr>
        <p:spPr>
          <a:xfrm>
            <a:off x="8595360" y="470916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O neurônio da aula: soma ponderada e degrau.</a:t>
            </a:r>
            <a:endParaRPr lang="en-US" sz="1400" dirty="0"/>
          </a:p>
        </p:txBody>
      </p:sp>
      <p:sp>
        <p:nvSpPr>
          <p:cNvPr id="31" name="Text 28"/>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2" name="Text 29"/>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PERCEPTRON · PRÁTICA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Perceptron em Python (2/2): o treino</a:t>
            </a:r>
            <a:endParaRPr lang="en-US" sz="3000" dirty="0"/>
          </a:p>
        </p:txBody>
      </p:sp>
      <p:sp>
        <p:nvSpPr>
          <p:cNvPr id="6" name="Shape 3"/>
          <p:cNvSpPr/>
          <p:nvPr/>
        </p:nvSpPr>
        <p:spPr>
          <a:xfrm>
            <a:off x="640080" y="1783080"/>
            <a:ext cx="6949440" cy="3703320"/>
          </a:xfrm>
          <a:prstGeom prst="roundRect">
            <a:avLst>
              <a:gd name="adj" fmla="val 2963"/>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perceptron.py (continuação)</a:t>
            </a:r>
            <a:endParaRPr lang="en-US" sz="1100" dirty="0"/>
          </a:p>
        </p:txBody>
      </p:sp>
      <p:sp>
        <p:nvSpPr>
          <p:cNvPr id="11" name="Text 8"/>
          <p:cNvSpPr txBox="1"/>
          <p:nvPr/>
        </p:nvSpPr>
        <p:spPr>
          <a:xfrm>
            <a:off x="914400" y="22860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treinar</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self</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epocas</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20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2" name="Text 9"/>
          <p:cNvSpPr txBox="1"/>
          <p:nvPr/>
        </p:nvSpPr>
        <p:spPr>
          <a:xfrm>
            <a:off x="914400" y="25336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for</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ep</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in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8CC8FF"/>
                </a:solidFill>
                <a:latin typeface="Courier New" pitchFamily="34" charset="0"/>
                <a:ea typeface="Courier New" pitchFamily="34" charset="-122"/>
                <a:cs typeface="Courier New" pitchFamily="34" charset="-120"/>
              </a:rPr>
              <a:t>range</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epocas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3" name="Text 10"/>
          <p:cNvSpPr txBox="1"/>
          <p:nvPr/>
        </p:nvSpPr>
        <p:spPr>
          <a:xfrm>
            <a:off x="914400" y="27813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erros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endParaRPr lang="en-US" sz="1300" dirty="0"/>
          </a:p>
        </p:txBody>
      </p:sp>
      <p:sp>
        <p:nvSpPr>
          <p:cNvPr id="14" name="Text 11"/>
          <p:cNvSpPr txBox="1"/>
          <p:nvPr/>
        </p:nvSpPr>
        <p:spPr>
          <a:xfrm>
            <a:off x="914400" y="30289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for</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xi</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yi</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in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zip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5" name="Text 12"/>
          <p:cNvSpPr txBox="1"/>
          <p:nvPr/>
        </p:nvSpPr>
        <p:spPr>
          <a:xfrm>
            <a:off x="914400" y="32766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erro</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yi</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self</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prever</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xi</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6" name="Text 13"/>
          <p:cNvSpPr txBox="1"/>
          <p:nvPr/>
        </p:nvSpPr>
        <p:spPr>
          <a:xfrm>
            <a:off x="914400" y="35242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if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erro</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7" name="Text 14"/>
          <p:cNvSpPr txBox="1"/>
          <p:nvPr/>
        </p:nvSpPr>
        <p:spPr>
          <a:xfrm>
            <a:off x="914400" y="37719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self</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w</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self</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eta</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erro</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xi</a:t>
            </a:r>
            <a:endParaRPr lang="en-US" sz="1300" dirty="0"/>
          </a:p>
        </p:txBody>
      </p:sp>
      <p:sp>
        <p:nvSpPr>
          <p:cNvPr id="18" name="Text 15"/>
          <p:cNvSpPr txBox="1"/>
          <p:nvPr/>
        </p:nvSpPr>
        <p:spPr>
          <a:xfrm>
            <a:off x="914400" y="40195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self</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b</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self</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eta</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erro</a:t>
            </a:r>
            <a:endParaRPr lang="en-US" sz="1300" dirty="0"/>
          </a:p>
        </p:txBody>
      </p:sp>
      <p:sp>
        <p:nvSpPr>
          <p:cNvPr id="19" name="Text 16"/>
          <p:cNvSpPr txBox="1"/>
          <p:nvPr/>
        </p:nvSpPr>
        <p:spPr>
          <a:xfrm>
            <a:off x="914400" y="42672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erros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1</a:t>
            </a:r>
            <a:endParaRPr lang="en-US" sz="1300" dirty="0"/>
          </a:p>
        </p:txBody>
      </p:sp>
      <p:sp>
        <p:nvSpPr>
          <p:cNvPr id="20" name="Text 17"/>
          <p:cNvSpPr txBox="1"/>
          <p:nvPr/>
        </p:nvSpPr>
        <p:spPr>
          <a:xfrm>
            <a:off x="914400" y="45148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if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erros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21" name="Text 18"/>
          <p:cNvSpPr txBox="1"/>
          <p:nvPr/>
        </p:nvSpPr>
        <p:spPr>
          <a:xfrm>
            <a:off x="914400" y="47625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ep</a:t>
            </a:r>
            <a:endParaRPr lang="en-US" sz="1300" dirty="0"/>
          </a:p>
        </p:txBody>
      </p:sp>
      <p:sp>
        <p:nvSpPr>
          <p:cNvPr id="22" name="Text 19"/>
          <p:cNvSpPr txBox="1"/>
          <p:nvPr/>
        </p:nvSpPr>
        <p:spPr>
          <a:xfrm>
            <a:off x="914400" y="50101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None</a:t>
            </a:r>
            <a:endParaRPr lang="en-US" sz="1300" dirty="0"/>
          </a:p>
        </p:txBody>
      </p:sp>
      <p:sp>
        <p:nvSpPr>
          <p:cNvPr id="23" name="Shape 20"/>
          <p:cNvSpPr/>
          <p:nvPr/>
        </p:nvSpPr>
        <p:spPr>
          <a:xfrm>
            <a:off x="7955280" y="1874520"/>
            <a:ext cx="457200" cy="457200"/>
          </a:xfrm>
          <a:prstGeom prst="ellipse">
            <a:avLst/>
          </a:prstGeom>
          <a:solidFill>
            <a:srgbClr val="0B8A5B"/>
          </a:solidFill>
          <a:ln w="12700">
            <a:solidFill>
              <a:srgbClr val="0B8A5B"/>
            </a:solidFill>
            <a:prstDash val="solid"/>
          </a:ln>
        </p:spPr>
      </p:sp>
      <p:sp>
        <p:nvSpPr>
          <p:cNvPr id="24" name="Text 21"/>
          <p:cNvSpPr txBox="1"/>
          <p:nvPr/>
        </p:nvSpPr>
        <p:spPr>
          <a:xfrm>
            <a:off x="79552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5" name="Text 22"/>
          <p:cNvSpPr txBox="1"/>
          <p:nvPr/>
        </p:nvSpPr>
        <p:spPr>
          <a:xfrm>
            <a:off x="8595360" y="178308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erro = yi - ...</a:t>
            </a:r>
            <a:endParaRPr lang="en-US" sz="1400" dirty="0"/>
          </a:p>
        </p:txBody>
      </p:sp>
      <p:sp>
        <p:nvSpPr>
          <p:cNvPr id="26" name="Text 23"/>
          <p:cNvSpPr txBox="1"/>
          <p:nvPr/>
        </p:nvSpPr>
        <p:spPr>
          <a:xfrm>
            <a:off x="8595360" y="214884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Diferença entre a resposta certa e a previsão.</a:t>
            </a:r>
            <a:endParaRPr lang="en-US" sz="1400" dirty="0"/>
          </a:p>
        </p:txBody>
      </p:sp>
      <p:sp>
        <p:nvSpPr>
          <p:cNvPr id="27" name="Shape 24"/>
          <p:cNvSpPr/>
          <p:nvPr/>
        </p:nvSpPr>
        <p:spPr>
          <a:xfrm>
            <a:off x="7955280" y="3154680"/>
            <a:ext cx="457200" cy="457200"/>
          </a:xfrm>
          <a:prstGeom prst="ellipse">
            <a:avLst/>
          </a:prstGeom>
          <a:solidFill>
            <a:srgbClr val="0B8A5B"/>
          </a:solidFill>
          <a:ln w="12700">
            <a:solidFill>
              <a:srgbClr val="0B8A5B"/>
            </a:solidFill>
            <a:prstDash val="solid"/>
          </a:ln>
        </p:spPr>
      </p:sp>
      <p:sp>
        <p:nvSpPr>
          <p:cNvPr id="28" name="Text 25"/>
          <p:cNvSpPr txBox="1"/>
          <p:nvPr/>
        </p:nvSpPr>
        <p:spPr>
          <a:xfrm>
            <a:off x="795528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9" name="Text 26"/>
          <p:cNvSpPr txBox="1"/>
          <p:nvPr/>
        </p:nvSpPr>
        <p:spPr>
          <a:xfrm>
            <a:off x="8595360" y="306324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self.w += ...</a:t>
            </a:r>
            <a:endParaRPr lang="en-US" sz="1400" dirty="0"/>
          </a:p>
        </p:txBody>
      </p:sp>
      <p:sp>
        <p:nvSpPr>
          <p:cNvPr id="30" name="Text 27"/>
          <p:cNvSpPr txBox="1"/>
          <p:nvPr/>
        </p:nvSpPr>
        <p:spPr>
          <a:xfrm>
            <a:off x="8595360" y="342900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A regra do slide anterior, em código.</a:t>
            </a:r>
            <a:endParaRPr lang="en-US" sz="1400" dirty="0"/>
          </a:p>
        </p:txBody>
      </p:sp>
      <p:sp>
        <p:nvSpPr>
          <p:cNvPr id="31" name="Shape 28"/>
          <p:cNvSpPr/>
          <p:nvPr/>
        </p:nvSpPr>
        <p:spPr>
          <a:xfrm>
            <a:off x="7955280" y="4434840"/>
            <a:ext cx="457200" cy="457200"/>
          </a:xfrm>
          <a:prstGeom prst="ellipse">
            <a:avLst/>
          </a:prstGeom>
          <a:solidFill>
            <a:srgbClr val="0B8A5B"/>
          </a:solidFill>
          <a:ln w="12700">
            <a:solidFill>
              <a:srgbClr val="0B8A5B"/>
            </a:solidFill>
            <a:prstDash val="solid"/>
          </a:ln>
        </p:spPr>
      </p:sp>
      <p:sp>
        <p:nvSpPr>
          <p:cNvPr id="32" name="Text 29"/>
          <p:cNvSpPr txBox="1"/>
          <p:nvPr/>
        </p:nvSpPr>
        <p:spPr>
          <a:xfrm>
            <a:off x="795528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3" name="Text 30"/>
          <p:cNvSpPr txBox="1"/>
          <p:nvPr/>
        </p:nvSpPr>
        <p:spPr>
          <a:xfrm>
            <a:off x="8595360" y="434340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erros == 0</a:t>
            </a:r>
            <a:endParaRPr lang="en-US" sz="1400" dirty="0"/>
          </a:p>
        </p:txBody>
      </p:sp>
      <p:sp>
        <p:nvSpPr>
          <p:cNvPr id="34" name="Text 31"/>
          <p:cNvSpPr txBox="1"/>
          <p:nvPr/>
        </p:nvSpPr>
        <p:spPr>
          <a:xfrm>
            <a:off x="8595360" y="470916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Uma época sem erros: converge. Devolve o número da época.</a:t>
            </a:r>
            <a:endParaRPr lang="en-US" sz="1400" dirty="0"/>
          </a:p>
        </p:txBody>
      </p:sp>
      <p:sp>
        <p:nvSpPr>
          <p:cNvPr id="35" name="Text 32"/>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6" name="Text 33"/>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PERCEPTRON · PASSO A PASSO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Aprendendo o AND, época por época</a:t>
            </a:r>
            <a:endParaRPr lang="en-US" sz="3000" dirty="0"/>
          </a:p>
        </p:txBody>
      </p:sp>
      <p:sp>
        <p:nvSpPr>
          <p:cNvPr id="6" name="Shape 3"/>
          <p:cNvSpPr/>
          <p:nvPr/>
        </p:nvSpPr>
        <p:spPr>
          <a:xfrm>
            <a:off x="640080" y="1783080"/>
            <a:ext cx="10908792"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12801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Época</a:t>
            </a:r>
            <a:endParaRPr lang="en-US" sz="1300" dirty="0"/>
          </a:p>
        </p:txBody>
      </p:sp>
      <p:sp>
        <p:nvSpPr>
          <p:cNvPr id="8" name="Text 5"/>
          <p:cNvSpPr txBox="1"/>
          <p:nvPr/>
        </p:nvSpPr>
        <p:spPr>
          <a:xfrm>
            <a:off x="2212848" y="1783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Pesos w</a:t>
            </a:r>
            <a:endParaRPr lang="en-US" sz="1300" dirty="0"/>
          </a:p>
        </p:txBody>
      </p:sp>
      <p:sp>
        <p:nvSpPr>
          <p:cNvPr id="9" name="Text 6"/>
          <p:cNvSpPr txBox="1"/>
          <p:nvPr/>
        </p:nvSpPr>
        <p:spPr>
          <a:xfrm>
            <a:off x="5138928" y="1783080"/>
            <a:ext cx="14630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Viés b</a:t>
            </a:r>
            <a:endParaRPr lang="en-US" sz="1300" dirty="0"/>
          </a:p>
        </p:txBody>
      </p:sp>
      <p:sp>
        <p:nvSpPr>
          <p:cNvPr id="10" name="Text 7"/>
          <p:cNvSpPr txBox="1"/>
          <p:nvPr/>
        </p:nvSpPr>
        <p:spPr>
          <a:xfrm>
            <a:off x="6784848" y="1783080"/>
            <a:ext cx="1645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Erros</a:t>
            </a:r>
            <a:endParaRPr lang="en-US" sz="1300" dirty="0"/>
          </a:p>
        </p:txBody>
      </p:sp>
      <p:sp>
        <p:nvSpPr>
          <p:cNvPr id="11" name="Text 8"/>
          <p:cNvSpPr txBox="1"/>
          <p:nvPr/>
        </p:nvSpPr>
        <p:spPr>
          <a:xfrm>
            <a:off x="8613648" y="1783080"/>
            <a:ext cx="2862072"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Leitura</a:t>
            </a:r>
            <a:endParaRPr lang="en-US" sz="1300" dirty="0"/>
          </a:p>
        </p:txBody>
      </p:sp>
      <p:sp>
        <p:nvSpPr>
          <p:cNvPr id="12" name="Shape 9"/>
          <p:cNvSpPr/>
          <p:nvPr/>
        </p:nvSpPr>
        <p:spPr>
          <a:xfrm>
            <a:off x="640080" y="2313432"/>
            <a:ext cx="10908792" cy="548640"/>
          </a:xfrm>
          <a:prstGeom prst="roundRect">
            <a:avLst>
              <a:gd name="adj" fmla="val 13333"/>
            </a:avLst>
          </a:prstGeom>
          <a:solidFill>
            <a:srgbClr val="F1F6F3"/>
          </a:solidFill>
          <a:ln w="12700">
            <a:solidFill>
              <a:srgbClr val="F1F6F3"/>
            </a:solidFill>
            <a:prstDash val="solid"/>
          </a:ln>
        </p:spPr>
      </p:sp>
      <p:sp>
        <p:nvSpPr>
          <p:cNvPr id="13" name="Text 10"/>
          <p:cNvSpPr txBox="1"/>
          <p:nvPr/>
        </p:nvSpPr>
        <p:spPr>
          <a:xfrm>
            <a:off x="749808" y="2313432"/>
            <a:ext cx="128016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14" name="Text 11"/>
          <p:cNvSpPr txBox="1"/>
          <p:nvPr/>
        </p:nvSpPr>
        <p:spPr>
          <a:xfrm>
            <a:off x="2212848" y="2313432"/>
            <a:ext cx="274320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[0,1  0,1]</a:t>
            </a:r>
            <a:endParaRPr lang="en-US" sz="1200" dirty="0"/>
          </a:p>
        </p:txBody>
      </p:sp>
      <p:sp>
        <p:nvSpPr>
          <p:cNvPr id="15" name="Text 12"/>
          <p:cNvSpPr txBox="1"/>
          <p:nvPr/>
        </p:nvSpPr>
        <p:spPr>
          <a:xfrm>
            <a:off x="5138928" y="2313432"/>
            <a:ext cx="146304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a:t>
            </a:r>
            <a:endParaRPr lang="en-US" sz="1200" dirty="0"/>
          </a:p>
        </p:txBody>
      </p:sp>
      <p:sp>
        <p:nvSpPr>
          <p:cNvPr id="16" name="Text 13"/>
          <p:cNvSpPr txBox="1"/>
          <p:nvPr/>
        </p:nvSpPr>
        <p:spPr>
          <a:xfrm>
            <a:off x="6784848" y="2313432"/>
            <a:ext cx="164592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2</a:t>
            </a:r>
            <a:endParaRPr lang="en-US" sz="1200" dirty="0"/>
          </a:p>
        </p:txBody>
      </p:sp>
      <p:sp>
        <p:nvSpPr>
          <p:cNvPr id="17" name="Text 14"/>
          <p:cNvSpPr txBox="1"/>
          <p:nvPr/>
        </p:nvSpPr>
        <p:spPr>
          <a:xfrm>
            <a:off x="8613648" y="2313432"/>
            <a:ext cx="2862072" cy="548640"/>
          </a:xfrm>
          <a:prstGeom prst="rect">
            <a:avLst/>
          </a:prstGeom>
          <a:noFill/>
          <a:ln/>
        </p:spPr>
        <p:txBody>
          <a:bodyPr wrap="square" lIns="0" tIns="0" rIns="0" bIns="0" rtlCol="0" anchor="ctr"/>
          <a:lstStyle/>
          <a:p>
            <a:pPr indent="0" marL="0">
              <a:buNone/>
            </a:pPr>
            <a:r>
              <a:rPr lang="en-US" sz="1300" dirty="0">
                <a:solidFill>
                  <a:srgbClr val="0B1A12"/>
                </a:solidFill>
                <a:latin typeface="Calibri" pitchFamily="34" charset="0"/>
                <a:ea typeface="Calibri" pitchFamily="34" charset="-122"/>
                <a:cs typeface="Calibri" pitchFamily="34" charset="-120"/>
              </a:rPr>
              <a:t>primeiras correções</a:t>
            </a:r>
            <a:endParaRPr lang="en-US" sz="1300" dirty="0"/>
          </a:p>
        </p:txBody>
      </p:sp>
      <p:sp>
        <p:nvSpPr>
          <p:cNvPr id="18" name="Shape 15"/>
          <p:cNvSpPr/>
          <p:nvPr/>
        </p:nvSpPr>
        <p:spPr>
          <a:xfrm>
            <a:off x="640080" y="2916936"/>
            <a:ext cx="10908792" cy="548640"/>
          </a:xfrm>
          <a:prstGeom prst="roundRect">
            <a:avLst>
              <a:gd name="adj" fmla="val 13333"/>
            </a:avLst>
          </a:prstGeom>
          <a:solidFill>
            <a:srgbClr val="E6EEE9"/>
          </a:solidFill>
          <a:ln w="12700">
            <a:solidFill>
              <a:srgbClr val="E6EEE9"/>
            </a:solidFill>
            <a:prstDash val="solid"/>
          </a:ln>
        </p:spPr>
      </p:sp>
      <p:sp>
        <p:nvSpPr>
          <p:cNvPr id="19" name="Text 16"/>
          <p:cNvSpPr txBox="1"/>
          <p:nvPr/>
        </p:nvSpPr>
        <p:spPr>
          <a:xfrm>
            <a:off x="749808" y="2916936"/>
            <a:ext cx="128016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2</a:t>
            </a:r>
            <a:endParaRPr lang="en-US" sz="1200" dirty="0"/>
          </a:p>
        </p:txBody>
      </p:sp>
      <p:sp>
        <p:nvSpPr>
          <p:cNvPr id="20" name="Text 17"/>
          <p:cNvSpPr txBox="1"/>
          <p:nvPr/>
        </p:nvSpPr>
        <p:spPr>
          <a:xfrm>
            <a:off x="2212848" y="2916936"/>
            <a:ext cx="274320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[0,2  0,1]</a:t>
            </a:r>
            <a:endParaRPr lang="en-US" sz="1200" dirty="0"/>
          </a:p>
        </p:txBody>
      </p:sp>
      <p:sp>
        <p:nvSpPr>
          <p:cNvPr id="21" name="Text 18"/>
          <p:cNvSpPr txBox="1"/>
          <p:nvPr/>
        </p:nvSpPr>
        <p:spPr>
          <a:xfrm>
            <a:off x="5138928" y="2916936"/>
            <a:ext cx="146304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−0,1</a:t>
            </a:r>
            <a:endParaRPr lang="en-US" sz="1200" dirty="0"/>
          </a:p>
        </p:txBody>
      </p:sp>
      <p:sp>
        <p:nvSpPr>
          <p:cNvPr id="22" name="Text 19"/>
          <p:cNvSpPr txBox="1"/>
          <p:nvPr/>
        </p:nvSpPr>
        <p:spPr>
          <a:xfrm>
            <a:off x="6784848" y="2916936"/>
            <a:ext cx="164592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3</a:t>
            </a:r>
            <a:endParaRPr lang="en-US" sz="1200" dirty="0"/>
          </a:p>
        </p:txBody>
      </p:sp>
      <p:sp>
        <p:nvSpPr>
          <p:cNvPr id="23" name="Text 20"/>
          <p:cNvSpPr txBox="1"/>
          <p:nvPr/>
        </p:nvSpPr>
        <p:spPr>
          <a:xfrm>
            <a:off x="8613648" y="2916936"/>
            <a:ext cx="2862072" cy="548640"/>
          </a:xfrm>
          <a:prstGeom prst="rect">
            <a:avLst/>
          </a:prstGeom>
          <a:noFill/>
          <a:ln/>
        </p:spPr>
        <p:txBody>
          <a:bodyPr wrap="square" lIns="0" tIns="0" rIns="0" bIns="0" rtlCol="0" anchor="ctr"/>
          <a:lstStyle/>
          <a:p>
            <a:pPr indent="0" marL="0">
              <a:buNone/>
            </a:pPr>
            <a:r>
              <a:rPr lang="en-US" sz="1300" dirty="0">
                <a:solidFill>
                  <a:srgbClr val="0B1A12"/>
                </a:solidFill>
                <a:latin typeface="Calibri" pitchFamily="34" charset="0"/>
                <a:ea typeface="Calibri" pitchFamily="34" charset="-122"/>
                <a:cs typeface="Calibri" pitchFamily="34" charset="-120"/>
              </a:rPr>
              <a:t>ainda errando</a:t>
            </a:r>
            <a:endParaRPr lang="en-US" sz="1300" dirty="0"/>
          </a:p>
        </p:txBody>
      </p:sp>
      <p:sp>
        <p:nvSpPr>
          <p:cNvPr id="24" name="Shape 21"/>
          <p:cNvSpPr/>
          <p:nvPr/>
        </p:nvSpPr>
        <p:spPr>
          <a:xfrm>
            <a:off x="640080" y="3520440"/>
            <a:ext cx="10908792" cy="548640"/>
          </a:xfrm>
          <a:prstGeom prst="roundRect">
            <a:avLst>
              <a:gd name="adj" fmla="val 13333"/>
            </a:avLst>
          </a:prstGeom>
          <a:solidFill>
            <a:srgbClr val="F1F6F3"/>
          </a:solidFill>
          <a:ln w="12700">
            <a:solidFill>
              <a:srgbClr val="F1F6F3"/>
            </a:solidFill>
            <a:prstDash val="solid"/>
          </a:ln>
        </p:spPr>
      </p:sp>
      <p:sp>
        <p:nvSpPr>
          <p:cNvPr id="25" name="Text 22"/>
          <p:cNvSpPr txBox="1"/>
          <p:nvPr/>
        </p:nvSpPr>
        <p:spPr>
          <a:xfrm>
            <a:off x="749808" y="3520440"/>
            <a:ext cx="128016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3</a:t>
            </a:r>
            <a:endParaRPr lang="en-US" sz="1200" dirty="0"/>
          </a:p>
        </p:txBody>
      </p:sp>
      <p:sp>
        <p:nvSpPr>
          <p:cNvPr id="26" name="Text 23"/>
          <p:cNvSpPr txBox="1"/>
          <p:nvPr/>
        </p:nvSpPr>
        <p:spPr>
          <a:xfrm>
            <a:off x="2212848" y="3520440"/>
            <a:ext cx="274320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[0,2  0,1]</a:t>
            </a:r>
            <a:endParaRPr lang="en-US" sz="1200" dirty="0"/>
          </a:p>
        </p:txBody>
      </p:sp>
      <p:sp>
        <p:nvSpPr>
          <p:cNvPr id="27" name="Text 24"/>
          <p:cNvSpPr txBox="1"/>
          <p:nvPr/>
        </p:nvSpPr>
        <p:spPr>
          <a:xfrm>
            <a:off x="5138928" y="3520440"/>
            <a:ext cx="146304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−0,2</a:t>
            </a:r>
            <a:endParaRPr lang="en-US" sz="1200" dirty="0"/>
          </a:p>
        </p:txBody>
      </p:sp>
      <p:sp>
        <p:nvSpPr>
          <p:cNvPr id="28" name="Text 25"/>
          <p:cNvSpPr txBox="1"/>
          <p:nvPr/>
        </p:nvSpPr>
        <p:spPr>
          <a:xfrm>
            <a:off x="6784848" y="3520440"/>
            <a:ext cx="164592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3</a:t>
            </a:r>
            <a:endParaRPr lang="en-US" sz="1200" dirty="0"/>
          </a:p>
        </p:txBody>
      </p:sp>
      <p:sp>
        <p:nvSpPr>
          <p:cNvPr id="29" name="Text 26"/>
          <p:cNvSpPr txBox="1"/>
          <p:nvPr/>
        </p:nvSpPr>
        <p:spPr>
          <a:xfrm>
            <a:off x="8613648" y="3520440"/>
            <a:ext cx="2862072" cy="548640"/>
          </a:xfrm>
          <a:prstGeom prst="rect">
            <a:avLst/>
          </a:prstGeom>
          <a:noFill/>
          <a:ln/>
        </p:spPr>
        <p:txBody>
          <a:bodyPr wrap="square" lIns="0" tIns="0" rIns="0" bIns="0" rtlCol="0" anchor="ctr"/>
          <a:lstStyle/>
          <a:p>
            <a:pPr indent="0" marL="0">
              <a:buNone/>
            </a:pPr>
            <a:r>
              <a:rPr lang="en-US" sz="1300" dirty="0">
                <a:solidFill>
                  <a:srgbClr val="0B1A12"/>
                </a:solidFill>
                <a:latin typeface="Calibri" pitchFamily="34" charset="0"/>
                <a:ea typeface="Calibri" pitchFamily="34" charset="-122"/>
                <a:cs typeface="Calibri" pitchFamily="34" charset="-120"/>
              </a:rPr>
              <a:t>ajustando o viés</a:t>
            </a:r>
            <a:endParaRPr lang="en-US" sz="1300" dirty="0"/>
          </a:p>
        </p:txBody>
      </p:sp>
      <p:sp>
        <p:nvSpPr>
          <p:cNvPr id="30" name="Shape 27"/>
          <p:cNvSpPr/>
          <p:nvPr/>
        </p:nvSpPr>
        <p:spPr>
          <a:xfrm>
            <a:off x="640080" y="4123944"/>
            <a:ext cx="10908792" cy="548640"/>
          </a:xfrm>
          <a:prstGeom prst="roundRect">
            <a:avLst>
              <a:gd name="adj" fmla="val 13333"/>
            </a:avLst>
          </a:prstGeom>
          <a:solidFill>
            <a:srgbClr val="FFEBDD"/>
          </a:solidFill>
          <a:ln w="12700">
            <a:solidFill>
              <a:srgbClr val="FFEBDD"/>
            </a:solidFill>
            <a:prstDash val="solid"/>
          </a:ln>
        </p:spPr>
      </p:sp>
      <p:sp>
        <p:nvSpPr>
          <p:cNvPr id="31" name="Text 28"/>
          <p:cNvSpPr txBox="1"/>
          <p:nvPr/>
        </p:nvSpPr>
        <p:spPr>
          <a:xfrm>
            <a:off x="749808" y="4123944"/>
            <a:ext cx="128016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4</a:t>
            </a:r>
            <a:endParaRPr lang="en-US" sz="1200" dirty="0"/>
          </a:p>
        </p:txBody>
      </p:sp>
      <p:sp>
        <p:nvSpPr>
          <p:cNvPr id="32" name="Text 29"/>
          <p:cNvSpPr txBox="1"/>
          <p:nvPr/>
        </p:nvSpPr>
        <p:spPr>
          <a:xfrm>
            <a:off x="2212848" y="4123944"/>
            <a:ext cx="274320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[0,2  0,1]</a:t>
            </a:r>
            <a:endParaRPr lang="en-US" sz="1200" dirty="0"/>
          </a:p>
        </p:txBody>
      </p:sp>
      <p:sp>
        <p:nvSpPr>
          <p:cNvPr id="33" name="Text 30"/>
          <p:cNvSpPr txBox="1"/>
          <p:nvPr/>
        </p:nvSpPr>
        <p:spPr>
          <a:xfrm>
            <a:off x="5138928" y="4123944"/>
            <a:ext cx="146304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−0,2</a:t>
            </a:r>
            <a:endParaRPr lang="en-US" sz="1200" dirty="0"/>
          </a:p>
        </p:txBody>
      </p:sp>
      <p:sp>
        <p:nvSpPr>
          <p:cNvPr id="34" name="Text 31"/>
          <p:cNvSpPr txBox="1"/>
          <p:nvPr/>
        </p:nvSpPr>
        <p:spPr>
          <a:xfrm>
            <a:off x="6784848" y="4123944"/>
            <a:ext cx="1645920" cy="548640"/>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35" name="Text 32"/>
          <p:cNvSpPr txBox="1"/>
          <p:nvPr/>
        </p:nvSpPr>
        <p:spPr>
          <a:xfrm>
            <a:off x="8613648" y="4123944"/>
            <a:ext cx="2862072" cy="548640"/>
          </a:xfrm>
          <a:prstGeom prst="rect">
            <a:avLst/>
          </a:prstGeom>
          <a:noFill/>
          <a:ln/>
        </p:spPr>
        <p:txBody>
          <a:bodyPr wrap="square" lIns="0" tIns="0" rIns="0" bIns="0" rtlCol="0" anchor="ctr"/>
          <a:lstStyle/>
          <a:p>
            <a:pPr indent="0" marL="0">
              <a:buNone/>
            </a:pPr>
            <a:r>
              <a:rPr lang="en-US" sz="1300" dirty="0">
                <a:solidFill>
                  <a:srgbClr val="0B1A12"/>
                </a:solidFill>
                <a:latin typeface="Calibri" pitchFamily="34" charset="0"/>
                <a:ea typeface="Calibri" pitchFamily="34" charset="-122"/>
                <a:cs typeface="Calibri" pitchFamily="34" charset="-120"/>
              </a:rPr>
              <a:t>convergiu</a:t>
            </a:r>
            <a:endParaRPr lang="en-US" sz="1300" dirty="0"/>
          </a:p>
        </p:txBody>
      </p:sp>
      <p:sp>
        <p:nvSpPr>
          <p:cNvPr id="36" name="Shape 33"/>
          <p:cNvSpPr/>
          <p:nvPr/>
        </p:nvSpPr>
        <p:spPr>
          <a:xfrm>
            <a:off x="640080" y="4892040"/>
            <a:ext cx="10911535" cy="1234440"/>
          </a:xfrm>
          <a:prstGeom prst="roundRect">
            <a:avLst>
              <a:gd name="adj" fmla="val 8889"/>
            </a:avLst>
          </a:prstGeom>
          <a:solidFill>
            <a:srgbClr val="FFEBDD"/>
          </a:solidFill>
          <a:ln w="12700">
            <a:solidFill>
              <a:srgbClr val="FFEBDD"/>
            </a:solidFill>
            <a:prstDash val="solid"/>
          </a:ln>
        </p:spPr>
      </p:sp>
      <p:sp>
        <p:nvSpPr>
          <p:cNvPr id="37" name="Text 34"/>
          <p:cNvSpPr txBox="1"/>
          <p:nvPr/>
        </p:nvSpPr>
        <p:spPr>
          <a:xfrm>
            <a:off x="914400" y="4892040"/>
            <a:ext cx="10362895" cy="123444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Com η = 0,1 e pesos zerados, o perceptron acha pesos que separam o AND em 4 épocas: w = [0,2; 0,1] e b = −0,2. Só dispara quando 0,2·x1 + 0,1·x2 ≥ 0,2, isto é, quando x1 = x2 = 1.</a:t>
            </a:r>
            <a:endParaRPr lang="en-US" sz="1400" dirty="0"/>
          </a:p>
        </p:txBody>
      </p:sp>
      <p:sp>
        <p:nvSpPr>
          <p:cNvPr id="38" name="Text 35"/>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9" name="Text 36"/>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PERCEPTRON · PRÁTICA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Treinando o perceptron em AND, OR e XOR</a:t>
            </a:r>
            <a:endParaRPr lang="en-US" sz="3000" dirty="0"/>
          </a:p>
        </p:txBody>
      </p:sp>
      <p:sp>
        <p:nvSpPr>
          <p:cNvPr id="6" name="Shape 3"/>
          <p:cNvSpPr/>
          <p:nvPr/>
        </p:nvSpPr>
        <p:spPr>
          <a:xfrm>
            <a:off x="640080" y="1783080"/>
            <a:ext cx="6309360" cy="2560320"/>
          </a:xfrm>
          <a:prstGeom prst="roundRect">
            <a:avLst>
              <a:gd name="adj" fmla="val 4286"/>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2120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perceptron.py (final do arquivo)</a:t>
            </a:r>
            <a:endParaRPr lang="en-US" sz="1100" dirty="0"/>
          </a:p>
        </p:txBody>
      </p:sp>
      <p:sp>
        <p:nvSpPr>
          <p:cNvPr id="11" name="Text 8"/>
          <p:cNvSpPr txBox="1"/>
          <p:nvPr/>
        </p:nvSpPr>
        <p:spPr>
          <a:xfrm>
            <a:off x="914400" y="2286000"/>
            <a:ext cx="57607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2" name="Text 9"/>
          <p:cNvSpPr txBox="1"/>
          <p:nvPr/>
        </p:nvSpPr>
        <p:spPr>
          <a:xfrm>
            <a:off x="914400" y="2514600"/>
            <a:ext cx="57607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dtype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float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3" name="Text 10"/>
          <p:cNvSpPr txBox="1"/>
          <p:nvPr/>
        </p:nvSpPr>
        <p:spPr>
          <a:xfrm>
            <a:off x="914400" y="2743200"/>
            <a:ext cx="5760720" cy="228600"/>
          </a:xfrm>
          <a:prstGeom prst="rect">
            <a:avLst/>
          </a:prstGeom>
          <a:noFill/>
          <a:ln/>
        </p:spPr>
        <p:txBody>
          <a:bodyPr wrap="none" lIns="0" tIns="0" rIns="0" bIns="0" rtlCol="0" anchor="ctr"/>
          <a:lstStyle/>
          <a:p>
            <a:pPr indent="0" marL="0">
              <a:buNone/>
            </a:pPr>
            <a:r>
              <a:rPr lang="en-US" sz="1200" dirty="0">
                <a:solidFill>
                  <a:srgbClr val="FF9D5C"/>
                </a:solidFill>
                <a:latin typeface="Courier New" pitchFamily="34" charset="0"/>
                <a:ea typeface="Courier New" pitchFamily="34" charset="-122"/>
                <a:cs typeface="Courier New" pitchFamily="34" charset="-120"/>
              </a:rPr>
              <a:t>for</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nome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y</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"AND"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"OR"</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4" name="Text 11"/>
          <p:cNvSpPr txBox="1"/>
          <p:nvPr/>
        </p:nvSpPr>
        <p:spPr>
          <a:xfrm>
            <a:off x="914400" y="2971800"/>
            <a:ext cx="57607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"XOR"</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5" name="Text 12"/>
          <p:cNvSpPr txBox="1"/>
          <p:nvPr/>
        </p:nvSpPr>
        <p:spPr>
          <a:xfrm>
            <a:off x="914400" y="3200400"/>
            <a:ext cx="57607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Perceptron</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2</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6" name="Text 13"/>
          <p:cNvSpPr txBox="1"/>
          <p:nvPr/>
        </p:nvSpPr>
        <p:spPr>
          <a:xfrm>
            <a:off x="914400" y="3429000"/>
            <a:ext cx="57607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ep</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treinar</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7" name="Text 14"/>
          <p:cNvSpPr txBox="1"/>
          <p:nvPr/>
        </p:nvSpPr>
        <p:spPr>
          <a:xfrm>
            <a:off x="914400" y="3657600"/>
            <a:ext cx="57607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previsoes</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prever</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for</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8" name="Text 15"/>
          <p:cNvSpPr txBox="1"/>
          <p:nvPr/>
        </p:nvSpPr>
        <p:spPr>
          <a:xfrm>
            <a:off x="914400" y="3886200"/>
            <a:ext cx="57607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8CC8FF"/>
                </a:solidFill>
                <a:latin typeface="Courier New" pitchFamily="34" charset="0"/>
                <a:ea typeface="Courier New" pitchFamily="34" charset="-122"/>
                <a:cs typeface="Courier New" pitchFamily="34" charset="-120"/>
              </a:rPr>
              <a:t>print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nome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"convergiu:"</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ep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previsoes</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9" name="Shape 16"/>
          <p:cNvSpPr/>
          <p:nvPr/>
        </p:nvSpPr>
        <p:spPr>
          <a:xfrm>
            <a:off x="7342632" y="1783080"/>
            <a:ext cx="4206240" cy="457200"/>
          </a:xfrm>
          <a:prstGeom prst="roundRect">
            <a:avLst>
              <a:gd name="adj" fmla="val 20000"/>
            </a:avLst>
          </a:prstGeom>
          <a:solidFill>
            <a:srgbClr val="0F2A1D"/>
          </a:solidFill>
          <a:ln w="12700">
            <a:solidFill>
              <a:srgbClr val="0F2A1D"/>
            </a:solidFill>
            <a:prstDash val="solid"/>
          </a:ln>
        </p:spPr>
      </p:sp>
      <p:sp>
        <p:nvSpPr>
          <p:cNvPr id="20" name="Text 17"/>
          <p:cNvSpPr txBox="1"/>
          <p:nvPr/>
        </p:nvSpPr>
        <p:spPr>
          <a:xfrm>
            <a:off x="7452360" y="1783080"/>
            <a:ext cx="9144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Função</a:t>
            </a:r>
            <a:endParaRPr lang="en-US" sz="1200" dirty="0"/>
          </a:p>
        </p:txBody>
      </p:sp>
      <p:sp>
        <p:nvSpPr>
          <p:cNvPr id="21" name="Text 18"/>
          <p:cNvSpPr txBox="1"/>
          <p:nvPr/>
        </p:nvSpPr>
        <p:spPr>
          <a:xfrm>
            <a:off x="8549640" y="1783080"/>
            <a:ext cx="1554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Convergiu</a:t>
            </a:r>
            <a:endParaRPr lang="en-US" sz="1200" dirty="0"/>
          </a:p>
        </p:txBody>
      </p:sp>
      <p:sp>
        <p:nvSpPr>
          <p:cNvPr id="22" name="Text 19"/>
          <p:cNvSpPr txBox="1"/>
          <p:nvPr/>
        </p:nvSpPr>
        <p:spPr>
          <a:xfrm>
            <a:off x="10287000" y="1783080"/>
            <a:ext cx="11887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Previsões</a:t>
            </a:r>
            <a:endParaRPr lang="en-US" sz="1200" dirty="0"/>
          </a:p>
        </p:txBody>
      </p:sp>
      <p:sp>
        <p:nvSpPr>
          <p:cNvPr id="23" name="Shape 20"/>
          <p:cNvSpPr/>
          <p:nvPr/>
        </p:nvSpPr>
        <p:spPr>
          <a:xfrm>
            <a:off x="7342632" y="2313432"/>
            <a:ext cx="4206240" cy="512064"/>
          </a:xfrm>
          <a:prstGeom prst="roundRect">
            <a:avLst>
              <a:gd name="adj" fmla="val 14286"/>
            </a:avLst>
          </a:prstGeom>
          <a:solidFill>
            <a:srgbClr val="F1F6F3"/>
          </a:solidFill>
          <a:ln w="12700">
            <a:solidFill>
              <a:srgbClr val="F1F6F3"/>
            </a:solidFill>
            <a:prstDash val="solid"/>
          </a:ln>
        </p:spPr>
      </p:sp>
      <p:sp>
        <p:nvSpPr>
          <p:cNvPr id="24" name="Text 21"/>
          <p:cNvSpPr txBox="1"/>
          <p:nvPr/>
        </p:nvSpPr>
        <p:spPr>
          <a:xfrm>
            <a:off x="7452360" y="2313432"/>
            <a:ext cx="91440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AND</a:t>
            </a:r>
            <a:endParaRPr lang="en-US" sz="1100" dirty="0"/>
          </a:p>
        </p:txBody>
      </p:sp>
      <p:sp>
        <p:nvSpPr>
          <p:cNvPr id="25" name="Text 22"/>
          <p:cNvSpPr txBox="1"/>
          <p:nvPr/>
        </p:nvSpPr>
        <p:spPr>
          <a:xfrm>
            <a:off x="8549640" y="2313432"/>
            <a:ext cx="155448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época 4</a:t>
            </a:r>
            <a:endParaRPr lang="en-US" sz="1100" dirty="0"/>
          </a:p>
        </p:txBody>
      </p:sp>
      <p:sp>
        <p:nvSpPr>
          <p:cNvPr id="26" name="Text 23"/>
          <p:cNvSpPr txBox="1"/>
          <p:nvPr/>
        </p:nvSpPr>
        <p:spPr>
          <a:xfrm>
            <a:off x="10287000" y="2313432"/>
            <a:ext cx="118872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0 0 0 1</a:t>
            </a:r>
            <a:endParaRPr lang="en-US" sz="1100" dirty="0"/>
          </a:p>
        </p:txBody>
      </p:sp>
      <p:sp>
        <p:nvSpPr>
          <p:cNvPr id="27" name="Shape 24"/>
          <p:cNvSpPr/>
          <p:nvPr/>
        </p:nvSpPr>
        <p:spPr>
          <a:xfrm>
            <a:off x="7342632" y="2880360"/>
            <a:ext cx="4206240" cy="512064"/>
          </a:xfrm>
          <a:prstGeom prst="roundRect">
            <a:avLst>
              <a:gd name="adj" fmla="val 14286"/>
            </a:avLst>
          </a:prstGeom>
          <a:solidFill>
            <a:srgbClr val="E6EEE9"/>
          </a:solidFill>
          <a:ln w="12700">
            <a:solidFill>
              <a:srgbClr val="E6EEE9"/>
            </a:solidFill>
            <a:prstDash val="solid"/>
          </a:ln>
        </p:spPr>
      </p:sp>
      <p:sp>
        <p:nvSpPr>
          <p:cNvPr id="28" name="Text 25"/>
          <p:cNvSpPr txBox="1"/>
          <p:nvPr/>
        </p:nvSpPr>
        <p:spPr>
          <a:xfrm>
            <a:off x="7452360" y="2880360"/>
            <a:ext cx="91440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OR</a:t>
            </a:r>
            <a:endParaRPr lang="en-US" sz="1100" dirty="0"/>
          </a:p>
        </p:txBody>
      </p:sp>
      <p:sp>
        <p:nvSpPr>
          <p:cNvPr id="29" name="Text 26"/>
          <p:cNvSpPr txBox="1"/>
          <p:nvPr/>
        </p:nvSpPr>
        <p:spPr>
          <a:xfrm>
            <a:off x="8549640" y="2880360"/>
            <a:ext cx="155448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época 4</a:t>
            </a:r>
            <a:endParaRPr lang="en-US" sz="1100" dirty="0"/>
          </a:p>
        </p:txBody>
      </p:sp>
      <p:sp>
        <p:nvSpPr>
          <p:cNvPr id="30" name="Text 27"/>
          <p:cNvSpPr txBox="1"/>
          <p:nvPr/>
        </p:nvSpPr>
        <p:spPr>
          <a:xfrm>
            <a:off x="10287000" y="2880360"/>
            <a:ext cx="118872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0 1 1 1</a:t>
            </a:r>
            <a:endParaRPr lang="en-US" sz="1100" dirty="0"/>
          </a:p>
        </p:txBody>
      </p:sp>
      <p:sp>
        <p:nvSpPr>
          <p:cNvPr id="31" name="Shape 28"/>
          <p:cNvSpPr/>
          <p:nvPr/>
        </p:nvSpPr>
        <p:spPr>
          <a:xfrm>
            <a:off x="7342632" y="3447288"/>
            <a:ext cx="4206240" cy="512064"/>
          </a:xfrm>
          <a:prstGeom prst="roundRect">
            <a:avLst>
              <a:gd name="adj" fmla="val 14286"/>
            </a:avLst>
          </a:prstGeom>
          <a:solidFill>
            <a:srgbClr val="FFEBDD"/>
          </a:solidFill>
          <a:ln w="12700">
            <a:solidFill>
              <a:srgbClr val="FFEBDD"/>
            </a:solidFill>
            <a:prstDash val="solid"/>
          </a:ln>
        </p:spPr>
      </p:sp>
      <p:sp>
        <p:nvSpPr>
          <p:cNvPr id="32" name="Text 29"/>
          <p:cNvSpPr txBox="1"/>
          <p:nvPr/>
        </p:nvSpPr>
        <p:spPr>
          <a:xfrm>
            <a:off x="7452360" y="3447288"/>
            <a:ext cx="91440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XOR</a:t>
            </a:r>
            <a:endParaRPr lang="en-US" sz="1100" dirty="0"/>
          </a:p>
        </p:txBody>
      </p:sp>
      <p:sp>
        <p:nvSpPr>
          <p:cNvPr id="33" name="Text 30"/>
          <p:cNvSpPr txBox="1"/>
          <p:nvPr/>
        </p:nvSpPr>
        <p:spPr>
          <a:xfrm>
            <a:off x="8549640" y="3447288"/>
            <a:ext cx="155448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nunca</a:t>
            </a:r>
            <a:endParaRPr lang="en-US" sz="1100" dirty="0"/>
          </a:p>
        </p:txBody>
      </p:sp>
      <p:sp>
        <p:nvSpPr>
          <p:cNvPr id="34" name="Text 31"/>
          <p:cNvSpPr txBox="1"/>
          <p:nvPr/>
        </p:nvSpPr>
        <p:spPr>
          <a:xfrm>
            <a:off x="10287000" y="3447288"/>
            <a:ext cx="1188720" cy="512064"/>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1 1 0 0</a:t>
            </a:r>
            <a:endParaRPr lang="en-US" sz="1100" dirty="0"/>
          </a:p>
        </p:txBody>
      </p:sp>
      <p:sp>
        <p:nvSpPr>
          <p:cNvPr id="35" name="Shape 32"/>
          <p:cNvSpPr/>
          <p:nvPr/>
        </p:nvSpPr>
        <p:spPr>
          <a:xfrm>
            <a:off x="640080" y="4572000"/>
            <a:ext cx="10911535" cy="1554480"/>
          </a:xfrm>
          <a:prstGeom prst="roundRect">
            <a:avLst>
              <a:gd name="adj" fmla="val 7059"/>
            </a:avLst>
          </a:prstGeom>
          <a:solidFill>
            <a:srgbClr val="FFEBDD"/>
          </a:solidFill>
          <a:ln w="12700">
            <a:solidFill>
              <a:srgbClr val="FFEBDD"/>
            </a:solidFill>
            <a:prstDash val="solid"/>
          </a:ln>
        </p:spPr>
      </p:sp>
      <p:sp>
        <p:nvSpPr>
          <p:cNvPr id="36" name="Text 33"/>
          <p:cNvSpPr txBox="1"/>
          <p:nvPr/>
        </p:nvSpPr>
        <p:spPr>
          <a:xfrm>
            <a:off x="914400" y="4572000"/>
            <a:ext cx="10362895" cy="155448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AND e OR são aprendidos. No XOR o perceptron nunca converge, mesmo com mais épocas: a função não tem solução para um neurônio só. Veja por quê no próximo slide.</a:t>
            </a:r>
            <a:endParaRPr lang="en-US" sz="1400" dirty="0"/>
          </a:p>
        </p:txBody>
      </p:sp>
      <p:sp>
        <p:nvSpPr>
          <p:cNvPr id="37" name="Text 34"/>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8" name="Text 35"/>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O LIMITE DO PERCEPTRON</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 XOR não é linearmente separável</a:t>
            </a:r>
            <a:endParaRPr lang="en-US" sz="3000" dirty="0"/>
          </a:p>
        </p:txBody>
      </p:sp>
      <p:sp>
        <p:nvSpPr>
          <p:cNvPr id="6" name="Shape 3"/>
          <p:cNvSpPr/>
          <p:nvPr/>
        </p:nvSpPr>
        <p:spPr>
          <a:xfrm>
            <a:off x="822960" y="1783080"/>
            <a:ext cx="3840480" cy="4343400"/>
          </a:xfrm>
          <a:prstGeom prst="roundRect">
            <a:avLst>
              <a:gd name="adj" fmla="val 2857"/>
            </a:avLst>
          </a:prstGeom>
          <a:solidFill>
            <a:srgbClr val="F1F6F3"/>
          </a:solidFill>
          <a:ln w="12700">
            <a:solidFill>
              <a:srgbClr val="F1F6F3"/>
            </a:solidFill>
            <a:prstDash val="solid"/>
          </a:ln>
        </p:spPr>
      </p:sp>
      <p:sp>
        <p:nvSpPr>
          <p:cNvPr id="7" name="Text 4"/>
          <p:cNvSpPr txBox="1"/>
          <p:nvPr/>
        </p:nvSpPr>
        <p:spPr>
          <a:xfrm>
            <a:off x="1005840" y="1828800"/>
            <a:ext cx="3474720" cy="365760"/>
          </a:xfrm>
          <a:prstGeom prst="rect">
            <a:avLst/>
          </a:prstGeom>
          <a:noFill/>
          <a:ln/>
        </p:spPr>
        <p:txBody>
          <a:bodyPr wrap="square" lIns="0" tIns="0" rIns="0" bIns="0" rtlCol="0" anchor="t"/>
          <a:lstStyle/>
          <a:p>
            <a:pPr algn="ctr" indent="0" marL="0">
              <a:buNone/>
            </a:pPr>
            <a:r>
              <a:rPr lang="en-US" sz="1500" b="1" dirty="0">
                <a:solidFill>
                  <a:srgbClr val="066B47"/>
                </a:solidFill>
                <a:latin typeface="Cambria" pitchFamily="34" charset="0"/>
                <a:ea typeface="Cambria" pitchFamily="34" charset="-122"/>
                <a:cs typeface="Cambria" pitchFamily="34" charset="-120"/>
              </a:rPr>
              <a:t>AND: uma reta separa</a:t>
            </a:r>
            <a:endParaRPr lang="en-US" sz="1500" dirty="0"/>
          </a:p>
        </p:txBody>
      </p:sp>
      <p:sp>
        <p:nvSpPr>
          <p:cNvPr id="8" name="Shape 5"/>
          <p:cNvSpPr/>
          <p:nvPr/>
        </p:nvSpPr>
        <p:spPr>
          <a:xfrm>
            <a:off x="2651760" y="2286000"/>
            <a:ext cx="1371600" cy="1371600"/>
          </a:xfrm>
          <a:prstGeom prst="line">
            <a:avLst/>
          </a:prstGeom>
          <a:noFill/>
          <a:ln w="44450">
            <a:solidFill>
              <a:srgbClr val="FF7A2F"/>
            </a:solidFill>
            <a:prstDash val="solid"/>
          </a:ln>
        </p:spPr>
      </p:sp>
      <p:sp>
        <p:nvSpPr>
          <p:cNvPr id="9" name="Shape 6"/>
          <p:cNvSpPr/>
          <p:nvPr/>
        </p:nvSpPr>
        <p:spPr>
          <a:xfrm>
            <a:off x="1051560" y="4800600"/>
            <a:ext cx="457200" cy="457200"/>
          </a:xfrm>
          <a:prstGeom prst="ellipse">
            <a:avLst/>
          </a:prstGeom>
          <a:solidFill>
            <a:srgbClr val="D6336C"/>
          </a:solidFill>
          <a:ln w="12700">
            <a:solidFill>
              <a:srgbClr val="FFFFFF"/>
            </a:solidFill>
            <a:prstDash val="solid"/>
          </a:ln>
        </p:spPr>
      </p:sp>
      <p:sp>
        <p:nvSpPr>
          <p:cNvPr id="10" name="Text 7"/>
          <p:cNvSpPr txBox="1"/>
          <p:nvPr/>
        </p:nvSpPr>
        <p:spPr>
          <a:xfrm>
            <a:off x="1051560" y="4800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1" name="Shape 8"/>
          <p:cNvSpPr/>
          <p:nvPr/>
        </p:nvSpPr>
        <p:spPr>
          <a:xfrm>
            <a:off x="1051560" y="2057400"/>
            <a:ext cx="457200" cy="457200"/>
          </a:xfrm>
          <a:prstGeom prst="ellipse">
            <a:avLst/>
          </a:prstGeom>
          <a:solidFill>
            <a:srgbClr val="D6336C"/>
          </a:solidFill>
          <a:ln w="12700">
            <a:solidFill>
              <a:srgbClr val="FFFFFF"/>
            </a:solidFill>
            <a:prstDash val="solid"/>
          </a:ln>
        </p:spPr>
      </p:sp>
      <p:sp>
        <p:nvSpPr>
          <p:cNvPr id="12" name="Text 9"/>
          <p:cNvSpPr txBox="1"/>
          <p:nvPr/>
        </p:nvSpPr>
        <p:spPr>
          <a:xfrm>
            <a:off x="10515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3" name="Shape 10"/>
          <p:cNvSpPr/>
          <p:nvPr/>
        </p:nvSpPr>
        <p:spPr>
          <a:xfrm>
            <a:off x="3794760" y="4800600"/>
            <a:ext cx="457200" cy="457200"/>
          </a:xfrm>
          <a:prstGeom prst="ellipse">
            <a:avLst/>
          </a:prstGeom>
          <a:solidFill>
            <a:srgbClr val="D6336C"/>
          </a:solidFill>
          <a:ln w="12700">
            <a:solidFill>
              <a:srgbClr val="FFFFFF"/>
            </a:solidFill>
            <a:prstDash val="solid"/>
          </a:ln>
        </p:spPr>
      </p:sp>
      <p:sp>
        <p:nvSpPr>
          <p:cNvPr id="14" name="Text 11"/>
          <p:cNvSpPr txBox="1"/>
          <p:nvPr/>
        </p:nvSpPr>
        <p:spPr>
          <a:xfrm>
            <a:off x="3794760" y="4800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5" name="Shape 12"/>
          <p:cNvSpPr/>
          <p:nvPr/>
        </p:nvSpPr>
        <p:spPr>
          <a:xfrm>
            <a:off x="3794760" y="2057400"/>
            <a:ext cx="457200" cy="457200"/>
          </a:xfrm>
          <a:prstGeom prst="ellipse">
            <a:avLst/>
          </a:prstGeom>
          <a:solidFill>
            <a:srgbClr val="0B8A5B"/>
          </a:solidFill>
          <a:ln w="12700">
            <a:solidFill>
              <a:srgbClr val="FFFFFF"/>
            </a:solidFill>
            <a:prstDash val="solid"/>
          </a:ln>
        </p:spPr>
      </p:sp>
      <p:sp>
        <p:nvSpPr>
          <p:cNvPr id="16" name="Text 13"/>
          <p:cNvSpPr txBox="1"/>
          <p:nvPr/>
        </p:nvSpPr>
        <p:spPr>
          <a:xfrm>
            <a:off x="37947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4"/>
          <p:cNvSpPr txBox="1"/>
          <p:nvPr/>
        </p:nvSpPr>
        <p:spPr>
          <a:xfrm>
            <a:off x="1005840" y="5257800"/>
            <a:ext cx="3474720" cy="777240"/>
          </a:xfrm>
          <a:prstGeom prst="rect">
            <a:avLst/>
          </a:prstGeom>
          <a:noFill/>
          <a:ln/>
        </p:spPr>
        <p:txBody>
          <a:bodyPr wrap="square" lIns="0" tIns="0" rIns="0" bIns="0" rtlCol="0" anchor="t"/>
          <a:lstStyle/>
          <a:p>
            <a:pPr algn="ctr" indent="0" marL="0">
              <a:buNone/>
            </a:pPr>
            <a:r>
              <a:rPr lang="en-US" sz="1300" dirty="0">
                <a:solidFill>
                  <a:srgbClr val="0B1A12"/>
                </a:solidFill>
                <a:latin typeface="Calibri" pitchFamily="34" charset="0"/>
                <a:ea typeface="Calibri" pitchFamily="34" charset="-122"/>
                <a:cs typeface="Calibri" pitchFamily="34" charset="-120"/>
              </a:rPr>
              <a:t>A reta deixa o (1, 1) de um lado e os outros três do outro.</a:t>
            </a:r>
            <a:endParaRPr lang="en-US" sz="1300" dirty="0"/>
          </a:p>
        </p:txBody>
      </p:sp>
      <p:sp>
        <p:nvSpPr>
          <p:cNvPr id="18" name="Shape 15"/>
          <p:cNvSpPr/>
          <p:nvPr/>
        </p:nvSpPr>
        <p:spPr>
          <a:xfrm>
            <a:off x="4846320" y="1783080"/>
            <a:ext cx="3840480" cy="4343400"/>
          </a:xfrm>
          <a:prstGeom prst="roundRect">
            <a:avLst>
              <a:gd name="adj" fmla="val 2857"/>
            </a:avLst>
          </a:prstGeom>
          <a:solidFill>
            <a:srgbClr val="F1F6F3"/>
          </a:solidFill>
          <a:ln w="12700">
            <a:solidFill>
              <a:srgbClr val="F1F6F3"/>
            </a:solidFill>
            <a:prstDash val="solid"/>
          </a:ln>
        </p:spPr>
      </p:sp>
      <p:sp>
        <p:nvSpPr>
          <p:cNvPr id="19" name="Text 16"/>
          <p:cNvSpPr txBox="1"/>
          <p:nvPr/>
        </p:nvSpPr>
        <p:spPr>
          <a:xfrm>
            <a:off x="5029200" y="1828800"/>
            <a:ext cx="3474720" cy="365760"/>
          </a:xfrm>
          <a:prstGeom prst="rect">
            <a:avLst/>
          </a:prstGeom>
          <a:noFill/>
          <a:ln/>
        </p:spPr>
        <p:txBody>
          <a:bodyPr wrap="square" lIns="0" tIns="0" rIns="0" bIns="0" rtlCol="0" anchor="t"/>
          <a:lstStyle/>
          <a:p>
            <a:pPr algn="ctr" indent="0" marL="0">
              <a:buNone/>
            </a:pPr>
            <a:r>
              <a:rPr lang="en-US" sz="1500" b="1" dirty="0">
                <a:solidFill>
                  <a:srgbClr val="066B47"/>
                </a:solidFill>
                <a:latin typeface="Cambria" pitchFamily="34" charset="0"/>
                <a:ea typeface="Cambria" pitchFamily="34" charset="-122"/>
                <a:cs typeface="Cambria" pitchFamily="34" charset="-120"/>
              </a:rPr>
              <a:t>XOR: uma reta só não separa</a:t>
            </a:r>
            <a:endParaRPr lang="en-US" sz="1500" dirty="0"/>
          </a:p>
        </p:txBody>
      </p:sp>
      <p:sp>
        <p:nvSpPr>
          <p:cNvPr id="20" name="Shape 17"/>
          <p:cNvSpPr/>
          <p:nvPr/>
        </p:nvSpPr>
        <p:spPr>
          <a:xfrm>
            <a:off x="5303520" y="3657600"/>
            <a:ext cx="1371600" cy="1371600"/>
          </a:xfrm>
          <a:prstGeom prst="line">
            <a:avLst/>
          </a:prstGeom>
          <a:noFill/>
          <a:ln w="44450">
            <a:solidFill>
              <a:srgbClr val="FF7A2F"/>
            </a:solidFill>
            <a:prstDash val="solid"/>
          </a:ln>
        </p:spPr>
      </p:sp>
      <p:sp>
        <p:nvSpPr>
          <p:cNvPr id="21" name="Shape 18"/>
          <p:cNvSpPr/>
          <p:nvPr/>
        </p:nvSpPr>
        <p:spPr>
          <a:xfrm>
            <a:off x="6675120" y="2286000"/>
            <a:ext cx="1371600" cy="1371600"/>
          </a:xfrm>
          <a:prstGeom prst="line">
            <a:avLst/>
          </a:prstGeom>
          <a:noFill/>
          <a:ln w="44450">
            <a:solidFill>
              <a:srgbClr val="FF7A2F"/>
            </a:solidFill>
            <a:prstDash val="solid"/>
          </a:ln>
        </p:spPr>
      </p:sp>
      <p:sp>
        <p:nvSpPr>
          <p:cNvPr id="22" name="Shape 19"/>
          <p:cNvSpPr/>
          <p:nvPr/>
        </p:nvSpPr>
        <p:spPr>
          <a:xfrm>
            <a:off x="5074920" y="4800600"/>
            <a:ext cx="457200" cy="457200"/>
          </a:xfrm>
          <a:prstGeom prst="ellipse">
            <a:avLst/>
          </a:prstGeom>
          <a:solidFill>
            <a:srgbClr val="D6336C"/>
          </a:solidFill>
          <a:ln w="12700">
            <a:solidFill>
              <a:srgbClr val="FFFFFF"/>
            </a:solidFill>
            <a:prstDash val="solid"/>
          </a:ln>
        </p:spPr>
      </p:sp>
      <p:sp>
        <p:nvSpPr>
          <p:cNvPr id="23" name="Text 20"/>
          <p:cNvSpPr txBox="1"/>
          <p:nvPr/>
        </p:nvSpPr>
        <p:spPr>
          <a:xfrm>
            <a:off x="5074920" y="4800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24" name="Shape 21"/>
          <p:cNvSpPr/>
          <p:nvPr/>
        </p:nvSpPr>
        <p:spPr>
          <a:xfrm>
            <a:off x="5074920" y="2057400"/>
            <a:ext cx="457200" cy="457200"/>
          </a:xfrm>
          <a:prstGeom prst="ellipse">
            <a:avLst/>
          </a:prstGeom>
          <a:solidFill>
            <a:srgbClr val="0B8A5B"/>
          </a:solidFill>
          <a:ln w="12700">
            <a:solidFill>
              <a:srgbClr val="FFFFFF"/>
            </a:solidFill>
            <a:prstDash val="solid"/>
          </a:ln>
        </p:spPr>
      </p:sp>
      <p:sp>
        <p:nvSpPr>
          <p:cNvPr id="25" name="Text 22"/>
          <p:cNvSpPr txBox="1"/>
          <p:nvPr/>
        </p:nvSpPr>
        <p:spPr>
          <a:xfrm>
            <a:off x="507492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6" name="Shape 23"/>
          <p:cNvSpPr/>
          <p:nvPr/>
        </p:nvSpPr>
        <p:spPr>
          <a:xfrm>
            <a:off x="7818120" y="4800600"/>
            <a:ext cx="457200" cy="457200"/>
          </a:xfrm>
          <a:prstGeom prst="ellipse">
            <a:avLst/>
          </a:prstGeom>
          <a:solidFill>
            <a:srgbClr val="0B8A5B"/>
          </a:solidFill>
          <a:ln w="12700">
            <a:solidFill>
              <a:srgbClr val="FFFFFF"/>
            </a:solidFill>
            <a:prstDash val="solid"/>
          </a:ln>
        </p:spPr>
      </p:sp>
      <p:sp>
        <p:nvSpPr>
          <p:cNvPr id="27" name="Text 24"/>
          <p:cNvSpPr txBox="1"/>
          <p:nvPr/>
        </p:nvSpPr>
        <p:spPr>
          <a:xfrm>
            <a:off x="7818120" y="4800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8" name="Shape 25"/>
          <p:cNvSpPr/>
          <p:nvPr/>
        </p:nvSpPr>
        <p:spPr>
          <a:xfrm>
            <a:off x="7818120" y="2057400"/>
            <a:ext cx="457200" cy="457200"/>
          </a:xfrm>
          <a:prstGeom prst="ellipse">
            <a:avLst/>
          </a:prstGeom>
          <a:solidFill>
            <a:srgbClr val="D6336C"/>
          </a:solidFill>
          <a:ln w="12700">
            <a:solidFill>
              <a:srgbClr val="FFFFFF"/>
            </a:solidFill>
            <a:prstDash val="solid"/>
          </a:ln>
        </p:spPr>
      </p:sp>
      <p:sp>
        <p:nvSpPr>
          <p:cNvPr id="29" name="Text 26"/>
          <p:cNvSpPr txBox="1"/>
          <p:nvPr/>
        </p:nvSpPr>
        <p:spPr>
          <a:xfrm>
            <a:off x="781812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30" name="Text 27"/>
          <p:cNvSpPr txBox="1"/>
          <p:nvPr/>
        </p:nvSpPr>
        <p:spPr>
          <a:xfrm>
            <a:off x="5029200" y="5257800"/>
            <a:ext cx="3474720" cy="777240"/>
          </a:xfrm>
          <a:prstGeom prst="rect">
            <a:avLst/>
          </a:prstGeom>
          <a:noFill/>
          <a:ln/>
        </p:spPr>
        <p:txBody>
          <a:bodyPr wrap="square" lIns="0" tIns="0" rIns="0" bIns="0" rtlCol="0" anchor="t"/>
          <a:lstStyle/>
          <a:p>
            <a:pPr algn="ctr" indent="0" marL="0">
              <a:buNone/>
            </a:pPr>
            <a:r>
              <a:rPr lang="en-US" sz="1300" dirty="0">
                <a:solidFill>
                  <a:srgbClr val="0B1A12"/>
                </a:solidFill>
                <a:latin typeface="Calibri" pitchFamily="34" charset="0"/>
                <a:ea typeface="Calibri" pitchFamily="34" charset="-122"/>
                <a:cs typeface="Calibri" pitchFamily="34" charset="-120"/>
              </a:rPr>
              <a:t>Os “1” ficam em cantos opostos, assim como os “0”: qualquer reta erra pelo menos um ponto.</a:t>
            </a:r>
            <a:endParaRPr lang="en-US" sz="1300" dirty="0"/>
          </a:p>
        </p:txBody>
      </p:sp>
      <p:sp>
        <p:nvSpPr>
          <p:cNvPr id="31" name="Shape 28"/>
          <p:cNvSpPr/>
          <p:nvPr/>
        </p:nvSpPr>
        <p:spPr>
          <a:xfrm>
            <a:off x="8961120" y="1783080"/>
            <a:ext cx="2587752" cy="4343400"/>
          </a:xfrm>
          <a:prstGeom prst="roundRect">
            <a:avLst>
              <a:gd name="adj" fmla="val 4240"/>
            </a:avLst>
          </a:prstGeom>
          <a:solidFill>
            <a:srgbClr val="FFEBDD"/>
          </a:solidFill>
          <a:ln w="12700">
            <a:solidFill>
              <a:srgbClr val="FFEBDD"/>
            </a:solidFill>
            <a:prstDash val="solid"/>
          </a:ln>
        </p:spPr>
      </p:sp>
      <p:sp>
        <p:nvSpPr>
          <p:cNvPr id="32" name="Text 29"/>
          <p:cNvSpPr txBox="1"/>
          <p:nvPr/>
        </p:nvSpPr>
        <p:spPr>
          <a:xfrm>
            <a:off x="9144000" y="1783080"/>
            <a:ext cx="2240280" cy="434340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Um neurônio só desenha uma reta (ou plano) de decisão. Para o XOR precisamos de duas retas: duas camadas.</a:t>
            </a:r>
            <a:endParaRPr lang="en-US" sz="1400" dirty="0"/>
          </a:p>
        </p:txBody>
      </p:sp>
      <p:sp>
        <p:nvSpPr>
          <p:cNvPr id="33" name="Text 3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4" name="Text 3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CAMADAS OCULTAS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 solução: uma camada oculta resolve o XOR</a:t>
            </a:r>
            <a:endParaRPr lang="en-US" sz="3000" dirty="0"/>
          </a:p>
        </p:txBody>
      </p:sp>
      <p:sp>
        <p:nvSpPr>
          <p:cNvPr id="6" name="Shape 3"/>
          <p:cNvSpPr/>
          <p:nvPr/>
        </p:nvSpPr>
        <p:spPr>
          <a:xfrm>
            <a:off x="640080" y="1783080"/>
            <a:ext cx="10908792"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10972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x1</a:t>
            </a:r>
            <a:endParaRPr lang="en-US" sz="1300" dirty="0"/>
          </a:p>
        </p:txBody>
      </p:sp>
      <p:sp>
        <p:nvSpPr>
          <p:cNvPr id="8" name="Text 5"/>
          <p:cNvSpPr txBox="1"/>
          <p:nvPr/>
        </p:nvSpPr>
        <p:spPr>
          <a:xfrm>
            <a:off x="2029968" y="1783080"/>
            <a:ext cx="10972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x2</a:t>
            </a:r>
            <a:endParaRPr lang="en-US" sz="1300" dirty="0"/>
          </a:p>
        </p:txBody>
      </p:sp>
      <p:sp>
        <p:nvSpPr>
          <p:cNvPr id="9" name="Text 6"/>
          <p:cNvSpPr txBox="1"/>
          <p:nvPr/>
        </p:nvSpPr>
        <p:spPr>
          <a:xfrm>
            <a:off x="3310128" y="1783080"/>
            <a:ext cx="1645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h1 = OR</a:t>
            </a:r>
            <a:endParaRPr lang="en-US" sz="1300" dirty="0"/>
          </a:p>
        </p:txBody>
      </p:sp>
      <p:sp>
        <p:nvSpPr>
          <p:cNvPr id="10" name="Text 7"/>
          <p:cNvSpPr txBox="1"/>
          <p:nvPr/>
        </p:nvSpPr>
        <p:spPr>
          <a:xfrm>
            <a:off x="5138928" y="1783080"/>
            <a:ext cx="1645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h2 = NAND</a:t>
            </a:r>
            <a:endParaRPr lang="en-US" sz="1300" dirty="0"/>
          </a:p>
        </p:txBody>
      </p:sp>
      <p:sp>
        <p:nvSpPr>
          <p:cNvPr id="11" name="Text 8"/>
          <p:cNvSpPr txBox="1"/>
          <p:nvPr/>
        </p:nvSpPr>
        <p:spPr>
          <a:xfrm>
            <a:off x="6967728" y="1783080"/>
            <a:ext cx="20116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saída = h1 AND h2</a:t>
            </a:r>
            <a:endParaRPr lang="en-US" sz="1300" dirty="0"/>
          </a:p>
        </p:txBody>
      </p:sp>
      <p:sp>
        <p:nvSpPr>
          <p:cNvPr id="12" name="Text 9"/>
          <p:cNvSpPr txBox="1"/>
          <p:nvPr/>
        </p:nvSpPr>
        <p:spPr>
          <a:xfrm>
            <a:off x="9162288" y="1783080"/>
            <a:ext cx="2313432"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XOR</a:t>
            </a:r>
            <a:endParaRPr lang="en-US" sz="1300" dirty="0"/>
          </a:p>
        </p:txBody>
      </p:sp>
      <p:sp>
        <p:nvSpPr>
          <p:cNvPr id="13" name="Shape 10"/>
          <p:cNvSpPr/>
          <p:nvPr/>
        </p:nvSpPr>
        <p:spPr>
          <a:xfrm>
            <a:off x="640080" y="2313432"/>
            <a:ext cx="10908792" cy="420624"/>
          </a:xfrm>
          <a:prstGeom prst="roundRect">
            <a:avLst>
              <a:gd name="adj" fmla="val 17391"/>
            </a:avLst>
          </a:prstGeom>
          <a:solidFill>
            <a:srgbClr val="F1F6F3"/>
          </a:solidFill>
          <a:ln w="12700">
            <a:solidFill>
              <a:srgbClr val="F1F6F3"/>
            </a:solidFill>
            <a:prstDash val="solid"/>
          </a:ln>
        </p:spPr>
      </p:sp>
      <p:sp>
        <p:nvSpPr>
          <p:cNvPr id="14" name="Text 11"/>
          <p:cNvSpPr txBox="1"/>
          <p:nvPr/>
        </p:nvSpPr>
        <p:spPr>
          <a:xfrm>
            <a:off x="749808" y="2313432"/>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15" name="Text 12"/>
          <p:cNvSpPr txBox="1"/>
          <p:nvPr/>
        </p:nvSpPr>
        <p:spPr>
          <a:xfrm>
            <a:off x="2029968" y="2313432"/>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16" name="Text 13"/>
          <p:cNvSpPr txBox="1"/>
          <p:nvPr/>
        </p:nvSpPr>
        <p:spPr>
          <a:xfrm>
            <a:off x="3310128" y="2313432"/>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17" name="Text 14"/>
          <p:cNvSpPr txBox="1"/>
          <p:nvPr/>
        </p:nvSpPr>
        <p:spPr>
          <a:xfrm>
            <a:off x="5138928" y="2313432"/>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18" name="Text 15"/>
          <p:cNvSpPr txBox="1"/>
          <p:nvPr/>
        </p:nvSpPr>
        <p:spPr>
          <a:xfrm>
            <a:off x="6967728" y="2313432"/>
            <a:ext cx="20116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19" name="Text 16"/>
          <p:cNvSpPr txBox="1"/>
          <p:nvPr/>
        </p:nvSpPr>
        <p:spPr>
          <a:xfrm>
            <a:off x="9162288" y="2313432"/>
            <a:ext cx="2313432"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20" name="Shape 17"/>
          <p:cNvSpPr/>
          <p:nvPr/>
        </p:nvSpPr>
        <p:spPr>
          <a:xfrm>
            <a:off x="640080" y="2788920"/>
            <a:ext cx="10908792" cy="420624"/>
          </a:xfrm>
          <a:prstGeom prst="roundRect">
            <a:avLst>
              <a:gd name="adj" fmla="val 17391"/>
            </a:avLst>
          </a:prstGeom>
          <a:solidFill>
            <a:srgbClr val="E6EEE9"/>
          </a:solidFill>
          <a:ln w="12700">
            <a:solidFill>
              <a:srgbClr val="E6EEE9"/>
            </a:solidFill>
            <a:prstDash val="solid"/>
          </a:ln>
        </p:spPr>
      </p:sp>
      <p:sp>
        <p:nvSpPr>
          <p:cNvPr id="21" name="Text 18"/>
          <p:cNvSpPr txBox="1"/>
          <p:nvPr/>
        </p:nvSpPr>
        <p:spPr>
          <a:xfrm>
            <a:off x="749808" y="2788920"/>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22" name="Text 19"/>
          <p:cNvSpPr txBox="1"/>
          <p:nvPr/>
        </p:nvSpPr>
        <p:spPr>
          <a:xfrm>
            <a:off x="2029968" y="2788920"/>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3" name="Text 20"/>
          <p:cNvSpPr txBox="1"/>
          <p:nvPr/>
        </p:nvSpPr>
        <p:spPr>
          <a:xfrm>
            <a:off x="3310128" y="2788920"/>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4" name="Text 21"/>
          <p:cNvSpPr txBox="1"/>
          <p:nvPr/>
        </p:nvSpPr>
        <p:spPr>
          <a:xfrm>
            <a:off x="5138928" y="2788920"/>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5" name="Text 22"/>
          <p:cNvSpPr txBox="1"/>
          <p:nvPr/>
        </p:nvSpPr>
        <p:spPr>
          <a:xfrm>
            <a:off x="6967728" y="2788920"/>
            <a:ext cx="20116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6" name="Text 23"/>
          <p:cNvSpPr txBox="1"/>
          <p:nvPr/>
        </p:nvSpPr>
        <p:spPr>
          <a:xfrm>
            <a:off x="9162288" y="2788920"/>
            <a:ext cx="2313432"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7" name="Shape 24"/>
          <p:cNvSpPr/>
          <p:nvPr/>
        </p:nvSpPr>
        <p:spPr>
          <a:xfrm>
            <a:off x="640080" y="3264408"/>
            <a:ext cx="10908792" cy="420624"/>
          </a:xfrm>
          <a:prstGeom prst="roundRect">
            <a:avLst>
              <a:gd name="adj" fmla="val 17391"/>
            </a:avLst>
          </a:prstGeom>
          <a:solidFill>
            <a:srgbClr val="F1F6F3"/>
          </a:solidFill>
          <a:ln w="12700">
            <a:solidFill>
              <a:srgbClr val="F1F6F3"/>
            </a:solidFill>
            <a:prstDash val="solid"/>
          </a:ln>
        </p:spPr>
      </p:sp>
      <p:sp>
        <p:nvSpPr>
          <p:cNvPr id="28" name="Text 25"/>
          <p:cNvSpPr txBox="1"/>
          <p:nvPr/>
        </p:nvSpPr>
        <p:spPr>
          <a:xfrm>
            <a:off x="749808" y="3264408"/>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9" name="Text 26"/>
          <p:cNvSpPr txBox="1"/>
          <p:nvPr/>
        </p:nvSpPr>
        <p:spPr>
          <a:xfrm>
            <a:off x="2029968" y="3264408"/>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30" name="Text 27"/>
          <p:cNvSpPr txBox="1"/>
          <p:nvPr/>
        </p:nvSpPr>
        <p:spPr>
          <a:xfrm>
            <a:off x="3310128" y="3264408"/>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1" name="Text 28"/>
          <p:cNvSpPr txBox="1"/>
          <p:nvPr/>
        </p:nvSpPr>
        <p:spPr>
          <a:xfrm>
            <a:off x="5138928" y="3264408"/>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2" name="Text 29"/>
          <p:cNvSpPr txBox="1"/>
          <p:nvPr/>
        </p:nvSpPr>
        <p:spPr>
          <a:xfrm>
            <a:off x="6967728" y="3264408"/>
            <a:ext cx="20116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3" name="Text 30"/>
          <p:cNvSpPr txBox="1"/>
          <p:nvPr/>
        </p:nvSpPr>
        <p:spPr>
          <a:xfrm>
            <a:off x="9162288" y="3264408"/>
            <a:ext cx="2313432"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4" name="Shape 31"/>
          <p:cNvSpPr/>
          <p:nvPr/>
        </p:nvSpPr>
        <p:spPr>
          <a:xfrm>
            <a:off x="640080" y="3739896"/>
            <a:ext cx="10908792" cy="420624"/>
          </a:xfrm>
          <a:prstGeom prst="roundRect">
            <a:avLst>
              <a:gd name="adj" fmla="val 17391"/>
            </a:avLst>
          </a:prstGeom>
          <a:solidFill>
            <a:srgbClr val="E6EEE9"/>
          </a:solidFill>
          <a:ln w="12700">
            <a:solidFill>
              <a:srgbClr val="E6EEE9"/>
            </a:solidFill>
            <a:prstDash val="solid"/>
          </a:ln>
        </p:spPr>
      </p:sp>
      <p:sp>
        <p:nvSpPr>
          <p:cNvPr id="35" name="Text 32"/>
          <p:cNvSpPr txBox="1"/>
          <p:nvPr/>
        </p:nvSpPr>
        <p:spPr>
          <a:xfrm>
            <a:off x="749808" y="3739896"/>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6" name="Text 33"/>
          <p:cNvSpPr txBox="1"/>
          <p:nvPr/>
        </p:nvSpPr>
        <p:spPr>
          <a:xfrm>
            <a:off x="2029968" y="3739896"/>
            <a:ext cx="10972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7" name="Text 34"/>
          <p:cNvSpPr txBox="1"/>
          <p:nvPr/>
        </p:nvSpPr>
        <p:spPr>
          <a:xfrm>
            <a:off x="3310128" y="3739896"/>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8" name="Text 35"/>
          <p:cNvSpPr txBox="1"/>
          <p:nvPr/>
        </p:nvSpPr>
        <p:spPr>
          <a:xfrm>
            <a:off x="5138928" y="3739896"/>
            <a:ext cx="164592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39" name="Text 36"/>
          <p:cNvSpPr txBox="1"/>
          <p:nvPr/>
        </p:nvSpPr>
        <p:spPr>
          <a:xfrm>
            <a:off x="6967728" y="3739896"/>
            <a:ext cx="2011680"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40" name="Text 37"/>
          <p:cNvSpPr txBox="1"/>
          <p:nvPr/>
        </p:nvSpPr>
        <p:spPr>
          <a:xfrm>
            <a:off x="9162288" y="3739896"/>
            <a:ext cx="2313432" cy="42062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41" name="Shape 38"/>
          <p:cNvSpPr/>
          <p:nvPr/>
        </p:nvSpPr>
        <p:spPr>
          <a:xfrm>
            <a:off x="640080" y="4297680"/>
            <a:ext cx="6766560" cy="1779270"/>
          </a:xfrm>
          <a:prstGeom prst="roundRect">
            <a:avLst>
              <a:gd name="adj" fmla="val 6167"/>
            </a:avLst>
          </a:prstGeom>
          <a:solidFill>
            <a:srgbClr val="0A1B13"/>
          </a:solidFill>
          <a:ln w="12700">
            <a:solidFill>
              <a:srgbClr val="0A1B13"/>
            </a:solidFill>
            <a:prstDash val="solid"/>
          </a:ln>
        </p:spPr>
      </p:sp>
      <p:sp>
        <p:nvSpPr>
          <p:cNvPr id="42" name="Shape 39"/>
          <p:cNvSpPr/>
          <p:nvPr/>
        </p:nvSpPr>
        <p:spPr>
          <a:xfrm>
            <a:off x="841248" y="4480560"/>
            <a:ext cx="118872" cy="118872"/>
          </a:xfrm>
          <a:prstGeom prst="ellipse">
            <a:avLst/>
          </a:prstGeom>
          <a:solidFill>
            <a:srgbClr val="D6336C"/>
          </a:solidFill>
          <a:ln w="12700">
            <a:solidFill>
              <a:srgbClr val="D6336C"/>
            </a:solidFill>
            <a:prstDash val="solid"/>
          </a:ln>
        </p:spPr>
      </p:sp>
      <p:sp>
        <p:nvSpPr>
          <p:cNvPr id="43" name="Shape 40"/>
          <p:cNvSpPr/>
          <p:nvPr/>
        </p:nvSpPr>
        <p:spPr>
          <a:xfrm>
            <a:off x="1042416" y="4480560"/>
            <a:ext cx="118872" cy="118872"/>
          </a:xfrm>
          <a:prstGeom prst="ellipse">
            <a:avLst/>
          </a:prstGeom>
          <a:solidFill>
            <a:srgbClr val="FF7A2F"/>
          </a:solidFill>
          <a:ln w="12700">
            <a:solidFill>
              <a:srgbClr val="FF7A2F"/>
            </a:solidFill>
            <a:prstDash val="solid"/>
          </a:ln>
        </p:spPr>
      </p:sp>
      <p:sp>
        <p:nvSpPr>
          <p:cNvPr id="44" name="Shape 41"/>
          <p:cNvSpPr/>
          <p:nvPr/>
        </p:nvSpPr>
        <p:spPr>
          <a:xfrm>
            <a:off x="1243584" y="4480560"/>
            <a:ext cx="118872" cy="118872"/>
          </a:xfrm>
          <a:prstGeom prst="ellipse">
            <a:avLst/>
          </a:prstGeom>
          <a:solidFill>
            <a:srgbClr val="5FE3A1"/>
          </a:solidFill>
          <a:ln w="12700">
            <a:solidFill>
              <a:srgbClr val="5FE3A1"/>
            </a:solidFill>
            <a:prstDash val="solid"/>
          </a:ln>
        </p:spPr>
      </p:sp>
      <p:sp>
        <p:nvSpPr>
          <p:cNvPr id="45" name="Text 42"/>
          <p:cNvSpPr txBox="1"/>
          <p:nvPr/>
        </p:nvSpPr>
        <p:spPr>
          <a:xfrm>
            <a:off x="1554480" y="4416552"/>
            <a:ext cx="56692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xor_manual.py (resumido)</a:t>
            </a:r>
            <a:endParaRPr lang="en-US" sz="1100" dirty="0"/>
          </a:p>
        </p:txBody>
      </p:sp>
      <p:sp>
        <p:nvSpPr>
          <p:cNvPr id="46" name="Text 43"/>
          <p:cNvSpPr txBox="1"/>
          <p:nvPr/>
        </p:nvSpPr>
        <p:spPr>
          <a:xfrm>
            <a:off x="914400" y="480060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W1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47" name="Text 44"/>
          <p:cNvSpPr txBox="1"/>
          <p:nvPr/>
        </p:nvSpPr>
        <p:spPr>
          <a:xfrm>
            <a:off x="914400" y="501015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b1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48" name="Text 45"/>
          <p:cNvSpPr txBox="1"/>
          <p:nvPr/>
        </p:nvSpPr>
        <p:spPr>
          <a:xfrm>
            <a:off x="914400" y="521970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W2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49" name="Text 46"/>
          <p:cNvSpPr txBox="1"/>
          <p:nvPr/>
        </p:nvSpPr>
        <p:spPr>
          <a:xfrm>
            <a:off x="914400" y="542925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oculta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degrau</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W1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b1</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50" name="Text 47"/>
          <p:cNvSpPr txBox="1"/>
          <p:nvPr/>
        </p:nvSpPr>
        <p:spPr>
          <a:xfrm>
            <a:off x="914400" y="563880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saida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degrau</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oculta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W2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FA698"/>
                </a:solidFill>
                <a:latin typeface="Courier New" pitchFamily="34" charset="0"/>
                <a:ea typeface="Courier New" pitchFamily="34" charset="-122"/>
                <a:cs typeface="Courier New" pitchFamily="34" charset="-120"/>
              </a:rPr>
              <a:t># [0. 1. 1. 0.]</a:t>
            </a:r>
            <a:endParaRPr lang="en-US" sz="1100" dirty="0"/>
          </a:p>
        </p:txBody>
      </p:sp>
      <p:sp>
        <p:nvSpPr>
          <p:cNvPr id="51" name="Shape 48"/>
          <p:cNvSpPr/>
          <p:nvPr/>
        </p:nvSpPr>
        <p:spPr>
          <a:xfrm>
            <a:off x="7616952" y="4297680"/>
            <a:ext cx="3931920" cy="1828800"/>
          </a:xfrm>
          <a:prstGeom prst="roundRect">
            <a:avLst>
              <a:gd name="adj" fmla="val 6000"/>
            </a:avLst>
          </a:prstGeom>
          <a:solidFill>
            <a:srgbClr val="FFEBDD"/>
          </a:solidFill>
          <a:ln w="12700">
            <a:solidFill>
              <a:srgbClr val="FFEBDD"/>
            </a:solidFill>
            <a:prstDash val="solid"/>
          </a:ln>
        </p:spPr>
      </p:sp>
      <p:sp>
        <p:nvSpPr>
          <p:cNvPr id="52" name="Text 49"/>
          <p:cNvSpPr txBox="1"/>
          <p:nvPr/>
        </p:nvSpPr>
        <p:spPr>
          <a:xfrm>
            <a:off x="7891272" y="4297680"/>
            <a:ext cx="3383280" cy="182880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XOR = (x1 OR x2) AND NOT (x1 AND x2). Dois neurônios na camada oculta (OR e NAND) e um de saída (AND). Cada um é uma reta; juntos desenham a região em “faixa” que o XOR exige.</a:t>
            </a:r>
            <a:endParaRPr lang="en-US" sz="1300" dirty="0"/>
          </a:p>
        </p:txBody>
      </p:sp>
      <p:sp>
        <p:nvSpPr>
          <p:cNvPr id="53" name="Text 5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54" name="Text 5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REDES MLP</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Perceptron multicamadas (MLP): a arquitetura</a:t>
            </a:r>
            <a:endParaRPr lang="en-US" sz="3000" dirty="0"/>
          </a:p>
        </p:txBody>
      </p:sp>
      <p:sp>
        <p:nvSpPr>
          <p:cNvPr id="6" name="Shape 3"/>
          <p:cNvSpPr/>
          <p:nvPr/>
        </p:nvSpPr>
        <p:spPr>
          <a:xfrm flipV="1">
            <a:off x="1554480" y="2583180"/>
            <a:ext cx="1706880" cy="434340"/>
          </a:xfrm>
          <a:prstGeom prst="line">
            <a:avLst/>
          </a:prstGeom>
          <a:noFill/>
          <a:ln w="15875">
            <a:solidFill>
              <a:srgbClr val="C5D3CA"/>
            </a:solidFill>
            <a:prstDash val="solid"/>
          </a:ln>
        </p:spPr>
      </p:sp>
      <p:sp>
        <p:nvSpPr>
          <p:cNvPr id="7" name="Shape 4"/>
          <p:cNvSpPr/>
          <p:nvPr/>
        </p:nvSpPr>
        <p:spPr>
          <a:xfrm>
            <a:off x="1554480" y="3017520"/>
            <a:ext cx="1706880" cy="434340"/>
          </a:xfrm>
          <a:prstGeom prst="line">
            <a:avLst/>
          </a:prstGeom>
          <a:noFill/>
          <a:ln w="15875">
            <a:solidFill>
              <a:srgbClr val="C5D3CA"/>
            </a:solidFill>
            <a:prstDash val="solid"/>
          </a:ln>
        </p:spPr>
      </p:sp>
      <p:sp>
        <p:nvSpPr>
          <p:cNvPr id="8" name="Shape 5"/>
          <p:cNvSpPr/>
          <p:nvPr/>
        </p:nvSpPr>
        <p:spPr>
          <a:xfrm>
            <a:off x="1554480" y="3017520"/>
            <a:ext cx="1706880" cy="1303020"/>
          </a:xfrm>
          <a:prstGeom prst="line">
            <a:avLst/>
          </a:prstGeom>
          <a:noFill/>
          <a:ln w="15875">
            <a:solidFill>
              <a:srgbClr val="C5D3CA"/>
            </a:solidFill>
            <a:prstDash val="solid"/>
          </a:ln>
        </p:spPr>
      </p:sp>
      <p:sp>
        <p:nvSpPr>
          <p:cNvPr id="9" name="Shape 6"/>
          <p:cNvSpPr/>
          <p:nvPr/>
        </p:nvSpPr>
        <p:spPr>
          <a:xfrm>
            <a:off x="1554480" y="3017520"/>
            <a:ext cx="1706880" cy="2171700"/>
          </a:xfrm>
          <a:prstGeom prst="line">
            <a:avLst/>
          </a:prstGeom>
          <a:noFill/>
          <a:ln w="15875">
            <a:solidFill>
              <a:srgbClr val="C5D3CA"/>
            </a:solidFill>
            <a:prstDash val="solid"/>
          </a:ln>
        </p:spPr>
      </p:sp>
      <p:sp>
        <p:nvSpPr>
          <p:cNvPr id="10" name="Shape 7"/>
          <p:cNvSpPr/>
          <p:nvPr/>
        </p:nvSpPr>
        <p:spPr>
          <a:xfrm flipV="1">
            <a:off x="1554480" y="2583180"/>
            <a:ext cx="1706880" cy="1303020"/>
          </a:xfrm>
          <a:prstGeom prst="line">
            <a:avLst/>
          </a:prstGeom>
          <a:noFill/>
          <a:ln w="15875">
            <a:solidFill>
              <a:srgbClr val="C5D3CA"/>
            </a:solidFill>
            <a:prstDash val="solid"/>
          </a:ln>
        </p:spPr>
      </p:sp>
      <p:sp>
        <p:nvSpPr>
          <p:cNvPr id="11" name="Shape 8"/>
          <p:cNvSpPr/>
          <p:nvPr/>
        </p:nvSpPr>
        <p:spPr>
          <a:xfrm flipV="1">
            <a:off x="1554480" y="3451860"/>
            <a:ext cx="1706880" cy="434340"/>
          </a:xfrm>
          <a:prstGeom prst="line">
            <a:avLst/>
          </a:prstGeom>
          <a:noFill/>
          <a:ln w="15875">
            <a:solidFill>
              <a:srgbClr val="C5D3CA"/>
            </a:solidFill>
            <a:prstDash val="solid"/>
          </a:ln>
        </p:spPr>
      </p:sp>
      <p:sp>
        <p:nvSpPr>
          <p:cNvPr id="12" name="Shape 9"/>
          <p:cNvSpPr/>
          <p:nvPr/>
        </p:nvSpPr>
        <p:spPr>
          <a:xfrm>
            <a:off x="1554480" y="3886200"/>
            <a:ext cx="1706880" cy="434340"/>
          </a:xfrm>
          <a:prstGeom prst="line">
            <a:avLst/>
          </a:prstGeom>
          <a:noFill/>
          <a:ln w="15875">
            <a:solidFill>
              <a:srgbClr val="C5D3CA"/>
            </a:solidFill>
            <a:prstDash val="solid"/>
          </a:ln>
        </p:spPr>
      </p:sp>
      <p:sp>
        <p:nvSpPr>
          <p:cNvPr id="13" name="Shape 10"/>
          <p:cNvSpPr/>
          <p:nvPr/>
        </p:nvSpPr>
        <p:spPr>
          <a:xfrm>
            <a:off x="1554480" y="3886200"/>
            <a:ext cx="1706880" cy="1303020"/>
          </a:xfrm>
          <a:prstGeom prst="line">
            <a:avLst/>
          </a:prstGeom>
          <a:noFill/>
          <a:ln w="15875">
            <a:solidFill>
              <a:srgbClr val="C5D3CA"/>
            </a:solidFill>
            <a:prstDash val="solid"/>
          </a:ln>
        </p:spPr>
      </p:sp>
      <p:sp>
        <p:nvSpPr>
          <p:cNvPr id="14" name="Shape 11"/>
          <p:cNvSpPr/>
          <p:nvPr/>
        </p:nvSpPr>
        <p:spPr>
          <a:xfrm flipV="1">
            <a:off x="1554480" y="2583180"/>
            <a:ext cx="1706880" cy="2171700"/>
          </a:xfrm>
          <a:prstGeom prst="line">
            <a:avLst/>
          </a:prstGeom>
          <a:noFill/>
          <a:ln w="15875">
            <a:solidFill>
              <a:srgbClr val="C5D3CA"/>
            </a:solidFill>
            <a:prstDash val="solid"/>
          </a:ln>
        </p:spPr>
      </p:sp>
      <p:sp>
        <p:nvSpPr>
          <p:cNvPr id="15" name="Shape 12"/>
          <p:cNvSpPr/>
          <p:nvPr/>
        </p:nvSpPr>
        <p:spPr>
          <a:xfrm flipV="1">
            <a:off x="1554480" y="3451860"/>
            <a:ext cx="1706880" cy="1303020"/>
          </a:xfrm>
          <a:prstGeom prst="line">
            <a:avLst/>
          </a:prstGeom>
          <a:noFill/>
          <a:ln w="15875">
            <a:solidFill>
              <a:srgbClr val="C5D3CA"/>
            </a:solidFill>
            <a:prstDash val="solid"/>
          </a:ln>
        </p:spPr>
      </p:sp>
      <p:sp>
        <p:nvSpPr>
          <p:cNvPr id="16" name="Shape 13"/>
          <p:cNvSpPr/>
          <p:nvPr/>
        </p:nvSpPr>
        <p:spPr>
          <a:xfrm flipV="1">
            <a:off x="1554480" y="4320540"/>
            <a:ext cx="1706880" cy="434340"/>
          </a:xfrm>
          <a:prstGeom prst="line">
            <a:avLst/>
          </a:prstGeom>
          <a:noFill/>
          <a:ln w="15875">
            <a:solidFill>
              <a:srgbClr val="C5D3CA"/>
            </a:solidFill>
            <a:prstDash val="solid"/>
          </a:ln>
        </p:spPr>
      </p:sp>
      <p:sp>
        <p:nvSpPr>
          <p:cNvPr id="17" name="Shape 14"/>
          <p:cNvSpPr/>
          <p:nvPr/>
        </p:nvSpPr>
        <p:spPr>
          <a:xfrm>
            <a:off x="1554480" y="4754880"/>
            <a:ext cx="1706880" cy="434340"/>
          </a:xfrm>
          <a:prstGeom prst="line">
            <a:avLst/>
          </a:prstGeom>
          <a:noFill/>
          <a:ln w="15875">
            <a:solidFill>
              <a:srgbClr val="C5D3CA"/>
            </a:solidFill>
            <a:prstDash val="solid"/>
          </a:ln>
        </p:spPr>
      </p:sp>
      <p:sp>
        <p:nvSpPr>
          <p:cNvPr id="18" name="Shape 15"/>
          <p:cNvSpPr/>
          <p:nvPr/>
        </p:nvSpPr>
        <p:spPr>
          <a:xfrm>
            <a:off x="3261360" y="2583180"/>
            <a:ext cx="1706880" cy="434340"/>
          </a:xfrm>
          <a:prstGeom prst="line">
            <a:avLst/>
          </a:prstGeom>
          <a:noFill/>
          <a:ln w="15875">
            <a:solidFill>
              <a:srgbClr val="C5D3CA"/>
            </a:solidFill>
            <a:prstDash val="solid"/>
          </a:ln>
        </p:spPr>
      </p:sp>
      <p:sp>
        <p:nvSpPr>
          <p:cNvPr id="19" name="Shape 16"/>
          <p:cNvSpPr/>
          <p:nvPr/>
        </p:nvSpPr>
        <p:spPr>
          <a:xfrm>
            <a:off x="3261360" y="2583180"/>
            <a:ext cx="1706880" cy="1303020"/>
          </a:xfrm>
          <a:prstGeom prst="line">
            <a:avLst/>
          </a:prstGeom>
          <a:noFill/>
          <a:ln w="15875">
            <a:solidFill>
              <a:srgbClr val="C5D3CA"/>
            </a:solidFill>
            <a:prstDash val="solid"/>
          </a:ln>
        </p:spPr>
      </p:sp>
      <p:sp>
        <p:nvSpPr>
          <p:cNvPr id="20" name="Shape 17"/>
          <p:cNvSpPr/>
          <p:nvPr/>
        </p:nvSpPr>
        <p:spPr>
          <a:xfrm>
            <a:off x="3261360" y="2583180"/>
            <a:ext cx="1706880" cy="2171700"/>
          </a:xfrm>
          <a:prstGeom prst="line">
            <a:avLst/>
          </a:prstGeom>
          <a:noFill/>
          <a:ln w="15875">
            <a:solidFill>
              <a:srgbClr val="C5D3CA"/>
            </a:solidFill>
            <a:prstDash val="solid"/>
          </a:ln>
        </p:spPr>
      </p:sp>
      <p:sp>
        <p:nvSpPr>
          <p:cNvPr id="21" name="Shape 18"/>
          <p:cNvSpPr/>
          <p:nvPr/>
        </p:nvSpPr>
        <p:spPr>
          <a:xfrm flipV="1">
            <a:off x="3261360" y="3017520"/>
            <a:ext cx="1706880" cy="434340"/>
          </a:xfrm>
          <a:prstGeom prst="line">
            <a:avLst/>
          </a:prstGeom>
          <a:noFill/>
          <a:ln w="15875">
            <a:solidFill>
              <a:srgbClr val="C5D3CA"/>
            </a:solidFill>
            <a:prstDash val="solid"/>
          </a:ln>
        </p:spPr>
      </p:sp>
      <p:sp>
        <p:nvSpPr>
          <p:cNvPr id="22" name="Shape 19"/>
          <p:cNvSpPr/>
          <p:nvPr/>
        </p:nvSpPr>
        <p:spPr>
          <a:xfrm>
            <a:off x="3261360" y="3451860"/>
            <a:ext cx="1706880" cy="434340"/>
          </a:xfrm>
          <a:prstGeom prst="line">
            <a:avLst/>
          </a:prstGeom>
          <a:noFill/>
          <a:ln w="15875">
            <a:solidFill>
              <a:srgbClr val="C5D3CA"/>
            </a:solidFill>
            <a:prstDash val="solid"/>
          </a:ln>
        </p:spPr>
      </p:sp>
      <p:sp>
        <p:nvSpPr>
          <p:cNvPr id="23" name="Shape 20"/>
          <p:cNvSpPr/>
          <p:nvPr/>
        </p:nvSpPr>
        <p:spPr>
          <a:xfrm>
            <a:off x="3261360" y="3451860"/>
            <a:ext cx="1706880" cy="1303020"/>
          </a:xfrm>
          <a:prstGeom prst="line">
            <a:avLst/>
          </a:prstGeom>
          <a:noFill/>
          <a:ln w="15875">
            <a:solidFill>
              <a:srgbClr val="C5D3CA"/>
            </a:solidFill>
            <a:prstDash val="solid"/>
          </a:ln>
        </p:spPr>
      </p:sp>
      <p:sp>
        <p:nvSpPr>
          <p:cNvPr id="24" name="Shape 21"/>
          <p:cNvSpPr/>
          <p:nvPr/>
        </p:nvSpPr>
        <p:spPr>
          <a:xfrm flipV="1">
            <a:off x="3261360" y="3017520"/>
            <a:ext cx="1706880" cy="1303020"/>
          </a:xfrm>
          <a:prstGeom prst="line">
            <a:avLst/>
          </a:prstGeom>
          <a:noFill/>
          <a:ln w="15875">
            <a:solidFill>
              <a:srgbClr val="C5D3CA"/>
            </a:solidFill>
            <a:prstDash val="solid"/>
          </a:ln>
        </p:spPr>
      </p:sp>
      <p:sp>
        <p:nvSpPr>
          <p:cNvPr id="25" name="Shape 22"/>
          <p:cNvSpPr/>
          <p:nvPr/>
        </p:nvSpPr>
        <p:spPr>
          <a:xfrm flipV="1">
            <a:off x="3261360" y="3886200"/>
            <a:ext cx="1706880" cy="434340"/>
          </a:xfrm>
          <a:prstGeom prst="line">
            <a:avLst/>
          </a:prstGeom>
          <a:noFill/>
          <a:ln w="15875">
            <a:solidFill>
              <a:srgbClr val="C5D3CA"/>
            </a:solidFill>
            <a:prstDash val="solid"/>
          </a:ln>
        </p:spPr>
      </p:sp>
      <p:sp>
        <p:nvSpPr>
          <p:cNvPr id="26" name="Shape 23"/>
          <p:cNvSpPr/>
          <p:nvPr/>
        </p:nvSpPr>
        <p:spPr>
          <a:xfrm>
            <a:off x="3261360" y="4320540"/>
            <a:ext cx="1706880" cy="434340"/>
          </a:xfrm>
          <a:prstGeom prst="line">
            <a:avLst/>
          </a:prstGeom>
          <a:noFill/>
          <a:ln w="15875">
            <a:solidFill>
              <a:srgbClr val="C5D3CA"/>
            </a:solidFill>
            <a:prstDash val="solid"/>
          </a:ln>
        </p:spPr>
      </p:sp>
      <p:sp>
        <p:nvSpPr>
          <p:cNvPr id="27" name="Shape 24"/>
          <p:cNvSpPr/>
          <p:nvPr/>
        </p:nvSpPr>
        <p:spPr>
          <a:xfrm flipV="1">
            <a:off x="3261360" y="3017520"/>
            <a:ext cx="1706880" cy="2171700"/>
          </a:xfrm>
          <a:prstGeom prst="line">
            <a:avLst/>
          </a:prstGeom>
          <a:noFill/>
          <a:ln w="15875">
            <a:solidFill>
              <a:srgbClr val="C5D3CA"/>
            </a:solidFill>
            <a:prstDash val="solid"/>
          </a:ln>
        </p:spPr>
      </p:sp>
      <p:sp>
        <p:nvSpPr>
          <p:cNvPr id="28" name="Shape 25"/>
          <p:cNvSpPr/>
          <p:nvPr/>
        </p:nvSpPr>
        <p:spPr>
          <a:xfrm flipV="1">
            <a:off x="3261360" y="3886200"/>
            <a:ext cx="1706880" cy="1303020"/>
          </a:xfrm>
          <a:prstGeom prst="line">
            <a:avLst/>
          </a:prstGeom>
          <a:noFill/>
          <a:ln w="15875">
            <a:solidFill>
              <a:srgbClr val="C5D3CA"/>
            </a:solidFill>
            <a:prstDash val="solid"/>
          </a:ln>
        </p:spPr>
      </p:sp>
      <p:sp>
        <p:nvSpPr>
          <p:cNvPr id="29" name="Shape 26"/>
          <p:cNvSpPr/>
          <p:nvPr/>
        </p:nvSpPr>
        <p:spPr>
          <a:xfrm flipV="1">
            <a:off x="3261360" y="4754880"/>
            <a:ext cx="1706880" cy="434340"/>
          </a:xfrm>
          <a:prstGeom prst="line">
            <a:avLst/>
          </a:prstGeom>
          <a:noFill/>
          <a:ln w="15875">
            <a:solidFill>
              <a:srgbClr val="C5D3CA"/>
            </a:solidFill>
            <a:prstDash val="solid"/>
          </a:ln>
        </p:spPr>
      </p:sp>
      <p:sp>
        <p:nvSpPr>
          <p:cNvPr id="30" name="Shape 27"/>
          <p:cNvSpPr/>
          <p:nvPr/>
        </p:nvSpPr>
        <p:spPr>
          <a:xfrm>
            <a:off x="4968240" y="3017520"/>
            <a:ext cx="1706880" cy="868680"/>
          </a:xfrm>
          <a:prstGeom prst="line">
            <a:avLst/>
          </a:prstGeom>
          <a:noFill/>
          <a:ln w="15875">
            <a:solidFill>
              <a:srgbClr val="C5D3CA"/>
            </a:solidFill>
            <a:prstDash val="solid"/>
          </a:ln>
        </p:spPr>
      </p:sp>
      <p:sp>
        <p:nvSpPr>
          <p:cNvPr id="31" name="Shape 28"/>
          <p:cNvSpPr/>
          <p:nvPr/>
        </p:nvSpPr>
        <p:spPr>
          <a:xfrm>
            <a:off x="4968240" y="3886200"/>
            <a:ext cx="1706880" cy="0"/>
          </a:xfrm>
          <a:prstGeom prst="line">
            <a:avLst/>
          </a:prstGeom>
          <a:noFill/>
          <a:ln w="15875">
            <a:solidFill>
              <a:srgbClr val="C5D3CA"/>
            </a:solidFill>
            <a:prstDash val="solid"/>
          </a:ln>
        </p:spPr>
      </p:sp>
      <p:sp>
        <p:nvSpPr>
          <p:cNvPr id="32" name="Shape 29"/>
          <p:cNvSpPr/>
          <p:nvPr/>
        </p:nvSpPr>
        <p:spPr>
          <a:xfrm flipV="1">
            <a:off x="4968240" y="3886200"/>
            <a:ext cx="1706880" cy="868680"/>
          </a:xfrm>
          <a:prstGeom prst="line">
            <a:avLst/>
          </a:prstGeom>
          <a:noFill/>
          <a:ln w="15875">
            <a:solidFill>
              <a:srgbClr val="C5D3CA"/>
            </a:solidFill>
            <a:prstDash val="solid"/>
          </a:ln>
        </p:spPr>
      </p:sp>
      <p:sp>
        <p:nvSpPr>
          <p:cNvPr id="33" name="Shape 30"/>
          <p:cNvSpPr/>
          <p:nvPr/>
        </p:nvSpPr>
        <p:spPr>
          <a:xfrm>
            <a:off x="1325880" y="2788920"/>
            <a:ext cx="457200" cy="457200"/>
          </a:xfrm>
          <a:prstGeom prst="ellipse">
            <a:avLst/>
          </a:prstGeom>
          <a:solidFill>
            <a:srgbClr val="1B4332"/>
          </a:solidFill>
          <a:ln w="12700">
            <a:solidFill>
              <a:srgbClr val="FFFFFF"/>
            </a:solidFill>
            <a:prstDash val="solid"/>
          </a:ln>
        </p:spPr>
      </p:sp>
      <p:sp>
        <p:nvSpPr>
          <p:cNvPr id="34" name="Text 31"/>
          <p:cNvSpPr txBox="1"/>
          <p:nvPr/>
        </p:nvSpPr>
        <p:spPr>
          <a:xfrm>
            <a:off x="1325880" y="2788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x1</a:t>
            </a:r>
            <a:endParaRPr lang="en-US" sz="1200" dirty="0"/>
          </a:p>
        </p:txBody>
      </p:sp>
      <p:sp>
        <p:nvSpPr>
          <p:cNvPr id="35" name="Shape 32"/>
          <p:cNvSpPr/>
          <p:nvPr/>
        </p:nvSpPr>
        <p:spPr>
          <a:xfrm>
            <a:off x="1325880" y="3657600"/>
            <a:ext cx="457200" cy="457200"/>
          </a:xfrm>
          <a:prstGeom prst="ellipse">
            <a:avLst/>
          </a:prstGeom>
          <a:solidFill>
            <a:srgbClr val="1B4332"/>
          </a:solidFill>
          <a:ln w="12700">
            <a:solidFill>
              <a:srgbClr val="FFFFFF"/>
            </a:solidFill>
            <a:prstDash val="solid"/>
          </a:ln>
        </p:spPr>
      </p:sp>
      <p:sp>
        <p:nvSpPr>
          <p:cNvPr id="36" name="Text 33"/>
          <p:cNvSpPr txBox="1"/>
          <p:nvPr/>
        </p:nvSpPr>
        <p:spPr>
          <a:xfrm>
            <a:off x="1325880" y="3657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x2</a:t>
            </a:r>
            <a:endParaRPr lang="en-US" sz="1200" dirty="0"/>
          </a:p>
        </p:txBody>
      </p:sp>
      <p:sp>
        <p:nvSpPr>
          <p:cNvPr id="37" name="Shape 34"/>
          <p:cNvSpPr/>
          <p:nvPr/>
        </p:nvSpPr>
        <p:spPr>
          <a:xfrm>
            <a:off x="1325880" y="4526280"/>
            <a:ext cx="457200" cy="457200"/>
          </a:xfrm>
          <a:prstGeom prst="ellipse">
            <a:avLst/>
          </a:prstGeom>
          <a:solidFill>
            <a:srgbClr val="1B4332"/>
          </a:solidFill>
          <a:ln w="12700">
            <a:solidFill>
              <a:srgbClr val="FFFFFF"/>
            </a:solidFill>
            <a:prstDash val="solid"/>
          </a:ln>
        </p:spPr>
      </p:sp>
      <p:sp>
        <p:nvSpPr>
          <p:cNvPr id="38" name="Text 35"/>
          <p:cNvSpPr txBox="1"/>
          <p:nvPr/>
        </p:nvSpPr>
        <p:spPr>
          <a:xfrm>
            <a:off x="1325880" y="45262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x3</a:t>
            </a:r>
            <a:endParaRPr lang="en-US" sz="1200" dirty="0"/>
          </a:p>
        </p:txBody>
      </p:sp>
      <p:sp>
        <p:nvSpPr>
          <p:cNvPr id="39" name="Shape 36"/>
          <p:cNvSpPr/>
          <p:nvPr/>
        </p:nvSpPr>
        <p:spPr>
          <a:xfrm>
            <a:off x="3032760" y="2354580"/>
            <a:ext cx="457200" cy="457200"/>
          </a:xfrm>
          <a:prstGeom prst="ellipse">
            <a:avLst/>
          </a:prstGeom>
          <a:solidFill>
            <a:srgbClr val="0B8A5B"/>
          </a:solidFill>
          <a:ln w="12700">
            <a:solidFill>
              <a:srgbClr val="FFFFFF"/>
            </a:solidFill>
            <a:prstDash val="solid"/>
          </a:ln>
        </p:spPr>
      </p:sp>
      <p:sp>
        <p:nvSpPr>
          <p:cNvPr id="40" name="Shape 37"/>
          <p:cNvSpPr/>
          <p:nvPr/>
        </p:nvSpPr>
        <p:spPr>
          <a:xfrm>
            <a:off x="3032760" y="3223260"/>
            <a:ext cx="457200" cy="457200"/>
          </a:xfrm>
          <a:prstGeom prst="ellipse">
            <a:avLst/>
          </a:prstGeom>
          <a:solidFill>
            <a:srgbClr val="0B8A5B"/>
          </a:solidFill>
          <a:ln w="12700">
            <a:solidFill>
              <a:srgbClr val="FFFFFF"/>
            </a:solidFill>
            <a:prstDash val="solid"/>
          </a:ln>
        </p:spPr>
      </p:sp>
      <p:sp>
        <p:nvSpPr>
          <p:cNvPr id="41" name="Shape 38"/>
          <p:cNvSpPr/>
          <p:nvPr/>
        </p:nvSpPr>
        <p:spPr>
          <a:xfrm>
            <a:off x="3032760" y="4091940"/>
            <a:ext cx="457200" cy="457200"/>
          </a:xfrm>
          <a:prstGeom prst="ellipse">
            <a:avLst/>
          </a:prstGeom>
          <a:solidFill>
            <a:srgbClr val="0B8A5B"/>
          </a:solidFill>
          <a:ln w="12700">
            <a:solidFill>
              <a:srgbClr val="FFFFFF"/>
            </a:solidFill>
            <a:prstDash val="solid"/>
          </a:ln>
        </p:spPr>
      </p:sp>
      <p:sp>
        <p:nvSpPr>
          <p:cNvPr id="42" name="Shape 39"/>
          <p:cNvSpPr/>
          <p:nvPr/>
        </p:nvSpPr>
        <p:spPr>
          <a:xfrm>
            <a:off x="3032760" y="4960620"/>
            <a:ext cx="457200" cy="457200"/>
          </a:xfrm>
          <a:prstGeom prst="ellipse">
            <a:avLst/>
          </a:prstGeom>
          <a:solidFill>
            <a:srgbClr val="0B8A5B"/>
          </a:solidFill>
          <a:ln w="12700">
            <a:solidFill>
              <a:srgbClr val="FFFFFF"/>
            </a:solidFill>
            <a:prstDash val="solid"/>
          </a:ln>
        </p:spPr>
      </p:sp>
      <p:sp>
        <p:nvSpPr>
          <p:cNvPr id="43" name="Shape 40"/>
          <p:cNvSpPr/>
          <p:nvPr/>
        </p:nvSpPr>
        <p:spPr>
          <a:xfrm>
            <a:off x="4739640" y="2788920"/>
            <a:ext cx="457200" cy="457200"/>
          </a:xfrm>
          <a:prstGeom prst="ellipse">
            <a:avLst/>
          </a:prstGeom>
          <a:solidFill>
            <a:srgbClr val="0B8A5B"/>
          </a:solidFill>
          <a:ln w="12700">
            <a:solidFill>
              <a:srgbClr val="FFFFFF"/>
            </a:solidFill>
            <a:prstDash val="solid"/>
          </a:ln>
        </p:spPr>
      </p:sp>
      <p:sp>
        <p:nvSpPr>
          <p:cNvPr id="44" name="Shape 41"/>
          <p:cNvSpPr/>
          <p:nvPr/>
        </p:nvSpPr>
        <p:spPr>
          <a:xfrm>
            <a:off x="4739640" y="3657600"/>
            <a:ext cx="457200" cy="457200"/>
          </a:xfrm>
          <a:prstGeom prst="ellipse">
            <a:avLst/>
          </a:prstGeom>
          <a:solidFill>
            <a:srgbClr val="0B8A5B"/>
          </a:solidFill>
          <a:ln w="12700">
            <a:solidFill>
              <a:srgbClr val="FFFFFF"/>
            </a:solidFill>
            <a:prstDash val="solid"/>
          </a:ln>
        </p:spPr>
      </p:sp>
      <p:sp>
        <p:nvSpPr>
          <p:cNvPr id="45" name="Shape 42"/>
          <p:cNvSpPr/>
          <p:nvPr/>
        </p:nvSpPr>
        <p:spPr>
          <a:xfrm>
            <a:off x="4739640" y="4526280"/>
            <a:ext cx="457200" cy="457200"/>
          </a:xfrm>
          <a:prstGeom prst="ellipse">
            <a:avLst/>
          </a:prstGeom>
          <a:solidFill>
            <a:srgbClr val="0B8A5B"/>
          </a:solidFill>
          <a:ln w="12700">
            <a:solidFill>
              <a:srgbClr val="FFFFFF"/>
            </a:solidFill>
            <a:prstDash val="solid"/>
          </a:ln>
        </p:spPr>
      </p:sp>
      <p:sp>
        <p:nvSpPr>
          <p:cNvPr id="46" name="Shape 43"/>
          <p:cNvSpPr/>
          <p:nvPr/>
        </p:nvSpPr>
        <p:spPr>
          <a:xfrm>
            <a:off x="6446520" y="3657600"/>
            <a:ext cx="457200" cy="457200"/>
          </a:xfrm>
          <a:prstGeom prst="ellipse">
            <a:avLst/>
          </a:prstGeom>
          <a:solidFill>
            <a:srgbClr val="FF7A2F"/>
          </a:solidFill>
          <a:ln w="12700">
            <a:solidFill>
              <a:srgbClr val="FFFFFF"/>
            </a:solidFill>
            <a:prstDash val="solid"/>
          </a:ln>
        </p:spPr>
      </p:sp>
      <p:sp>
        <p:nvSpPr>
          <p:cNvPr id="47" name="Text 44"/>
          <p:cNvSpPr txBox="1"/>
          <p:nvPr/>
        </p:nvSpPr>
        <p:spPr>
          <a:xfrm>
            <a:off x="6446520" y="3657600"/>
            <a:ext cx="457200" cy="457200"/>
          </a:xfrm>
          <a:prstGeom prst="rect">
            <a:avLst/>
          </a:prstGeom>
          <a:noFill/>
          <a:ln/>
        </p:spPr>
        <p:txBody>
          <a:bodyPr wrap="square" lIns="0" tIns="0" rIns="0" bIns="0" rtlCol="0" anchor="ctr"/>
          <a:lstStyle/>
          <a:p>
            <a:pPr algn="ctr" indent="0" marL="0">
              <a:buNone/>
            </a:pPr>
            <a:r>
              <a:rPr lang="en-US" sz="1200" b="1" dirty="0">
                <a:solidFill>
                  <a:srgbClr val="0B1A12"/>
                </a:solidFill>
                <a:latin typeface="Calibri" pitchFamily="34" charset="0"/>
                <a:ea typeface="Calibri" pitchFamily="34" charset="-122"/>
                <a:cs typeface="Calibri" pitchFamily="34" charset="-120"/>
              </a:rPr>
              <a:t>ŷ</a:t>
            </a:r>
            <a:endParaRPr lang="en-US" sz="1200" dirty="0"/>
          </a:p>
        </p:txBody>
      </p:sp>
      <p:sp>
        <p:nvSpPr>
          <p:cNvPr id="48" name="Text 45"/>
          <p:cNvSpPr txBox="1"/>
          <p:nvPr/>
        </p:nvSpPr>
        <p:spPr>
          <a:xfrm>
            <a:off x="868680" y="1600200"/>
            <a:ext cx="1371600" cy="274320"/>
          </a:xfrm>
          <a:prstGeom prst="rect">
            <a:avLst/>
          </a:prstGeom>
          <a:noFill/>
          <a:ln/>
        </p:spPr>
        <p:txBody>
          <a:bodyPr wrap="square" lIns="0" tIns="0" rIns="0" bIns="0" rtlCol="0" anchor="t"/>
          <a:lstStyle/>
          <a:p>
            <a:pPr algn="ctr" indent="0" marL="0">
              <a:buNone/>
            </a:pPr>
            <a:r>
              <a:rPr lang="en-US" sz="1200" b="1" dirty="0">
                <a:solidFill>
                  <a:srgbClr val="55645B"/>
                </a:solidFill>
                <a:latin typeface="Calibri" pitchFamily="34" charset="0"/>
                <a:ea typeface="Calibri" pitchFamily="34" charset="-122"/>
                <a:cs typeface="Calibri" pitchFamily="34" charset="-120"/>
              </a:rPr>
              <a:t>Entrada</a:t>
            </a:r>
            <a:endParaRPr lang="en-US" sz="1200" dirty="0"/>
          </a:p>
        </p:txBody>
      </p:sp>
      <p:sp>
        <p:nvSpPr>
          <p:cNvPr id="49" name="Text 46"/>
          <p:cNvSpPr txBox="1"/>
          <p:nvPr/>
        </p:nvSpPr>
        <p:spPr>
          <a:xfrm>
            <a:off x="2575560" y="1600200"/>
            <a:ext cx="1371600" cy="274320"/>
          </a:xfrm>
          <a:prstGeom prst="rect">
            <a:avLst/>
          </a:prstGeom>
          <a:noFill/>
          <a:ln/>
        </p:spPr>
        <p:txBody>
          <a:bodyPr wrap="square" lIns="0" tIns="0" rIns="0" bIns="0" rtlCol="0" anchor="t"/>
          <a:lstStyle/>
          <a:p>
            <a:pPr algn="ctr" indent="0" marL="0">
              <a:buNone/>
            </a:pPr>
            <a:r>
              <a:rPr lang="en-US" sz="1200" b="1" dirty="0">
                <a:solidFill>
                  <a:srgbClr val="55645B"/>
                </a:solidFill>
                <a:latin typeface="Calibri" pitchFamily="34" charset="0"/>
                <a:ea typeface="Calibri" pitchFamily="34" charset="-122"/>
                <a:cs typeface="Calibri" pitchFamily="34" charset="-120"/>
              </a:rPr>
              <a:t>Oculta 1</a:t>
            </a:r>
            <a:endParaRPr lang="en-US" sz="1200" dirty="0"/>
          </a:p>
        </p:txBody>
      </p:sp>
      <p:sp>
        <p:nvSpPr>
          <p:cNvPr id="50" name="Text 47"/>
          <p:cNvSpPr txBox="1"/>
          <p:nvPr/>
        </p:nvSpPr>
        <p:spPr>
          <a:xfrm>
            <a:off x="4282440" y="1600200"/>
            <a:ext cx="1371600" cy="274320"/>
          </a:xfrm>
          <a:prstGeom prst="rect">
            <a:avLst/>
          </a:prstGeom>
          <a:noFill/>
          <a:ln/>
        </p:spPr>
        <p:txBody>
          <a:bodyPr wrap="square" lIns="0" tIns="0" rIns="0" bIns="0" rtlCol="0" anchor="t"/>
          <a:lstStyle/>
          <a:p>
            <a:pPr algn="ctr" indent="0" marL="0">
              <a:buNone/>
            </a:pPr>
            <a:r>
              <a:rPr lang="en-US" sz="1200" b="1" dirty="0">
                <a:solidFill>
                  <a:srgbClr val="55645B"/>
                </a:solidFill>
                <a:latin typeface="Calibri" pitchFamily="34" charset="0"/>
                <a:ea typeface="Calibri" pitchFamily="34" charset="-122"/>
                <a:cs typeface="Calibri" pitchFamily="34" charset="-120"/>
              </a:rPr>
              <a:t>Oculta 2</a:t>
            </a:r>
            <a:endParaRPr lang="en-US" sz="1200" dirty="0"/>
          </a:p>
        </p:txBody>
      </p:sp>
      <p:sp>
        <p:nvSpPr>
          <p:cNvPr id="51" name="Text 48"/>
          <p:cNvSpPr txBox="1"/>
          <p:nvPr/>
        </p:nvSpPr>
        <p:spPr>
          <a:xfrm>
            <a:off x="5989320" y="1600200"/>
            <a:ext cx="1371600" cy="274320"/>
          </a:xfrm>
          <a:prstGeom prst="rect">
            <a:avLst/>
          </a:prstGeom>
          <a:noFill/>
          <a:ln/>
        </p:spPr>
        <p:txBody>
          <a:bodyPr wrap="square" lIns="0" tIns="0" rIns="0" bIns="0" rtlCol="0" anchor="t"/>
          <a:lstStyle/>
          <a:p>
            <a:pPr algn="ctr" indent="0" marL="0">
              <a:buNone/>
            </a:pPr>
            <a:r>
              <a:rPr lang="en-US" sz="1200" b="1" dirty="0">
                <a:solidFill>
                  <a:srgbClr val="55645B"/>
                </a:solidFill>
                <a:latin typeface="Calibri" pitchFamily="34" charset="0"/>
                <a:ea typeface="Calibri" pitchFamily="34" charset="-122"/>
                <a:cs typeface="Calibri" pitchFamily="34" charset="-120"/>
              </a:rPr>
              <a:t>Saída</a:t>
            </a:r>
            <a:endParaRPr lang="en-US" sz="1200" dirty="0"/>
          </a:p>
        </p:txBody>
      </p:sp>
      <p:sp>
        <p:nvSpPr>
          <p:cNvPr id="52" name="Shape 49"/>
          <p:cNvSpPr/>
          <p:nvPr/>
        </p:nvSpPr>
        <p:spPr>
          <a:xfrm>
            <a:off x="7315200" y="1783080"/>
            <a:ext cx="4233672" cy="1005840"/>
          </a:xfrm>
          <a:prstGeom prst="roundRect">
            <a:avLst>
              <a:gd name="adj" fmla="val 10909"/>
            </a:avLst>
          </a:prstGeom>
          <a:solidFill>
            <a:srgbClr val="F1F6F3"/>
          </a:solidFill>
          <a:ln w="12700">
            <a:solidFill>
              <a:srgbClr val="F1F6F3"/>
            </a:solidFill>
            <a:prstDash val="solid"/>
          </a:ln>
        </p:spPr>
      </p:sp>
      <p:sp>
        <p:nvSpPr>
          <p:cNvPr id="53" name="Text 50"/>
          <p:cNvSpPr txBox="1"/>
          <p:nvPr/>
        </p:nvSpPr>
        <p:spPr>
          <a:xfrm>
            <a:off x="7498080" y="1783080"/>
            <a:ext cx="3931920" cy="100584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Camada de entrada  </a:t>
            </a:r>
            <a:pPr indent="0" marL="0">
              <a:buNone/>
            </a:pPr>
            <a:r>
              <a:rPr lang="en-US" sz="1200" dirty="0">
                <a:solidFill>
                  <a:srgbClr val="0B1A12"/>
                </a:solidFill>
                <a:latin typeface="Calibri" pitchFamily="34" charset="0"/>
                <a:ea typeface="Calibri" pitchFamily="34" charset="-122"/>
                <a:cs typeface="Calibri" pitchFamily="34" charset="-120"/>
              </a:rPr>
              <a:t>Recebe os atributos; não calcula nada.</a:t>
            </a:r>
            <a:endParaRPr lang="en-US" sz="1400" dirty="0"/>
          </a:p>
        </p:txBody>
      </p:sp>
      <p:sp>
        <p:nvSpPr>
          <p:cNvPr id="54" name="Shape 51"/>
          <p:cNvSpPr/>
          <p:nvPr/>
        </p:nvSpPr>
        <p:spPr>
          <a:xfrm>
            <a:off x="7315200" y="2880360"/>
            <a:ext cx="4233672" cy="1005840"/>
          </a:xfrm>
          <a:prstGeom prst="roundRect">
            <a:avLst>
              <a:gd name="adj" fmla="val 10909"/>
            </a:avLst>
          </a:prstGeom>
          <a:solidFill>
            <a:srgbClr val="F1F6F3"/>
          </a:solidFill>
          <a:ln w="12700">
            <a:solidFill>
              <a:srgbClr val="F1F6F3"/>
            </a:solidFill>
            <a:prstDash val="solid"/>
          </a:ln>
        </p:spPr>
      </p:sp>
      <p:sp>
        <p:nvSpPr>
          <p:cNvPr id="55" name="Text 52"/>
          <p:cNvSpPr txBox="1"/>
          <p:nvPr/>
        </p:nvSpPr>
        <p:spPr>
          <a:xfrm>
            <a:off x="7498080" y="2880360"/>
            <a:ext cx="3931920" cy="100584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Camadas ocultas  </a:t>
            </a:r>
            <a:pPr indent="0" marL="0">
              <a:buNone/>
            </a:pPr>
            <a:r>
              <a:rPr lang="en-US" sz="1200" dirty="0">
                <a:solidFill>
                  <a:srgbClr val="0B1A12"/>
                </a:solidFill>
                <a:latin typeface="Calibri" pitchFamily="34" charset="0"/>
                <a:ea typeface="Calibri" pitchFamily="34" charset="-122"/>
                <a:cs typeface="Calibri" pitchFamily="34" charset="-120"/>
              </a:rPr>
              <a:t>Cada neurônio: soma ponderada + ativação. Aprendem representações intermediárias.</a:t>
            </a:r>
            <a:endParaRPr lang="en-US" sz="1400" dirty="0"/>
          </a:p>
        </p:txBody>
      </p:sp>
      <p:sp>
        <p:nvSpPr>
          <p:cNvPr id="56" name="Shape 53"/>
          <p:cNvSpPr/>
          <p:nvPr/>
        </p:nvSpPr>
        <p:spPr>
          <a:xfrm>
            <a:off x="7315200" y="3977640"/>
            <a:ext cx="4233672" cy="1005840"/>
          </a:xfrm>
          <a:prstGeom prst="roundRect">
            <a:avLst>
              <a:gd name="adj" fmla="val 10909"/>
            </a:avLst>
          </a:prstGeom>
          <a:solidFill>
            <a:srgbClr val="F1F6F3"/>
          </a:solidFill>
          <a:ln w="12700">
            <a:solidFill>
              <a:srgbClr val="F1F6F3"/>
            </a:solidFill>
            <a:prstDash val="solid"/>
          </a:ln>
        </p:spPr>
      </p:sp>
      <p:sp>
        <p:nvSpPr>
          <p:cNvPr id="57" name="Text 54"/>
          <p:cNvSpPr txBox="1"/>
          <p:nvPr/>
        </p:nvSpPr>
        <p:spPr>
          <a:xfrm>
            <a:off x="7498080" y="3977640"/>
            <a:ext cx="3931920" cy="100584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Camada de saída  </a:t>
            </a:r>
            <a:pPr indent="0" marL="0">
              <a:buNone/>
            </a:pPr>
            <a:r>
              <a:rPr lang="en-US" sz="1200" dirty="0">
                <a:solidFill>
                  <a:srgbClr val="0B1A12"/>
                </a:solidFill>
                <a:latin typeface="Calibri" pitchFamily="34" charset="0"/>
                <a:ea typeface="Calibri" pitchFamily="34" charset="-122"/>
                <a:cs typeface="Calibri" pitchFamily="34" charset="-120"/>
              </a:rPr>
              <a:t>Uma saída: sigmoide para probabilidade; várias saídas (softmax) para várias classes.</a:t>
            </a:r>
            <a:endParaRPr lang="en-US" sz="1400" dirty="0"/>
          </a:p>
        </p:txBody>
      </p:sp>
      <p:sp>
        <p:nvSpPr>
          <p:cNvPr id="58" name="Shape 55"/>
          <p:cNvSpPr/>
          <p:nvPr/>
        </p:nvSpPr>
        <p:spPr>
          <a:xfrm>
            <a:off x="7315200" y="5074920"/>
            <a:ext cx="4233672" cy="1005840"/>
          </a:xfrm>
          <a:prstGeom prst="roundRect">
            <a:avLst>
              <a:gd name="adj" fmla="val 10909"/>
            </a:avLst>
          </a:prstGeom>
          <a:solidFill>
            <a:srgbClr val="F1F6F3"/>
          </a:solidFill>
          <a:ln w="12700">
            <a:solidFill>
              <a:srgbClr val="F1F6F3"/>
            </a:solidFill>
            <a:prstDash val="solid"/>
          </a:ln>
        </p:spPr>
      </p:sp>
      <p:sp>
        <p:nvSpPr>
          <p:cNvPr id="59" name="Text 56"/>
          <p:cNvSpPr txBox="1"/>
          <p:nvPr/>
        </p:nvSpPr>
        <p:spPr>
          <a:xfrm>
            <a:off x="7498080" y="5074920"/>
            <a:ext cx="3931920" cy="100584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Totalmente conectada  </a:t>
            </a:r>
            <a:pPr indent="0" marL="0">
              <a:buNone/>
            </a:pPr>
            <a:r>
              <a:rPr lang="en-US" sz="1200" dirty="0">
                <a:solidFill>
                  <a:srgbClr val="0B1A12"/>
                </a:solidFill>
                <a:latin typeface="Calibri" pitchFamily="34" charset="0"/>
                <a:ea typeface="Calibri" pitchFamily="34" charset="-122"/>
                <a:cs typeface="Calibri" pitchFamily="34" charset="-120"/>
              </a:rPr>
              <a:t>Todo neurônio liga-se a todos da camada seguinte (camada “densa”).</a:t>
            </a:r>
            <a:endParaRPr lang="en-US" sz="1400" dirty="0"/>
          </a:p>
        </p:txBody>
      </p:sp>
      <p:sp>
        <p:nvSpPr>
          <p:cNvPr id="60" name="Text 57"/>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61" name="Text 58"/>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REDES MLP</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Forward pass: a rede como multiplicação de matrizes</a:t>
            </a:r>
            <a:endParaRPr lang="en-US" sz="3000" dirty="0"/>
          </a:p>
        </p:txBody>
      </p:sp>
      <p:sp>
        <p:nvSpPr>
          <p:cNvPr id="6" name="Shape 3"/>
          <p:cNvSpPr/>
          <p:nvPr/>
        </p:nvSpPr>
        <p:spPr>
          <a:xfrm>
            <a:off x="640080" y="1783080"/>
            <a:ext cx="10911535" cy="1188720"/>
          </a:xfrm>
          <a:prstGeom prst="roundRect">
            <a:avLst>
              <a:gd name="adj" fmla="val 9231"/>
            </a:avLst>
          </a:prstGeom>
          <a:solidFill>
            <a:srgbClr val="0F2A1D"/>
          </a:solidFill>
          <a:ln w="12700">
            <a:solidFill>
              <a:srgbClr val="0F2A1D"/>
            </a:solidFill>
            <a:prstDash val="solid"/>
          </a:ln>
        </p:spPr>
      </p:sp>
      <p:sp>
        <p:nvSpPr>
          <p:cNvPr id="7" name="Text 4"/>
          <p:cNvSpPr txBox="1"/>
          <p:nvPr/>
        </p:nvSpPr>
        <p:spPr>
          <a:xfrm>
            <a:off x="914400" y="1783080"/>
            <a:ext cx="10362895" cy="1188720"/>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a₁ = f(X · W₁ + b₁)
</a:t>
            </a:r>
            <a:pPr algn="ctr" indent="0" marL="0">
              <a:buNone/>
            </a:pPr>
            <a:r>
              <a:rPr lang="en-US" sz="2400" b="1" i="1" dirty="0">
                <a:solidFill>
                  <a:srgbClr val="FFFFFF"/>
                </a:solidFill>
                <a:latin typeface="Cambria" pitchFamily="34" charset="0"/>
                <a:ea typeface="Cambria" pitchFamily="34" charset="-122"/>
                <a:cs typeface="Cambria" pitchFamily="34" charset="-120"/>
              </a:rPr>
              <a:t>ŷ = f(a₁ · W₂ + b₂)</a:t>
            </a:r>
            <a:endParaRPr lang="en-US" sz="2400" dirty="0"/>
          </a:p>
        </p:txBody>
      </p:sp>
      <p:sp>
        <p:nvSpPr>
          <p:cNvPr id="8" name="Shape 5"/>
          <p:cNvSpPr/>
          <p:nvPr/>
        </p:nvSpPr>
        <p:spPr>
          <a:xfrm>
            <a:off x="640080" y="3154680"/>
            <a:ext cx="10908792" cy="457200"/>
          </a:xfrm>
          <a:prstGeom prst="roundRect">
            <a:avLst>
              <a:gd name="adj" fmla="val 20000"/>
            </a:avLst>
          </a:prstGeom>
          <a:solidFill>
            <a:srgbClr val="0F2A1D"/>
          </a:solidFill>
          <a:ln w="12700">
            <a:solidFill>
              <a:srgbClr val="0F2A1D"/>
            </a:solidFill>
            <a:prstDash val="solid"/>
          </a:ln>
        </p:spPr>
      </p:sp>
      <p:sp>
        <p:nvSpPr>
          <p:cNvPr id="9" name="Text 6"/>
          <p:cNvSpPr txBox="1"/>
          <p:nvPr/>
        </p:nvSpPr>
        <p:spPr>
          <a:xfrm>
            <a:off x="749808" y="3154680"/>
            <a:ext cx="18288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Objeto</a:t>
            </a:r>
            <a:endParaRPr lang="en-US" sz="1200" dirty="0"/>
          </a:p>
        </p:txBody>
      </p:sp>
      <p:sp>
        <p:nvSpPr>
          <p:cNvPr id="10" name="Text 7"/>
          <p:cNvSpPr txBox="1"/>
          <p:nvPr/>
        </p:nvSpPr>
        <p:spPr>
          <a:xfrm>
            <a:off x="2761488" y="3154680"/>
            <a:ext cx="27432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Forma (n exemplos)</a:t>
            </a:r>
            <a:endParaRPr lang="en-US" sz="1200" dirty="0"/>
          </a:p>
        </p:txBody>
      </p:sp>
      <p:sp>
        <p:nvSpPr>
          <p:cNvPr id="11" name="Text 8"/>
          <p:cNvSpPr txBox="1"/>
          <p:nvPr/>
        </p:nvSpPr>
        <p:spPr>
          <a:xfrm>
            <a:off x="5687568" y="3154680"/>
            <a:ext cx="27432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Exemplo XOR (2 → 4 → 1)</a:t>
            </a:r>
            <a:endParaRPr lang="en-US" sz="1200" dirty="0"/>
          </a:p>
        </p:txBody>
      </p:sp>
      <p:sp>
        <p:nvSpPr>
          <p:cNvPr id="12" name="Text 9"/>
          <p:cNvSpPr txBox="1"/>
          <p:nvPr/>
        </p:nvSpPr>
        <p:spPr>
          <a:xfrm>
            <a:off x="8613648" y="3154680"/>
            <a:ext cx="2862072"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Significado</a:t>
            </a:r>
            <a:endParaRPr lang="en-US" sz="1200" dirty="0"/>
          </a:p>
        </p:txBody>
      </p:sp>
      <p:sp>
        <p:nvSpPr>
          <p:cNvPr id="13" name="Shape 10"/>
          <p:cNvSpPr/>
          <p:nvPr/>
        </p:nvSpPr>
        <p:spPr>
          <a:xfrm>
            <a:off x="640080" y="3685032"/>
            <a:ext cx="10908792" cy="448056"/>
          </a:xfrm>
          <a:prstGeom prst="roundRect">
            <a:avLst>
              <a:gd name="adj" fmla="val 16327"/>
            </a:avLst>
          </a:prstGeom>
          <a:solidFill>
            <a:srgbClr val="F1F6F3"/>
          </a:solidFill>
          <a:ln w="12700">
            <a:solidFill>
              <a:srgbClr val="F1F6F3"/>
            </a:solidFill>
            <a:prstDash val="solid"/>
          </a:ln>
        </p:spPr>
      </p:sp>
      <p:sp>
        <p:nvSpPr>
          <p:cNvPr id="14" name="Text 11"/>
          <p:cNvSpPr txBox="1"/>
          <p:nvPr/>
        </p:nvSpPr>
        <p:spPr>
          <a:xfrm>
            <a:off x="749808" y="3685032"/>
            <a:ext cx="18288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X</a:t>
            </a:r>
            <a:endParaRPr lang="en-US" sz="1100" dirty="0"/>
          </a:p>
        </p:txBody>
      </p:sp>
      <p:sp>
        <p:nvSpPr>
          <p:cNvPr id="15" name="Text 12"/>
          <p:cNvSpPr txBox="1"/>
          <p:nvPr/>
        </p:nvSpPr>
        <p:spPr>
          <a:xfrm>
            <a:off x="2761488" y="368503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(n, entradas)</a:t>
            </a:r>
            <a:endParaRPr lang="en-US" sz="1100" dirty="0"/>
          </a:p>
        </p:txBody>
      </p:sp>
      <p:sp>
        <p:nvSpPr>
          <p:cNvPr id="16" name="Text 13"/>
          <p:cNvSpPr txBox="1"/>
          <p:nvPr/>
        </p:nvSpPr>
        <p:spPr>
          <a:xfrm>
            <a:off x="5687568" y="368503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(4, 2)</a:t>
            </a:r>
            <a:endParaRPr lang="en-US" sz="1100" dirty="0"/>
          </a:p>
        </p:txBody>
      </p:sp>
      <p:sp>
        <p:nvSpPr>
          <p:cNvPr id="17" name="Text 14"/>
          <p:cNvSpPr txBox="1"/>
          <p:nvPr/>
        </p:nvSpPr>
        <p:spPr>
          <a:xfrm>
            <a:off x="8613648" y="3685032"/>
            <a:ext cx="286207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um exemplo por linha</a:t>
            </a:r>
            <a:endParaRPr lang="en-US" sz="1200" dirty="0"/>
          </a:p>
        </p:txBody>
      </p:sp>
      <p:sp>
        <p:nvSpPr>
          <p:cNvPr id="18" name="Shape 15"/>
          <p:cNvSpPr/>
          <p:nvPr/>
        </p:nvSpPr>
        <p:spPr>
          <a:xfrm>
            <a:off x="640080" y="4187952"/>
            <a:ext cx="10908792" cy="448056"/>
          </a:xfrm>
          <a:prstGeom prst="roundRect">
            <a:avLst>
              <a:gd name="adj" fmla="val 16327"/>
            </a:avLst>
          </a:prstGeom>
          <a:solidFill>
            <a:srgbClr val="E6EEE9"/>
          </a:solidFill>
          <a:ln w="12700">
            <a:solidFill>
              <a:srgbClr val="E6EEE9"/>
            </a:solidFill>
            <a:prstDash val="solid"/>
          </a:ln>
        </p:spPr>
      </p:sp>
      <p:sp>
        <p:nvSpPr>
          <p:cNvPr id="19" name="Text 16"/>
          <p:cNvSpPr txBox="1"/>
          <p:nvPr/>
        </p:nvSpPr>
        <p:spPr>
          <a:xfrm>
            <a:off x="749808" y="4187952"/>
            <a:ext cx="18288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W₁</a:t>
            </a:r>
            <a:endParaRPr lang="en-US" sz="1100" dirty="0"/>
          </a:p>
        </p:txBody>
      </p:sp>
      <p:sp>
        <p:nvSpPr>
          <p:cNvPr id="20" name="Text 17"/>
          <p:cNvSpPr txBox="1"/>
          <p:nvPr/>
        </p:nvSpPr>
        <p:spPr>
          <a:xfrm>
            <a:off x="2761488" y="418795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(entradas, ocultos)</a:t>
            </a:r>
            <a:endParaRPr lang="en-US" sz="1100" dirty="0"/>
          </a:p>
        </p:txBody>
      </p:sp>
      <p:sp>
        <p:nvSpPr>
          <p:cNvPr id="21" name="Text 18"/>
          <p:cNvSpPr txBox="1"/>
          <p:nvPr/>
        </p:nvSpPr>
        <p:spPr>
          <a:xfrm>
            <a:off x="5687568" y="418795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(2, 4)</a:t>
            </a:r>
            <a:endParaRPr lang="en-US" sz="1100" dirty="0"/>
          </a:p>
        </p:txBody>
      </p:sp>
      <p:sp>
        <p:nvSpPr>
          <p:cNvPr id="22" name="Text 19"/>
          <p:cNvSpPr txBox="1"/>
          <p:nvPr/>
        </p:nvSpPr>
        <p:spPr>
          <a:xfrm>
            <a:off x="8613648" y="4187952"/>
            <a:ext cx="286207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um peso por ligação</a:t>
            </a:r>
            <a:endParaRPr lang="en-US" sz="1200" dirty="0"/>
          </a:p>
        </p:txBody>
      </p:sp>
      <p:sp>
        <p:nvSpPr>
          <p:cNvPr id="23" name="Shape 20"/>
          <p:cNvSpPr/>
          <p:nvPr/>
        </p:nvSpPr>
        <p:spPr>
          <a:xfrm>
            <a:off x="640080" y="4690872"/>
            <a:ext cx="10908792" cy="448056"/>
          </a:xfrm>
          <a:prstGeom prst="roundRect">
            <a:avLst>
              <a:gd name="adj" fmla="val 16327"/>
            </a:avLst>
          </a:prstGeom>
          <a:solidFill>
            <a:srgbClr val="F1F6F3"/>
          </a:solidFill>
          <a:ln w="12700">
            <a:solidFill>
              <a:srgbClr val="F1F6F3"/>
            </a:solidFill>
            <a:prstDash val="solid"/>
          </a:ln>
        </p:spPr>
      </p:sp>
      <p:sp>
        <p:nvSpPr>
          <p:cNvPr id="24" name="Text 21"/>
          <p:cNvSpPr txBox="1"/>
          <p:nvPr/>
        </p:nvSpPr>
        <p:spPr>
          <a:xfrm>
            <a:off x="749808" y="4690872"/>
            <a:ext cx="18288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a₁</a:t>
            </a:r>
            <a:endParaRPr lang="en-US" sz="1100" dirty="0"/>
          </a:p>
        </p:txBody>
      </p:sp>
      <p:sp>
        <p:nvSpPr>
          <p:cNvPr id="25" name="Text 22"/>
          <p:cNvSpPr txBox="1"/>
          <p:nvPr/>
        </p:nvSpPr>
        <p:spPr>
          <a:xfrm>
            <a:off x="2761488" y="469087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(n, ocultos)</a:t>
            </a:r>
            <a:endParaRPr lang="en-US" sz="1100" dirty="0"/>
          </a:p>
        </p:txBody>
      </p:sp>
      <p:sp>
        <p:nvSpPr>
          <p:cNvPr id="26" name="Text 23"/>
          <p:cNvSpPr txBox="1"/>
          <p:nvPr/>
        </p:nvSpPr>
        <p:spPr>
          <a:xfrm>
            <a:off x="5687568" y="469087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(4, 4)</a:t>
            </a:r>
            <a:endParaRPr lang="en-US" sz="1100" dirty="0"/>
          </a:p>
        </p:txBody>
      </p:sp>
      <p:sp>
        <p:nvSpPr>
          <p:cNvPr id="27" name="Text 24"/>
          <p:cNvSpPr txBox="1"/>
          <p:nvPr/>
        </p:nvSpPr>
        <p:spPr>
          <a:xfrm>
            <a:off x="8613648" y="4690872"/>
            <a:ext cx="286207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ativação oculta</a:t>
            </a:r>
            <a:endParaRPr lang="en-US" sz="1200" dirty="0"/>
          </a:p>
        </p:txBody>
      </p:sp>
      <p:sp>
        <p:nvSpPr>
          <p:cNvPr id="28" name="Shape 25"/>
          <p:cNvSpPr/>
          <p:nvPr/>
        </p:nvSpPr>
        <p:spPr>
          <a:xfrm>
            <a:off x="640080" y="5193792"/>
            <a:ext cx="10908792" cy="448056"/>
          </a:xfrm>
          <a:prstGeom prst="roundRect">
            <a:avLst>
              <a:gd name="adj" fmla="val 16327"/>
            </a:avLst>
          </a:prstGeom>
          <a:solidFill>
            <a:srgbClr val="E6EEE9"/>
          </a:solidFill>
          <a:ln w="12700">
            <a:solidFill>
              <a:srgbClr val="E6EEE9"/>
            </a:solidFill>
            <a:prstDash val="solid"/>
          </a:ln>
        </p:spPr>
      </p:sp>
      <p:sp>
        <p:nvSpPr>
          <p:cNvPr id="29" name="Text 26"/>
          <p:cNvSpPr txBox="1"/>
          <p:nvPr/>
        </p:nvSpPr>
        <p:spPr>
          <a:xfrm>
            <a:off x="749808" y="5193792"/>
            <a:ext cx="18288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W₂ → ŷ</a:t>
            </a:r>
            <a:endParaRPr lang="en-US" sz="1100" dirty="0"/>
          </a:p>
        </p:txBody>
      </p:sp>
      <p:sp>
        <p:nvSpPr>
          <p:cNvPr id="30" name="Text 27"/>
          <p:cNvSpPr txBox="1"/>
          <p:nvPr/>
        </p:nvSpPr>
        <p:spPr>
          <a:xfrm>
            <a:off x="2761488" y="519379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(ocultos, 1) → (n, 1)</a:t>
            </a:r>
            <a:endParaRPr lang="en-US" sz="1100" dirty="0"/>
          </a:p>
        </p:txBody>
      </p:sp>
      <p:sp>
        <p:nvSpPr>
          <p:cNvPr id="31" name="Text 28"/>
          <p:cNvSpPr txBox="1"/>
          <p:nvPr/>
        </p:nvSpPr>
        <p:spPr>
          <a:xfrm>
            <a:off x="5687568" y="5193792"/>
            <a:ext cx="274320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(4, 1) → (4, 1)</a:t>
            </a:r>
            <a:endParaRPr lang="en-US" sz="1100" dirty="0"/>
          </a:p>
        </p:txBody>
      </p:sp>
      <p:sp>
        <p:nvSpPr>
          <p:cNvPr id="32" name="Text 29"/>
          <p:cNvSpPr txBox="1"/>
          <p:nvPr/>
        </p:nvSpPr>
        <p:spPr>
          <a:xfrm>
            <a:off x="8613648" y="5193792"/>
            <a:ext cx="286207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previsão por exemplo</a:t>
            </a:r>
            <a:endParaRPr lang="en-US" sz="1200" dirty="0"/>
          </a:p>
        </p:txBody>
      </p:sp>
      <p:sp>
        <p:nvSpPr>
          <p:cNvPr id="33" name="Shape 30"/>
          <p:cNvSpPr/>
          <p:nvPr/>
        </p:nvSpPr>
        <p:spPr>
          <a:xfrm>
            <a:off x="640080" y="5760720"/>
            <a:ext cx="10911535" cy="411480"/>
          </a:xfrm>
          <a:prstGeom prst="roundRect">
            <a:avLst>
              <a:gd name="adj" fmla="val 26667"/>
            </a:avLst>
          </a:prstGeom>
          <a:solidFill>
            <a:srgbClr val="FFEBDD"/>
          </a:solidFill>
          <a:ln w="12700">
            <a:solidFill>
              <a:srgbClr val="FFEBDD"/>
            </a:solidFill>
            <a:prstDash val="solid"/>
          </a:ln>
        </p:spPr>
      </p:sp>
      <p:sp>
        <p:nvSpPr>
          <p:cNvPr id="34" name="Text 31"/>
          <p:cNvSpPr txBox="1"/>
          <p:nvPr/>
        </p:nvSpPr>
        <p:spPr>
          <a:xfrm>
            <a:off x="914400" y="5760720"/>
            <a:ext cx="10362895" cy="411480"/>
          </a:xfrm>
          <a:prstGeom prst="rect">
            <a:avLst/>
          </a:prstGeom>
          <a:noFill/>
          <a:ln/>
        </p:spPr>
        <p:txBody>
          <a:bodyPr wrap="square" lIns="0" tIns="0" rIns="0" bIns="0" rtlCol="0" anchor="ctr"/>
          <a:lstStyle/>
          <a:p>
            <a:pPr indent="0" marL="0">
              <a:buNone/>
            </a:pPr>
            <a:r>
              <a:rPr lang="en-US" sz="1200" b="1" dirty="0">
                <a:solidFill>
                  <a:srgbClr val="0B1A12"/>
                </a:solidFill>
                <a:latin typeface="Calibri" pitchFamily="34" charset="0"/>
                <a:ea typeface="Calibri" pitchFamily="34" charset="-122"/>
                <a:cs typeface="Calibri" pitchFamily="34" charset="-120"/>
              </a:rPr>
              <a:t>Com NumPy, todos os exemplos passam de uma vez: sem for sobre as linhas.</a:t>
            </a:r>
            <a:endParaRPr lang="en-US" sz="1200" dirty="0"/>
          </a:p>
        </p:txBody>
      </p:sp>
      <p:sp>
        <p:nvSpPr>
          <p:cNvPr id="35" name="Text 32"/>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6" name="Text 33"/>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REDES MLP</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Contando os parâmetros de uma rede</a:t>
            </a:r>
            <a:endParaRPr lang="en-US" sz="3000" dirty="0"/>
          </a:p>
        </p:txBody>
      </p:sp>
      <p:sp>
        <p:nvSpPr>
          <p:cNvPr id="6" name="Shape 3"/>
          <p:cNvSpPr/>
          <p:nvPr/>
        </p:nvSpPr>
        <p:spPr>
          <a:xfrm>
            <a:off x="640080" y="1783080"/>
            <a:ext cx="3493008" cy="2377440"/>
          </a:xfrm>
          <a:prstGeom prst="roundRect">
            <a:avLst>
              <a:gd name="adj" fmla="val 4615"/>
            </a:avLst>
          </a:prstGeom>
          <a:solidFill>
            <a:srgbClr val="F1F6F3"/>
          </a:solidFill>
          <a:ln w="12700">
            <a:solidFill>
              <a:srgbClr val="F1F6F3"/>
            </a:solidFill>
            <a:prstDash val="solid"/>
          </a:ln>
        </p:spPr>
      </p:sp>
      <p:sp>
        <p:nvSpPr>
          <p:cNvPr id="7" name="Text 4"/>
          <p:cNvSpPr txBox="1"/>
          <p:nvPr/>
        </p:nvSpPr>
        <p:spPr>
          <a:xfrm>
            <a:off x="868680"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Por camada</a:t>
            </a:r>
            <a:endParaRPr lang="en-US" sz="1600" dirty="0"/>
          </a:p>
        </p:txBody>
      </p:sp>
      <p:sp>
        <p:nvSpPr>
          <p:cNvPr id="8" name="Text 5"/>
          <p:cNvSpPr txBox="1"/>
          <p:nvPr/>
        </p:nvSpPr>
        <p:spPr>
          <a:xfrm>
            <a:off x="868680" y="2651760"/>
            <a:ext cx="3063240" cy="14173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entradas × neurônios (pesos) + neurônios (vieses).</a:t>
            </a:r>
            <a:endParaRPr lang="en-US" sz="1400" dirty="0"/>
          </a:p>
        </p:txBody>
      </p:sp>
      <p:sp>
        <p:nvSpPr>
          <p:cNvPr id="9" name="Shape 6"/>
          <p:cNvSpPr/>
          <p:nvPr/>
        </p:nvSpPr>
        <p:spPr>
          <a:xfrm>
            <a:off x="4347972" y="1783080"/>
            <a:ext cx="3493008" cy="2377440"/>
          </a:xfrm>
          <a:prstGeom prst="roundRect">
            <a:avLst>
              <a:gd name="adj" fmla="val 4615"/>
            </a:avLst>
          </a:prstGeom>
          <a:solidFill>
            <a:srgbClr val="F1F6F3"/>
          </a:solidFill>
          <a:ln w="12700">
            <a:solidFill>
              <a:srgbClr val="F1F6F3"/>
            </a:solidFill>
            <a:prstDash val="solid"/>
          </a:ln>
        </p:spPr>
      </p:sp>
      <p:sp>
        <p:nvSpPr>
          <p:cNvPr id="10" name="Text 7"/>
          <p:cNvSpPr txBox="1"/>
          <p:nvPr/>
        </p:nvSpPr>
        <p:spPr>
          <a:xfrm>
            <a:off x="4576572"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XOR: 2 → 4 → 1</a:t>
            </a:r>
            <a:endParaRPr lang="en-US" sz="1600" dirty="0"/>
          </a:p>
        </p:txBody>
      </p:sp>
      <p:sp>
        <p:nvSpPr>
          <p:cNvPr id="11" name="Text 8"/>
          <p:cNvSpPr txBox="1"/>
          <p:nvPr/>
        </p:nvSpPr>
        <p:spPr>
          <a:xfrm>
            <a:off x="4576572" y="2651760"/>
            <a:ext cx="3063240" cy="14173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(2×4 + 4) + (4×1 + 1) = 12 + 5 = 17 parâmetros.</a:t>
            </a:r>
            <a:endParaRPr lang="en-US" sz="1400" dirty="0"/>
          </a:p>
        </p:txBody>
      </p:sp>
      <p:sp>
        <p:nvSpPr>
          <p:cNvPr id="12" name="Shape 9"/>
          <p:cNvSpPr/>
          <p:nvPr/>
        </p:nvSpPr>
        <p:spPr>
          <a:xfrm>
            <a:off x="8055864" y="1783080"/>
            <a:ext cx="3493008" cy="2377440"/>
          </a:xfrm>
          <a:prstGeom prst="roundRect">
            <a:avLst>
              <a:gd name="adj" fmla="val 4615"/>
            </a:avLst>
          </a:prstGeom>
          <a:solidFill>
            <a:srgbClr val="F1F6F3"/>
          </a:solidFill>
          <a:ln w="12700">
            <a:solidFill>
              <a:srgbClr val="F1F6F3"/>
            </a:solidFill>
            <a:prstDash val="solid"/>
          </a:ln>
        </p:spPr>
      </p:sp>
      <p:sp>
        <p:nvSpPr>
          <p:cNvPr id="13" name="Text 10"/>
          <p:cNvSpPr txBox="1"/>
          <p:nvPr/>
        </p:nvSpPr>
        <p:spPr>
          <a:xfrm>
            <a:off x="8284464"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Câncer: 30 → 16 → 1</a:t>
            </a:r>
            <a:endParaRPr lang="en-US" sz="1600" dirty="0"/>
          </a:p>
        </p:txBody>
      </p:sp>
      <p:sp>
        <p:nvSpPr>
          <p:cNvPr id="14" name="Text 11"/>
          <p:cNvSpPr txBox="1"/>
          <p:nvPr/>
        </p:nvSpPr>
        <p:spPr>
          <a:xfrm>
            <a:off x="8284464" y="2651760"/>
            <a:ext cx="3063240" cy="14173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(30×16 + 16) + (16×1 + 1) = 496 + 17 = 513 parâmetros.</a:t>
            </a:r>
            <a:endParaRPr lang="en-US" sz="1400" dirty="0"/>
          </a:p>
        </p:txBody>
      </p:sp>
      <p:sp>
        <p:nvSpPr>
          <p:cNvPr id="15" name="Shape 12"/>
          <p:cNvSpPr/>
          <p:nvPr/>
        </p:nvSpPr>
        <p:spPr>
          <a:xfrm>
            <a:off x="640080" y="4389120"/>
            <a:ext cx="10911535" cy="1737360"/>
          </a:xfrm>
          <a:prstGeom prst="roundRect">
            <a:avLst>
              <a:gd name="adj" fmla="val 6316"/>
            </a:avLst>
          </a:prstGeom>
          <a:solidFill>
            <a:srgbClr val="FFEBDD"/>
          </a:solidFill>
          <a:ln w="12700">
            <a:solidFill>
              <a:srgbClr val="FFEBDD"/>
            </a:solidFill>
            <a:prstDash val="solid"/>
          </a:ln>
        </p:spPr>
      </p:sp>
      <p:sp>
        <p:nvSpPr>
          <p:cNvPr id="16" name="Text 13"/>
          <p:cNvSpPr txBox="1"/>
          <p:nvPr/>
        </p:nvSpPr>
        <p:spPr>
          <a:xfrm>
            <a:off x="914400" y="4389120"/>
            <a:ext cx="10362895" cy="173736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Cada parâmetro é ajustado pela descida do gradiente. Poucos exemplos e muitos parâmetros convidam ao overfitting: o câncer tem 569 exemplos e 513 parâmetros. Redes grandes (milhões de parâmetros, aula 14) exigem muitos dados e técnicas de regularização.</a:t>
            </a:r>
            <a:endParaRPr lang="en-US" sz="1400" dirty="0"/>
          </a:p>
        </p:txBody>
      </p:sp>
      <p:sp>
        <p:nvSpPr>
          <p:cNvPr id="17" name="Text 14"/>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18" name="Text 15"/>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TREINAMENTO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 função de custo da rede</a:t>
            </a:r>
            <a:endParaRPr lang="en-US" sz="3000" dirty="0"/>
          </a:p>
        </p:txBody>
      </p:sp>
      <p:sp>
        <p:nvSpPr>
          <p:cNvPr id="6" name="Shape 3"/>
          <p:cNvSpPr/>
          <p:nvPr/>
        </p:nvSpPr>
        <p:spPr>
          <a:xfrm>
            <a:off x="640080" y="1783080"/>
            <a:ext cx="5349240" cy="3108960"/>
          </a:xfrm>
          <a:prstGeom prst="roundRect">
            <a:avLst>
              <a:gd name="adj" fmla="val 3529"/>
            </a:avLst>
          </a:prstGeom>
          <a:solidFill>
            <a:srgbClr val="F1F6F3"/>
          </a:solidFill>
          <a:ln w="12700">
            <a:solidFill>
              <a:srgbClr val="F1F6F3"/>
            </a:solidFill>
            <a:prstDash val="solid"/>
          </a:ln>
        </p:spPr>
      </p:sp>
      <p:sp>
        <p:nvSpPr>
          <p:cNvPr id="7" name="Text 4"/>
          <p:cNvSpPr txBox="1"/>
          <p:nvPr/>
        </p:nvSpPr>
        <p:spPr>
          <a:xfrm>
            <a:off x="914400" y="1874520"/>
            <a:ext cx="4754880" cy="457200"/>
          </a:xfrm>
          <a:prstGeom prst="rect">
            <a:avLst/>
          </a:prstGeom>
          <a:noFill/>
          <a:ln/>
        </p:spPr>
        <p:txBody>
          <a:bodyPr wrap="square" lIns="0" tIns="0" rIns="0" bIns="0" rtlCol="0" anchor="ctr"/>
          <a:lstStyle/>
          <a:p>
            <a:pPr indent="0" marL="0">
              <a:buNone/>
            </a:pPr>
            <a:r>
              <a:rPr lang="en-US" sz="1800" b="1" dirty="0">
                <a:solidFill>
                  <a:srgbClr val="066B47"/>
                </a:solidFill>
                <a:latin typeface="Cambria" pitchFamily="34" charset="0"/>
                <a:ea typeface="Cambria" pitchFamily="34" charset="-122"/>
                <a:cs typeface="Cambria" pitchFamily="34" charset="-120"/>
              </a:rPr>
              <a:t>Erro quadrático médio</a:t>
            </a:r>
            <a:endParaRPr lang="en-US" sz="1800" dirty="0"/>
          </a:p>
        </p:txBody>
      </p:sp>
      <p:sp>
        <p:nvSpPr>
          <p:cNvPr id="8" name="Text 5"/>
          <p:cNvSpPr txBox="1"/>
          <p:nvPr/>
        </p:nvSpPr>
        <p:spPr>
          <a:xfrm>
            <a:off x="914400" y="2468880"/>
            <a:ext cx="4800600" cy="822960"/>
          </a:xfrm>
          <a:prstGeom prst="rect">
            <a:avLst/>
          </a:prstGeom>
          <a:noFill/>
          <a:ln/>
        </p:spPr>
        <p:txBody>
          <a:bodyPr wrap="square" lIns="0" tIns="0" rIns="0" bIns="0" rtlCol="0" anchor="ctr"/>
          <a:lstStyle/>
          <a:p>
            <a:pPr indent="0" marL="0">
              <a:buNone/>
            </a:pPr>
            <a:r>
              <a:rPr lang="en-US" sz="1300" b="1" dirty="0">
                <a:solidFill>
                  <a:srgbClr val="0B1A12"/>
                </a:solidFill>
                <a:latin typeface="Courier New" pitchFamily="34" charset="0"/>
                <a:ea typeface="Courier New" pitchFamily="34" charset="-122"/>
                <a:cs typeface="Courier New" pitchFamily="34" charset="-120"/>
              </a:rPr>
              <a:t>J = (1/n) Σ (ŷ − y)²</a:t>
            </a:r>
            <a:endParaRPr lang="en-US" sz="1300" dirty="0"/>
          </a:p>
        </p:txBody>
      </p:sp>
      <p:sp>
        <p:nvSpPr>
          <p:cNvPr id="9" name="Text 6"/>
          <p:cNvSpPr txBox="1"/>
          <p:nvPr/>
        </p:nvSpPr>
        <p:spPr>
          <a:xfrm>
            <a:off x="914400" y="3474720"/>
            <a:ext cx="4800600" cy="128016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Regressão: mede a distância entre a previsão e o valor real (aula 03).</a:t>
            </a:r>
            <a:endParaRPr lang="en-US" sz="1400" dirty="0"/>
          </a:p>
        </p:txBody>
      </p:sp>
      <p:sp>
        <p:nvSpPr>
          <p:cNvPr id="10" name="Shape 7"/>
          <p:cNvSpPr/>
          <p:nvPr/>
        </p:nvSpPr>
        <p:spPr>
          <a:xfrm>
            <a:off x="6199632" y="1783080"/>
            <a:ext cx="5349240" cy="3108960"/>
          </a:xfrm>
          <a:prstGeom prst="roundRect">
            <a:avLst>
              <a:gd name="adj" fmla="val 3529"/>
            </a:avLst>
          </a:prstGeom>
          <a:solidFill>
            <a:srgbClr val="FFEBDD"/>
          </a:solidFill>
          <a:ln w="12700">
            <a:solidFill>
              <a:srgbClr val="FFEBDD"/>
            </a:solidFill>
            <a:prstDash val="solid"/>
          </a:ln>
        </p:spPr>
      </p:sp>
      <p:sp>
        <p:nvSpPr>
          <p:cNvPr id="11" name="Text 8"/>
          <p:cNvSpPr txBox="1"/>
          <p:nvPr/>
        </p:nvSpPr>
        <p:spPr>
          <a:xfrm>
            <a:off x="6473952" y="1874520"/>
            <a:ext cx="4754880" cy="457200"/>
          </a:xfrm>
          <a:prstGeom prst="rect">
            <a:avLst/>
          </a:prstGeom>
          <a:noFill/>
          <a:ln/>
        </p:spPr>
        <p:txBody>
          <a:bodyPr wrap="square" lIns="0" tIns="0" rIns="0" bIns="0" rtlCol="0" anchor="ctr"/>
          <a:lstStyle/>
          <a:p>
            <a:pPr indent="0" marL="0">
              <a:buNone/>
            </a:pPr>
            <a:r>
              <a:rPr lang="en-US" sz="1800" b="1" dirty="0">
                <a:solidFill>
                  <a:srgbClr val="B34700"/>
                </a:solidFill>
                <a:latin typeface="Cambria" pitchFamily="34" charset="0"/>
                <a:ea typeface="Cambria" pitchFamily="34" charset="-122"/>
                <a:cs typeface="Cambria" pitchFamily="34" charset="-120"/>
              </a:rPr>
              <a:t>Entropia cruzada binária</a:t>
            </a:r>
            <a:endParaRPr lang="en-US" sz="1800" dirty="0"/>
          </a:p>
        </p:txBody>
      </p:sp>
      <p:sp>
        <p:nvSpPr>
          <p:cNvPr id="12" name="Text 9"/>
          <p:cNvSpPr txBox="1"/>
          <p:nvPr/>
        </p:nvSpPr>
        <p:spPr>
          <a:xfrm>
            <a:off x="6473952" y="2468880"/>
            <a:ext cx="4800600" cy="822960"/>
          </a:xfrm>
          <a:prstGeom prst="rect">
            <a:avLst/>
          </a:prstGeom>
          <a:noFill/>
          <a:ln/>
        </p:spPr>
        <p:txBody>
          <a:bodyPr wrap="square" lIns="0" tIns="0" rIns="0" bIns="0" rtlCol="0" anchor="ctr"/>
          <a:lstStyle/>
          <a:p>
            <a:pPr indent="0" marL="0">
              <a:buNone/>
            </a:pPr>
            <a:r>
              <a:rPr lang="en-US" sz="1300" b="1" dirty="0">
                <a:solidFill>
                  <a:srgbClr val="0B1A12"/>
                </a:solidFill>
                <a:latin typeface="Courier New" pitchFamily="34" charset="0"/>
                <a:ea typeface="Courier New" pitchFamily="34" charset="-122"/>
                <a:cs typeface="Courier New" pitchFamily="34" charset="-120"/>
              </a:rPr>
              <a:t>J = −(1/n) Σ [y·ln ŷ + (1 − y)·ln(1 − ŷ)]</a:t>
            </a:r>
            <a:endParaRPr lang="en-US" sz="1300" dirty="0"/>
          </a:p>
        </p:txBody>
      </p:sp>
      <p:sp>
        <p:nvSpPr>
          <p:cNvPr id="13" name="Text 10"/>
          <p:cNvSpPr txBox="1"/>
          <p:nvPr/>
        </p:nvSpPr>
        <p:spPr>
          <a:xfrm>
            <a:off x="6473952" y="3474720"/>
            <a:ext cx="4800600" cy="128016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Classificação: pune muito uma previsão confiante e errada.</a:t>
            </a:r>
            <a:endParaRPr lang="en-US" sz="1400" dirty="0"/>
          </a:p>
        </p:txBody>
      </p:sp>
      <p:sp>
        <p:nvSpPr>
          <p:cNvPr id="14" name="Shape 11"/>
          <p:cNvSpPr/>
          <p:nvPr/>
        </p:nvSpPr>
        <p:spPr>
          <a:xfrm>
            <a:off x="640080" y="5120640"/>
            <a:ext cx="10911535" cy="1005840"/>
          </a:xfrm>
          <a:prstGeom prst="roundRect">
            <a:avLst>
              <a:gd name="adj" fmla="val 10909"/>
            </a:avLst>
          </a:prstGeom>
          <a:solidFill>
            <a:srgbClr val="FFEBDD"/>
          </a:solidFill>
          <a:ln w="12700">
            <a:solidFill>
              <a:srgbClr val="FFEBDD"/>
            </a:solidFill>
            <a:prstDash val="solid"/>
          </a:ln>
        </p:spPr>
      </p:sp>
      <p:sp>
        <p:nvSpPr>
          <p:cNvPr id="15" name="Text 12"/>
          <p:cNvSpPr txBox="1"/>
          <p:nvPr/>
        </p:nvSpPr>
        <p:spPr>
          <a:xfrm>
            <a:off x="914400" y="5120640"/>
            <a:ext cx="10362895" cy="100584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Exemplo: se y = 1 e a rede prevê 0,99, o custo é −ln(0,99) = 0,01. Se prevê 0,01, o custo é −ln(0,01) = 4,6: um erro confiante custa caro. Treinar é minimizar J, como na regressão da aula 03.</a:t>
            </a:r>
            <a:endParaRPr lang="en-US" sz="1400" dirty="0"/>
          </a:p>
        </p:txBody>
      </p:sp>
      <p:sp>
        <p:nvSpPr>
          <p:cNvPr id="16" name="Text 13"/>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17" name="Text 14"/>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BACKPROPAGATION</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Backpropagation: a regra da cadeia, de trás para frente</a:t>
            </a:r>
            <a:endParaRPr lang="en-US" sz="3000" dirty="0"/>
          </a:p>
        </p:txBody>
      </p:sp>
      <p:sp>
        <p:nvSpPr>
          <p:cNvPr id="6" name="Shape 3"/>
          <p:cNvSpPr/>
          <p:nvPr/>
        </p:nvSpPr>
        <p:spPr>
          <a:xfrm>
            <a:off x="914400" y="1828800"/>
            <a:ext cx="2194560" cy="822960"/>
          </a:xfrm>
          <a:prstGeom prst="roundRect">
            <a:avLst>
              <a:gd name="adj" fmla="val 11111"/>
            </a:avLst>
          </a:prstGeom>
          <a:solidFill>
            <a:srgbClr val="1B4332"/>
          </a:solidFill>
          <a:ln w="12700">
            <a:solidFill>
              <a:srgbClr val="1B4332"/>
            </a:solidFill>
            <a:prstDash val="solid"/>
          </a:ln>
        </p:spPr>
      </p:sp>
      <p:sp>
        <p:nvSpPr>
          <p:cNvPr id="7" name="Text 4"/>
          <p:cNvSpPr txBox="1"/>
          <p:nvPr/>
        </p:nvSpPr>
        <p:spPr>
          <a:xfrm>
            <a:off x="914400" y="1828800"/>
            <a:ext cx="21945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8" name="Shape 5"/>
          <p:cNvSpPr/>
          <p:nvPr/>
        </p:nvSpPr>
        <p:spPr>
          <a:xfrm>
            <a:off x="3154680" y="2240280"/>
            <a:ext cx="548640" cy="0"/>
          </a:xfrm>
          <a:prstGeom prst="line">
            <a:avLst/>
          </a:prstGeom>
          <a:noFill/>
          <a:ln w="31750">
            <a:solidFill>
              <a:srgbClr val="55645B"/>
            </a:solidFill>
            <a:prstDash val="solid"/>
            <a:tailEnd type="triangle"/>
          </a:ln>
        </p:spPr>
      </p:sp>
      <p:sp>
        <p:nvSpPr>
          <p:cNvPr id="9" name="Shape 6"/>
          <p:cNvSpPr/>
          <p:nvPr/>
        </p:nvSpPr>
        <p:spPr>
          <a:xfrm>
            <a:off x="3749040" y="1828800"/>
            <a:ext cx="2194560" cy="822960"/>
          </a:xfrm>
          <a:prstGeom prst="roundRect">
            <a:avLst>
              <a:gd name="adj" fmla="val 11111"/>
            </a:avLst>
          </a:prstGeom>
          <a:solidFill>
            <a:srgbClr val="0B8A5B"/>
          </a:solidFill>
          <a:ln w="12700">
            <a:solidFill>
              <a:srgbClr val="0B8A5B"/>
            </a:solidFill>
            <a:prstDash val="solid"/>
          </a:ln>
        </p:spPr>
      </p:sp>
      <p:sp>
        <p:nvSpPr>
          <p:cNvPr id="10" name="Text 7"/>
          <p:cNvSpPr txBox="1"/>
          <p:nvPr/>
        </p:nvSpPr>
        <p:spPr>
          <a:xfrm>
            <a:off x="3749040" y="1828800"/>
            <a:ext cx="21945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camada 1</a:t>
            </a:r>
            <a:endParaRPr lang="en-US" sz="1600" dirty="0"/>
          </a:p>
        </p:txBody>
      </p:sp>
      <p:sp>
        <p:nvSpPr>
          <p:cNvPr id="11" name="Shape 8"/>
          <p:cNvSpPr/>
          <p:nvPr/>
        </p:nvSpPr>
        <p:spPr>
          <a:xfrm>
            <a:off x="5989320" y="2240280"/>
            <a:ext cx="548640" cy="0"/>
          </a:xfrm>
          <a:prstGeom prst="line">
            <a:avLst/>
          </a:prstGeom>
          <a:noFill/>
          <a:ln w="31750">
            <a:solidFill>
              <a:srgbClr val="55645B"/>
            </a:solidFill>
            <a:prstDash val="solid"/>
            <a:tailEnd type="triangle"/>
          </a:ln>
        </p:spPr>
      </p:sp>
      <p:sp>
        <p:nvSpPr>
          <p:cNvPr id="12" name="Shape 9"/>
          <p:cNvSpPr/>
          <p:nvPr/>
        </p:nvSpPr>
        <p:spPr>
          <a:xfrm>
            <a:off x="6583680" y="1828800"/>
            <a:ext cx="2194560" cy="822960"/>
          </a:xfrm>
          <a:prstGeom prst="roundRect">
            <a:avLst>
              <a:gd name="adj" fmla="val 11111"/>
            </a:avLst>
          </a:prstGeom>
          <a:solidFill>
            <a:srgbClr val="0B8A5B"/>
          </a:solidFill>
          <a:ln w="12700">
            <a:solidFill>
              <a:srgbClr val="0B8A5B"/>
            </a:solidFill>
            <a:prstDash val="solid"/>
          </a:ln>
        </p:spPr>
      </p:sp>
      <p:sp>
        <p:nvSpPr>
          <p:cNvPr id="13" name="Text 10"/>
          <p:cNvSpPr txBox="1"/>
          <p:nvPr/>
        </p:nvSpPr>
        <p:spPr>
          <a:xfrm>
            <a:off x="6583680" y="1828800"/>
            <a:ext cx="21945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camada 2</a:t>
            </a:r>
            <a:endParaRPr lang="en-US" sz="1600" dirty="0"/>
          </a:p>
        </p:txBody>
      </p:sp>
      <p:sp>
        <p:nvSpPr>
          <p:cNvPr id="14" name="Shape 11"/>
          <p:cNvSpPr/>
          <p:nvPr/>
        </p:nvSpPr>
        <p:spPr>
          <a:xfrm>
            <a:off x="8823960" y="2240280"/>
            <a:ext cx="548640" cy="0"/>
          </a:xfrm>
          <a:prstGeom prst="line">
            <a:avLst/>
          </a:prstGeom>
          <a:noFill/>
          <a:ln w="31750">
            <a:solidFill>
              <a:srgbClr val="55645B"/>
            </a:solidFill>
            <a:prstDash val="solid"/>
            <a:tailEnd type="triangle"/>
          </a:ln>
        </p:spPr>
      </p:sp>
      <p:sp>
        <p:nvSpPr>
          <p:cNvPr id="15" name="Shape 12"/>
          <p:cNvSpPr/>
          <p:nvPr/>
        </p:nvSpPr>
        <p:spPr>
          <a:xfrm>
            <a:off x="9418320" y="1828800"/>
            <a:ext cx="2194560" cy="822960"/>
          </a:xfrm>
          <a:prstGeom prst="roundRect">
            <a:avLst>
              <a:gd name="adj" fmla="val 11111"/>
            </a:avLst>
          </a:prstGeom>
          <a:solidFill>
            <a:srgbClr val="FF7A2F"/>
          </a:solidFill>
          <a:ln w="12700">
            <a:solidFill>
              <a:srgbClr val="FF7A2F"/>
            </a:solidFill>
            <a:prstDash val="solid"/>
          </a:ln>
        </p:spPr>
      </p:sp>
      <p:sp>
        <p:nvSpPr>
          <p:cNvPr id="16" name="Text 13"/>
          <p:cNvSpPr txBox="1"/>
          <p:nvPr/>
        </p:nvSpPr>
        <p:spPr>
          <a:xfrm>
            <a:off x="9418320" y="1828800"/>
            <a:ext cx="2194560" cy="822960"/>
          </a:xfrm>
          <a:prstGeom prst="rect">
            <a:avLst/>
          </a:prstGeom>
          <a:noFill/>
          <a:ln/>
        </p:spPr>
        <p:txBody>
          <a:bodyPr wrap="square" lIns="0" tIns="0" rIns="0" bIns="0" rtlCol="0" anchor="ctr"/>
          <a:lstStyle/>
          <a:p>
            <a:pPr algn="ctr" indent="0" marL="0">
              <a:buNone/>
            </a:pPr>
            <a:r>
              <a:rPr lang="en-US" sz="1600" b="1" dirty="0">
                <a:solidFill>
                  <a:srgbClr val="0B1A12"/>
                </a:solidFill>
                <a:latin typeface="Calibri" pitchFamily="34" charset="0"/>
                <a:ea typeface="Calibri" pitchFamily="34" charset="-122"/>
                <a:cs typeface="Calibri" pitchFamily="34" charset="-120"/>
              </a:rPr>
              <a:t>custo J</a:t>
            </a:r>
            <a:endParaRPr lang="en-US" sz="1600" dirty="0"/>
          </a:p>
        </p:txBody>
      </p:sp>
      <p:sp>
        <p:nvSpPr>
          <p:cNvPr id="17" name="Text 14"/>
          <p:cNvSpPr txBox="1"/>
          <p:nvPr/>
        </p:nvSpPr>
        <p:spPr>
          <a:xfrm>
            <a:off x="640080" y="2697480"/>
            <a:ext cx="10911535" cy="365760"/>
          </a:xfrm>
          <a:prstGeom prst="rect">
            <a:avLst/>
          </a:prstGeom>
          <a:noFill/>
          <a:ln/>
        </p:spPr>
        <p:txBody>
          <a:bodyPr wrap="square" lIns="0" tIns="0" rIns="0" bIns="0" rtlCol="0" anchor="t"/>
          <a:lstStyle/>
          <a:p>
            <a:pPr algn="ctr" indent="0" marL="0">
              <a:buNone/>
            </a:pPr>
            <a:r>
              <a:rPr lang="en-US" sz="1400" b="1" dirty="0">
                <a:solidFill>
                  <a:srgbClr val="066B47"/>
                </a:solidFill>
                <a:latin typeface="Calibri" pitchFamily="34" charset="0"/>
                <a:ea typeface="Calibri" pitchFamily="34" charset="-122"/>
                <a:cs typeface="Calibri" pitchFamily="34" charset="-120"/>
              </a:rPr>
              <a:t>forward: calcula as ativações e guarda os valores</a:t>
            </a:r>
            <a:endParaRPr lang="en-US" sz="1400" dirty="0"/>
          </a:p>
        </p:txBody>
      </p:sp>
      <p:sp>
        <p:nvSpPr>
          <p:cNvPr id="18" name="Text 15"/>
          <p:cNvSpPr txBox="1"/>
          <p:nvPr/>
        </p:nvSpPr>
        <p:spPr>
          <a:xfrm>
            <a:off x="640080" y="3063240"/>
            <a:ext cx="10911535" cy="365760"/>
          </a:xfrm>
          <a:prstGeom prst="rect">
            <a:avLst/>
          </a:prstGeom>
          <a:noFill/>
          <a:ln/>
        </p:spPr>
        <p:txBody>
          <a:bodyPr wrap="square" lIns="0" tIns="0" rIns="0" bIns="0" rtlCol="0" anchor="t"/>
          <a:lstStyle/>
          <a:p>
            <a:pPr algn="ctr" indent="0" marL="0">
              <a:buNone/>
            </a:pPr>
            <a:r>
              <a:rPr lang="en-US" sz="1400" b="1" dirty="0">
                <a:solidFill>
                  <a:srgbClr val="A31548"/>
                </a:solidFill>
                <a:latin typeface="Calibri" pitchFamily="34" charset="0"/>
                <a:ea typeface="Calibri" pitchFamily="34" charset="-122"/>
                <a:cs typeface="Calibri" pitchFamily="34" charset="-120"/>
              </a:rPr>
              <a:t>backward: o gradiente volta, camada por camada, multiplicando as derivadas (regra da cadeia)</a:t>
            </a:r>
            <a:endParaRPr lang="en-US" sz="1400" dirty="0"/>
          </a:p>
        </p:txBody>
      </p:sp>
      <p:sp>
        <p:nvSpPr>
          <p:cNvPr id="19" name="Shape 16"/>
          <p:cNvSpPr/>
          <p:nvPr/>
        </p:nvSpPr>
        <p:spPr>
          <a:xfrm>
            <a:off x="640080" y="3611880"/>
            <a:ext cx="3493008" cy="2514600"/>
          </a:xfrm>
          <a:prstGeom prst="roundRect">
            <a:avLst>
              <a:gd name="adj" fmla="val 4364"/>
            </a:avLst>
          </a:prstGeom>
          <a:solidFill>
            <a:srgbClr val="F1F6F3"/>
          </a:solidFill>
          <a:ln w="12700">
            <a:solidFill>
              <a:srgbClr val="F1F6F3"/>
            </a:solidFill>
            <a:prstDash val="solid"/>
          </a:ln>
        </p:spPr>
      </p:sp>
      <p:sp>
        <p:nvSpPr>
          <p:cNvPr id="20" name="Text 17"/>
          <p:cNvSpPr txBox="1"/>
          <p:nvPr/>
        </p:nvSpPr>
        <p:spPr>
          <a:xfrm>
            <a:off x="868680" y="37947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1. Forward</a:t>
            </a:r>
            <a:endParaRPr lang="en-US" sz="1600" dirty="0"/>
          </a:p>
        </p:txBody>
      </p:sp>
      <p:sp>
        <p:nvSpPr>
          <p:cNvPr id="21" name="Text 18"/>
          <p:cNvSpPr txBox="1"/>
          <p:nvPr/>
        </p:nvSpPr>
        <p:spPr>
          <a:xfrm>
            <a:off x="868680" y="4480560"/>
            <a:ext cx="3063240" cy="155448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Os dados atravessam a rede, camada a camada, até o custo J.</a:t>
            </a:r>
            <a:endParaRPr lang="en-US" sz="1400" dirty="0"/>
          </a:p>
        </p:txBody>
      </p:sp>
      <p:sp>
        <p:nvSpPr>
          <p:cNvPr id="22" name="Shape 19"/>
          <p:cNvSpPr/>
          <p:nvPr/>
        </p:nvSpPr>
        <p:spPr>
          <a:xfrm>
            <a:off x="4347972" y="3611880"/>
            <a:ext cx="3493008" cy="2514600"/>
          </a:xfrm>
          <a:prstGeom prst="roundRect">
            <a:avLst>
              <a:gd name="adj" fmla="val 4364"/>
            </a:avLst>
          </a:prstGeom>
          <a:solidFill>
            <a:srgbClr val="F1F6F3"/>
          </a:solidFill>
          <a:ln w="12700">
            <a:solidFill>
              <a:srgbClr val="F1F6F3"/>
            </a:solidFill>
            <a:prstDash val="solid"/>
          </a:ln>
        </p:spPr>
      </p:sp>
      <p:sp>
        <p:nvSpPr>
          <p:cNvPr id="23" name="Text 20"/>
          <p:cNvSpPr txBox="1"/>
          <p:nvPr/>
        </p:nvSpPr>
        <p:spPr>
          <a:xfrm>
            <a:off x="4576572" y="37947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2. Backward</a:t>
            </a:r>
            <a:endParaRPr lang="en-US" sz="1600" dirty="0"/>
          </a:p>
        </p:txBody>
      </p:sp>
      <p:sp>
        <p:nvSpPr>
          <p:cNvPr id="24" name="Text 21"/>
          <p:cNvSpPr txBox="1"/>
          <p:nvPr/>
        </p:nvSpPr>
        <p:spPr>
          <a:xfrm>
            <a:off x="4576572" y="4480560"/>
            <a:ext cx="3063240" cy="155448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Do custo para trás, cada camada recebe quanto contribuiu para o erro (o gradiente da aula 03, calculado pela regra da cadeia).</a:t>
            </a:r>
            <a:endParaRPr lang="en-US" sz="1400" dirty="0"/>
          </a:p>
        </p:txBody>
      </p:sp>
      <p:sp>
        <p:nvSpPr>
          <p:cNvPr id="25" name="Shape 22"/>
          <p:cNvSpPr/>
          <p:nvPr/>
        </p:nvSpPr>
        <p:spPr>
          <a:xfrm>
            <a:off x="8055864" y="3611880"/>
            <a:ext cx="3493008" cy="2514600"/>
          </a:xfrm>
          <a:prstGeom prst="roundRect">
            <a:avLst>
              <a:gd name="adj" fmla="val 4364"/>
            </a:avLst>
          </a:prstGeom>
          <a:solidFill>
            <a:srgbClr val="F1F6F3"/>
          </a:solidFill>
          <a:ln w="12700">
            <a:solidFill>
              <a:srgbClr val="F1F6F3"/>
            </a:solidFill>
            <a:prstDash val="solid"/>
          </a:ln>
        </p:spPr>
      </p:sp>
      <p:sp>
        <p:nvSpPr>
          <p:cNvPr id="26" name="Text 23"/>
          <p:cNvSpPr txBox="1"/>
          <p:nvPr/>
        </p:nvSpPr>
        <p:spPr>
          <a:xfrm>
            <a:off x="8284464" y="37947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3. Atualizar</a:t>
            </a:r>
            <a:endParaRPr lang="en-US" sz="1600" dirty="0"/>
          </a:p>
        </p:txBody>
      </p:sp>
      <p:sp>
        <p:nvSpPr>
          <p:cNvPr id="27" name="Text 24"/>
          <p:cNvSpPr txBox="1"/>
          <p:nvPr/>
        </p:nvSpPr>
        <p:spPr>
          <a:xfrm>
            <a:off x="8284464" y="4480560"/>
            <a:ext cx="3063240" cy="155448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Cada peso anda um pouco contra o seu gradiente: w ← w − α·∂J/∂w.</a:t>
            </a:r>
            <a:endParaRPr lang="en-US" sz="1400" dirty="0"/>
          </a:p>
        </p:txBody>
      </p:sp>
      <p:sp>
        <p:nvSpPr>
          <p:cNvPr id="28" name="Text 25"/>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9" name="Text 26"/>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BACKPROP · EXEMPLO NUMÉRICO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Uma rede 2 → 2 → 1 e um exemplo, passo 1: forward</a:t>
            </a:r>
            <a:endParaRPr lang="en-US" sz="3000" dirty="0"/>
          </a:p>
        </p:txBody>
      </p:sp>
      <p:sp>
        <p:nvSpPr>
          <p:cNvPr id="6" name="Shape 3"/>
          <p:cNvSpPr/>
          <p:nvPr/>
        </p:nvSpPr>
        <p:spPr>
          <a:xfrm>
            <a:off x="640080" y="1783080"/>
            <a:ext cx="10908792"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18288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Objeto</a:t>
            </a:r>
            <a:endParaRPr lang="en-US" sz="1200" dirty="0"/>
          </a:p>
        </p:txBody>
      </p:sp>
      <p:sp>
        <p:nvSpPr>
          <p:cNvPr id="8" name="Text 5"/>
          <p:cNvSpPr txBox="1"/>
          <p:nvPr/>
        </p:nvSpPr>
        <p:spPr>
          <a:xfrm>
            <a:off x="2761488" y="1783080"/>
            <a:ext cx="4389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Valor</a:t>
            </a:r>
            <a:endParaRPr lang="en-US" sz="1200" dirty="0"/>
          </a:p>
        </p:txBody>
      </p:sp>
      <p:sp>
        <p:nvSpPr>
          <p:cNvPr id="9" name="Text 6"/>
          <p:cNvSpPr txBox="1"/>
          <p:nvPr/>
        </p:nvSpPr>
        <p:spPr>
          <a:xfrm>
            <a:off x="7333488" y="1783080"/>
            <a:ext cx="4142232"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Conta</a:t>
            </a:r>
            <a:endParaRPr lang="en-US" sz="1200" dirty="0"/>
          </a:p>
        </p:txBody>
      </p:sp>
      <p:sp>
        <p:nvSpPr>
          <p:cNvPr id="10" name="Shape 7"/>
          <p:cNvSpPr/>
          <p:nvPr/>
        </p:nvSpPr>
        <p:spPr>
          <a:xfrm>
            <a:off x="640080" y="2313432"/>
            <a:ext cx="10908792" cy="448056"/>
          </a:xfrm>
          <a:prstGeom prst="roundRect">
            <a:avLst>
              <a:gd name="adj" fmla="val 16327"/>
            </a:avLst>
          </a:prstGeom>
          <a:solidFill>
            <a:srgbClr val="F1F6F3"/>
          </a:solidFill>
          <a:ln w="12700">
            <a:solidFill>
              <a:srgbClr val="F1F6F3"/>
            </a:solidFill>
            <a:prstDash val="solid"/>
          </a:ln>
        </p:spPr>
      </p:sp>
      <p:sp>
        <p:nvSpPr>
          <p:cNvPr id="11" name="Text 8"/>
          <p:cNvSpPr txBox="1"/>
          <p:nvPr/>
        </p:nvSpPr>
        <p:spPr>
          <a:xfrm>
            <a:off x="749808" y="2313432"/>
            <a:ext cx="182880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Entrada x; alvo y</a:t>
            </a:r>
            <a:endParaRPr lang="en-US" sz="1200" dirty="0"/>
          </a:p>
        </p:txBody>
      </p:sp>
      <p:sp>
        <p:nvSpPr>
          <p:cNvPr id="12" name="Text 9"/>
          <p:cNvSpPr txBox="1"/>
          <p:nvPr/>
        </p:nvSpPr>
        <p:spPr>
          <a:xfrm>
            <a:off x="2761488" y="231343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x = [1, 0]   y = 1</a:t>
            </a:r>
            <a:endParaRPr lang="en-US" sz="1100" dirty="0"/>
          </a:p>
        </p:txBody>
      </p:sp>
      <p:sp>
        <p:nvSpPr>
          <p:cNvPr id="13" name="Text 10"/>
          <p:cNvSpPr txBox="1"/>
          <p:nvPr/>
        </p:nvSpPr>
        <p:spPr>
          <a:xfrm>
            <a:off x="7333488" y="2313432"/>
            <a:ext cx="414223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um único exemplo</a:t>
            </a:r>
            <a:endParaRPr lang="en-US" sz="1200" dirty="0"/>
          </a:p>
        </p:txBody>
      </p:sp>
      <p:sp>
        <p:nvSpPr>
          <p:cNvPr id="14" name="Shape 11"/>
          <p:cNvSpPr/>
          <p:nvPr/>
        </p:nvSpPr>
        <p:spPr>
          <a:xfrm>
            <a:off x="640080" y="2816352"/>
            <a:ext cx="10908792" cy="448056"/>
          </a:xfrm>
          <a:prstGeom prst="roundRect">
            <a:avLst>
              <a:gd name="adj" fmla="val 16327"/>
            </a:avLst>
          </a:prstGeom>
          <a:solidFill>
            <a:srgbClr val="E6EEE9"/>
          </a:solidFill>
          <a:ln w="12700">
            <a:solidFill>
              <a:srgbClr val="E6EEE9"/>
            </a:solidFill>
            <a:prstDash val="solid"/>
          </a:ln>
        </p:spPr>
      </p:sp>
      <p:sp>
        <p:nvSpPr>
          <p:cNvPr id="15" name="Text 12"/>
          <p:cNvSpPr txBox="1"/>
          <p:nvPr/>
        </p:nvSpPr>
        <p:spPr>
          <a:xfrm>
            <a:off x="749808" y="2816352"/>
            <a:ext cx="182880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Pesos W₁; vieses b₁</a:t>
            </a:r>
            <a:endParaRPr lang="en-US" sz="1200" dirty="0"/>
          </a:p>
        </p:txBody>
      </p:sp>
      <p:sp>
        <p:nvSpPr>
          <p:cNvPr id="16" name="Text 13"/>
          <p:cNvSpPr txBox="1"/>
          <p:nvPr/>
        </p:nvSpPr>
        <p:spPr>
          <a:xfrm>
            <a:off x="2761488" y="281635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W₁ = [[0,5 −0,4], [0,3 0,8]]   b₁ = [0,1 −0,2]</a:t>
            </a:r>
            <a:endParaRPr lang="en-US" sz="1100" dirty="0"/>
          </a:p>
        </p:txBody>
      </p:sp>
      <p:sp>
        <p:nvSpPr>
          <p:cNvPr id="17" name="Text 14"/>
          <p:cNvSpPr txBox="1"/>
          <p:nvPr/>
        </p:nvSpPr>
        <p:spPr>
          <a:xfrm>
            <a:off x="7333488" y="2816352"/>
            <a:ext cx="414223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linha = entrada, coluna = neurônio</a:t>
            </a:r>
            <a:endParaRPr lang="en-US" sz="1200" dirty="0"/>
          </a:p>
        </p:txBody>
      </p:sp>
      <p:sp>
        <p:nvSpPr>
          <p:cNvPr id="18" name="Shape 15"/>
          <p:cNvSpPr/>
          <p:nvPr/>
        </p:nvSpPr>
        <p:spPr>
          <a:xfrm>
            <a:off x="640080" y="3319272"/>
            <a:ext cx="10908792" cy="448056"/>
          </a:xfrm>
          <a:prstGeom prst="roundRect">
            <a:avLst>
              <a:gd name="adj" fmla="val 16327"/>
            </a:avLst>
          </a:prstGeom>
          <a:solidFill>
            <a:srgbClr val="F1F6F3"/>
          </a:solidFill>
          <a:ln w="12700">
            <a:solidFill>
              <a:srgbClr val="F1F6F3"/>
            </a:solidFill>
            <a:prstDash val="solid"/>
          </a:ln>
        </p:spPr>
      </p:sp>
      <p:sp>
        <p:nvSpPr>
          <p:cNvPr id="19" name="Text 16"/>
          <p:cNvSpPr txBox="1"/>
          <p:nvPr/>
        </p:nvSpPr>
        <p:spPr>
          <a:xfrm>
            <a:off x="749808" y="3319272"/>
            <a:ext cx="182880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Pesos W₂; viés b₂</a:t>
            </a:r>
            <a:endParaRPr lang="en-US" sz="1200" dirty="0"/>
          </a:p>
        </p:txBody>
      </p:sp>
      <p:sp>
        <p:nvSpPr>
          <p:cNvPr id="20" name="Text 17"/>
          <p:cNvSpPr txBox="1"/>
          <p:nvPr/>
        </p:nvSpPr>
        <p:spPr>
          <a:xfrm>
            <a:off x="2761488" y="331927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W₂ = [0,7  −0,6]   b₂ = 0,05</a:t>
            </a:r>
            <a:endParaRPr lang="en-US" sz="1100" dirty="0"/>
          </a:p>
        </p:txBody>
      </p:sp>
      <p:sp>
        <p:nvSpPr>
          <p:cNvPr id="21" name="Text 18"/>
          <p:cNvSpPr txBox="1"/>
          <p:nvPr/>
        </p:nvSpPr>
        <p:spPr>
          <a:xfrm>
            <a:off x="7333488" y="3319272"/>
            <a:ext cx="414223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saída</a:t>
            </a:r>
            <a:endParaRPr lang="en-US" sz="1200" dirty="0"/>
          </a:p>
        </p:txBody>
      </p:sp>
      <p:sp>
        <p:nvSpPr>
          <p:cNvPr id="22" name="Shape 19"/>
          <p:cNvSpPr/>
          <p:nvPr/>
        </p:nvSpPr>
        <p:spPr>
          <a:xfrm>
            <a:off x="640080" y="3822192"/>
            <a:ext cx="10908792" cy="448056"/>
          </a:xfrm>
          <a:prstGeom prst="roundRect">
            <a:avLst>
              <a:gd name="adj" fmla="val 16327"/>
            </a:avLst>
          </a:prstGeom>
          <a:solidFill>
            <a:srgbClr val="E6EEE9"/>
          </a:solidFill>
          <a:ln w="12700">
            <a:solidFill>
              <a:srgbClr val="E6EEE9"/>
            </a:solidFill>
            <a:prstDash val="solid"/>
          </a:ln>
        </p:spPr>
      </p:sp>
      <p:sp>
        <p:nvSpPr>
          <p:cNvPr id="23" name="Text 20"/>
          <p:cNvSpPr txBox="1"/>
          <p:nvPr/>
        </p:nvSpPr>
        <p:spPr>
          <a:xfrm>
            <a:off x="749808" y="3822192"/>
            <a:ext cx="182880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z₁ = x·W₁ + b₁</a:t>
            </a:r>
            <a:endParaRPr lang="en-US" sz="1200" dirty="0"/>
          </a:p>
        </p:txBody>
      </p:sp>
      <p:sp>
        <p:nvSpPr>
          <p:cNvPr id="24" name="Text 21"/>
          <p:cNvSpPr txBox="1"/>
          <p:nvPr/>
        </p:nvSpPr>
        <p:spPr>
          <a:xfrm>
            <a:off x="2761488" y="382219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[0,6  −0,6]</a:t>
            </a:r>
            <a:endParaRPr lang="en-US" sz="1100" dirty="0"/>
          </a:p>
        </p:txBody>
      </p:sp>
      <p:sp>
        <p:nvSpPr>
          <p:cNvPr id="25" name="Text 22"/>
          <p:cNvSpPr txBox="1"/>
          <p:nvPr/>
        </p:nvSpPr>
        <p:spPr>
          <a:xfrm>
            <a:off x="7333488" y="3822192"/>
            <a:ext cx="414223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1·0,5 + 0·0,3 + 0,1 = 0,6</a:t>
            </a:r>
            <a:endParaRPr lang="en-US" sz="1200" dirty="0"/>
          </a:p>
        </p:txBody>
      </p:sp>
      <p:sp>
        <p:nvSpPr>
          <p:cNvPr id="26" name="Shape 23"/>
          <p:cNvSpPr/>
          <p:nvPr/>
        </p:nvSpPr>
        <p:spPr>
          <a:xfrm>
            <a:off x="640080" y="4325112"/>
            <a:ext cx="10908792" cy="448056"/>
          </a:xfrm>
          <a:prstGeom prst="roundRect">
            <a:avLst>
              <a:gd name="adj" fmla="val 16327"/>
            </a:avLst>
          </a:prstGeom>
          <a:solidFill>
            <a:srgbClr val="F1F6F3"/>
          </a:solidFill>
          <a:ln w="12700">
            <a:solidFill>
              <a:srgbClr val="F1F6F3"/>
            </a:solidFill>
            <a:prstDash val="solid"/>
          </a:ln>
        </p:spPr>
      </p:sp>
      <p:sp>
        <p:nvSpPr>
          <p:cNvPr id="27" name="Text 24"/>
          <p:cNvSpPr txBox="1"/>
          <p:nvPr/>
        </p:nvSpPr>
        <p:spPr>
          <a:xfrm>
            <a:off x="749808" y="4325112"/>
            <a:ext cx="182880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a₁ = σ(z₁)</a:t>
            </a:r>
            <a:endParaRPr lang="en-US" sz="1200" dirty="0"/>
          </a:p>
        </p:txBody>
      </p:sp>
      <p:sp>
        <p:nvSpPr>
          <p:cNvPr id="28" name="Text 25"/>
          <p:cNvSpPr txBox="1"/>
          <p:nvPr/>
        </p:nvSpPr>
        <p:spPr>
          <a:xfrm>
            <a:off x="2761488" y="432511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[0,6457  0,3543]</a:t>
            </a:r>
            <a:endParaRPr lang="en-US" sz="1100" dirty="0"/>
          </a:p>
        </p:txBody>
      </p:sp>
      <p:sp>
        <p:nvSpPr>
          <p:cNvPr id="29" name="Text 26"/>
          <p:cNvSpPr txBox="1"/>
          <p:nvPr/>
        </p:nvSpPr>
        <p:spPr>
          <a:xfrm>
            <a:off x="7333488" y="4325112"/>
            <a:ext cx="414223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sigmoide de cada z</a:t>
            </a:r>
            <a:endParaRPr lang="en-US" sz="1200" dirty="0"/>
          </a:p>
        </p:txBody>
      </p:sp>
      <p:sp>
        <p:nvSpPr>
          <p:cNvPr id="30" name="Shape 27"/>
          <p:cNvSpPr/>
          <p:nvPr/>
        </p:nvSpPr>
        <p:spPr>
          <a:xfrm>
            <a:off x="640080" y="4828032"/>
            <a:ext cx="10908792" cy="448056"/>
          </a:xfrm>
          <a:prstGeom prst="roundRect">
            <a:avLst>
              <a:gd name="adj" fmla="val 16327"/>
            </a:avLst>
          </a:prstGeom>
          <a:solidFill>
            <a:srgbClr val="E6EEE9"/>
          </a:solidFill>
          <a:ln w="12700">
            <a:solidFill>
              <a:srgbClr val="E6EEE9"/>
            </a:solidFill>
            <a:prstDash val="solid"/>
          </a:ln>
        </p:spPr>
      </p:sp>
      <p:sp>
        <p:nvSpPr>
          <p:cNvPr id="31" name="Text 28"/>
          <p:cNvSpPr txBox="1"/>
          <p:nvPr/>
        </p:nvSpPr>
        <p:spPr>
          <a:xfrm>
            <a:off x="749808" y="4828032"/>
            <a:ext cx="182880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z₂ ; ŷ = σ(z₂)</a:t>
            </a:r>
            <a:endParaRPr lang="en-US" sz="1200" dirty="0"/>
          </a:p>
        </p:txBody>
      </p:sp>
      <p:sp>
        <p:nvSpPr>
          <p:cNvPr id="32" name="Text 29"/>
          <p:cNvSpPr txBox="1"/>
          <p:nvPr/>
        </p:nvSpPr>
        <p:spPr>
          <a:xfrm>
            <a:off x="2761488" y="482803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z₂ = 0,2894   ŷ = 0,5718</a:t>
            </a:r>
            <a:endParaRPr lang="en-US" sz="1100" dirty="0"/>
          </a:p>
        </p:txBody>
      </p:sp>
      <p:sp>
        <p:nvSpPr>
          <p:cNvPr id="33" name="Text 30"/>
          <p:cNvSpPr txBox="1"/>
          <p:nvPr/>
        </p:nvSpPr>
        <p:spPr>
          <a:xfrm>
            <a:off x="7333488" y="4828032"/>
            <a:ext cx="4142232" cy="44805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0,6457·0,7 − 0,3543·0,6 + 0,05</a:t>
            </a:r>
            <a:endParaRPr lang="en-US" sz="1200" dirty="0"/>
          </a:p>
        </p:txBody>
      </p:sp>
      <p:sp>
        <p:nvSpPr>
          <p:cNvPr id="34" name="Shape 31"/>
          <p:cNvSpPr/>
          <p:nvPr/>
        </p:nvSpPr>
        <p:spPr>
          <a:xfrm>
            <a:off x="640080" y="5440680"/>
            <a:ext cx="10911535" cy="685800"/>
          </a:xfrm>
          <a:prstGeom prst="roundRect">
            <a:avLst>
              <a:gd name="adj" fmla="val 16000"/>
            </a:avLst>
          </a:prstGeom>
          <a:solidFill>
            <a:srgbClr val="FFEBDD"/>
          </a:solidFill>
          <a:ln w="12700">
            <a:solidFill>
              <a:srgbClr val="FFEBDD"/>
            </a:solidFill>
            <a:prstDash val="solid"/>
          </a:ln>
        </p:spPr>
      </p:sp>
      <p:sp>
        <p:nvSpPr>
          <p:cNvPr id="35" name="Text 32"/>
          <p:cNvSpPr txBox="1"/>
          <p:nvPr/>
        </p:nvSpPr>
        <p:spPr>
          <a:xfrm>
            <a:off x="914400" y="5440680"/>
            <a:ext cx="10362895" cy="68580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Custo J = ½(ŷ − y)² = ½(0,5718 − 1)² = 0,09166. A rede previu 0,57 e o certo era 1.</a:t>
            </a:r>
            <a:endParaRPr lang="en-US" sz="1400" dirty="0"/>
          </a:p>
        </p:txBody>
      </p:sp>
      <p:sp>
        <p:nvSpPr>
          <p:cNvPr id="36" name="Text 33"/>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7" name="Text 34"/>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BACKPROP · EXEMPLO NUMÉRICO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Passo 2: backward, os gradientes pela regra da cadeia</a:t>
            </a:r>
            <a:endParaRPr lang="en-US" sz="3000" dirty="0"/>
          </a:p>
        </p:txBody>
      </p:sp>
      <p:sp>
        <p:nvSpPr>
          <p:cNvPr id="6" name="Shape 3"/>
          <p:cNvSpPr/>
          <p:nvPr/>
        </p:nvSpPr>
        <p:spPr>
          <a:xfrm>
            <a:off x="640080" y="1783080"/>
            <a:ext cx="10908792"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21945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Gradiente</a:t>
            </a:r>
            <a:endParaRPr lang="en-US" sz="1200" dirty="0"/>
          </a:p>
        </p:txBody>
      </p:sp>
      <p:sp>
        <p:nvSpPr>
          <p:cNvPr id="8" name="Text 5"/>
          <p:cNvSpPr txBox="1"/>
          <p:nvPr/>
        </p:nvSpPr>
        <p:spPr>
          <a:xfrm>
            <a:off x="3127248" y="1783080"/>
            <a:ext cx="4389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Fórmula</a:t>
            </a:r>
            <a:endParaRPr lang="en-US" sz="1200" dirty="0"/>
          </a:p>
        </p:txBody>
      </p:sp>
      <p:sp>
        <p:nvSpPr>
          <p:cNvPr id="9" name="Text 6"/>
          <p:cNvSpPr txBox="1"/>
          <p:nvPr/>
        </p:nvSpPr>
        <p:spPr>
          <a:xfrm>
            <a:off x="7699248" y="1783080"/>
            <a:ext cx="3776472"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Valor</a:t>
            </a:r>
            <a:endParaRPr lang="en-US" sz="1200" dirty="0"/>
          </a:p>
        </p:txBody>
      </p:sp>
      <p:sp>
        <p:nvSpPr>
          <p:cNvPr id="10" name="Shape 7"/>
          <p:cNvSpPr/>
          <p:nvPr/>
        </p:nvSpPr>
        <p:spPr>
          <a:xfrm>
            <a:off x="640080" y="2313432"/>
            <a:ext cx="10908792" cy="448056"/>
          </a:xfrm>
          <a:prstGeom prst="roundRect">
            <a:avLst>
              <a:gd name="adj" fmla="val 16327"/>
            </a:avLst>
          </a:prstGeom>
          <a:solidFill>
            <a:srgbClr val="F1F6F3"/>
          </a:solidFill>
          <a:ln w="12700">
            <a:solidFill>
              <a:srgbClr val="F1F6F3"/>
            </a:solidFill>
            <a:prstDash val="solid"/>
          </a:ln>
        </p:spPr>
      </p:sp>
      <p:sp>
        <p:nvSpPr>
          <p:cNvPr id="11" name="Text 8"/>
          <p:cNvSpPr txBox="1"/>
          <p:nvPr/>
        </p:nvSpPr>
        <p:spPr>
          <a:xfrm>
            <a:off x="749808" y="2313432"/>
            <a:ext cx="219456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δ₂ = ∂J/∂z₂</a:t>
            </a:r>
            <a:endParaRPr lang="en-US" sz="1200" dirty="0"/>
          </a:p>
        </p:txBody>
      </p:sp>
      <p:sp>
        <p:nvSpPr>
          <p:cNvPr id="12" name="Text 9"/>
          <p:cNvSpPr txBox="1"/>
          <p:nvPr/>
        </p:nvSpPr>
        <p:spPr>
          <a:xfrm>
            <a:off x="3127248" y="231343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(ŷ − y) · ŷ · (1 − ŷ)</a:t>
            </a:r>
            <a:endParaRPr lang="en-US" sz="1100" dirty="0"/>
          </a:p>
        </p:txBody>
      </p:sp>
      <p:sp>
        <p:nvSpPr>
          <p:cNvPr id="13" name="Text 10"/>
          <p:cNvSpPr txBox="1"/>
          <p:nvPr/>
        </p:nvSpPr>
        <p:spPr>
          <a:xfrm>
            <a:off x="7699248" y="2313432"/>
            <a:ext cx="3776472"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−0,10483</a:t>
            </a:r>
            <a:endParaRPr lang="en-US" sz="1100" dirty="0"/>
          </a:p>
        </p:txBody>
      </p:sp>
      <p:sp>
        <p:nvSpPr>
          <p:cNvPr id="14" name="Shape 11"/>
          <p:cNvSpPr/>
          <p:nvPr/>
        </p:nvSpPr>
        <p:spPr>
          <a:xfrm>
            <a:off x="640080" y="2816352"/>
            <a:ext cx="10908792" cy="448056"/>
          </a:xfrm>
          <a:prstGeom prst="roundRect">
            <a:avLst>
              <a:gd name="adj" fmla="val 16327"/>
            </a:avLst>
          </a:prstGeom>
          <a:solidFill>
            <a:srgbClr val="E6EEE9"/>
          </a:solidFill>
          <a:ln w="12700">
            <a:solidFill>
              <a:srgbClr val="E6EEE9"/>
            </a:solidFill>
            <a:prstDash val="solid"/>
          </a:ln>
        </p:spPr>
      </p:sp>
      <p:sp>
        <p:nvSpPr>
          <p:cNvPr id="15" name="Text 12"/>
          <p:cNvSpPr txBox="1"/>
          <p:nvPr/>
        </p:nvSpPr>
        <p:spPr>
          <a:xfrm>
            <a:off x="749808" y="2816352"/>
            <a:ext cx="219456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∂J/∂W₂</a:t>
            </a:r>
            <a:endParaRPr lang="en-US" sz="1200" dirty="0"/>
          </a:p>
        </p:txBody>
      </p:sp>
      <p:sp>
        <p:nvSpPr>
          <p:cNvPr id="16" name="Text 13"/>
          <p:cNvSpPr txBox="1"/>
          <p:nvPr/>
        </p:nvSpPr>
        <p:spPr>
          <a:xfrm>
            <a:off x="3127248" y="281635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δ₂ · a₁</a:t>
            </a:r>
            <a:endParaRPr lang="en-US" sz="1100" dirty="0"/>
          </a:p>
        </p:txBody>
      </p:sp>
      <p:sp>
        <p:nvSpPr>
          <p:cNvPr id="17" name="Text 14"/>
          <p:cNvSpPr txBox="1"/>
          <p:nvPr/>
        </p:nvSpPr>
        <p:spPr>
          <a:xfrm>
            <a:off x="7699248" y="2816352"/>
            <a:ext cx="3776472"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[−0,06768  −0,03715]</a:t>
            </a:r>
            <a:endParaRPr lang="en-US" sz="1100" dirty="0"/>
          </a:p>
        </p:txBody>
      </p:sp>
      <p:sp>
        <p:nvSpPr>
          <p:cNvPr id="18" name="Shape 15"/>
          <p:cNvSpPr/>
          <p:nvPr/>
        </p:nvSpPr>
        <p:spPr>
          <a:xfrm>
            <a:off x="640080" y="3319272"/>
            <a:ext cx="10908792" cy="448056"/>
          </a:xfrm>
          <a:prstGeom prst="roundRect">
            <a:avLst>
              <a:gd name="adj" fmla="val 16327"/>
            </a:avLst>
          </a:prstGeom>
          <a:solidFill>
            <a:srgbClr val="F1F6F3"/>
          </a:solidFill>
          <a:ln w="12700">
            <a:solidFill>
              <a:srgbClr val="F1F6F3"/>
            </a:solidFill>
            <a:prstDash val="solid"/>
          </a:ln>
        </p:spPr>
      </p:sp>
      <p:sp>
        <p:nvSpPr>
          <p:cNvPr id="19" name="Text 16"/>
          <p:cNvSpPr txBox="1"/>
          <p:nvPr/>
        </p:nvSpPr>
        <p:spPr>
          <a:xfrm>
            <a:off x="749808" y="3319272"/>
            <a:ext cx="219456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∂J/∂b₂</a:t>
            </a:r>
            <a:endParaRPr lang="en-US" sz="1200" dirty="0"/>
          </a:p>
        </p:txBody>
      </p:sp>
      <p:sp>
        <p:nvSpPr>
          <p:cNvPr id="20" name="Text 17"/>
          <p:cNvSpPr txBox="1"/>
          <p:nvPr/>
        </p:nvSpPr>
        <p:spPr>
          <a:xfrm>
            <a:off x="3127248" y="331927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δ₂</a:t>
            </a:r>
            <a:endParaRPr lang="en-US" sz="1100" dirty="0"/>
          </a:p>
        </p:txBody>
      </p:sp>
      <p:sp>
        <p:nvSpPr>
          <p:cNvPr id="21" name="Text 18"/>
          <p:cNvSpPr txBox="1"/>
          <p:nvPr/>
        </p:nvSpPr>
        <p:spPr>
          <a:xfrm>
            <a:off x="7699248" y="3319272"/>
            <a:ext cx="3776472"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−0,10483</a:t>
            </a:r>
            <a:endParaRPr lang="en-US" sz="1100" dirty="0"/>
          </a:p>
        </p:txBody>
      </p:sp>
      <p:sp>
        <p:nvSpPr>
          <p:cNvPr id="22" name="Shape 19"/>
          <p:cNvSpPr/>
          <p:nvPr/>
        </p:nvSpPr>
        <p:spPr>
          <a:xfrm>
            <a:off x="640080" y="3822192"/>
            <a:ext cx="10908792" cy="448056"/>
          </a:xfrm>
          <a:prstGeom prst="roundRect">
            <a:avLst>
              <a:gd name="adj" fmla="val 16327"/>
            </a:avLst>
          </a:prstGeom>
          <a:solidFill>
            <a:srgbClr val="E6EEE9"/>
          </a:solidFill>
          <a:ln w="12700">
            <a:solidFill>
              <a:srgbClr val="E6EEE9"/>
            </a:solidFill>
            <a:prstDash val="solid"/>
          </a:ln>
        </p:spPr>
      </p:sp>
      <p:sp>
        <p:nvSpPr>
          <p:cNvPr id="23" name="Text 20"/>
          <p:cNvSpPr txBox="1"/>
          <p:nvPr/>
        </p:nvSpPr>
        <p:spPr>
          <a:xfrm>
            <a:off x="749808" y="3822192"/>
            <a:ext cx="219456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δ₁ = ∂J/∂z₁</a:t>
            </a:r>
            <a:endParaRPr lang="en-US" sz="1200" dirty="0"/>
          </a:p>
        </p:txBody>
      </p:sp>
      <p:sp>
        <p:nvSpPr>
          <p:cNvPr id="24" name="Text 21"/>
          <p:cNvSpPr txBox="1"/>
          <p:nvPr/>
        </p:nvSpPr>
        <p:spPr>
          <a:xfrm>
            <a:off x="3127248" y="382219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(δ₂ · W₂) · a₁ · (1 − a₁)</a:t>
            </a:r>
            <a:endParaRPr lang="en-US" sz="1100" dirty="0"/>
          </a:p>
        </p:txBody>
      </p:sp>
      <p:sp>
        <p:nvSpPr>
          <p:cNvPr id="25" name="Text 22"/>
          <p:cNvSpPr txBox="1"/>
          <p:nvPr/>
        </p:nvSpPr>
        <p:spPr>
          <a:xfrm>
            <a:off x="7699248" y="3822192"/>
            <a:ext cx="3776472"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[−0,01679  0,01439]</a:t>
            </a:r>
            <a:endParaRPr lang="en-US" sz="1100" dirty="0"/>
          </a:p>
        </p:txBody>
      </p:sp>
      <p:sp>
        <p:nvSpPr>
          <p:cNvPr id="26" name="Shape 23"/>
          <p:cNvSpPr/>
          <p:nvPr/>
        </p:nvSpPr>
        <p:spPr>
          <a:xfrm>
            <a:off x="640080" y="4325112"/>
            <a:ext cx="10908792" cy="448056"/>
          </a:xfrm>
          <a:prstGeom prst="roundRect">
            <a:avLst>
              <a:gd name="adj" fmla="val 16327"/>
            </a:avLst>
          </a:prstGeom>
          <a:solidFill>
            <a:srgbClr val="F1F6F3"/>
          </a:solidFill>
          <a:ln w="12700">
            <a:solidFill>
              <a:srgbClr val="F1F6F3"/>
            </a:solidFill>
            <a:prstDash val="solid"/>
          </a:ln>
        </p:spPr>
      </p:sp>
      <p:sp>
        <p:nvSpPr>
          <p:cNvPr id="27" name="Text 24"/>
          <p:cNvSpPr txBox="1"/>
          <p:nvPr/>
        </p:nvSpPr>
        <p:spPr>
          <a:xfrm>
            <a:off x="749808" y="4325112"/>
            <a:ext cx="2194560" cy="448056"/>
          </a:xfrm>
          <a:prstGeom prst="rect">
            <a:avLst/>
          </a:prstGeom>
          <a:noFill/>
          <a:ln/>
        </p:spPr>
        <p:txBody>
          <a:bodyPr wrap="square" lIns="0" tIns="0" rIns="0" bIns="0" rtlCol="0" anchor="ctr"/>
          <a:lstStyle/>
          <a:p>
            <a:pPr indent="0" marL="0">
              <a:buNone/>
            </a:pPr>
            <a:r>
              <a:rPr lang="en-US" sz="1200" b="1" dirty="0">
                <a:solidFill>
                  <a:srgbClr val="066B47"/>
                </a:solidFill>
                <a:latin typeface="Calibri" pitchFamily="34" charset="0"/>
                <a:ea typeface="Calibri" pitchFamily="34" charset="-122"/>
                <a:cs typeface="Calibri" pitchFamily="34" charset="-120"/>
              </a:rPr>
              <a:t>∂J/∂W₁</a:t>
            </a:r>
            <a:endParaRPr lang="en-US" sz="1200" dirty="0"/>
          </a:p>
        </p:txBody>
      </p:sp>
      <p:sp>
        <p:nvSpPr>
          <p:cNvPr id="28" name="Text 25"/>
          <p:cNvSpPr txBox="1"/>
          <p:nvPr/>
        </p:nvSpPr>
        <p:spPr>
          <a:xfrm>
            <a:off x="3127248" y="4325112"/>
            <a:ext cx="4389120"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xᵀ · δ₁ (x = [1, 0])</a:t>
            </a:r>
            <a:endParaRPr lang="en-US" sz="1100" dirty="0"/>
          </a:p>
        </p:txBody>
      </p:sp>
      <p:sp>
        <p:nvSpPr>
          <p:cNvPr id="29" name="Text 26"/>
          <p:cNvSpPr txBox="1"/>
          <p:nvPr/>
        </p:nvSpPr>
        <p:spPr>
          <a:xfrm>
            <a:off x="7699248" y="4325112"/>
            <a:ext cx="3776472" cy="44805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linha 1: [−0,01679  0,01439]; linha 2: 0</a:t>
            </a:r>
            <a:endParaRPr lang="en-US" sz="1100" dirty="0"/>
          </a:p>
        </p:txBody>
      </p:sp>
      <p:sp>
        <p:nvSpPr>
          <p:cNvPr id="30" name="Shape 27"/>
          <p:cNvSpPr/>
          <p:nvPr/>
        </p:nvSpPr>
        <p:spPr>
          <a:xfrm>
            <a:off x="640080" y="4983480"/>
            <a:ext cx="10911535" cy="1143000"/>
          </a:xfrm>
          <a:prstGeom prst="roundRect">
            <a:avLst>
              <a:gd name="adj" fmla="val 9600"/>
            </a:avLst>
          </a:prstGeom>
          <a:solidFill>
            <a:srgbClr val="FFEBDD"/>
          </a:solidFill>
          <a:ln w="12700">
            <a:solidFill>
              <a:srgbClr val="FFEBDD"/>
            </a:solidFill>
            <a:prstDash val="solid"/>
          </a:ln>
        </p:spPr>
      </p:sp>
      <p:sp>
        <p:nvSpPr>
          <p:cNvPr id="31" name="Text 28"/>
          <p:cNvSpPr txBox="1"/>
          <p:nvPr/>
        </p:nvSpPr>
        <p:spPr>
          <a:xfrm>
            <a:off x="914400" y="4983480"/>
            <a:ext cx="10362895" cy="114300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O erro da saída (δ₂) volta à camada oculta multiplicado por W₂ e pela derivada da sigmoide. É a regra da cadeia da aula 03, aplicada duas vezes. A segunda linha de ∂J/∂W₁ é zero porque x₂ = 0.</a:t>
            </a:r>
            <a:endParaRPr lang="en-US" sz="1400" dirty="0"/>
          </a:p>
        </p:txBody>
      </p:sp>
      <p:sp>
        <p:nvSpPr>
          <p:cNvPr id="32" name="Text 29"/>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3" name="Text 30"/>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BACKPROP · EXEMPLO NUMÉRICO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Passo 3: conferir e atualizar</a:t>
            </a:r>
            <a:endParaRPr lang="en-US" sz="3000" dirty="0"/>
          </a:p>
        </p:txBody>
      </p:sp>
      <p:sp>
        <p:nvSpPr>
          <p:cNvPr id="6" name="Shape 3"/>
          <p:cNvSpPr/>
          <p:nvPr/>
        </p:nvSpPr>
        <p:spPr>
          <a:xfrm>
            <a:off x="640080" y="1783080"/>
            <a:ext cx="10908792"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40233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Verificação por diferença central (aula 03)</a:t>
            </a:r>
            <a:endParaRPr lang="en-US" sz="1300" dirty="0"/>
          </a:p>
        </p:txBody>
      </p:sp>
      <p:sp>
        <p:nvSpPr>
          <p:cNvPr id="8" name="Text 5"/>
          <p:cNvSpPr txBox="1"/>
          <p:nvPr/>
        </p:nvSpPr>
        <p:spPr>
          <a:xfrm>
            <a:off x="4956048" y="1783080"/>
            <a:ext cx="31089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Analítico</a:t>
            </a:r>
            <a:endParaRPr lang="en-US" sz="1300" dirty="0"/>
          </a:p>
        </p:txBody>
      </p:sp>
      <p:sp>
        <p:nvSpPr>
          <p:cNvPr id="9" name="Text 6"/>
          <p:cNvSpPr txBox="1"/>
          <p:nvPr/>
        </p:nvSpPr>
        <p:spPr>
          <a:xfrm>
            <a:off x="8247888" y="1783080"/>
            <a:ext cx="3227832"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Numérico</a:t>
            </a:r>
            <a:endParaRPr lang="en-US" sz="1300" dirty="0"/>
          </a:p>
        </p:txBody>
      </p:sp>
      <p:sp>
        <p:nvSpPr>
          <p:cNvPr id="10" name="Shape 7"/>
          <p:cNvSpPr/>
          <p:nvPr/>
        </p:nvSpPr>
        <p:spPr>
          <a:xfrm>
            <a:off x="640080" y="2313432"/>
            <a:ext cx="10908792" cy="512064"/>
          </a:xfrm>
          <a:prstGeom prst="roundRect">
            <a:avLst>
              <a:gd name="adj" fmla="val 14286"/>
            </a:avLst>
          </a:prstGeom>
          <a:solidFill>
            <a:srgbClr val="F1F6F3"/>
          </a:solidFill>
          <a:ln w="12700">
            <a:solidFill>
              <a:srgbClr val="F1F6F3"/>
            </a:solidFill>
            <a:prstDash val="solid"/>
          </a:ln>
        </p:spPr>
      </p:sp>
      <p:sp>
        <p:nvSpPr>
          <p:cNvPr id="11" name="Text 8"/>
          <p:cNvSpPr txBox="1"/>
          <p:nvPr/>
        </p:nvSpPr>
        <p:spPr>
          <a:xfrm>
            <a:off x="749808" y="2313432"/>
            <a:ext cx="4023360" cy="512064"/>
          </a:xfrm>
          <a:prstGeom prst="rect">
            <a:avLst/>
          </a:prstGeom>
          <a:noFill/>
          <a:ln/>
        </p:spPr>
        <p:txBody>
          <a:bodyPr wrap="square" lIns="0" tIns="0" rIns="0" bIns="0" rtlCol="0" anchor="ctr"/>
          <a:lstStyle/>
          <a:p>
            <a:pPr indent="0" marL="0">
              <a:buNone/>
            </a:pPr>
            <a:r>
              <a:rPr lang="en-US" sz="1300" dirty="0">
                <a:solidFill>
                  <a:srgbClr val="0B1A12"/>
                </a:solidFill>
                <a:latin typeface="Calibri" pitchFamily="34" charset="0"/>
                <a:ea typeface="Calibri" pitchFamily="34" charset="-122"/>
                <a:cs typeface="Calibri" pitchFamily="34" charset="-120"/>
              </a:rPr>
              <a:t>∂J/∂W₂[0]</a:t>
            </a:r>
            <a:endParaRPr lang="en-US" sz="1300" dirty="0"/>
          </a:p>
        </p:txBody>
      </p:sp>
      <p:sp>
        <p:nvSpPr>
          <p:cNvPr id="12" name="Text 9"/>
          <p:cNvSpPr txBox="1"/>
          <p:nvPr/>
        </p:nvSpPr>
        <p:spPr>
          <a:xfrm>
            <a:off x="4956048" y="2313432"/>
            <a:ext cx="3108960" cy="51206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−0,067685</a:t>
            </a:r>
            <a:endParaRPr lang="en-US" sz="1200" dirty="0"/>
          </a:p>
        </p:txBody>
      </p:sp>
      <p:sp>
        <p:nvSpPr>
          <p:cNvPr id="13" name="Text 10"/>
          <p:cNvSpPr txBox="1"/>
          <p:nvPr/>
        </p:nvSpPr>
        <p:spPr>
          <a:xfrm>
            <a:off x="8247888" y="2313432"/>
            <a:ext cx="3227832" cy="51206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−0,067685</a:t>
            </a:r>
            <a:endParaRPr lang="en-US" sz="1200" dirty="0"/>
          </a:p>
        </p:txBody>
      </p:sp>
      <p:sp>
        <p:nvSpPr>
          <p:cNvPr id="14" name="Shape 11"/>
          <p:cNvSpPr/>
          <p:nvPr/>
        </p:nvSpPr>
        <p:spPr>
          <a:xfrm>
            <a:off x="640080" y="2880360"/>
            <a:ext cx="10908792" cy="512064"/>
          </a:xfrm>
          <a:prstGeom prst="roundRect">
            <a:avLst>
              <a:gd name="adj" fmla="val 14286"/>
            </a:avLst>
          </a:prstGeom>
          <a:solidFill>
            <a:srgbClr val="E6EEE9"/>
          </a:solidFill>
          <a:ln w="12700">
            <a:solidFill>
              <a:srgbClr val="E6EEE9"/>
            </a:solidFill>
            <a:prstDash val="solid"/>
          </a:ln>
        </p:spPr>
      </p:sp>
      <p:sp>
        <p:nvSpPr>
          <p:cNvPr id="15" name="Text 12"/>
          <p:cNvSpPr txBox="1"/>
          <p:nvPr/>
        </p:nvSpPr>
        <p:spPr>
          <a:xfrm>
            <a:off x="749808" y="2880360"/>
            <a:ext cx="4023360" cy="512064"/>
          </a:xfrm>
          <a:prstGeom prst="rect">
            <a:avLst/>
          </a:prstGeom>
          <a:noFill/>
          <a:ln/>
        </p:spPr>
        <p:txBody>
          <a:bodyPr wrap="square" lIns="0" tIns="0" rIns="0" bIns="0" rtlCol="0" anchor="ctr"/>
          <a:lstStyle/>
          <a:p>
            <a:pPr indent="0" marL="0">
              <a:buNone/>
            </a:pPr>
            <a:r>
              <a:rPr lang="en-US" sz="1300" dirty="0">
                <a:solidFill>
                  <a:srgbClr val="0B1A12"/>
                </a:solidFill>
                <a:latin typeface="Calibri" pitchFamily="34" charset="0"/>
                <a:ea typeface="Calibri" pitchFamily="34" charset="-122"/>
                <a:cs typeface="Calibri" pitchFamily="34" charset="-120"/>
              </a:rPr>
              <a:t>∂J/∂W₁[0, 0]</a:t>
            </a:r>
            <a:endParaRPr lang="en-US" sz="1300" dirty="0"/>
          </a:p>
        </p:txBody>
      </p:sp>
      <p:sp>
        <p:nvSpPr>
          <p:cNvPr id="16" name="Text 13"/>
          <p:cNvSpPr txBox="1"/>
          <p:nvPr/>
        </p:nvSpPr>
        <p:spPr>
          <a:xfrm>
            <a:off x="4956048" y="2880360"/>
            <a:ext cx="3108960" cy="51206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−0,016789</a:t>
            </a:r>
            <a:endParaRPr lang="en-US" sz="1200" dirty="0"/>
          </a:p>
        </p:txBody>
      </p:sp>
      <p:sp>
        <p:nvSpPr>
          <p:cNvPr id="17" name="Text 14"/>
          <p:cNvSpPr txBox="1"/>
          <p:nvPr/>
        </p:nvSpPr>
        <p:spPr>
          <a:xfrm>
            <a:off x="8247888" y="2880360"/>
            <a:ext cx="3227832" cy="512064"/>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−0,016789</a:t>
            </a:r>
            <a:endParaRPr lang="en-US" sz="1200" dirty="0"/>
          </a:p>
        </p:txBody>
      </p:sp>
      <p:sp>
        <p:nvSpPr>
          <p:cNvPr id="18" name="Shape 15"/>
          <p:cNvSpPr/>
          <p:nvPr/>
        </p:nvSpPr>
        <p:spPr>
          <a:xfrm>
            <a:off x="640080" y="3611880"/>
            <a:ext cx="3493008" cy="1371600"/>
          </a:xfrm>
          <a:prstGeom prst="roundRect">
            <a:avLst>
              <a:gd name="adj" fmla="val 8000"/>
            </a:avLst>
          </a:prstGeom>
          <a:solidFill>
            <a:srgbClr val="F1F6F3"/>
          </a:solidFill>
          <a:ln w="12700">
            <a:solidFill>
              <a:srgbClr val="F1F6F3"/>
            </a:solidFill>
            <a:prstDash val="solid"/>
          </a:ln>
        </p:spPr>
      </p:sp>
      <p:sp>
        <p:nvSpPr>
          <p:cNvPr id="19" name="Text 16"/>
          <p:cNvSpPr txBox="1"/>
          <p:nvPr/>
        </p:nvSpPr>
        <p:spPr>
          <a:xfrm>
            <a:off x="640080" y="3721608"/>
            <a:ext cx="3493008" cy="754380"/>
          </a:xfrm>
          <a:prstGeom prst="rect">
            <a:avLst/>
          </a:prstGeom>
          <a:noFill/>
          <a:ln/>
        </p:spPr>
        <p:txBody>
          <a:bodyPr wrap="square" lIns="0" tIns="0" rIns="0" bIns="0" rtlCol="0" anchor="ctr"/>
          <a:lstStyle/>
          <a:p>
            <a:pPr algn="ctr" indent="0" marL="0">
              <a:buNone/>
            </a:pPr>
            <a:r>
              <a:rPr lang="en-US" sz="4000" b="1" dirty="0">
                <a:solidFill>
                  <a:srgbClr val="066B47"/>
                </a:solidFill>
                <a:latin typeface="Cambria" pitchFamily="34" charset="0"/>
                <a:ea typeface="Cambria" pitchFamily="34" charset="-122"/>
                <a:cs typeface="Cambria" pitchFamily="34" charset="-120"/>
              </a:rPr>
              <a:t>α = 1</a:t>
            </a:r>
            <a:endParaRPr lang="en-US" sz="4000" dirty="0"/>
          </a:p>
        </p:txBody>
      </p:sp>
      <p:sp>
        <p:nvSpPr>
          <p:cNvPr id="20" name="Text 17"/>
          <p:cNvSpPr txBox="1"/>
          <p:nvPr/>
        </p:nvSpPr>
        <p:spPr>
          <a:xfrm>
            <a:off x="777240" y="4434840"/>
            <a:ext cx="3218688" cy="493776"/>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Cada parâmetro: p ← p − α · gradiente.</a:t>
            </a:r>
            <a:endParaRPr lang="en-US" sz="1400" dirty="0"/>
          </a:p>
        </p:txBody>
      </p:sp>
      <p:sp>
        <p:nvSpPr>
          <p:cNvPr id="21" name="Shape 18"/>
          <p:cNvSpPr/>
          <p:nvPr/>
        </p:nvSpPr>
        <p:spPr>
          <a:xfrm>
            <a:off x="4347972" y="3611880"/>
            <a:ext cx="3493008" cy="1371600"/>
          </a:xfrm>
          <a:prstGeom prst="roundRect">
            <a:avLst>
              <a:gd name="adj" fmla="val 8000"/>
            </a:avLst>
          </a:prstGeom>
          <a:solidFill>
            <a:srgbClr val="F1F6F3"/>
          </a:solidFill>
          <a:ln w="12700">
            <a:solidFill>
              <a:srgbClr val="F1F6F3"/>
            </a:solidFill>
            <a:prstDash val="solid"/>
          </a:ln>
        </p:spPr>
      </p:sp>
      <p:sp>
        <p:nvSpPr>
          <p:cNvPr id="22" name="Text 19"/>
          <p:cNvSpPr txBox="1"/>
          <p:nvPr/>
        </p:nvSpPr>
        <p:spPr>
          <a:xfrm>
            <a:off x="4347972" y="3721608"/>
            <a:ext cx="3493008" cy="754380"/>
          </a:xfrm>
          <a:prstGeom prst="rect">
            <a:avLst/>
          </a:prstGeom>
          <a:noFill/>
          <a:ln/>
        </p:spPr>
        <p:txBody>
          <a:bodyPr wrap="square" lIns="0" tIns="0" rIns="0" bIns="0" rtlCol="0" anchor="ctr"/>
          <a:lstStyle/>
          <a:p>
            <a:pPr algn="ctr" indent="0" marL="0">
              <a:buNone/>
            </a:pPr>
            <a:r>
              <a:rPr lang="en-US" sz="4000" b="1" dirty="0">
                <a:solidFill>
                  <a:srgbClr val="066B47"/>
                </a:solidFill>
                <a:latin typeface="Cambria" pitchFamily="34" charset="0"/>
                <a:ea typeface="Cambria" pitchFamily="34" charset="-122"/>
                <a:cs typeface="Cambria" pitchFamily="34" charset="-120"/>
              </a:rPr>
              <a:t>0,09166</a:t>
            </a:r>
            <a:endParaRPr lang="en-US" sz="4000" dirty="0"/>
          </a:p>
        </p:txBody>
      </p:sp>
      <p:sp>
        <p:nvSpPr>
          <p:cNvPr id="23" name="Text 20"/>
          <p:cNvSpPr txBox="1"/>
          <p:nvPr/>
        </p:nvSpPr>
        <p:spPr>
          <a:xfrm>
            <a:off x="4485132" y="4434840"/>
            <a:ext cx="3218688" cy="493776"/>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Custo antes</a:t>
            </a:r>
            <a:endParaRPr lang="en-US" sz="1400" dirty="0"/>
          </a:p>
        </p:txBody>
      </p:sp>
      <p:sp>
        <p:nvSpPr>
          <p:cNvPr id="24" name="Shape 21"/>
          <p:cNvSpPr/>
          <p:nvPr/>
        </p:nvSpPr>
        <p:spPr>
          <a:xfrm>
            <a:off x="8055864" y="3611880"/>
            <a:ext cx="3493008" cy="1371600"/>
          </a:xfrm>
          <a:prstGeom prst="roundRect">
            <a:avLst>
              <a:gd name="adj" fmla="val 8000"/>
            </a:avLst>
          </a:prstGeom>
          <a:solidFill>
            <a:srgbClr val="FFEBDD"/>
          </a:solidFill>
          <a:ln w="12700">
            <a:solidFill>
              <a:srgbClr val="FFEBDD"/>
            </a:solidFill>
            <a:prstDash val="solid"/>
          </a:ln>
        </p:spPr>
      </p:sp>
      <p:sp>
        <p:nvSpPr>
          <p:cNvPr id="25" name="Text 22"/>
          <p:cNvSpPr txBox="1"/>
          <p:nvPr/>
        </p:nvSpPr>
        <p:spPr>
          <a:xfrm>
            <a:off x="8055864" y="3721608"/>
            <a:ext cx="3493008" cy="754380"/>
          </a:xfrm>
          <a:prstGeom prst="rect">
            <a:avLst/>
          </a:prstGeom>
          <a:noFill/>
          <a:ln/>
        </p:spPr>
        <p:txBody>
          <a:bodyPr wrap="square" lIns="0" tIns="0" rIns="0" bIns="0" rtlCol="0" anchor="ctr"/>
          <a:lstStyle/>
          <a:p>
            <a:pPr algn="ctr" indent="0" marL="0">
              <a:buNone/>
            </a:pPr>
            <a:r>
              <a:rPr lang="en-US" sz="4000" b="1" dirty="0">
                <a:solidFill>
                  <a:srgbClr val="B34700"/>
                </a:solidFill>
                <a:latin typeface="Cambria" pitchFamily="34" charset="0"/>
                <a:ea typeface="Cambria" pitchFamily="34" charset="-122"/>
                <a:cs typeface="Cambria" pitchFamily="34" charset="-120"/>
              </a:rPr>
              <a:t>0,07482</a:t>
            </a:r>
            <a:endParaRPr lang="en-US" sz="4000" dirty="0"/>
          </a:p>
        </p:txBody>
      </p:sp>
      <p:sp>
        <p:nvSpPr>
          <p:cNvPr id="26" name="Text 23"/>
          <p:cNvSpPr txBox="1"/>
          <p:nvPr/>
        </p:nvSpPr>
        <p:spPr>
          <a:xfrm>
            <a:off x="8193024" y="4434840"/>
            <a:ext cx="3218688" cy="493776"/>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Custo depois</a:t>
            </a:r>
            <a:endParaRPr lang="en-US" sz="1400" dirty="0"/>
          </a:p>
        </p:txBody>
      </p:sp>
      <p:sp>
        <p:nvSpPr>
          <p:cNvPr id="27" name="Shape 24"/>
          <p:cNvSpPr/>
          <p:nvPr/>
        </p:nvSpPr>
        <p:spPr>
          <a:xfrm>
            <a:off x="640080" y="5212080"/>
            <a:ext cx="10911535" cy="914400"/>
          </a:xfrm>
          <a:prstGeom prst="roundRect">
            <a:avLst>
              <a:gd name="adj" fmla="val 12000"/>
            </a:avLst>
          </a:prstGeom>
          <a:solidFill>
            <a:srgbClr val="FFEBDD"/>
          </a:solidFill>
          <a:ln w="12700">
            <a:solidFill>
              <a:srgbClr val="FFEBDD"/>
            </a:solidFill>
            <a:prstDash val="solid"/>
          </a:ln>
        </p:spPr>
      </p:sp>
      <p:sp>
        <p:nvSpPr>
          <p:cNvPr id="28" name="Text 25"/>
          <p:cNvSpPr txBox="1"/>
          <p:nvPr/>
        </p:nvSpPr>
        <p:spPr>
          <a:xfrm>
            <a:off x="914400" y="5212080"/>
            <a:ext cx="10362895" cy="91440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As derivadas calculadas à mão (pela regra da cadeia) coincidem com as numéricas até a 6ª casa. Depois de um único passo, o custo caiu de 0,0917 para 0,0748. Repetir isso milhares de vezes é treinar a rede.</a:t>
            </a:r>
            <a:endParaRPr lang="en-US" sz="1400" dirty="0"/>
          </a:p>
        </p:txBody>
      </p:sp>
      <p:sp>
        <p:nvSpPr>
          <p:cNvPr id="29" name="Text 26"/>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0" name="Text 27"/>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BACKPROP · PRÁTICA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 exemplo numérico em código (1/2)</a:t>
            </a:r>
            <a:endParaRPr lang="en-US" sz="3000" dirty="0"/>
          </a:p>
        </p:txBody>
      </p:sp>
      <p:sp>
        <p:nvSpPr>
          <p:cNvPr id="6" name="Shape 3"/>
          <p:cNvSpPr/>
          <p:nvPr/>
        </p:nvSpPr>
        <p:spPr>
          <a:xfrm>
            <a:off x="640080" y="1783080"/>
            <a:ext cx="7315200" cy="3931920"/>
          </a:xfrm>
          <a:prstGeom prst="roundRect">
            <a:avLst>
              <a:gd name="adj" fmla="val 2791"/>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621792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backprop_passo.py (parte 1)</a:t>
            </a:r>
            <a:endParaRPr lang="en-US" sz="1100" dirty="0"/>
          </a:p>
        </p:txBody>
      </p:sp>
      <p:sp>
        <p:nvSpPr>
          <p:cNvPr id="11" name="Text 8"/>
          <p:cNvSpPr txBox="1"/>
          <p:nvPr/>
        </p:nvSpPr>
        <p:spPr>
          <a:xfrm>
            <a:off x="914400" y="2286000"/>
            <a:ext cx="6766560" cy="228600"/>
          </a:xfrm>
          <a:prstGeom prst="rect">
            <a:avLst/>
          </a:prstGeom>
          <a:noFill/>
          <a:ln/>
        </p:spPr>
        <p:txBody>
          <a:bodyPr wrap="none" lIns="0" tIns="0" rIns="0" bIns="0" rtlCol="0" anchor="ctr"/>
          <a:lstStyle/>
          <a:p>
            <a:pPr indent="0" marL="0">
              <a:buNone/>
            </a:pPr>
            <a:r>
              <a:rPr lang="en-US" sz="1200" dirty="0">
                <a:solidFill>
                  <a:srgbClr val="FF9D5C"/>
                </a:solidFill>
                <a:latin typeface="Courier New" pitchFamily="34" charset="0"/>
                <a:ea typeface="Courier New" pitchFamily="34" charset="-122"/>
                <a:cs typeface="Courier New" pitchFamily="34" charset="-120"/>
              </a:rPr>
              <a:t>def</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sig</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2" name="Text 9"/>
          <p:cNvSpPr txBox="1"/>
          <p:nvPr/>
        </p:nvSpPr>
        <p:spPr>
          <a:xfrm>
            <a:off x="914400" y="25146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return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exp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3" name="Text 10"/>
          <p:cNvSpPr txBox="1"/>
          <p:nvPr/>
        </p:nvSpPr>
        <p:spPr>
          <a:xfrm>
            <a:off x="914400" y="29718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y</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1.0</a:t>
            </a:r>
            <a:endParaRPr lang="en-US" sz="1200" dirty="0"/>
          </a:p>
        </p:txBody>
      </p:sp>
      <p:sp>
        <p:nvSpPr>
          <p:cNvPr id="14" name="Text 11"/>
          <p:cNvSpPr txBox="1"/>
          <p:nvPr/>
        </p:nvSpPr>
        <p:spPr>
          <a:xfrm>
            <a:off x="914400" y="32004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W1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0.5</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0.4</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0.3</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0.8</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5" name="Text 12"/>
          <p:cNvSpPr txBox="1"/>
          <p:nvPr/>
        </p:nvSpPr>
        <p:spPr>
          <a:xfrm>
            <a:off x="914400" y="34290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b1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6" name="Text 13"/>
          <p:cNvSpPr txBox="1"/>
          <p:nvPr/>
        </p:nvSpPr>
        <p:spPr>
          <a:xfrm>
            <a:off x="914400" y="36576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W2</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0.7</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0.6</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b2</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0.05</a:t>
            </a:r>
            <a:endParaRPr lang="en-US" sz="1200" dirty="0"/>
          </a:p>
        </p:txBody>
      </p:sp>
      <p:sp>
        <p:nvSpPr>
          <p:cNvPr id="17" name="Text 14"/>
          <p:cNvSpPr txBox="1"/>
          <p:nvPr/>
        </p:nvSpPr>
        <p:spPr>
          <a:xfrm>
            <a:off x="914400" y="41148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z1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W1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sig</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z1</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8" name="Text 15"/>
          <p:cNvSpPr txBox="1"/>
          <p:nvPr/>
        </p:nvSpPr>
        <p:spPr>
          <a:xfrm>
            <a:off x="914400" y="43434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z2</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W2</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a2</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sig</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z2</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9" name="Text 16"/>
          <p:cNvSpPr txBox="1"/>
          <p:nvPr/>
        </p:nvSpPr>
        <p:spPr>
          <a:xfrm>
            <a:off x="914400" y="4572000"/>
            <a:ext cx="6766560" cy="228600"/>
          </a:xfrm>
          <a:prstGeom prst="rect">
            <a:avLst/>
          </a:prstGeom>
          <a:noFill/>
          <a:ln/>
        </p:spPr>
        <p:txBody>
          <a:bodyPr wrap="none" lIns="0" tIns="0" rIns="0" bIns="0" rtlCol="0" anchor="ctr"/>
          <a:lstStyle/>
          <a:p>
            <a:pPr indent="0" marL="0">
              <a:buNone/>
            </a:pPr>
            <a:r>
              <a:rPr lang="en-US" sz="1200" dirty="0">
                <a:solidFill>
                  <a:srgbClr val="8CC8FF"/>
                </a:solidFill>
                <a:latin typeface="Courier New" pitchFamily="34" charset="0"/>
                <a:ea typeface="Courier New" pitchFamily="34" charset="-122"/>
                <a:cs typeface="Courier New" pitchFamily="34" charset="-120"/>
              </a:rPr>
              <a:t>print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"z1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round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4</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20" name="Text 17"/>
          <p:cNvSpPr txBox="1"/>
          <p:nvPr/>
        </p:nvSpPr>
        <p:spPr>
          <a:xfrm>
            <a:off x="914400" y="4800600"/>
            <a:ext cx="6766560" cy="228600"/>
          </a:xfrm>
          <a:prstGeom prst="rect">
            <a:avLst/>
          </a:prstGeom>
          <a:noFill/>
          <a:ln/>
        </p:spPr>
        <p:txBody>
          <a:bodyPr wrap="none" lIns="0" tIns="0" rIns="0" bIns="0" rtlCol="0" anchor="ctr"/>
          <a:lstStyle/>
          <a:p>
            <a:pPr indent="0" marL="0">
              <a:buNone/>
            </a:pPr>
            <a:r>
              <a:rPr lang="en-US" sz="1200" dirty="0">
                <a:solidFill>
                  <a:srgbClr val="8CC8FF"/>
                </a:solidFill>
                <a:latin typeface="Courier New" pitchFamily="34" charset="0"/>
                <a:ea typeface="Courier New" pitchFamily="34" charset="-122"/>
                <a:cs typeface="Courier New" pitchFamily="34" charset="-120"/>
              </a:rPr>
              <a:t>print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"a1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round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4</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21" name="Text 18"/>
          <p:cNvSpPr txBox="1"/>
          <p:nvPr/>
        </p:nvSpPr>
        <p:spPr>
          <a:xfrm>
            <a:off x="914400" y="5029200"/>
            <a:ext cx="6766560" cy="228600"/>
          </a:xfrm>
          <a:prstGeom prst="rect">
            <a:avLst/>
          </a:prstGeom>
          <a:noFill/>
          <a:ln/>
        </p:spPr>
        <p:txBody>
          <a:bodyPr wrap="none" lIns="0" tIns="0" rIns="0" bIns="0" rtlCol="0" anchor="ctr"/>
          <a:lstStyle/>
          <a:p>
            <a:pPr indent="0" marL="0">
              <a:buNone/>
            </a:pPr>
            <a:r>
              <a:rPr lang="en-US" sz="1200" dirty="0">
                <a:solidFill>
                  <a:srgbClr val="8CC8FF"/>
                </a:solidFill>
                <a:latin typeface="Courier New" pitchFamily="34" charset="0"/>
                <a:ea typeface="Courier New" pitchFamily="34" charset="-122"/>
                <a:cs typeface="Courier New" pitchFamily="34" charset="-120"/>
              </a:rPr>
              <a:t>print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"z2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round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4</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 a2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round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4</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22" name="Text 19"/>
          <p:cNvSpPr txBox="1"/>
          <p:nvPr/>
        </p:nvSpPr>
        <p:spPr>
          <a:xfrm>
            <a:off x="914400" y="5257800"/>
            <a:ext cx="6766560" cy="228600"/>
          </a:xfrm>
          <a:prstGeom prst="rect">
            <a:avLst/>
          </a:prstGeom>
          <a:noFill/>
          <a:ln/>
        </p:spPr>
        <p:txBody>
          <a:bodyPr wrap="none" lIns="0" tIns="0" rIns="0" bIns="0" rtlCol="0" anchor="ctr"/>
          <a:lstStyle/>
          <a:p>
            <a:pPr indent="0" marL="0">
              <a:buNone/>
            </a:pPr>
            <a:r>
              <a:rPr lang="en-US" sz="1200" dirty="0">
                <a:solidFill>
                  <a:srgbClr val="8CC8FF"/>
                </a:solidFill>
                <a:latin typeface="Courier New" pitchFamily="34" charset="0"/>
                <a:ea typeface="Courier New" pitchFamily="34" charset="-122"/>
                <a:cs typeface="Courier New" pitchFamily="34" charset="-120"/>
              </a:rPr>
              <a:t>print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"perda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round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perda</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W1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W2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5</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23" name="Shape 20"/>
          <p:cNvSpPr/>
          <p:nvPr/>
        </p:nvSpPr>
        <p:spPr>
          <a:xfrm>
            <a:off x="8257032" y="1783080"/>
            <a:ext cx="3291840" cy="1569720"/>
          </a:xfrm>
          <a:prstGeom prst="roundRect">
            <a:avLst>
              <a:gd name="adj" fmla="val 6990"/>
            </a:avLst>
          </a:prstGeom>
          <a:solidFill>
            <a:srgbClr val="0A1B13"/>
          </a:solidFill>
          <a:ln w="12700">
            <a:solidFill>
              <a:srgbClr val="0A1B13"/>
            </a:solidFill>
            <a:prstDash val="solid"/>
          </a:ln>
        </p:spPr>
      </p:sp>
      <p:sp>
        <p:nvSpPr>
          <p:cNvPr id="24" name="Shape 21"/>
          <p:cNvSpPr/>
          <p:nvPr/>
        </p:nvSpPr>
        <p:spPr>
          <a:xfrm>
            <a:off x="8458200" y="1965960"/>
            <a:ext cx="118872" cy="118872"/>
          </a:xfrm>
          <a:prstGeom prst="ellipse">
            <a:avLst/>
          </a:prstGeom>
          <a:solidFill>
            <a:srgbClr val="D6336C"/>
          </a:solidFill>
          <a:ln w="12700">
            <a:solidFill>
              <a:srgbClr val="D6336C"/>
            </a:solidFill>
            <a:prstDash val="solid"/>
          </a:ln>
        </p:spPr>
      </p:sp>
      <p:sp>
        <p:nvSpPr>
          <p:cNvPr id="25" name="Shape 22"/>
          <p:cNvSpPr/>
          <p:nvPr/>
        </p:nvSpPr>
        <p:spPr>
          <a:xfrm>
            <a:off x="8659368" y="1965960"/>
            <a:ext cx="118872" cy="118872"/>
          </a:xfrm>
          <a:prstGeom prst="ellipse">
            <a:avLst/>
          </a:prstGeom>
          <a:solidFill>
            <a:srgbClr val="FF7A2F"/>
          </a:solidFill>
          <a:ln w="12700">
            <a:solidFill>
              <a:srgbClr val="FF7A2F"/>
            </a:solidFill>
            <a:prstDash val="solid"/>
          </a:ln>
        </p:spPr>
      </p:sp>
      <p:sp>
        <p:nvSpPr>
          <p:cNvPr id="26" name="Shape 23"/>
          <p:cNvSpPr/>
          <p:nvPr/>
        </p:nvSpPr>
        <p:spPr>
          <a:xfrm>
            <a:off x="8860536" y="1965960"/>
            <a:ext cx="118872" cy="118872"/>
          </a:xfrm>
          <a:prstGeom prst="ellipse">
            <a:avLst/>
          </a:prstGeom>
          <a:solidFill>
            <a:srgbClr val="5FE3A1"/>
          </a:solidFill>
          <a:ln w="12700">
            <a:solidFill>
              <a:srgbClr val="5FE3A1"/>
            </a:solidFill>
            <a:prstDash val="solid"/>
          </a:ln>
        </p:spPr>
      </p:sp>
      <p:sp>
        <p:nvSpPr>
          <p:cNvPr id="27" name="Text 24"/>
          <p:cNvSpPr txBox="1"/>
          <p:nvPr/>
        </p:nvSpPr>
        <p:spPr>
          <a:xfrm>
            <a:off x="9171432" y="1901952"/>
            <a:ext cx="21945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Saída</a:t>
            </a:r>
            <a:endParaRPr lang="en-US" sz="1100" dirty="0"/>
          </a:p>
        </p:txBody>
      </p:sp>
      <p:sp>
        <p:nvSpPr>
          <p:cNvPr id="28" name="Text 25"/>
          <p:cNvSpPr txBox="1"/>
          <p:nvPr/>
        </p:nvSpPr>
        <p:spPr>
          <a:xfrm>
            <a:off x="8531352" y="2286000"/>
            <a:ext cx="27432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z1 = [ 0.6 -0.6]</a:t>
            </a:r>
            <a:endParaRPr lang="en-US" sz="1100" dirty="0"/>
          </a:p>
        </p:txBody>
      </p:sp>
      <p:sp>
        <p:nvSpPr>
          <p:cNvPr id="29" name="Text 26"/>
          <p:cNvSpPr txBox="1"/>
          <p:nvPr/>
        </p:nvSpPr>
        <p:spPr>
          <a:xfrm>
            <a:off x="8531352" y="2495550"/>
            <a:ext cx="27432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a1 = [0.6457 0.3543]</a:t>
            </a:r>
            <a:endParaRPr lang="en-US" sz="1100" dirty="0"/>
          </a:p>
        </p:txBody>
      </p:sp>
      <p:sp>
        <p:nvSpPr>
          <p:cNvPr id="30" name="Text 27"/>
          <p:cNvSpPr txBox="1"/>
          <p:nvPr/>
        </p:nvSpPr>
        <p:spPr>
          <a:xfrm>
            <a:off x="8531352" y="2705100"/>
            <a:ext cx="27432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z2 = 0.2894  a2 = 0.5718</a:t>
            </a:r>
            <a:endParaRPr lang="en-US" sz="1100" dirty="0"/>
          </a:p>
        </p:txBody>
      </p:sp>
      <p:sp>
        <p:nvSpPr>
          <p:cNvPr id="31" name="Text 28"/>
          <p:cNvSpPr txBox="1"/>
          <p:nvPr/>
        </p:nvSpPr>
        <p:spPr>
          <a:xfrm>
            <a:off x="8531352" y="2914650"/>
            <a:ext cx="27432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perda = 0.09166</a:t>
            </a:r>
            <a:endParaRPr lang="en-US" sz="1100" dirty="0"/>
          </a:p>
        </p:txBody>
      </p:sp>
      <p:sp>
        <p:nvSpPr>
          <p:cNvPr id="32" name="Shape 29"/>
          <p:cNvSpPr/>
          <p:nvPr/>
        </p:nvSpPr>
        <p:spPr>
          <a:xfrm>
            <a:off x="640080" y="5814060"/>
            <a:ext cx="10911535" cy="384048"/>
          </a:xfrm>
          <a:prstGeom prst="roundRect">
            <a:avLst>
              <a:gd name="adj" fmla="val 28571"/>
            </a:avLst>
          </a:prstGeom>
          <a:solidFill>
            <a:srgbClr val="FFEBDD"/>
          </a:solidFill>
          <a:ln w="12700">
            <a:solidFill>
              <a:srgbClr val="FFEBDD"/>
            </a:solidFill>
            <a:prstDash val="solid"/>
          </a:ln>
        </p:spPr>
      </p:sp>
      <p:sp>
        <p:nvSpPr>
          <p:cNvPr id="33" name="Text 30"/>
          <p:cNvSpPr txBox="1"/>
          <p:nvPr/>
        </p:nvSpPr>
        <p:spPr>
          <a:xfrm>
            <a:off x="914400" y="5814060"/>
            <a:ext cx="10362895" cy="384048"/>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x @ W1 é o produto de matrizes: um vetor de 2 entradas por uma matriz 2×2. Os valores coincidem com os da tabela do passo 1.</a:t>
            </a:r>
            <a:endParaRPr lang="en-US" sz="1400" dirty="0"/>
          </a:p>
        </p:txBody>
      </p:sp>
      <p:sp>
        <p:nvSpPr>
          <p:cNvPr id="34" name="Text 31"/>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5" name="Text 32"/>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BACKPROP · PRÁTICA</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 exemplo numérico em código (2/2)</a:t>
            </a:r>
            <a:endParaRPr lang="en-US" sz="3000" dirty="0"/>
          </a:p>
        </p:txBody>
      </p:sp>
      <p:sp>
        <p:nvSpPr>
          <p:cNvPr id="6" name="Shape 3"/>
          <p:cNvSpPr/>
          <p:nvPr/>
        </p:nvSpPr>
        <p:spPr>
          <a:xfrm>
            <a:off x="640080" y="1783080"/>
            <a:ext cx="6949440" cy="3455670"/>
          </a:xfrm>
          <a:prstGeom prst="roundRect">
            <a:avLst>
              <a:gd name="adj" fmla="val 3175"/>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backprop_passo.py (parte 2)</a:t>
            </a:r>
            <a:endParaRPr lang="en-US" sz="1100" dirty="0"/>
          </a:p>
        </p:txBody>
      </p:sp>
      <p:sp>
        <p:nvSpPr>
          <p:cNvPr id="11" name="Text 8"/>
          <p:cNvSpPr txBox="1"/>
          <p:nvPr/>
        </p:nvSpPr>
        <p:spPr>
          <a:xfrm>
            <a:off x="914400" y="22860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d2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FA698"/>
                </a:solidFill>
                <a:latin typeface="Courier New" pitchFamily="34" charset="0"/>
                <a:ea typeface="Courier New" pitchFamily="34" charset="-122"/>
                <a:cs typeface="Courier New" pitchFamily="34" charset="-120"/>
              </a:rPr>
              <a:t># dJ/dz2</a:t>
            </a:r>
            <a:endParaRPr lang="en-US" sz="1100" dirty="0"/>
          </a:p>
        </p:txBody>
      </p:sp>
      <p:sp>
        <p:nvSpPr>
          <p:cNvPr id="12" name="Text 9"/>
          <p:cNvSpPr txBox="1"/>
          <p:nvPr/>
        </p:nvSpPr>
        <p:spPr>
          <a:xfrm>
            <a:off x="914400" y="24955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gW2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gb2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d2</a:t>
            </a:r>
            <a:endParaRPr lang="en-US" sz="1100" dirty="0"/>
          </a:p>
        </p:txBody>
      </p:sp>
      <p:sp>
        <p:nvSpPr>
          <p:cNvPr id="13" name="Text 10"/>
          <p:cNvSpPr txBox="1"/>
          <p:nvPr/>
        </p:nvSpPr>
        <p:spPr>
          <a:xfrm>
            <a:off x="914400" y="27051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d1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W2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FA698"/>
                </a:solidFill>
                <a:latin typeface="Courier New" pitchFamily="34" charset="0"/>
                <a:ea typeface="Courier New" pitchFamily="34" charset="-122"/>
                <a:cs typeface="Courier New" pitchFamily="34" charset="-120"/>
              </a:rPr>
              <a:t># dJ/dz1</a:t>
            </a:r>
            <a:endParaRPr lang="en-US" sz="1100" dirty="0"/>
          </a:p>
        </p:txBody>
      </p:sp>
      <p:sp>
        <p:nvSpPr>
          <p:cNvPr id="14" name="Text 11"/>
          <p:cNvSpPr txBox="1"/>
          <p:nvPr/>
        </p:nvSpPr>
        <p:spPr>
          <a:xfrm>
            <a:off x="914400" y="29146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gW1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outer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gb1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d1</a:t>
            </a:r>
            <a:endParaRPr lang="en-US" sz="1100" dirty="0"/>
          </a:p>
        </p:txBody>
      </p:sp>
      <p:sp>
        <p:nvSpPr>
          <p:cNvPr id="15" name="Text 12"/>
          <p:cNvSpPr txBox="1"/>
          <p:nvPr/>
        </p:nvSpPr>
        <p:spPr>
          <a:xfrm>
            <a:off x="914400" y="312420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"d2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d2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33375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"gW2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gW2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Text 14"/>
          <p:cNvSpPr txBox="1"/>
          <p:nvPr/>
        </p:nvSpPr>
        <p:spPr>
          <a:xfrm>
            <a:off x="914400" y="354330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"d1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d1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8" name="Text 15"/>
          <p:cNvSpPr txBox="1"/>
          <p:nvPr/>
        </p:nvSpPr>
        <p:spPr>
          <a:xfrm>
            <a:off x="914400" y="39624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alfa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1.0</a:t>
            </a:r>
            <a:endParaRPr lang="en-US" sz="1100" dirty="0"/>
          </a:p>
        </p:txBody>
      </p:sp>
      <p:sp>
        <p:nvSpPr>
          <p:cNvPr id="19" name="Text 16"/>
          <p:cNvSpPr txBox="1"/>
          <p:nvPr/>
        </p:nvSpPr>
        <p:spPr>
          <a:xfrm>
            <a:off x="914400" y="41719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nova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perda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W1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alfa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gW1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alfa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gb1</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0" name="Text 17"/>
          <p:cNvSpPr txBox="1"/>
          <p:nvPr/>
        </p:nvSpPr>
        <p:spPr>
          <a:xfrm>
            <a:off x="914400" y="43815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W2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alfa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gW2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alfa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gb2</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1" name="Text 18"/>
          <p:cNvSpPr txBox="1"/>
          <p:nvPr/>
        </p:nvSpPr>
        <p:spPr>
          <a:xfrm>
            <a:off x="914400" y="459105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"perda antes:"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perda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W1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W2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2" name="Text 19"/>
          <p:cNvSpPr txBox="1"/>
          <p:nvPr/>
        </p:nvSpPr>
        <p:spPr>
          <a:xfrm>
            <a:off x="914400" y="48006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7EE2B0"/>
                </a:solidFill>
                <a:latin typeface="Courier New" pitchFamily="34" charset="0"/>
                <a:ea typeface="Courier New" pitchFamily="34" charset="-122"/>
                <a:cs typeface="Courier New" pitchFamily="34" charset="-120"/>
              </a:rPr>
              <a:t>" depois:"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nova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3" name="Shape 20"/>
          <p:cNvSpPr/>
          <p:nvPr/>
        </p:nvSpPr>
        <p:spPr>
          <a:xfrm>
            <a:off x="7799832" y="1783080"/>
            <a:ext cx="3749040" cy="1779270"/>
          </a:xfrm>
          <a:prstGeom prst="roundRect">
            <a:avLst>
              <a:gd name="adj" fmla="val 6167"/>
            </a:avLst>
          </a:prstGeom>
          <a:solidFill>
            <a:srgbClr val="0A1B13"/>
          </a:solidFill>
          <a:ln w="12700">
            <a:solidFill>
              <a:srgbClr val="0A1B13"/>
            </a:solidFill>
            <a:prstDash val="solid"/>
          </a:ln>
        </p:spPr>
      </p:sp>
      <p:sp>
        <p:nvSpPr>
          <p:cNvPr id="24" name="Shape 21"/>
          <p:cNvSpPr/>
          <p:nvPr/>
        </p:nvSpPr>
        <p:spPr>
          <a:xfrm>
            <a:off x="8001000" y="1965960"/>
            <a:ext cx="118872" cy="118872"/>
          </a:xfrm>
          <a:prstGeom prst="ellipse">
            <a:avLst/>
          </a:prstGeom>
          <a:solidFill>
            <a:srgbClr val="D6336C"/>
          </a:solidFill>
          <a:ln w="12700">
            <a:solidFill>
              <a:srgbClr val="D6336C"/>
            </a:solidFill>
            <a:prstDash val="solid"/>
          </a:ln>
        </p:spPr>
      </p:sp>
      <p:sp>
        <p:nvSpPr>
          <p:cNvPr id="25" name="Shape 22"/>
          <p:cNvSpPr/>
          <p:nvPr/>
        </p:nvSpPr>
        <p:spPr>
          <a:xfrm>
            <a:off x="8202168" y="1965960"/>
            <a:ext cx="118872" cy="118872"/>
          </a:xfrm>
          <a:prstGeom prst="ellipse">
            <a:avLst/>
          </a:prstGeom>
          <a:solidFill>
            <a:srgbClr val="FF7A2F"/>
          </a:solidFill>
          <a:ln w="12700">
            <a:solidFill>
              <a:srgbClr val="FF7A2F"/>
            </a:solidFill>
            <a:prstDash val="solid"/>
          </a:ln>
        </p:spPr>
      </p:sp>
      <p:sp>
        <p:nvSpPr>
          <p:cNvPr id="26" name="Shape 23"/>
          <p:cNvSpPr/>
          <p:nvPr/>
        </p:nvSpPr>
        <p:spPr>
          <a:xfrm>
            <a:off x="8403336" y="1965960"/>
            <a:ext cx="118872" cy="118872"/>
          </a:xfrm>
          <a:prstGeom prst="ellipse">
            <a:avLst/>
          </a:prstGeom>
          <a:solidFill>
            <a:srgbClr val="5FE3A1"/>
          </a:solidFill>
          <a:ln w="12700">
            <a:solidFill>
              <a:srgbClr val="5FE3A1"/>
            </a:solidFill>
            <a:prstDash val="solid"/>
          </a:ln>
        </p:spPr>
      </p:sp>
      <p:sp>
        <p:nvSpPr>
          <p:cNvPr id="27" name="Text 24"/>
          <p:cNvSpPr txBox="1"/>
          <p:nvPr/>
        </p:nvSpPr>
        <p:spPr>
          <a:xfrm>
            <a:off x="8714232" y="1901952"/>
            <a:ext cx="26517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Saída</a:t>
            </a:r>
            <a:endParaRPr lang="en-US" sz="1100" dirty="0"/>
          </a:p>
        </p:txBody>
      </p:sp>
      <p:sp>
        <p:nvSpPr>
          <p:cNvPr id="28" name="Text 25"/>
          <p:cNvSpPr txBox="1"/>
          <p:nvPr/>
        </p:nvSpPr>
        <p:spPr>
          <a:xfrm>
            <a:off x="8074152" y="2286000"/>
            <a:ext cx="32004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d2 = -0.10483</a:t>
            </a:r>
            <a:endParaRPr lang="en-US" sz="1100" dirty="0"/>
          </a:p>
        </p:txBody>
      </p:sp>
      <p:sp>
        <p:nvSpPr>
          <p:cNvPr id="29" name="Text 26"/>
          <p:cNvSpPr txBox="1"/>
          <p:nvPr/>
        </p:nvSpPr>
        <p:spPr>
          <a:xfrm>
            <a:off x="8074152" y="2495550"/>
            <a:ext cx="32004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gW2 = [-0.06768 -0.03715]</a:t>
            </a:r>
            <a:endParaRPr lang="en-US" sz="1100" dirty="0"/>
          </a:p>
        </p:txBody>
      </p:sp>
      <p:sp>
        <p:nvSpPr>
          <p:cNvPr id="30" name="Text 27"/>
          <p:cNvSpPr txBox="1"/>
          <p:nvPr/>
        </p:nvSpPr>
        <p:spPr>
          <a:xfrm>
            <a:off x="8074152" y="2705100"/>
            <a:ext cx="32004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d1 = [-0.01679  0.01439]</a:t>
            </a:r>
            <a:endParaRPr lang="en-US" sz="1100" dirty="0"/>
          </a:p>
        </p:txBody>
      </p:sp>
      <p:sp>
        <p:nvSpPr>
          <p:cNvPr id="31" name="Text 28"/>
          <p:cNvSpPr txBox="1"/>
          <p:nvPr/>
        </p:nvSpPr>
        <p:spPr>
          <a:xfrm>
            <a:off x="8074152" y="2914650"/>
            <a:ext cx="32004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perda antes: 0.09166</a:t>
            </a:r>
            <a:endParaRPr lang="en-US" sz="1100" dirty="0"/>
          </a:p>
        </p:txBody>
      </p:sp>
      <p:sp>
        <p:nvSpPr>
          <p:cNvPr id="32" name="Text 29"/>
          <p:cNvSpPr txBox="1"/>
          <p:nvPr/>
        </p:nvSpPr>
        <p:spPr>
          <a:xfrm>
            <a:off x="8074152" y="3124200"/>
            <a:ext cx="32004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depois: 0.07482</a:t>
            </a:r>
            <a:endParaRPr lang="en-US" sz="1100" dirty="0"/>
          </a:p>
        </p:txBody>
      </p:sp>
      <p:sp>
        <p:nvSpPr>
          <p:cNvPr id="33" name="Shape 30"/>
          <p:cNvSpPr/>
          <p:nvPr/>
        </p:nvSpPr>
        <p:spPr>
          <a:xfrm>
            <a:off x="640080" y="5467350"/>
            <a:ext cx="10911535" cy="659130"/>
          </a:xfrm>
          <a:prstGeom prst="roundRect">
            <a:avLst>
              <a:gd name="adj" fmla="val 16647"/>
            </a:avLst>
          </a:prstGeom>
          <a:solidFill>
            <a:srgbClr val="FFEBDD"/>
          </a:solidFill>
          <a:ln w="12700">
            <a:solidFill>
              <a:srgbClr val="FFEBDD"/>
            </a:solidFill>
            <a:prstDash val="solid"/>
          </a:ln>
        </p:spPr>
      </p:sp>
      <p:sp>
        <p:nvSpPr>
          <p:cNvPr id="34" name="Text 31"/>
          <p:cNvSpPr txBox="1"/>
          <p:nvPr/>
        </p:nvSpPr>
        <p:spPr>
          <a:xfrm>
            <a:off x="914400" y="5467350"/>
            <a:ext cx="10362895" cy="659130"/>
          </a:xfrm>
          <a:prstGeom prst="rect">
            <a:avLst/>
          </a:prstGeom>
          <a:noFill/>
          <a:ln/>
        </p:spPr>
        <p:txBody>
          <a:bodyPr wrap="square" lIns="0" tIns="0" rIns="0" bIns="0" rtlCol="0" anchor="ctr"/>
          <a:lstStyle/>
          <a:p>
            <a:pPr indent="0" marL="0">
              <a:buNone/>
            </a:pPr>
            <a:r>
              <a:rPr lang="en-US" sz="1200" b="1" dirty="0">
                <a:solidFill>
                  <a:srgbClr val="0B1A12"/>
                </a:solidFill>
                <a:latin typeface="Calibri" pitchFamily="34" charset="0"/>
                <a:ea typeface="Calibri" pitchFamily="34" charset="-122"/>
                <a:cs typeface="Calibri" pitchFamily="34" charset="-120"/>
              </a:rPr>
              <a:t>perda(...) refaz o forward com pesos dados. d2 * W2 distribui o erro da saída entre os neurônios ocultos; np.outer(x, d1) monta o gradiente de W1.</a:t>
            </a:r>
            <a:endParaRPr lang="en-US" sz="1200" dirty="0"/>
          </a:p>
        </p:txBody>
      </p:sp>
      <p:sp>
        <p:nvSpPr>
          <p:cNvPr id="35" name="Text 32"/>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6" name="Text 33"/>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MLP DO ZERO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Uma rede completa em NumPy (1/4): inicialização</a:t>
            </a:r>
            <a:endParaRPr lang="en-US" sz="3000" dirty="0"/>
          </a:p>
        </p:txBody>
      </p:sp>
      <p:sp>
        <p:nvSpPr>
          <p:cNvPr id="6" name="Shape 3"/>
          <p:cNvSpPr/>
          <p:nvPr/>
        </p:nvSpPr>
        <p:spPr>
          <a:xfrm>
            <a:off x="640080" y="1783080"/>
            <a:ext cx="7315200" cy="3474720"/>
          </a:xfrm>
          <a:prstGeom prst="roundRect">
            <a:avLst>
              <a:gd name="adj" fmla="val 3158"/>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621792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mlp_zero.py (parte 1)</a:t>
            </a:r>
            <a:endParaRPr lang="en-US" sz="1100" dirty="0"/>
          </a:p>
        </p:txBody>
      </p:sp>
      <p:sp>
        <p:nvSpPr>
          <p:cNvPr id="11" name="Text 8"/>
          <p:cNvSpPr txBox="1"/>
          <p:nvPr/>
        </p:nvSpPr>
        <p:spPr>
          <a:xfrm>
            <a:off x="914400" y="2286000"/>
            <a:ext cx="6766560" cy="228600"/>
          </a:xfrm>
          <a:prstGeom prst="rect">
            <a:avLst/>
          </a:prstGeom>
          <a:noFill/>
          <a:ln/>
        </p:spPr>
        <p:txBody>
          <a:bodyPr wrap="none" lIns="0" tIns="0" rIns="0" bIns="0" rtlCol="0" anchor="ctr"/>
          <a:lstStyle/>
          <a:p>
            <a:pPr indent="0" marL="0">
              <a:buNone/>
            </a:pPr>
            <a:r>
              <a:rPr lang="en-US" sz="1200" dirty="0">
                <a:solidFill>
                  <a:srgbClr val="FF9D5C"/>
                </a:solidFill>
                <a:latin typeface="Courier New" pitchFamily="34" charset="0"/>
                <a:ea typeface="Courier New" pitchFamily="34" charset="-122"/>
                <a:cs typeface="Courier New" pitchFamily="34" charset="-120"/>
              </a:rPr>
              <a:t>import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numpy</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as</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endParaRPr lang="en-US" sz="1200" dirty="0"/>
          </a:p>
        </p:txBody>
      </p:sp>
      <p:sp>
        <p:nvSpPr>
          <p:cNvPr id="12" name="Text 9"/>
          <p:cNvSpPr txBox="1"/>
          <p:nvPr/>
        </p:nvSpPr>
        <p:spPr>
          <a:xfrm>
            <a:off x="914400" y="2743200"/>
            <a:ext cx="6766560" cy="228600"/>
          </a:xfrm>
          <a:prstGeom prst="rect">
            <a:avLst/>
          </a:prstGeom>
          <a:noFill/>
          <a:ln/>
        </p:spPr>
        <p:txBody>
          <a:bodyPr wrap="none" lIns="0" tIns="0" rIns="0" bIns="0" rtlCol="0" anchor="ctr"/>
          <a:lstStyle/>
          <a:p>
            <a:pPr indent="0" marL="0">
              <a:buNone/>
            </a:pPr>
            <a:r>
              <a:rPr lang="en-US" sz="1200" dirty="0">
                <a:solidFill>
                  <a:srgbClr val="FF9D5C"/>
                </a:solidFill>
                <a:latin typeface="Courier New" pitchFamily="34" charset="0"/>
                <a:ea typeface="Courier New" pitchFamily="34" charset="-122"/>
                <a:cs typeface="Courier New" pitchFamily="34" charset="-120"/>
              </a:rPr>
              <a:t>def</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sigmoide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3" name="Text 10"/>
          <p:cNvSpPr txBox="1"/>
          <p:nvPr/>
        </p:nvSpPr>
        <p:spPr>
          <a:xfrm>
            <a:off x="914400" y="29718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return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exp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4" name="Text 11"/>
          <p:cNvSpPr txBox="1"/>
          <p:nvPr/>
        </p:nvSpPr>
        <p:spPr>
          <a:xfrm>
            <a:off x="914400" y="3429000"/>
            <a:ext cx="6766560" cy="228600"/>
          </a:xfrm>
          <a:prstGeom prst="rect">
            <a:avLst/>
          </a:prstGeom>
          <a:noFill/>
          <a:ln/>
        </p:spPr>
        <p:txBody>
          <a:bodyPr wrap="none" lIns="0" tIns="0" rIns="0" bIns="0" rtlCol="0" anchor="ctr"/>
          <a:lstStyle/>
          <a:p>
            <a:pPr indent="0" marL="0">
              <a:buNone/>
            </a:pPr>
            <a:r>
              <a:rPr lang="en-US" sz="1200" dirty="0">
                <a:solidFill>
                  <a:srgbClr val="FF9D5C"/>
                </a:solidFill>
                <a:latin typeface="Courier New" pitchFamily="34" charset="0"/>
                <a:ea typeface="Courier New" pitchFamily="34" charset="-122"/>
                <a:cs typeface="Courier New" pitchFamily="34" charset="-120"/>
              </a:rPr>
              <a:t>def</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iniciar</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n_in</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seed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9D5C"/>
                </a:solidFill>
                <a:latin typeface="Courier New" pitchFamily="34" charset="0"/>
                <a:ea typeface="Courier New" pitchFamily="34" charset="-122"/>
                <a:cs typeface="Courier New" pitchFamily="34" charset="-120"/>
              </a:rPr>
              <a:t>False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5" name="Text 12"/>
          <p:cNvSpPr txBox="1"/>
          <p:nvPr/>
        </p:nvSpPr>
        <p:spPr>
          <a:xfrm>
            <a:off x="914400" y="36576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rng</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random</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default_rng</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seed</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6" name="Text 13"/>
          <p:cNvSpPr txBox="1"/>
          <p:nvPr/>
        </p:nvSpPr>
        <p:spPr>
          <a:xfrm>
            <a:off x="914400" y="38862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if</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7" name="Text 14"/>
          <p:cNvSpPr txBox="1"/>
          <p:nvPr/>
        </p:nvSpPr>
        <p:spPr>
          <a:xfrm>
            <a:off x="914400" y="41148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return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"W1"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n_in</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"b1"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8" name="Text 15"/>
          <p:cNvSpPr txBox="1"/>
          <p:nvPr/>
        </p:nvSpPr>
        <p:spPr>
          <a:xfrm>
            <a:off x="914400" y="43434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"W2"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"b2"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9" name="Text 16"/>
          <p:cNvSpPr txBox="1"/>
          <p:nvPr/>
        </p:nvSpPr>
        <p:spPr>
          <a:xfrm>
            <a:off x="914400" y="45720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return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"W1"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rng</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normal</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n_in</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"b1"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20" name="Text 17"/>
          <p:cNvSpPr txBox="1"/>
          <p:nvPr/>
        </p:nvSpPr>
        <p:spPr>
          <a:xfrm>
            <a:off x="914400" y="4800600"/>
            <a:ext cx="676656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"W2"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rng</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normal</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7EE2B0"/>
                </a:solidFill>
                <a:latin typeface="Courier New" pitchFamily="34" charset="0"/>
                <a:ea typeface="Courier New" pitchFamily="34" charset="-122"/>
                <a:cs typeface="Courier New" pitchFamily="34" charset="-120"/>
              </a:rPr>
              <a:t>"b2"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21" name="Shape 18"/>
          <p:cNvSpPr/>
          <p:nvPr/>
        </p:nvSpPr>
        <p:spPr>
          <a:xfrm>
            <a:off x="8229600" y="1874520"/>
            <a:ext cx="457200" cy="457200"/>
          </a:xfrm>
          <a:prstGeom prst="ellipse">
            <a:avLst/>
          </a:prstGeom>
          <a:solidFill>
            <a:srgbClr val="0B8A5B"/>
          </a:solidFill>
          <a:ln w="12700">
            <a:solidFill>
              <a:srgbClr val="0B8A5B"/>
            </a:solidFill>
            <a:prstDash val="solid"/>
          </a:ln>
        </p:spPr>
      </p:sp>
      <p:sp>
        <p:nvSpPr>
          <p:cNvPr id="22" name="Text 19"/>
          <p:cNvSpPr txBox="1"/>
          <p:nvPr/>
        </p:nvSpPr>
        <p:spPr>
          <a:xfrm>
            <a:off x="822960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0"/>
          <p:cNvSpPr txBox="1"/>
          <p:nvPr/>
        </p:nvSpPr>
        <p:spPr>
          <a:xfrm>
            <a:off x="8869680" y="1783080"/>
            <a:ext cx="267919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dicionário p</a:t>
            </a:r>
            <a:endParaRPr lang="en-US" sz="1400" dirty="0"/>
          </a:p>
        </p:txBody>
      </p:sp>
      <p:sp>
        <p:nvSpPr>
          <p:cNvPr id="24" name="Text 21"/>
          <p:cNvSpPr txBox="1"/>
          <p:nvPr/>
        </p:nvSpPr>
        <p:spPr>
          <a:xfrm>
            <a:off x="8869680" y="2148840"/>
            <a:ext cx="267919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Guarda os 4 parâmetros: W1, b1, W2, b2.</a:t>
            </a:r>
            <a:endParaRPr lang="en-US" sz="1400" dirty="0"/>
          </a:p>
        </p:txBody>
      </p:sp>
      <p:sp>
        <p:nvSpPr>
          <p:cNvPr id="25" name="Shape 22"/>
          <p:cNvSpPr/>
          <p:nvPr/>
        </p:nvSpPr>
        <p:spPr>
          <a:xfrm>
            <a:off x="8229600" y="3108960"/>
            <a:ext cx="457200" cy="457200"/>
          </a:xfrm>
          <a:prstGeom prst="ellipse">
            <a:avLst/>
          </a:prstGeom>
          <a:solidFill>
            <a:srgbClr val="0B8A5B"/>
          </a:solidFill>
          <a:ln w="12700">
            <a:solidFill>
              <a:srgbClr val="0B8A5B"/>
            </a:solidFill>
            <a:prstDash val="solid"/>
          </a:ln>
        </p:spPr>
      </p:sp>
      <p:sp>
        <p:nvSpPr>
          <p:cNvPr id="26" name="Text 23"/>
          <p:cNvSpPr txBox="1"/>
          <p:nvPr/>
        </p:nvSpPr>
        <p:spPr>
          <a:xfrm>
            <a:off x="8229600" y="3108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7" name="Text 24"/>
          <p:cNvSpPr txBox="1"/>
          <p:nvPr/>
        </p:nvSpPr>
        <p:spPr>
          <a:xfrm>
            <a:off x="8869680" y="3017520"/>
            <a:ext cx="267919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rng.normal</a:t>
            </a:r>
            <a:endParaRPr lang="en-US" sz="1400" dirty="0"/>
          </a:p>
        </p:txBody>
      </p:sp>
      <p:sp>
        <p:nvSpPr>
          <p:cNvPr id="28" name="Text 25"/>
          <p:cNvSpPr txBox="1"/>
          <p:nvPr/>
        </p:nvSpPr>
        <p:spPr>
          <a:xfrm>
            <a:off x="8869680" y="3383280"/>
            <a:ext cx="267919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Pesos aleatórios: quebram a simetria.</a:t>
            </a:r>
            <a:endParaRPr lang="en-US" sz="1400" dirty="0"/>
          </a:p>
        </p:txBody>
      </p:sp>
      <p:sp>
        <p:nvSpPr>
          <p:cNvPr id="29" name="Shape 26"/>
          <p:cNvSpPr/>
          <p:nvPr/>
        </p:nvSpPr>
        <p:spPr>
          <a:xfrm>
            <a:off x="8229600" y="4343400"/>
            <a:ext cx="457200" cy="457200"/>
          </a:xfrm>
          <a:prstGeom prst="ellipse">
            <a:avLst/>
          </a:prstGeom>
          <a:solidFill>
            <a:srgbClr val="0B8A5B"/>
          </a:solidFill>
          <a:ln w="12700">
            <a:solidFill>
              <a:srgbClr val="0B8A5B"/>
            </a:solidFill>
            <a:prstDash val="solid"/>
          </a:ln>
        </p:spPr>
      </p:sp>
      <p:sp>
        <p:nvSpPr>
          <p:cNvPr id="30" name="Text 27"/>
          <p:cNvSpPr txBox="1"/>
          <p:nvPr/>
        </p:nvSpPr>
        <p:spPr>
          <a:xfrm>
            <a:off x="8229600" y="4343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1" name="Text 28"/>
          <p:cNvSpPr txBox="1"/>
          <p:nvPr/>
        </p:nvSpPr>
        <p:spPr>
          <a:xfrm>
            <a:off x="8869680" y="4251960"/>
            <a:ext cx="267919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zeros=True</a:t>
            </a:r>
            <a:endParaRPr lang="en-US" sz="1400" dirty="0"/>
          </a:p>
        </p:txBody>
      </p:sp>
      <p:sp>
        <p:nvSpPr>
          <p:cNvPr id="32" name="Text 29"/>
          <p:cNvSpPr txBox="1"/>
          <p:nvPr/>
        </p:nvSpPr>
        <p:spPr>
          <a:xfrm>
            <a:off x="8869680" y="4617720"/>
            <a:ext cx="267919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Para a demonstração do problema do zero, adiante.</a:t>
            </a:r>
            <a:endParaRPr lang="en-US" sz="1400" dirty="0"/>
          </a:p>
        </p:txBody>
      </p:sp>
      <p:sp>
        <p:nvSpPr>
          <p:cNvPr id="33" name="Text 3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4" name="Text 3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MLP DO ZERO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Uma rede completa em NumPy (2/4): forward e custo</a:t>
            </a:r>
            <a:endParaRPr lang="en-US" sz="3000" dirty="0"/>
          </a:p>
        </p:txBody>
      </p:sp>
      <p:sp>
        <p:nvSpPr>
          <p:cNvPr id="6" name="Shape 3"/>
          <p:cNvSpPr/>
          <p:nvPr/>
        </p:nvSpPr>
        <p:spPr>
          <a:xfrm>
            <a:off x="640080" y="1783080"/>
            <a:ext cx="6949440" cy="2960370"/>
          </a:xfrm>
          <a:prstGeom prst="roundRect">
            <a:avLst>
              <a:gd name="adj" fmla="val 370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mlp_zero.py (parte 2)</a:t>
            </a:r>
            <a:endParaRPr lang="en-US" sz="1100" dirty="0"/>
          </a:p>
        </p:txBody>
      </p:sp>
      <p:sp>
        <p:nvSpPr>
          <p:cNvPr id="11" name="Text 8"/>
          <p:cNvSpPr txBox="1"/>
          <p:nvPr/>
        </p:nvSpPr>
        <p:spPr>
          <a:xfrm>
            <a:off x="914400" y="2286000"/>
            <a:ext cx="640080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forward</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2" name="Text 9"/>
          <p:cNvSpPr txBox="1"/>
          <p:nvPr/>
        </p:nvSpPr>
        <p:spPr>
          <a:xfrm>
            <a:off x="914400" y="25336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sigmoide</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"W1"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"b1"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3" name="Text 10"/>
          <p:cNvSpPr txBox="1"/>
          <p:nvPr/>
        </p:nvSpPr>
        <p:spPr>
          <a:xfrm>
            <a:off x="914400" y="27813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a2</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sigmoide</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"W2"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"b2"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4" name="Text 11"/>
          <p:cNvSpPr txBox="1"/>
          <p:nvPr/>
        </p:nvSpPr>
        <p:spPr>
          <a:xfrm>
            <a:off x="914400" y="30289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a2</a:t>
            </a:r>
            <a:endParaRPr lang="en-US" sz="1300" dirty="0"/>
          </a:p>
        </p:txBody>
      </p:sp>
      <p:sp>
        <p:nvSpPr>
          <p:cNvPr id="15" name="Text 12"/>
          <p:cNvSpPr txBox="1"/>
          <p:nvPr/>
        </p:nvSpPr>
        <p:spPr>
          <a:xfrm>
            <a:off x="914400" y="3524250"/>
            <a:ext cx="640080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perda</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6" name="Text 13"/>
          <p:cNvSpPr txBox="1"/>
          <p:nvPr/>
        </p:nvSpPr>
        <p:spPr>
          <a:xfrm>
            <a:off x="914400" y="37719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eps</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e</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9</a:t>
            </a:r>
            <a:endParaRPr lang="en-US" sz="1300" dirty="0"/>
          </a:p>
        </p:txBody>
      </p:sp>
      <p:sp>
        <p:nvSpPr>
          <p:cNvPr id="17" name="Text 14"/>
          <p:cNvSpPr txBox="1"/>
          <p:nvPr/>
        </p:nvSpPr>
        <p:spPr>
          <a:xfrm>
            <a:off x="914400" y="40195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mean</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y</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log</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a2</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eps</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8" name="Text 15"/>
          <p:cNvSpPr txBox="1"/>
          <p:nvPr/>
        </p:nvSpPr>
        <p:spPr>
          <a:xfrm>
            <a:off x="914400" y="42672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log</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a2</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eps</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9" name="Shape 16"/>
          <p:cNvSpPr/>
          <p:nvPr/>
        </p:nvSpPr>
        <p:spPr>
          <a:xfrm>
            <a:off x="7955280" y="1874520"/>
            <a:ext cx="457200" cy="457200"/>
          </a:xfrm>
          <a:prstGeom prst="ellipse">
            <a:avLst/>
          </a:prstGeom>
          <a:solidFill>
            <a:srgbClr val="0B8A5B"/>
          </a:solidFill>
          <a:ln w="12700">
            <a:solidFill>
              <a:srgbClr val="0B8A5B"/>
            </a:solidFill>
            <a:prstDash val="solid"/>
          </a:ln>
        </p:spPr>
      </p:sp>
      <p:sp>
        <p:nvSpPr>
          <p:cNvPr id="20" name="Text 17"/>
          <p:cNvSpPr txBox="1"/>
          <p:nvPr/>
        </p:nvSpPr>
        <p:spPr>
          <a:xfrm>
            <a:off x="79552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1" name="Text 18"/>
          <p:cNvSpPr txBox="1"/>
          <p:nvPr/>
        </p:nvSpPr>
        <p:spPr>
          <a:xfrm>
            <a:off x="8595360" y="178308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forward</a:t>
            </a:r>
            <a:endParaRPr lang="en-US" sz="1400" dirty="0"/>
          </a:p>
        </p:txBody>
      </p:sp>
      <p:sp>
        <p:nvSpPr>
          <p:cNvPr id="22" name="Text 19"/>
          <p:cNvSpPr txBox="1"/>
          <p:nvPr/>
        </p:nvSpPr>
        <p:spPr>
          <a:xfrm>
            <a:off x="8595360" y="214884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Devolve a1 também: o backward vai precisar dela.</a:t>
            </a:r>
            <a:endParaRPr lang="en-US" sz="1400" dirty="0"/>
          </a:p>
        </p:txBody>
      </p:sp>
      <p:sp>
        <p:nvSpPr>
          <p:cNvPr id="23" name="Shape 20"/>
          <p:cNvSpPr/>
          <p:nvPr/>
        </p:nvSpPr>
        <p:spPr>
          <a:xfrm>
            <a:off x="7955280" y="3154680"/>
            <a:ext cx="457200" cy="457200"/>
          </a:xfrm>
          <a:prstGeom prst="ellipse">
            <a:avLst/>
          </a:prstGeom>
          <a:solidFill>
            <a:srgbClr val="0B8A5B"/>
          </a:solidFill>
          <a:ln w="12700">
            <a:solidFill>
              <a:srgbClr val="0B8A5B"/>
            </a:solidFill>
            <a:prstDash val="solid"/>
          </a:ln>
        </p:spPr>
      </p:sp>
      <p:sp>
        <p:nvSpPr>
          <p:cNvPr id="24" name="Text 21"/>
          <p:cNvSpPr txBox="1"/>
          <p:nvPr/>
        </p:nvSpPr>
        <p:spPr>
          <a:xfrm>
            <a:off x="795528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5" name="Text 22"/>
          <p:cNvSpPr txBox="1"/>
          <p:nvPr/>
        </p:nvSpPr>
        <p:spPr>
          <a:xfrm>
            <a:off x="8595360" y="306324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perda</a:t>
            </a:r>
            <a:endParaRPr lang="en-US" sz="1400" dirty="0"/>
          </a:p>
        </p:txBody>
      </p:sp>
      <p:sp>
        <p:nvSpPr>
          <p:cNvPr id="26" name="Text 23"/>
          <p:cNvSpPr txBox="1"/>
          <p:nvPr/>
        </p:nvSpPr>
        <p:spPr>
          <a:xfrm>
            <a:off x="8595360" y="342900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Entropia cruzada binária do slide 20.</a:t>
            </a:r>
            <a:endParaRPr lang="en-US" sz="1400" dirty="0"/>
          </a:p>
        </p:txBody>
      </p:sp>
      <p:sp>
        <p:nvSpPr>
          <p:cNvPr id="27" name="Shape 24"/>
          <p:cNvSpPr/>
          <p:nvPr/>
        </p:nvSpPr>
        <p:spPr>
          <a:xfrm>
            <a:off x="7955280" y="4434840"/>
            <a:ext cx="457200" cy="457200"/>
          </a:xfrm>
          <a:prstGeom prst="ellipse">
            <a:avLst/>
          </a:prstGeom>
          <a:solidFill>
            <a:srgbClr val="0B8A5B"/>
          </a:solidFill>
          <a:ln w="12700">
            <a:solidFill>
              <a:srgbClr val="0B8A5B"/>
            </a:solidFill>
            <a:prstDash val="solid"/>
          </a:ln>
        </p:spPr>
      </p:sp>
      <p:sp>
        <p:nvSpPr>
          <p:cNvPr id="28" name="Text 25"/>
          <p:cNvSpPr txBox="1"/>
          <p:nvPr/>
        </p:nvSpPr>
        <p:spPr>
          <a:xfrm>
            <a:off x="795528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9" name="Text 26"/>
          <p:cNvSpPr txBox="1"/>
          <p:nvPr/>
        </p:nvSpPr>
        <p:spPr>
          <a:xfrm>
            <a:off x="8595360" y="434340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eps = 1e-9</a:t>
            </a:r>
            <a:endParaRPr lang="en-US" sz="1400" dirty="0"/>
          </a:p>
        </p:txBody>
      </p:sp>
      <p:sp>
        <p:nvSpPr>
          <p:cNvPr id="30" name="Text 27"/>
          <p:cNvSpPr txBox="1"/>
          <p:nvPr/>
        </p:nvSpPr>
        <p:spPr>
          <a:xfrm>
            <a:off x="8595360" y="470916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Evita log(0), que daria infinito.</a:t>
            </a:r>
            <a:endParaRPr lang="en-US" sz="1400" dirty="0"/>
          </a:p>
        </p:txBody>
      </p:sp>
      <p:sp>
        <p:nvSpPr>
          <p:cNvPr id="31" name="Shape 28"/>
          <p:cNvSpPr/>
          <p:nvPr/>
        </p:nvSpPr>
        <p:spPr>
          <a:xfrm>
            <a:off x="640080" y="4972050"/>
            <a:ext cx="6949440" cy="1154430"/>
          </a:xfrm>
          <a:prstGeom prst="roundRect">
            <a:avLst>
              <a:gd name="adj" fmla="val 9505"/>
            </a:avLst>
          </a:prstGeom>
          <a:solidFill>
            <a:srgbClr val="FFEBDD"/>
          </a:solidFill>
          <a:ln w="12700">
            <a:solidFill>
              <a:srgbClr val="FFEBDD"/>
            </a:solidFill>
            <a:prstDash val="solid"/>
          </a:ln>
        </p:spPr>
      </p:sp>
      <p:sp>
        <p:nvSpPr>
          <p:cNvPr id="32" name="Text 29"/>
          <p:cNvSpPr txBox="1"/>
          <p:nvPr/>
        </p:nvSpPr>
        <p:spPr>
          <a:xfrm>
            <a:off x="914400" y="4972050"/>
            <a:ext cx="6400800" cy="115443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Tudo em lote: X tem 4 linhas (os 4 exemplos do XOR) e uma só multiplicação de matrizes processa todos.</a:t>
            </a:r>
            <a:endParaRPr lang="en-US" sz="1300" dirty="0"/>
          </a:p>
        </p:txBody>
      </p:sp>
      <p:sp>
        <p:nvSpPr>
          <p:cNvPr id="33" name="Text 3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4" name="Text 3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MLP DO ZERO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Uma rede completa em NumPy (3/4): backward</a:t>
            </a:r>
            <a:endParaRPr lang="en-US" sz="3000" dirty="0"/>
          </a:p>
        </p:txBody>
      </p:sp>
      <p:sp>
        <p:nvSpPr>
          <p:cNvPr id="6" name="Shape 3"/>
          <p:cNvSpPr/>
          <p:nvPr/>
        </p:nvSpPr>
        <p:spPr>
          <a:xfrm>
            <a:off x="640080" y="1783080"/>
            <a:ext cx="6949440" cy="2712720"/>
          </a:xfrm>
          <a:prstGeom prst="roundRect">
            <a:avLst>
              <a:gd name="adj" fmla="val 4045"/>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mlp_zero.py (parte 3)</a:t>
            </a:r>
            <a:endParaRPr lang="en-US" sz="1100" dirty="0"/>
          </a:p>
        </p:txBody>
      </p:sp>
      <p:sp>
        <p:nvSpPr>
          <p:cNvPr id="11" name="Text 8"/>
          <p:cNvSpPr txBox="1"/>
          <p:nvPr/>
        </p:nvSpPr>
        <p:spPr>
          <a:xfrm>
            <a:off x="914400" y="2286000"/>
            <a:ext cx="6400800" cy="247650"/>
          </a:xfrm>
          <a:prstGeom prst="rect">
            <a:avLst/>
          </a:prstGeom>
          <a:noFill/>
          <a:ln/>
        </p:spPr>
        <p:txBody>
          <a:bodyPr wrap="none" lIns="0" tIns="0" rIns="0" bIns="0" rtlCol="0" anchor="ctr"/>
          <a:lstStyle/>
          <a:p>
            <a:pPr indent="0" marL="0">
              <a:buNone/>
            </a:pPr>
            <a:r>
              <a:rPr lang="en-US" sz="1300" dirty="0">
                <a:solidFill>
                  <a:srgbClr val="FF9D5C"/>
                </a:solidFill>
                <a:latin typeface="Courier New" pitchFamily="34" charset="0"/>
                <a:ea typeface="Courier New" pitchFamily="34" charset="-122"/>
                <a:cs typeface="Courier New" pitchFamily="34" charset="-120"/>
              </a:rPr>
              <a:t>def</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backward</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2" name="Text 9"/>
          <p:cNvSpPr txBox="1"/>
          <p:nvPr/>
        </p:nvSpPr>
        <p:spPr>
          <a:xfrm>
            <a:off x="914400" y="25336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8CC8FF"/>
                </a:solidFill>
                <a:latin typeface="Courier New" pitchFamily="34" charset="0"/>
                <a:ea typeface="Courier New" pitchFamily="34" charset="-122"/>
                <a:cs typeface="Courier New" pitchFamily="34" charset="-120"/>
              </a:rPr>
              <a:t>len</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3" name="Text 10"/>
          <p:cNvSpPr txBox="1"/>
          <p:nvPr/>
        </p:nvSpPr>
        <p:spPr>
          <a:xfrm>
            <a:off x="914400" y="27813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d2</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a2</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y</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8FA698"/>
                </a:solidFill>
                <a:latin typeface="Courier New" pitchFamily="34" charset="0"/>
                <a:ea typeface="Courier New" pitchFamily="34" charset="-122"/>
                <a:cs typeface="Courier New" pitchFamily="34" charset="-120"/>
              </a:rPr>
              <a:t># erro na saida</a:t>
            </a:r>
            <a:endParaRPr lang="en-US" sz="1300" dirty="0"/>
          </a:p>
        </p:txBody>
      </p:sp>
      <p:sp>
        <p:nvSpPr>
          <p:cNvPr id="14" name="Text 11"/>
          <p:cNvSpPr txBox="1"/>
          <p:nvPr/>
        </p:nvSpPr>
        <p:spPr>
          <a:xfrm>
            <a:off x="914400" y="30289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g</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"W2"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d2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7EE2B0"/>
                </a:solidFill>
                <a:latin typeface="Courier New" pitchFamily="34" charset="0"/>
                <a:ea typeface="Courier New" pitchFamily="34" charset="-122"/>
                <a:cs typeface="Courier New" pitchFamily="34" charset="-120"/>
              </a:rPr>
              <a:t>"b2"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d2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sum</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axis</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5" name="Text 12"/>
          <p:cNvSpPr txBox="1"/>
          <p:nvPr/>
        </p:nvSpPr>
        <p:spPr>
          <a:xfrm>
            <a:off x="914400" y="32766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d1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d2</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p</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"W2"</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T</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1</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a1</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6" name="Text 13"/>
          <p:cNvSpPr txBox="1"/>
          <p:nvPr/>
        </p:nvSpPr>
        <p:spPr>
          <a:xfrm>
            <a:off x="914400" y="35242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g</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"W1"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X</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d1</a:t>
            </a:r>
            <a:endParaRPr lang="en-US" sz="1300" dirty="0"/>
          </a:p>
        </p:txBody>
      </p:sp>
      <p:sp>
        <p:nvSpPr>
          <p:cNvPr id="17" name="Text 14"/>
          <p:cNvSpPr txBox="1"/>
          <p:nvPr/>
        </p:nvSpPr>
        <p:spPr>
          <a:xfrm>
            <a:off x="914400" y="377190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g</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7EE2B0"/>
                </a:solidFill>
                <a:latin typeface="Courier New" pitchFamily="34" charset="0"/>
                <a:ea typeface="Courier New" pitchFamily="34" charset="-122"/>
                <a:cs typeface="Courier New" pitchFamily="34" charset="-120"/>
              </a:rPr>
              <a:t>"b1"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d1</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sum</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E9F2EC"/>
                </a:solidFill>
                <a:latin typeface="Courier New" pitchFamily="34" charset="0"/>
                <a:ea typeface="Courier New" pitchFamily="34" charset="-122"/>
                <a:cs typeface="Courier New" pitchFamily="34" charset="-120"/>
              </a:rPr>
              <a:t>axis</a:t>
            </a:r>
            <a:pPr indent="0" marL="0">
              <a:buNone/>
            </a:pPr>
            <a:r>
              <a:rPr lang="en-US" sz="1300" dirty="0">
                <a:solidFill>
                  <a:srgbClr val="E9F2EC"/>
                </a:solidFill>
                <a:latin typeface="Courier New" pitchFamily="34" charset="0"/>
                <a:ea typeface="Courier New" pitchFamily="34" charset="-122"/>
                <a:cs typeface="Courier New" pitchFamily="34" charset="-120"/>
              </a:rPr>
              <a:t>=</a:t>
            </a:r>
            <a:pPr indent="0" marL="0">
              <a:buNone/>
            </a:pPr>
            <a:r>
              <a:rPr lang="en-US" sz="1300" dirty="0">
                <a:solidFill>
                  <a:srgbClr val="FFD166"/>
                </a:solidFill>
                <a:latin typeface="Courier New" pitchFamily="34" charset="0"/>
                <a:ea typeface="Courier New" pitchFamily="34" charset="-122"/>
                <a:cs typeface="Courier New" pitchFamily="34" charset="-120"/>
              </a:rPr>
              <a:t>0</a:t>
            </a:r>
            <a:pPr indent="0" marL="0">
              <a:buNone/>
            </a:pPr>
            <a:r>
              <a:rPr lang="en-US" sz="1300" dirty="0">
                <a:solidFill>
                  <a:srgbClr val="E9F2EC"/>
                </a:solidFill>
                <a:latin typeface="Courier New" pitchFamily="34" charset="0"/>
                <a:ea typeface="Courier New" pitchFamily="34" charset="-122"/>
                <a:cs typeface="Courier New" pitchFamily="34" charset="-120"/>
              </a:rPr>
              <a:t>)</a:t>
            </a:r>
            <a:endParaRPr lang="en-US" sz="1300" dirty="0"/>
          </a:p>
        </p:txBody>
      </p:sp>
      <p:sp>
        <p:nvSpPr>
          <p:cNvPr id="18" name="Text 15"/>
          <p:cNvSpPr txBox="1"/>
          <p:nvPr/>
        </p:nvSpPr>
        <p:spPr>
          <a:xfrm>
            <a:off x="914400" y="4019550"/>
            <a:ext cx="6400800" cy="247650"/>
          </a:xfrm>
          <a:prstGeom prst="rect">
            <a:avLst/>
          </a:prstGeom>
          <a:noFill/>
          <a:ln/>
        </p:spPr>
        <p:txBody>
          <a:bodyPr wrap="none" lIns="0" tIns="0" rIns="0" bIns="0" rtlCol="0" anchor="ctr"/>
          <a:lstStyle/>
          <a:p>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FF9D5C"/>
                </a:solidFill>
                <a:latin typeface="Courier New" pitchFamily="34" charset="0"/>
                <a:ea typeface="Courier New" pitchFamily="34" charset="-122"/>
                <a:cs typeface="Courier New" pitchFamily="34" charset="-120"/>
              </a:rPr>
              <a:t>return</a:t>
            </a:r>
            <a:pPr indent="0" marL="0">
              <a:buNone/>
            </a:pPr>
            <a:r>
              <a:rPr lang="en-US" sz="1300" dirty="0">
                <a:solidFill>
                  <a:srgbClr val="E9F2EC"/>
                </a:solidFill>
                <a:latin typeface="Courier New" pitchFamily="34" charset="0"/>
                <a:ea typeface="Courier New" pitchFamily="34" charset="-122"/>
                <a:cs typeface="Courier New" pitchFamily="34" charset="-120"/>
              </a:rPr>
              <a:t> </a:t>
            </a:r>
            <a:pPr indent="0" marL="0">
              <a:buNone/>
            </a:pPr>
            <a:r>
              <a:rPr lang="en-US" sz="1300" dirty="0">
                <a:solidFill>
                  <a:srgbClr val="E9F2EC"/>
                </a:solidFill>
                <a:latin typeface="Courier New" pitchFamily="34" charset="0"/>
                <a:ea typeface="Courier New" pitchFamily="34" charset="-122"/>
                <a:cs typeface="Courier New" pitchFamily="34" charset="-120"/>
              </a:rPr>
              <a:t>g</a:t>
            </a:r>
            <a:endParaRPr lang="en-US" sz="1300" dirty="0"/>
          </a:p>
        </p:txBody>
      </p:sp>
      <p:sp>
        <p:nvSpPr>
          <p:cNvPr id="19" name="Shape 16"/>
          <p:cNvSpPr/>
          <p:nvPr/>
        </p:nvSpPr>
        <p:spPr>
          <a:xfrm>
            <a:off x="7955280" y="1874520"/>
            <a:ext cx="457200" cy="457200"/>
          </a:xfrm>
          <a:prstGeom prst="ellipse">
            <a:avLst/>
          </a:prstGeom>
          <a:solidFill>
            <a:srgbClr val="0B8A5B"/>
          </a:solidFill>
          <a:ln w="12700">
            <a:solidFill>
              <a:srgbClr val="0B8A5B"/>
            </a:solidFill>
            <a:prstDash val="solid"/>
          </a:ln>
        </p:spPr>
      </p:sp>
      <p:sp>
        <p:nvSpPr>
          <p:cNvPr id="20" name="Text 17"/>
          <p:cNvSpPr txBox="1"/>
          <p:nvPr/>
        </p:nvSpPr>
        <p:spPr>
          <a:xfrm>
            <a:off x="79552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1" name="Text 18"/>
          <p:cNvSpPr txBox="1"/>
          <p:nvPr/>
        </p:nvSpPr>
        <p:spPr>
          <a:xfrm>
            <a:off x="8595360" y="178308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d2 = (a2 - y) / n</a:t>
            </a:r>
            <a:endParaRPr lang="en-US" sz="1400" dirty="0"/>
          </a:p>
        </p:txBody>
      </p:sp>
      <p:sp>
        <p:nvSpPr>
          <p:cNvPr id="22" name="Text 19"/>
          <p:cNvSpPr txBox="1"/>
          <p:nvPr/>
        </p:nvSpPr>
        <p:spPr>
          <a:xfrm>
            <a:off x="8595360" y="214884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Com entropia cruzada, a derivada da sigmoide “cancela”: o erro da saída é só a diferença.</a:t>
            </a:r>
            <a:endParaRPr lang="en-US" sz="1400" dirty="0"/>
          </a:p>
        </p:txBody>
      </p:sp>
      <p:sp>
        <p:nvSpPr>
          <p:cNvPr id="23" name="Shape 20"/>
          <p:cNvSpPr/>
          <p:nvPr/>
        </p:nvSpPr>
        <p:spPr>
          <a:xfrm>
            <a:off x="7955280" y="3246120"/>
            <a:ext cx="457200" cy="457200"/>
          </a:xfrm>
          <a:prstGeom prst="ellipse">
            <a:avLst/>
          </a:prstGeom>
          <a:solidFill>
            <a:srgbClr val="0B8A5B"/>
          </a:solidFill>
          <a:ln w="12700">
            <a:solidFill>
              <a:srgbClr val="0B8A5B"/>
            </a:solidFill>
            <a:prstDash val="solid"/>
          </a:ln>
        </p:spPr>
      </p:sp>
      <p:sp>
        <p:nvSpPr>
          <p:cNvPr id="24" name="Text 21"/>
          <p:cNvSpPr txBox="1"/>
          <p:nvPr/>
        </p:nvSpPr>
        <p:spPr>
          <a:xfrm>
            <a:off x="795528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5" name="Text 22"/>
          <p:cNvSpPr txBox="1"/>
          <p:nvPr/>
        </p:nvSpPr>
        <p:spPr>
          <a:xfrm>
            <a:off x="8595360" y="315468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d2 @ p["W2"].T</a:t>
            </a:r>
            <a:endParaRPr lang="en-US" sz="1400" dirty="0"/>
          </a:p>
        </p:txBody>
      </p:sp>
      <p:sp>
        <p:nvSpPr>
          <p:cNvPr id="26" name="Text 23"/>
          <p:cNvSpPr txBox="1"/>
          <p:nvPr/>
        </p:nvSpPr>
        <p:spPr>
          <a:xfrm>
            <a:off x="8595360" y="352044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O erro volta pelos mesmos pesos W2.</a:t>
            </a:r>
            <a:endParaRPr lang="en-US" sz="1400" dirty="0"/>
          </a:p>
        </p:txBody>
      </p:sp>
      <p:sp>
        <p:nvSpPr>
          <p:cNvPr id="27" name="Shape 24"/>
          <p:cNvSpPr/>
          <p:nvPr/>
        </p:nvSpPr>
        <p:spPr>
          <a:xfrm>
            <a:off x="7955280" y="4617720"/>
            <a:ext cx="457200" cy="457200"/>
          </a:xfrm>
          <a:prstGeom prst="ellipse">
            <a:avLst/>
          </a:prstGeom>
          <a:solidFill>
            <a:srgbClr val="0B8A5B"/>
          </a:solidFill>
          <a:ln w="12700">
            <a:solidFill>
              <a:srgbClr val="0B8A5B"/>
            </a:solidFill>
            <a:prstDash val="solid"/>
          </a:ln>
        </p:spPr>
      </p:sp>
      <p:sp>
        <p:nvSpPr>
          <p:cNvPr id="28" name="Text 25"/>
          <p:cNvSpPr txBox="1"/>
          <p:nvPr/>
        </p:nvSpPr>
        <p:spPr>
          <a:xfrm>
            <a:off x="7955280" y="4617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9" name="Text 26"/>
          <p:cNvSpPr txBox="1"/>
          <p:nvPr/>
        </p:nvSpPr>
        <p:spPr>
          <a:xfrm>
            <a:off x="8595360" y="452628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a1 * (1 - a1)</a:t>
            </a:r>
            <a:endParaRPr lang="en-US" sz="1400" dirty="0"/>
          </a:p>
        </p:txBody>
      </p:sp>
      <p:sp>
        <p:nvSpPr>
          <p:cNvPr id="30" name="Text 27"/>
          <p:cNvSpPr txBox="1"/>
          <p:nvPr/>
        </p:nvSpPr>
        <p:spPr>
          <a:xfrm>
            <a:off x="8595360" y="489204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Derivada da sigmoide nos ocultos.</a:t>
            </a:r>
            <a:endParaRPr lang="en-US" sz="1400" dirty="0"/>
          </a:p>
        </p:txBody>
      </p:sp>
      <p:sp>
        <p:nvSpPr>
          <p:cNvPr id="31" name="Shape 28"/>
          <p:cNvSpPr/>
          <p:nvPr/>
        </p:nvSpPr>
        <p:spPr>
          <a:xfrm>
            <a:off x="640080" y="4724400"/>
            <a:ext cx="6949440" cy="1402080"/>
          </a:xfrm>
          <a:prstGeom prst="roundRect">
            <a:avLst>
              <a:gd name="adj" fmla="val 7826"/>
            </a:avLst>
          </a:prstGeom>
          <a:solidFill>
            <a:srgbClr val="FFEBDD"/>
          </a:solidFill>
          <a:ln w="12700">
            <a:solidFill>
              <a:srgbClr val="FFEBDD"/>
            </a:solidFill>
            <a:prstDash val="solid"/>
          </a:ln>
        </p:spPr>
      </p:sp>
      <p:sp>
        <p:nvSpPr>
          <p:cNvPr id="32" name="Text 29"/>
          <p:cNvSpPr txBox="1"/>
          <p:nvPr/>
        </p:nvSpPr>
        <p:spPr>
          <a:xfrm>
            <a:off x="914400" y="4724400"/>
            <a:ext cx="6400800" cy="140208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É o mesmo cálculo do exemplo numérico, agora em lote (o / n tira a média sobre os exemplos).</a:t>
            </a:r>
            <a:endParaRPr lang="en-US" sz="1300" dirty="0"/>
          </a:p>
        </p:txBody>
      </p:sp>
      <p:sp>
        <p:nvSpPr>
          <p:cNvPr id="33" name="Text 3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4" name="Text 3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MLP DO ZERO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Uma rede completa em NumPy (4/4): o laço de treino</a:t>
            </a:r>
            <a:endParaRPr lang="en-US" sz="3000" dirty="0"/>
          </a:p>
        </p:txBody>
      </p:sp>
      <p:sp>
        <p:nvSpPr>
          <p:cNvPr id="6" name="Shape 3"/>
          <p:cNvSpPr/>
          <p:nvPr/>
        </p:nvSpPr>
        <p:spPr>
          <a:xfrm>
            <a:off x="640080" y="1783080"/>
            <a:ext cx="6949440" cy="3017520"/>
          </a:xfrm>
          <a:prstGeom prst="roundRect">
            <a:avLst>
              <a:gd name="adj" fmla="val 3636"/>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mlp_zero.py (parte 4)</a:t>
            </a:r>
            <a:endParaRPr lang="en-US" sz="1100" dirty="0"/>
          </a:p>
        </p:txBody>
      </p:sp>
      <p:sp>
        <p:nvSpPr>
          <p:cNvPr id="11" name="Text 8"/>
          <p:cNvSpPr txBox="1"/>
          <p:nvPr/>
        </p:nvSpPr>
        <p:spPr>
          <a:xfrm>
            <a:off x="914400" y="2286000"/>
            <a:ext cx="6400800" cy="228600"/>
          </a:xfrm>
          <a:prstGeom prst="rect">
            <a:avLst/>
          </a:prstGeom>
          <a:noFill/>
          <a:ln/>
        </p:spPr>
        <p:txBody>
          <a:bodyPr wrap="none" lIns="0" tIns="0" rIns="0" bIns="0" rtlCol="0" anchor="ctr"/>
          <a:lstStyle/>
          <a:p>
            <a:pPr indent="0" marL="0">
              <a:buNone/>
            </a:pPr>
            <a:r>
              <a:rPr lang="en-US" sz="1200" dirty="0">
                <a:solidFill>
                  <a:srgbClr val="FF9D5C"/>
                </a:solidFill>
                <a:latin typeface="Courier New" pitchFamily="34" charset="0"/>
                <a:ea typeface="Courier New" pitchFamily="34" charset="-122"/>
                <a:cs typeface="Courier New" pitchFamily="34" charset="-120"/>
              </a:rPr>
              <a:t>def</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treinar</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4</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alfa</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epocas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5000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seed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9D5C"/>
                </a:solidFill>
                <a:latin typeface="Courier New" pitchFamily="34" charset="0"/>
                <a:ea typeface="Courier New" pitchFamily="34" charset="-122"/>
                <a:cs typeface="Courier New" pitchFamily="34" charset="-120"/>
              </a:rPr>
              <a:t>False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2" name="Text 9"/>
          <p:cNvSpPr txBox="1"/>
          <p:nvPr/>
        </p:nvSpPr>
        <p:spPr>
          <a:xfrm>
            <a:off x="914400" y="25146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iniciar</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shape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n_oc</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seed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zeros</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3" name="Text 10"/>
          <p:cNvSpPr txBox="1"/>
          <p:nvPr/>
        </p:nvSpPr>
        <p:spPr>
          <a:xfrm>
            <a:off x="914400" y="27432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historico</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4" name="Text 11"/>
          <p:cNvSpPr txBox="1"/>
          <p:nvPr/>
        </p:nvSpPr>
        <p:spPr>
          <a:xfrm>
            <a:off x="914400" y="29718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for</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ep</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8CC8FF"/>
                </a:solidFill>
                <a:latin typeface="Courier New" pitchFamily="34" charset="0"/>
                <a:ea typeface="Courier New" pitchFamily="34" charset="-122"/>
                <a:cs typeface="Courier New" pitchFamily="34" charset="-120"/>
              </a:rPr>
              <a:t>range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epocas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5" name="Text 12"/>
          <p:cNvSpPr txBox="1"/>
          <p:nvPr/>
        </p:nvSpPr>
        <p:spPr>
          <a:xfrm>
            <a:off x="914400" y="32004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a2</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forward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6" name="Text 13"/>
          <p:cNvSpPr txBox="1"/>
          <p:nvPr/>
        </p:nvSpPr>
        <p:spPr>
          <a:xfrm>
            <a:off x="914400" y="34290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historico</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append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perda</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a2</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7" name="Text 14"/>
          <p:cNvSpPr txBox="1"/>
          <p:nvPr/>
        </p:nvSpPr>
        <p:spPr>
          <a:xfrm>
            <a:off x="914400" y="36576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g</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backward</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a2</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8" name="Text 15"/>
          <p:cNvSpPr txBox="1"/>
          <p:nvPr/>
        </p:nvSpPr>
        <p:spPr>
          <a:xfrm>
            <a:off x="914400" y="38862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for</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k</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9" name="Text 16"/>
          <p:cNvSpPr txBox="1"/>
          <p:nvPr/>
        </p:nvSpPr>
        <p:spPr>
          <a:xfrm>
            <a:off x="914400" y="41148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k</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alfa</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g</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k</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20" name="Text 17"/>
          <p:cNvSpPr txBox="1"/>
          <p:nvPr/>
        </p:nvSpPr>
        <p:spPr>
          <a:xfrm>
            <a:off x="914400" y="4343400"/>
            <a:ext cx="640080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return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historico</a:t>
            </a:r>
            <a:endParaRPr lang="en-US" sz="1200" dirty="0"/>
          </a:p>
        </p:txBody>
      </p:sp>
      <p:sp>
        <p:nvSpPr>
          <p:cNvPr id="21" name="Shape 18"/>
          <p:cNvSpPr/>
          <p:nvPr/>
        </p:nvSpPr>
        <p:spPr>
          <a:xfrm>
            <a:off x="7955280" y="1874520"/>
            <a:ext cx="457200" cy="457200"/>
          </a:xfrm>
          <a:prstGeom prst="ellipse">
            <a:avLst/>
          </a:prstGeom>
          <a:solidFill>
            <a:srgbClr val="0B8A5B"/>
          </a:solidFill>
          <a:ln w="12700">
            <a:solidFill>
              <a:srgbClr val="0B8A5B"/>
            </a:solidFill>
            <a:prstDash val="solid"/>
          </a:ln>
        </p:spPr>
      </p:sp>
      <p:sp>
        <p:nvSpPr>
          <p:cNvPr id="22" name="Text 19"/>
          <p:cNvSpPr txBox="1"/>
          <p:nvPr/>
        </p:nvSpPr>
        <p:spPr>
          <a:xfrm>
            <a:off x="79552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0"/>
          <p:cNvSpPr txBox="1"/>
          <p:nvPr/>
        </p:nvSpPr>
        <p:spPr>
          <a:xfrm>
            <a:off x="8595360" y="178308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forward + perda</a:t>
            </a:r>
            <a:endParaRPr lang="en-US" sz="1400" dirty="0"/>
          </a:p>
        </p:txBody>
      </p:sp>
      <p:sp>
        <p:nvSpPr>
          <p:cNvPr id="24" name="Text 21"/>
          <p:cNvSpPr txBox="1"/>
          <p:nvPr/>
        </p:nvSpPr>
        <p:spPr>
          <a:xfrm>
            <a:off x="8595360" y="214884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Calcula previsões e mede o erro.</a:t>
            </a:r>
            <a:endParaRPr lang="en-US" sz="1400" dirty="0"/>
          </a:p>
        </p:txBody>
      </p:sp>
      <p:sp>
        <p:nvSpPr>
          <p:cNvPr id="25" name="Shape 22"/>
          <p:cNvSpPr/>
          <p:nvPr/>
        </p:nvSpPr>
        <p:spPr>
          <a:xfrm>
            <a:off x="7955280" y="3154680"/>
            <a:ext cx="457200" cy="457200"/>
          </a:xfrm>
          <a:prstGeom prst="ellipse">
            <a:avLst/>
          </a:prstGeom>
          <a:solidFill>
            <a:srgbClr val="0B8A5B"/>
          </a:solidFill>
          <a:ln w="12700">
            <a:solidFill>
              <a:srgbClr val="0B8A5B"/>
            </a:solidFill>
            <a:prstDash val="solid"/>
          </a:ln>
        </p:spPr>
      </p:sp>
      <p:sp>
        <p:nvSpPr>
          <p:cNvPr id="26" name="Text 23"/>
          <p:cNvSpPr txBox="1"/>
          <p:nvPr/>
        </p:nvSpPr>
        <p:spPr>
          <a:xfrm>
            <a:off x="795528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7" name="Text 24"/>
          <p:cNvSpPr txBox="1"/>
          <p:nvPr/>
        </p:nvSpPr>
        <p:spPr>
          <a:xfrm>
            <a:off x="8595360" y="306324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backward</a:t>
            </a:r>
            <a:endParaRPr lang="en-US" sz="1400" dirty="0"/>
          </a:p>
        </p:txBody>
      </p:sp>
      <p:sp>
        <p:nvSpPr>
          <p:cNvPr id="28" name="Text 25"/>
          <p:cNvSpPr txBox="1"/>
          <p:nvPr/>
        </p:nvSpPr>
        <p:spPr>
          <a:xfrm>
            <a:off x="8595360" y="342900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Calcula todos os gradientes.</a:t>
            </a:r>
            <a:endParaRPr lang="en-US" sz="1400" dirty="0"/>
          </a:p>
        </p:txBody>
      </p:sp>
      <p:sp>
        <p:nvSpPr>
          <p:cNvPr id="29" name="Shape 26"/>
          <p:cNvSpPr/>
          <p:nvPr/>
        </p:nvSpPr>
        <p:spPr>
          <a:xfrm>
            <a:off x="7955280" y="4434840"/>
            <a:ext cx="457200" cy="457200"/>
          </a:xfrm>
          <a:prstGeom prst="ellipse">
            <a:avLst/>
          </a:prstGeom>
          <a:solidFill>
            <a:srgbClr val="0B8A5B"/>
          </a:solidFill>
          <a:ln w="12700">
            <a:solidFill>
              <a:srgbClr val="0B8A5B"/>
            </a:solidFill>
            <a:prstDash val="solid"/>
          </a:ln>
        </p:spPr>
      </p:sp>
      <p:sp>
        <p:nvSpPr>
          <p:cNvPr id="30" name="Text 27"/>
          <p:cNvSpPr txBox="1"/>
          <p:nvPr/>
        </p:nvSpPr>
        <p:spPr>
          <a:xfrm>
            <a:off x="795528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1" name="Text 28"/>
          <p:cNvSpPr txBox="1"/>
          <p:nvPr/>
        </p:nvSpPr>
        <p:spPr>
          <a:xfrm>
            <a:off x="8595360" y="4343400"/>
            <a:ext cx="2953512" cy="365760"/>
          </a:xfrm>
          <a:prstGeom prst="rect">
            <a:avLst/>
          </a:prstGeom>
          <a:noFill/>
          <a:ln/>
        </p:spPr>
        <p:txBody>
          <a:bodyPr wrap="square" lIns="0" tIns="0" rIns="0" bIns="0" rtlCol="0" anchor="ctr"/>
          <a:lstStyle/>
          <a:p>
            <a:pPr indent="0" marL="0">
              <a:buNone/>
            </a:pPr>
            <a:r>
              <a:rPr lang="en-US" sz="1400" b="1" dirty="0">
                <a:solidFill>
                  <a:srgbClr val="0B1A12"/>
                </a:solidFill>
                <a:latin typeface="Courier New" pitchFamily="34" charset="0"/>
                <a:ea typeface="Courier New" pitchFamily="34" charset="-122"/>
                <a:cs typeface="Courier New" pitchFamily="34" charset="-120"/>
              </a:rPr>
              <a:t>p[k] -= alfa * g[k]</a:t>
            </a:r>
            <a:endParaRPr lang="en-US" sz="1400" dirty="0"/>
          </a:p>
        </p:txBody>
      </p:sp>
      <p:sp>
        <p:nvSpPr>
          <p:cNvPr id="32" name="Text 29"/>
          <p:cNvSpPr txBox="1"/>
          <p:nvPr/>
        </p:nvSpPr>
        <p:spPr>
          <a:xfrm>
            <a:off x="8595360" y="4709160"/>
            <a:ext cx="2953512" cy="685800"/>
          </a:xfrm>
          <a:prstGeom prst="rect">
            <a:avLst/>
          </a:prstGeom>
          <a:noFill/>
          <a:ln/>
        </p:spPr>
        <p:txBody>
          <a:bodyPr wrap="square" lIns="0" tIns="0" rIns="0" bIns="0" rtlCol="0" anchor="t"/>
          <a:lstStyle/>
          <a:p>
            <a:pPr indent="0" marL="0">
              <a:buNone/>
            </a:pPr>
            <a:r>
              <a:rPr lang="en-US" sz="1400" dirty="0">
                <a:solidFill>
                  <a:srgbClr val="55645B"/>
                </a:solidFill>
                <a:latin typeface="Calibri" pitchFamily="34" charset="0"/>
                <a:ea typeface="Calibri" pitchFamily="34" charset="-122"/>
                <a:cs typeface="Calibri" pitchFamily="34" charset="-120"/>
              </a:rPr>
              <a:t>A descida do gradiente da aula 03, para os 4 parâmetros.</a:t>
            </a:r>
            <a:endParaRPr lang="en-US" sz="1400" dirty="0"/>
          </a:p>
        </p:txBody>
      </p:sp>
      <p:sp>
        <p:nvSpPr>
          <p:cNvPr id="33" name="Shape 30"/>
          <p:cNvSpPr/>
          <p:nvPr/>
        </p:nvSpPr>
        <p:spPr>
          <a:xfrm>
            <a:off x="640080" y="5029200"/>
            <a:ext cx="6949440" cy="1097280"/>
          </a:xfrm>
          <a:prstGeom prst="roundRect">
            <a:avLst>
              <a:gd name="adj" fmla="val 10000"/>
            </a:avLst>
          </a:prstGeom>
          <a:solidFill>
            <a:srgbClr val="FFEBDD"/>
          </a:solidFill>
          <a:ln w="12700">
            <a:solidFill>
              <a:srgbClr val="FFEBDD"/>
            </a:solidFill>
            <a:prstDash val="solid"/>
          </a:ln>
        </p:spPr>
      </p:sp>
      <p:sp>
        <p:nvSpPr>
          <p:cNvPr id="34" name="Text 31"/>
          <p:cNvSpPr txBox="1"/>
          <p:nvPr/>
        </p:nvSpPr>
        <p:spPr>
          <a:xfrm>
            <a:off x="914400" y="5029200"/>
            <a:ext cx="6400800" cy="109728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Forward, perda, backward, atualização: o ciclo de treino de qualquer rede neural, de 17 parâmetros ou de bilhões.</a:t>
            </a:r>
            <a:endParaRPr lang="en-US" sz="1300" dirty="0"/>
          </a:p>
        </p:txBody>
      </p:sp>
      <p:sp>
        <p:nvSpPr>
          <p:cNvPr id="35" name="Text 32"/>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6" name="Text 33"/>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MLP DO ZERO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 rede aprende o XOR</a:t>
            </a:r>
            <a:endParaRPr lang="en-US" sz="3000" dirty="0"/>
          </a:p>
        </p:txBody>
      </p:sp>
      <p:sp>
        <p:nvSpPr>
          <p:cNvPr id="6" name="Shape 3"/>
          <p:cNvSpPr/>
          <p:nvPr/>
        </p:nvSpPr>
        <p:spPr>
          <a:xfrm>
            <a:off x="640080" y="1783080"/>
            <a:ext cx="5120640" cy="1988820"/>
          </a:xfrm>
          <a:prstGeom prst="roundRect">
            <a:avLst>
              <a:gd name="adj" fmla="val 551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40233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mlp_zero.py (main)</a:t>
            </a:r>
            <a:endParaRPr lang="en-US" sz="1100" dirty="0"/>
          </a:p>
        </p:txBody>
      </p:sp>
      <p:sp>
        <p:nvSpPr>
          <p:cNvPr id="11" name="Text 8"/>
          <p:cNvSpPr txBox="1"/>
          <p:nvPr/>
        </p:nvSpPr>
        <p:spPr>
          <a:xfrm>
            <a:off x="914400" y="2286000"/>
            <a:ext cx="45720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45720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dtype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float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45720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dtype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float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2914650"/>
            <a:ext cx="45720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treinar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45720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_</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saida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forward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333750"/>
            <a:ext cx="45720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"saidas:"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saida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ravel</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Shape 14"/>
          <p:cNvSpPr/>
          <p:nvPr/>
        </p:nvSpPr>
        <p:spPr>
          <a:xfrm>
            <a:off x="640080" y="3954780"/>
            <a:ext cx="5120640" cy="941070"/>
          </a:xfrm>
          <a:prstGeom prst="roundRect">
            <a:avLst>
              <a:gd name="adj" fmla="val 11660"/>
            </a:avLst>
          </a:prstGeom>
          <a:solidFill>
            <a:srgbClr val="0A1B13"/>
          </a:solidFill>
          <a:ln w="12700">
            <a:solidFill>
              <a:srgbClr val="0A1B13"/>
            </a:solidFill>
            <a:prstDash val="solid"/>
          </a:ln>
        </p:spPr>
      </p:sp>
      <p:sp>
        <p:nvSpPr>
          <p:cNvPr id="18" name="Shape 15"/>
          <p:cNvSpPr/>
          <p:nvPr/>
        </p:nvSpPr>
        <p:spPr>
          <a:xfrm>
            <a:off x="841248" y="4137660"/>
            <a:ext cx="118872" cy="118872"/>
          </a:xfrm>
          <a:prstGeom prst="ellipse">
            <a:avLst/>
          </a:prstGeom>
          <a:solidFill>
            <a:srgbClr val="D6336C"/>
          </a:solidFill>
          <a:ln w="12700">
            <a:solidFill>
              <a:srgbClr val="D6336C"/>
            </a:solidFill>
            <a:prstDash val="solid"/>
          </a:ln>
        </p:spPr>
      </p:sp>
      <p:sp>
        <p:nvSpPr>
          <p:cNvPr id="19" name="Shape 16"/>
          <p:cNvSpPr/>
          <p:nvPr/>
        </p:nvSpPr>
        <p:spPr>
          <a:xfrm>
            <a:off x="1042416" y="4137660"/>
            <a:ext cx="118872" cy="118872"/>
          </a:xfrm>
          <a:prstGeom prst="ellipse">
            <a:avLst/>
          </a:prstGeom>
          <a:solidFill>
            <a:srgbClr val="FF7A2F"/>
          </a:solidFill>
          <a:ln w="12700">
            <a:solidFill>
              <a:srgbClr val="FF7A2F"/>
            </a:solidFill>
            <a:prstDash val="solid"/>
          </a:ln>
        </p:spPr>
      </p:sp>
      <p:sp>
        <p:nvSpPr>
          <p:cNvPr id="20" name="Shape 17"/>
          <p:cNvSpPr/>
          <p:nvPr/>
        </p:nvSpPr>
        <p:spPr>
          <a:xfrm>
            <a:off x="1243584" y="4137660"/>
            <a:ext cx="118872" cy="118872"/>
          </a:xfrm>
          <a:prstGeom prst="ellipse">
            <a:avLst/>
          </a:prstGeom>
          <a:solidFill>
            <a:srgbClr val="5FE3A1"/>
          </a:solidFill>
          <a:ln w="12700">
            <a:solidFill>
              <a:srgbClr val="5FE3A1"/>
            </a:solidFill>
            <a:prstDash val="solid"/>
          </a:ln>
        </p:spPr>
      </p:sp>
      <p:sp>
        <p:nvSpPr>
          <p:cNvPr id="21" name="Text 18"/>
          <p:cNvSpPr txBox="1"/>
          <p:nvPr/>
        </p:nvSpPr>
        <p:spPr>
          <a:xfrm>
            <a:off x="1554480" y="4073652"/>
            <a:ext cx="40233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Saída</a:t>
            </a:r>
            <a:endParaRPr lang="en-US" sz="1100" dirty="0"/>
          </a:p>
        </p:txBody>
      </p:sp>
      <p:sp>
        <p:nvSpPr>
          <p:cNvPr id="22" name="Text 19"/>
          <p:cNvSpPr txBox="1"/>
          <p:nvPr/>
        </p:nvSpPr>
        <p:spPr>
          <a:xfrm>
            <a:off x="914400" y="4457700"/>
            <a:ext cx="45720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saidas: [0.    0.997 0.997 0.004]</a:t>
            </a:r>
            <a:endParaRPr lang="en-US" sz="1100" dirty="0"/>
          </a:p>
        </p:txBody>
      </p:sp>
      <p:sp>
        <p:nvSpPr>
          <p:cNvPr id="23" name="Shape 20"/>
          <p:cNvSpPr/>
          <p:nvPr/>
        </p:nvSpPr>
        <p:spPr>
          <a:xfrm>
            <a:off x="5943600" y="1783080"/>
            <a:ext cx="5605272" cy="4343400"/>
          </a:xfrm>
          <a:prstGeom prst="roundRect">
            <a:avLst>
              <a:gd name="adj" fmla="val 2526"/>
            </a:avLst>
          </a:prstGeom>
          <a:solidFill>
            <a:srgbClr val="F1F6F3"/>
          </a:solidFill>
          <a:ln w="12700">
            <a:solidFill>
              <a:srgbClr val="F1F6F3"/>
            </a:solidFill>
            <a:prstDash val="solid"/>
          </a:ln>
        </p:spPr>
      </p:sp>
      <p:graphicFrame>
        <p:nvGraphicFramePr>
          <p:cNvPr id="24" name="Chart 0" descr=""/>
          <p:cNvGraphicFramePr/>
          <p:nvPr/>
        </p:nvGraphicFramePr>
        <p:xfrm>
          <a:off x="6035040" y="1874520"/>
          <a:ext cx="5422392" cy="4160520"/>
        </p:xfrm>
        <a:graphic xmlns:a="http://schemas.openxmlformats.org/drawingml/2006/main">
          <a:graphicData uri="http://schemas.openxmlformats.org/drawingml/2006/chart">
            <c:chart xmlns:c="http://schemas.openxmlformats.org/drawingml/2006/chart" r:id="rId2"/>
          </a:graphicData>
        </a:graphic>
      </p:graphicFrame>
      <p:sp>
        <p:nvSpPr>
          <p:cNvPr id="25" name="Shape 21"/>
          <p:cNvSpPr/>
          <p:nvPr/>
        </p:nvSpPr>
        <p:spPr>
          <a:xfrm>
            <a:off x="640080" y="5074920"/>
            <a:ext cx="5120640" cy="1051560"/>
          </a:xfrm>
          <a:prstGeom prst="roundRect">
            <a:avLst>
              <a:gd name="adj" fmla="val 10435"/>
            </a:avLst>
          </a:prstGeom>
          <a:solidFill>
            <a:srgbClr val="FFEBDD"/>
          </a:solidFill>
          <a:ln w="12700">
            <a:solidFill>
              <a:srgbClr val="FFEBDD"/>
            </a:solidFill>
            <a:prstDash val="solid"/>
          </a:ln>
        </p:spPr>
      </p:sp>
      <p:sp>
        <p:nvSpPr>
          <p:cNvPr id="26" name="Text 22"/>
          <p:cNvSpPr txBox="1"/>
          <p:nvPr/>
        </p:nvSpPr>
        <p:spPr>
          <a:xfrm>
            <a:off x="914400" y="5074920"/>
            <a:ext cx="4572000" cy="105156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Perda: 0,926 na época 0, 0,110 na 500 e 0,0024 na 4999. Saídas 0 / 0,997 / 0,997 / 0,004: o XOR, que o perceptron não conseguia.</a:t>
            </a:r>
            <a:endParaRPr lang="en-US" sz="1300" dirty="0"/>
          </a:p>
        </p:txBody>
      </p:sp>
      <p:sp>
        <p:nvSpPr>
          <p:cNvPr id="27" name="Text 23"/>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8" name="Text 24"/>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DEPURAÇÃO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Conferindo o backward: verificação do gradiente</a:t>
            </a:r>
            <a:endParaRPr lang="en-US" sz="3000" dirty="0"/>
          </a:p>
        </p:txBody>
      </p:sp>
      <p:sp>
        <p:nvSpPr>
          <p:cNvPr id="6" name="Shape 3"/>
          <p:cNvSpPr/>
          <p:nvPr/>
        </p:nvSpPr>
        <p:spPr>
          <a:xfrm>
            <a:off x="640080" y="1783080"/>
            <a:ext cx="7132320" cy="3036570"/>
          </a:xfrm>
          <a:prstGeom prst="roundRect">
            <a:avLst>
              <a:gd name="adj" fmla="val 3614"/>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603504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verifica_gradiente.py (resumido)</a:t>
            </a:r>
            <a:endParaRPr lang="en-US" sz="1100" dirty="0"/>
          </a:p>
        </p:txBody>
      </p:sp>
      <p:sp>
        <p:nvSpPr>
          <p:cNvPr id="11" name="Text 8"/>
          <p:cNvSpPr txBox="1"/>
          <p:nvPr/>
        </p:nvSpPr>
        <p:spPr>
          <a:xfrm>
            <a:off x="914400" y="228600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iniciar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4</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seed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a1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forward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g</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backward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a2</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291465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6</a:t>
            </a:r>
            <a:endParaRPr lang="en-US" sz="1100" dirty="0"/>
          </a:p>
        </p:txBody>
      </p:sp>
      <p:sp>
        <p:nvSpPr>
          <p:cNvPr id="15" name="Text 12"/>
          <p:cNvSpPr txBox="1"/>
          <p:nvPr/>
        </p:nvSpPr>
        <p:spPr>
          <a:xfrm>
            <a:off x="914400" y="3124200"/>
            <a:ext cx="6583680" cy="209550"/>
          </a:xfrm>
          <a:prstGeom prst="rect">
            <a:avLst/>
          </a:prstGeom>
          <a:noFill/>
          <a:ln/>
        </p:spPr>
        <p:txBody>
          <a:bodyPr wrap="none" lIns="0" tIns="0" rIns="0" bIns="0" rtlCol="0" anchor="ctr"/>
          <a:lstStyle/>
          <a:p>
            <a:pPr indent="0" marL="0">
              <a:buNone/>
            </a:pPr>
            <a:r>
              <a:rPr lang="en-US" sz="1100" dirty="0">
                <a:solidFill>
                  <a:srgbClr val="FF9D5C"/>
                </a:solidFill>
                <a:latin typeface="Courier New" pitchFamily="34" charset="0"/>
                <a:ea typeface="Courier New" pitchFamily="34" charset="-122"/>
                <a:cs typeface="Courier New" pitchFamily="34" charset="-120"/>
              </a:rPr>
              <a:t>for</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nome</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9D5C"/>
                </a:solidFill>
                <a:latin typeface="Courier New" pitchFamily="34" charset="0"/>
                <a:ea typeface="Courier New" pitchFamily="34" charset="-122"/>
                <a:cs typeface="Courier New" pitchFamily="34" charset="-120"/>
              </a:rPr>
              <a:t>in</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"W1"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7EE2B0"/>
                </a:solidFill>
                <a:latin typeface="Courier New" pitchFamily="34" charset="0"/>
                <a:ea typeface="Courier New" pitchFamily="34" charset="-122"/>
                <a:cs typeface="Courier New" pitchFamily="34" charset="-120"/>
              </a:rPr>
              <a:t>"W2"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33375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i</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Text 14"/>
          <p:cNvSpPr txBox="1"/>
          <p:nvPr/>
        </p:nvSpPr>
        <p:spPr>
          <a:xfrm>
            <a:off x="914400" y="354330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nome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i</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mais</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perda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forward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8" name="Text 15"/>
          <p:cNvSpPr txBox="1"/>
          <p:nvPr/>
        </p:nvSpPr>
        <p:spPr>
          <a:xfrm>
            <a:off x="914400" y="375285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nome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i</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menos</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perda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forward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9" name="Text 16"/>
          <p:cNvSpPr txBox="1"/>
          <p:nvPr/>
        </p:nvSpPr>
        <p:spPr>
          <a:xfrm>
            <a:off x="914400" y="396240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nome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i</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a:t>
            </a:r>
            <a:endParaRPr lang="en-US" sz="1100" dirty="0"/>
          </a:p>
        </p:txBody>
      </p:sp>
      <p:sp>
        <p:nvSpPr>
          <p:cNvPr id="20" name="Text 17"/>
          <p:cNvSpPr txBox="1"/>
          <p:nvPr/>
        </p:nvSpPr>
        <p:spPr>
          <a:xfrm>
            <a:off x="914400" y="417195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num</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mais</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menos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1" name="Text 18"/>
          <p:cNvSpPr txBox="1"/>
          <p:nvPr/>
        </p:nvSpPr>
        <p:spPr>
          <a:xfrm>
            <a:off x="914400" y="4381500"/>
            <a:ext cx="65836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nome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g</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nome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i</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6</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num</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6</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2" name="Shape 19"/>
          <p:cNvSpPr/>
          <p:nvPr/>
        </p:nvSpPr>
        <p:spPr>
          <a:xfrm>
            <a:off x="7982712" y="1783080"/>
            <a:ext cx="3566160" cy="457200"/>
          </a:xfrm>
          <a:prstGeom prst="roundRect">
            <a:avLst>
              <a:gd name="adj" fmla="val 20000"/>
            </a:avLst>
          </a:prstGeom>
          <a:solidFill>
            <a:srgbClr val="0F2A1D"/>
          </a:solidFill>
          <a:ln w="12700">
            <a:solidFill>
              <a:srgbClr val="0F2A1D"/>
            </a:solidFill>
            <a:prstDash val="solid"/>
          </a:ln>
        </p:spPr>
      </p:sp>
      <p:sp>
        <p:nvSpPr>
          <p:cNvPr id="23" name="Text 20"/>
          <p:cNvSpPr txBox="1"/>
          <p:nvPr/>
        </p:nvSpPr>
        <p:spPr>
          <a:xfrm>
            <a:off x="8092440" y="1783080"/>
            <a:ext cx="731520" cy="457200"/>
          </a:xfrm>
          <a:prstGeom prst="rect">
            <a:avLst/>
          </a:prstGeom>
          <a:noFill/>
          <a:ln/>
        </p:spPr>
        <p:txBody>
          <a:bodyPr wrap="square" lIns="0" tIns="0" rIns="0" bIns="0" rtlCol="0" anchor="ctr"/>
          <a:lstStyle/>
          <a:p>
            <a:pPr indent="0" marL="0">
              <a:buNone/>
            </a:pPr>
            <a:endParaRPr lang="en-US" sz="1100" dirty="0"/>
          </a:p>
        </p:txBody>
      </p:sp>
      <p:sp>
        <p:nvSpPr>
          <p:cNvPr id="24" name="Text 21"/>
          <p:cNvSpPr txBox="1"/>
          <p:nvPr/>
        </p:nvSpPr>
        <p:spPr>
          <a:xfrm>
            <a:off x="9006840" y="1783080"/>
            <a:ext cx="11887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Analítico</a:t>
            </a:r>
            <a:endParaRPr lang="en-US" sz="1100" dirty="0"/>
          </a:p>
        </p:txBody>
      </p:sp>
      <p:sp>
        <p:nvSpPr>
          <p:cNvPr id="25" name="Text 22"/>
          <p:cNvSpPr txBox="1"/>
          <p:nvPr/>
        </p:nvSpPr>
        <p:spPr>
          <a:xfrm>
            <a:off x="10378440" y="1783080"/>
            <a:ext cx="109728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Numérico</a:t>
            </a:r>
            <a:endParaRPr lang="en-US" sz="1100" dirty="0"/>
          </a:p>
        </p:txBody>
      </p:sp>
      <p:sp>
        <p:nvSpPr>
          <p:cNvPr id="26" name="Shape 23"/>
          <p:cNvSpPr/>
          <p:nvPr/>
        </p:nvSpPr>
        <p:spPr>
          <a:xfrm>
            <a:off x="7982712" y="2313432"/>
            <a:ext cx="3566160" cy="493776"/>
          </a:xfrm>
          <a:prstGeom prst="roundRect">
            <a:avLst>
              <a:gd name="adj" fmla="val 14815"/>
            </a:avLst>
          </a:prstGeom>
          <a:solidFill>
            <a:srgbClr val="F1F6F3"/>
          </a:solidFill>
          <a:ln w="12700">
            <a:solidFill>
              <a:srgbClr val="F1F6F3"/>
            </a:solidFill>
            <a:prstDash val="solid"/>
          </a:ln>
        </p:spPr>
      </p:sp>
      <p:sp>
        <p:nvSpPr>
          <p:cNvPr id="27" name="Text 24"/>
          <p:cNvSpPr txBox="1"/>
          <p:nvPr/>
        </p:nvSpPr>
        <p:spPr>
          <a:xfrm>
            <a:off x="8092440" y="2313432"/>
            <a:ext cx="731520" cy="493776"/>
          </a:xfrm>
          <a:prstGeom prst="rect">
            <a:avLst/>
          </a:prstGeom>
          <a:noFill/>
          <a:ln/>
        </p:spPr>
        <p:txBody>
          <a:bodyPr wrap="square" lIns="0" tIns="0" rIns="0" bIns="0" rtlCol="0" anchor="ctr"/>
          <a:lstStyle/>
          <a:p>
            <a:pPr indent="0" marL="0">
              <a:buNone/>
            </a:pPr>
            <a:r>
              <a:rPr lang="en-US" sz="1000" dirty="0">
                <a:solidFill>
                  <a:srgbClr val="0B1A12"/>
                </a:solidFill>
                <a:latin typeface="Courier New" pitchFamily="34" charset="0"/>
                <a:ea typeface="Courier New" pitchFamily="34" charset="-122"/>
                <a:cs typeface="Courier New" pitchFamily="34" charset="-120"/>
              </a:rPr>
              <a:t>W1</a:t>
            </a:r>
            <a:endParaRPr lang="en-US" sz="1000" dirty="0"/>
          </a:p>
        </p:txBody>
      </p:sp>
      <p:sp>
        <p:nvSpPr>
          <p:cNvPr id="28" name="Text 25"/>
          <p:cNvSpPr txBox="1"/>
          <p:nvPr/>
        </p:nvSpPr>
        <p:spPr>
          <a:xfrm>
            <a:off x="9006840" y="2313432"/>
            <a:ext cx="1188720" cy="493776"/>
          </a:xfrm>
          <a:prstGeom prst="rect">
            <a:avLst/>
          </a:prstGeom>
          <a:noFill/>
          <a:ln/>
        </p:spPr>
        <p:txBody>
          <a:bodyPr wrap="square" lIns="0" tIns="0" rIns="0" bIns="0" rtlCol="0" anchor="ctr"/>
          <a:lstStyle/>
          <a:p>
            <a:pPr indent="0" marL="0">
              <a:buNone/>
            </a:pPr>
            <a:r>
              <a:rPr lang="en-US" sz="1000" dirty="0">
                <a:solidFill>
                  <a:srgbClr val="0B1A12"/>
                </a:solidFill>
                <a:latin typeface="Courier New" pitchFamily="34" charset="0"/>
                <a:ea typeface="Courier New" pitchFamily="34" charset="-122"/>
                <a:cs typeface="Courier New" pitchFamily="34" charset="-120"/>
              </a:rPr>
              <a:t>0.027107</a:t>
            </a:r>
            <a:endParaRPr lang="en-US" sz="1000" dirty="0"/>
          </a:p>
        </p:txBody>
      </p:sp>
      <p:sp>
        <p:nvSpPr>
          <p:cNvPr id="29" name="Text 26"/>
          <p:cNvSpPr txBox="1"/>
          <p:nvPr/>
        </p:nvSpPr>
        <p:spPr>
          <a:xfrm>
            <a:off x="10378440" y="2313432"/>
            <a:ext cx="1097280" cy="493776"/>
          </a:xfrm>
          <a:prstGeom prst="rect">
            <a:avLst/>
          </a:prstGeom>
          <a:noFill/>
          <a:ln/>
        </p:spPr>
        <p:txBody>
          <a:bodyPr wrap="square" lIns="0" tIns="0" rIns="0" bIns="0" rtlCol="0" anchor="ctr"/>
          <a:lstStyle/>
          <a:p>
            <a:pPr indent="0" marL="0">
              <a:buNone/>
            </a:pPr>
            <a:r>
              <a:rPr lang="en-US" sz="1000" dirty="0">
                <a:solidFill>
                  <a:srgbClr val="0B1A12"/>
                </a:solidFill>
                <a:latin typeface="Courier New" pitchFamily="34" charset="0"/>
                <a:ea typeface="Courier New" pitchFamily="34" charset="-122"/>
                <a:cs typeface="Courier New" pitchFamily="34" charset="-120"/>
              </a:rPr>
              <a:t>0.027107</a:t>
            </a:r>
            <a:endParaRPr lang="en-US" sz="1000" dirty="0"/>
          </a:p>
        </p:txBody>
      </p:sp>
      <p:sp>
        <p:nvSpPr>
          <p:cNvPr id="30" name="Shape 27"/>
          <p:cNvSpPr/>
          <p:nvPr/>
        </p:nvSpPr>
        <p:spPr>
          <a:xfrm>
            <a:off x="7982712" y="2862072"/>
            <a:ext cx="3566160" cy="493776"/>
          </a:xfrm>
          <a:prstGeom prst="roundRect">
            <a:avLst>
              <a:gd name="adj" fmla="val 14815"/>
            </a:avLst>
          </a:prstGeom>
          <a:solidFill>
            <a:srgbClr val="E6EEE9"/>
          </a:solidFill>
          <a:ln w="12700">
            <a:solidFill>
              <a:srgbClr val="E6EEE9"/>
            </a:solidFill>
            <a:prstDash val="solid"/>
          </a:ln>
        </p:spPr>
      </p:sp>
      <p:sp>
        <p:nvSpPr>
          <p:cNvPr id="31" name="Text 28"/>
          <p:cNvSpPr txBox="1"/>
          <p:nvPr/>
        </p:nvSpPr>
        <p:spPr>
          <a:xfrm>
            <a:off x="8092440" y="2862072"/>
            <a:ext cx="731520" cy="493776"/>
          </a:xfrm>
          <a:prstGeom prst="rect">
            <a:avLst/>
          </a:prstGeom>
          <a:noFill/>
          <a:ln/>
        </p:spPr>
        <p:txBody>
          <a:bodyPr wrap="square" lIns="0" tIns="0" rIns="0" bIns="0" rtlCol="0" anchor="ctr"/>
          <a:lstStyle/>
          <a:p>
            <a:pPr indent="0" marL="0">
              <a:buNone/>
            </a:pPr>
            <a:r>
              <a:rPr lang="en-US" sz="1000" dirty="0">
                <a:solidFill>
                  <a:srgbClr val="0B1A12"/>
                </a:solidFill>
                <a:latin typeface="Courier New" pitchFamily="34" charset="0"/>
                <a:ea typeface="Courier New" pitchFamily="34" charset="-122"/>
                <a:cs typeface="Courier New" pitchFamily="34" charset="-120"/>
              </a:rPr>
              <a:t>W2</a:t>
            </a:r>
            <a:endParaRPr lang="en-US" sz="1000" dirty="0"/>
          </a:p>
        </p:txBody>
      </p:sp>
      <p:sp>
        <p:nvSpPr>
          <p:cNvPr id="32" name="Text 29"/>
          <p:cNvSpPr txBox="1"/>
          <p:nvPr/>
        </p:nvSpPr>
        <p:spPr>
          <a:xfrm>
            <a:off x="9006840" y="2862072"/>
            <a:ext cx="1188720" cy="493776"/>
          </a:xfrm>
          <a:prstGeom prst="rect">
            <a:avLst/>
          </a:prstGeom>
          <a:noFill/>
          <a:ln/>
        </p:spPr>
        <p:txBody>
          <a:bodyPr wrap="square" lIns="0" tIns="0" rIns="0" bIns="0" rtlCol="0" anchor="ctr"/>
          <a:lstStyle/>
          <a:p>
            <a:pPr indent="0" marL="0">
              <a:buNone/>
            </a:pPr>
            <a:r>
              <a:rPr lang="en-US" sz="1000" dirty="0">
                <a:solidFill>
                  <a:srgbClr val="0B1A12"/>
                </a:solidFill>
                <a:latin typeface="Courier New" pitchFamily="34" charset="0"/>
                <a:ea typeface="Courier New" pitchFamily="34" charset="-122"/>
                <a:cs typeface="Courier New" pitchFamily="34" charset="-120"/>
              </a:rPr>
              <a:t>-0.135041</a:t>
            </a:r>
            <a:endParaRPr lang="en-US" sz="1000" dirty="0"/>
          </a:p>
        </p:txBody>
      </p:sp>
      <p:sp>
        <p:nvSpPr>
          <p:cNvPr id="33" name="Text 30"/>
          <p:cNvSpPr txBox="1"/>
          <p:nvPr/>
        </p:nvSpPr>
        <p:spPr>
          <a:xfrm>
            <a:off x="10378440" y="2862072"/>
            <a:ext cx="1097280" cy="493776"/>
          </a:xfrm>
          <a:prstGeom prst="rect">
            <a:avLst/>
          </a:prstGeom>
          <a:noFill/>
          <a:ln/>
        </p:spPr>
        <p:txBody>
          <a:bodyPr wrap="square" lIns="0" tIns="0" rIns="0" bIns="0" rtlCol="0" anchor="ctr"/>
          <a:lstStyle/>
          <a:p>
            <a:pPr indent="0" marL="0">
              <a:buNone/>
            </a:pPr>
            <a:r>
              <a:rPr lang="en-US" sz="1000" dirty="0">
                <a:solidFill>
                  <a:srgbClr val="0B1A12"/>
                </a:solidFill>
                <a:latin typeface="Courier New" pitchFamily="34" charset="0"/>
                <a:ea typeface="Courier New" pitchFamily="34" charset="-122"/>
                <a:cs typeface="Courier New" pitchFamily="34" charset="-120"/>
              </a:rPr>
              <a:t>-0.135041</a:t>
            </a:r>
            <a:endParaRPr lang="en-US" sz="1000" dirty="0"/>
          </a:p>
        </p:txBody>
      </p:sp>
      <p:sp>
        <p:nvSpPr>
          <p:cNvPr id="34" name="Shape 31"/>
          <p:cNvSpPr/>
          <p:nvPr/>
        </p:nvSpPr>
        <p:spPr>
          <a:xfrm>
            <a:off x="640080" y="5048250"/>
            <a:ext cx="10911535" cy="1078230"/>
          </a:xfrm>
          <a:prstGeom prst="roundRect">
            <a:avLst>
              <a:gd name="adj" fmla="val 10177"/>
            </a:avLst>
          </a:prstGeom>
          <a:solidFill>
            <a:srgbClr val="FFEBDD"/>
          </a:solidFill>
          <a:ln w="12700">
            <a:solidFill>
              <a:srgbClr val="FFEBDD"/>
            </a:solidFill>
            <a:prstDash val="solid"/>
          </a:ln>
        </p:spPr>
      </p:sp>
      <p:sp>
        <p:nvSpPr>
          <p:cNvPr id="35" name="Text 32"/>
          <p:cNvSpPr txBox="1"/>
          <p:nvPr/>
        </p:nvSpPr>
        <p:spPr>
          <a:xfrm>
            <a:off x="914400" y="5048250"/>
            <a:ext cx="10362895" cy="107823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Backpropagation é fácil de errar (um transpose trocado, um sinal). Toda implementação nova deve ser conferida contra a derivada numérica, como na aula 03. É a “prova real” do gradiente.</a:t>
            </a:r>
            <a:endParaRPr lang="en-US" sz="1400" dirty="0"/>
          </a:p>
        </p:txBody>
      </p:sp>
      <p:sp>
        <p:nvSpPr>
          <p:cNvPr id="36" name="Text 33"/>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7" name="Text 34"/>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AJUSTES DO TREINO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 taxa de aprendizado α, de novo</a:t>
            </a:r>
            <a:endParaRPr lang="en-US" sz="3000" dirty="0"/>
          </a:p>
        </p:txBody>
      </p:sp>
      <p:sp>
        <p:nvSpPr>
          <p:cNvPr id="6" name="Shape 3"/>
          <p:cNvSpPr/>
          <p:nvPr/>
        </p:nvSpPr>
        <p:spPr>
          <a:xfrm>
            <a:off x="640080" y="1783080"/>
            <a:ext cx="7040880"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1645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α</a:t>
            </a:r>
            <a:endParaRPr lang="en-US" sz="1300" dirty="0"/>
          </a:p>
        </p:txBody>
      </p:sp>
      <p:sp>
        <p:nvSpPr>
          <p:cNvPr id="8" name="Text 5"/>
          <p:cNvSpPr txBox="1"/>
          <p:nvPr/>
        </p:nvSpPr>
        <p:spPr>
          <a:xfrm>
            <a:off x="2578608" y="1783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Perda final (3000 épocas)</a:t>
            </a:r>
            <a:endParaRPr lang="en-US" sz="1300" dirty="0"/>
          </a:p>
        </p:txBody>
      </p:sp>
      <p:sp>
        <p:nvSpPr>
          <p:cNvPr id="9" name="Text 6"/>
          <p:cNvSpPr txBox="1"/>
          <p:nvPr/>
        </p:nvSpPr>
        <p:spPr>
          <a:xfrm>
            <a:off x="5504688" y="178308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Acertos</a:t>
            </a:r>
            <a:endParaRPr lang="en-US" sz="1300" dirty="0"/>
          </a:p>
        </p:txBody>
      </p:sp>
      <p:sp>
        <p:nvSpPr>
          <p:cNvPr id="10" name="Shape 7"/>
          <p:cNvSpPr/>
          <p:nvPr/>
        </p:nvSpPr>
        <p:spPr>
          <a:xfrm>
            <a:off x="640080" y="2313432"/>
            <a:ext cx="7040880" cy="475488"/>
          </a:xfrm>
          <a:prstGeom prst="roundRect">
            <a:avLst>
              <a:gd name="adj" fmla="val 15385"/>
            </a:avLst>
          </a:prstGeom>
          <a:solidFill>
            <a:srgbClr val="F1F6F3"/>
          </a:solidFill>
          <a:ln w="12700">
            <a:solidFill>
              <a:srgbClr val="F1F6F3"/>
            </a:solidFill>
            <a:prstDash val="solid"/>
          </a:ln>
        </p:spPr>
      </p:sp>
      <p:sp>
        <p:nvSpPr>
          <p:cNvPr id="11" name="Text 8"/>
          <p:cNvSpPr txBox="1"/>
          <p:nvPr/>
        </p:nvSpPr>
        <p:spPr>
          <a:xfrm>
            <a:off x="749808" y="2313432"/>
            <a:ext cx="16459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0.01</a:t>
            </a:r>
            <a:endParaRPr lang="en-US" sz="1200" dirty="0"/>
          </a:p>
        </p:txBody>
      </p:sp>
      <p:sp>
        <p:nvSpPr>
          <p:cNvPr id="12" name="Text 9"/>
          <p:cNvSpPr txBox="1"/>
          <p:nvPr/>
        </p:nvSpPr>
        <p:spPr>
          <a:xfrm>
            <a:off x="2578608" y="2313432"/>
            <a:ext cx="274320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0.6933</a:t>
            </a:r>
            <a:endParaRPr lang="en-US" sz="1200" dirty="0"/>
          </a:p>
        </p:txBody>
      </p:sp>
      <p:sp>
        <p:nvSpPr>
          <p:cNvPr id="13" name="Text 10"/>
          <p:cNvSpPr txBox="1"/>
          <p:nvPr/>
        </p:nvSpPr>
        <p:spPr>
          <a:xfrm>
            <a:off x="5504688" y="2313432"/>
            <a:ext cx="21031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3 de 4</a:t>
            </a:r>
            <a:endParaRPr lang="en-US" sz="1200" dirty="0"/>
          </a:p>
        </p:txBody>
      </p:sp>
      <p:sp>
        <p:nvSpPr>
          <p:cNvPr id="14" name="Shape 11"/>
          <p:cNvSpPr/>
          <p:nvPr/>
        </p:nvSpPr>
        <p:spPr>
          <a:xfrm>
            <a:off x="640080" y="2843784"/>
            <a:ext cx="7040880" cy="475488"/>
          </a:xfrm>
          <a:prstGeom prst="roundRect">
            <a:avLst>
              <a:gd name="adj" fmla="val 15385"/>
            </a:avLst>
          </a:prstGeom>
          <a:solidFill>
            <a:srgbClr val="E6EEE9"/>
          </a:solidFill>
          <a:ln w="12700">
            <a:solidFill>
              <a:srgbClr val="E6EEE9"/>
            </a:solidFill>
            <a:prstDash val="solid"/>
          </a:ln>
        </p:spPr>
      </p:sp>
      <p:sp>
        <p:nvSpPr>
          <p:cNvPr id="15" name="Text 12"/>
          <p:cNvSpPr txBox="1"/>
          <p:nvPr/>
        </p:nvSpPr>
        <p:spPr>
          <a:xfrm>
            <a:off x="749808" y="2843784"/>
            <a:ext cx="16459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0.1</a:t>
            </a:r>
            <a:endParaRPr lang="en-US" sz="1200" dirty="0"/>
          </a:p>
        </p:txBody>
      </p:sp>
      <p:sp>
        <p:nvSpPr>
          <p:cNvPr id="16" name="Text 13"/>
          <p:cNvSpPr txBox="1"/>
          <p:nvPr/>
        </p:nvSpPr>
        <p:spPr>
          <a:xfrm>
            <a:off x="2578608" y="2843784"/>
            <a:ext cx="274320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0.5489</a:t>
            </a:r>
            <a:endParaRPr lang="en-US" sz="1200" dirty="0"/>
          </a:p>
        </p:txBody>
      </p:sp>
      <p:sp>
        <p:nvSpPr>
          <p:cNvPr id="17" name="Text 14"/>
          <p:cNvSpPr txBox="1"/>
          <p:nvPr/>
        </p:nvSpPr>
        <p:spPr>
          <a:xfrm>
            <a:off x="5504688" y="2843784"/>
            <a:ext cx="21031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3 de 4</a:t>
            </a:r>
            <a:endParaRPr lang="en-US" sz="1200" dirty="0"/>
          </a:p>
        </p:txBody>
      </p:sp>
      <p:sp>
        <p:nvSpPr>
          <p:cNvPr id="18" name="Shape 15"/>
          <p:cNvSpPr/>
          <p:nvPr/>
        </p:nvSpPr>
        <p:spPr>
          <a:xfrm>
            <a:off x="640080" y="3374136"/>
            <a:ext cx="7040880" cy="475488"/>
          </a:xfrm>
          <a:prstGeom prst="roundRect">
            <a:avLst>
              <a:gd name="adj" fmla="val 15385"/>
            </a:avLst>
          </a:prstGeom>
          <a:solidFill>
            <a:srgbClr val="F1F6F3"/>
          </a:solidFill>
          <a:ln w="12700">
            <a:solidFill>
              <a:srgbClr val="F1F6F3"/>
            </a:solidFill>
            <a:prstDash val="solid"/>
          </a:ln>
        </p:spPr>
      </p:sp>
      <p:sp>
        <p:nvSpPr>
          <p:cNvPr id="19" name="Text 16"/>
          <p:cNvSpPr txBox="1"/>
          <p:nvPr/>
        </p:nvSpPr>
        <p:spPr>
          <a:xfrm>
            <a:off x="749808" y="3374136"/>
            <a:ext cx="16459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0.5</a:t>
            </a:r>
            <a:endParaRPr lang="en-US" sz="1200" dirty="0"/>
          </a:p>
        </p:txBody>
      </p:sp>
      <p:sp>
        <p:nvSpPr>
          <p:cNvPr id="20" name="Text 17"/>
          <p:cNvSpPr txBox="1"/>
          <p:nvPr/>
        </p:nvSpPr>
        <p:spPr>
          <a:xfrm>
            <a:off x="2578608" y="3374136"/>
            <a:ext cx="274320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0.0105</a:t>
            </a:r>
            <a:endParaRPr lang="en-US" sz="1200" dirty="0"/>
          </a:p>
        </p:txBody>
      </p:sp>
      <p:sp>
        <p:nvSpPr>
          <p:cNvPr id="21" name="Text 18"/>
          <p:cNvSpPr txBox="1"/>
          <p:nvPr/>
        </p:nvSpPr>
        <p:spPr>
          <a:xfrm>
            <a:off x="5504688" y="3374136"/>
            <a:ext cx="21031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4 de 4</a:t>
            </a:r>
            <a:endParaRPr lang="en-US" sz="1200" dirty="0"/>
          </a:p>
        </p:txBody>
      </p:sp>
      <p:sp>
        <p:nvSpPr>
          <p:cNvPr id="22" name="Shape 19"/>
          <p:cNvSpPr/>
          <p:nvPr/>
        </p:nvSpPr>
        <p:spPr>
          <a:xfrm>
            <a:off x="640080" y="3904488"/>
            <a:ext cx="7040880" cy="475488"/>
          </a:xfrm>
          <a:prstGeom prst="roundRect">
            <a:avLst>
              <a:gd name="adj" fmla="val 15385"/>
            </a:avLst>
          </a:prstGeom>
          <a:solidFill>
            <a:srgbClr val="FFEBDD"/>
          </a:solidFill>
          <a:ln w="12700">
            <a:solidFill>
              <a:srgbClr val="FFEBDD"/>
            </a:solidFill>
            <a:prstDash val="solid"/>
          </a:ln>
        </p:spPr>
      </p:sp>
      <p:sp>
        <p:nvSpPr>
          <p:cNvPr id="23" name="Text 20"/>
          <p:cNvSpPr txBox="1"/>
          <p:nvPr/>
        </p:nvSpPr>
        <p:spPr>
          <a:xfrm>
            <a:off x="749808" y="3904488"/>
            <a:ext cx="16459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1.0</a:t>
            </a:r>
            <a:endParaRPr lang="en-US" sz="1200" dirty="0"/>
          </a:p>
        </p:txBody>
      </p:sp>
      <p:sp>
        <p:nvSpPr>
          <p:cNvPr id="24" name="Text 21"/>
          <p:cNvSpPr txBox="1"/>
          <p:nvPr/>
        </p:nvSpPr>
        <p:spPr>
          <a:xfrm>
            <a:off x="2578608" y="3904488"/>
            <a:ext cx="274320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0.0043</a:t>
            </a:r>
            <a:endParaRPr lang="en-US" sz="1200" dirty="0"/>
          </a:p>
        </p:txBody>
      </p:sp>
      <p:sp>
        <p:nvSpPr>
          <p:cNvPr id="25" name="Text 22"/>
          <p:cNvSpPr txBox="1"/>
          <p:nvPr/>
        </p:nvSpPr>
        <p:spPr>
          <a:xfrm>
            <a:off x="5504688" y="3904488"/>
            <a:ext cx="21031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4 de 4</a:t>
            </a:r>
            <a:endParaRPr lang="en-US" sz="1200" dirty="0"/>
          </a:p>
        </p:txBody>
      </p:sp>
      <p:sp>
        <p:nvSpPr>
          <p:cNvPr id="26" name="Shape 23"/>
          <p:cNvSpPr/>
          <p:nvPr/>
        </p:nvSpPr>
        <p:spPr>
          <a:xfrm>
            <a:off x="640080" y="4434840"/>
            <a:ext cx="7040880" cy="475488"/>
          </a:xfrm>
          <a:prstGeom prst="roundRect">
            <a:avLst>
              <a:gd name="adj" fmla="val 15385"/>
            </a:avLst>
          </a:prstGeom>
          <a:solidFill>
            <a:srgbClr val="F1F6F3"/>
          </a:solidFill>
          <a:ln w="12700">
            <a:solidFill>
              <a:srgbClr val="F1F6F3"/>
            </a:solidFill>
            <a:prstDash val="solid"/>
          </a:ln>
        </p:spPr>
      </p:sp>
      <p:sp>
        <p:nvSpPr>
          <p:cNvPr id="27" name="Text 24"/>
          <p:cNvSpPr txBox="1"/>
          <p:nvPr/>
        </p:nvSpPr>
        <p:spPr>
          <a:xfrm>
            <a:off x="749808" y="4434840"/>
            <a:ext cx="16459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5.0</a:t>
            </a:r>
            <a:endParaRPr lang="en-US" sz="1200" dirty="0"/>
          </a:p>
        </p:txBody>
      </p:sp>
      <p:sp>
        <p:nvSpPr>
          <p:cNvPr id="28" name="Text 25"/>
          <p:cNvSpPr txBox="1"/>
          <p:nvPr/>
        </p:nvSpPr>
        <p:spPr>
          <a:xfrm>
            <a:off x="2578608" y="4434840"/>
            <a:ext cx="274320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0.0005</a:t>
            </a:r>
            <a:endParaRPr lang="en-US" sz="1200" dirty="0"/>
          </a:p>
        </p:txBody>
      </p:sp>
      <p:sp>
        <p:nvSpPr>
          <p:cNvPr id="29" name="Text 26"/>
          <p:cNvSpPr txBox="1"/>
          <p:nvPr/>
        </p:nvSpPr>
        <p:spPr>
          <a:xfrm>
            <a:off x="5504688" y="4434840"/>
            <a:ext cx="2103120" cy="475488"/>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4 de 4</a:t>
            </a:r>
            <a:endParaRPr lang="en-US" sz="1200" dirty="0"/>
          </a:p>
        </p:txBody>
      </p:sp>
      <p:sp>
        <p:nvSpPr>
          <p:cNvPr id="30" name="Shape 27"/>
          <p:cNvSpPr/>
          <p:nvPr/>
        </p:nvSpPr>
        <p:spPr>
          <a:xfrm>
            <a:off x="7955280" y="1783080"/>
            <a:ext cx="3593592" cy="2057400"/>
          </a:xfrm>
          <a:prstGeom prst="roundRect">
            <a:avLst>
              <a:gd name="adj" fmla="val 5333"/>
            </a:avLst>
          </a:prstGeom>
          <a:solidFill>
            <a:srgbClr val="F1F6F3"/>
          </a:solidFill>
          <a:ln w="12700">
            <a:solidFill>
              <a:srgbClr val="F1F6F3"/>
            </a:solidFill>
            <a:prstDash val="solid"/>
          </a:ln>
        </p:spPr>
      </p:sp>
      <p:sp>
        <p:nvSpPr>
          <p:cNvPr id="31" name="Text 28"/>
          <p:cNvSpPr txBox="1"/>
          <p:nvPr/>
        </p:nvSpPr>
        <p:spPr>
          <a:xfrm>
            <a:off x="8138160" y="1874520"/>
            <a:ext cx="3200400" cy="411480"/>
          </a:xfrm>
          <a:prstGeom prst="rect">
            <a:avLst/>
          </a:prstGeom>
          <a:noFill/>
          <a:ln/>
        </p:spPr>
        <p:txBody>
          <a:bodyPr wrap="square" lIns="0" tIns="0" rIns="0" bIns="0" rtlCol="0" anchor="ctr"/>
          <a:lstStyle/>
          <a:p>
            <a:pPr indent="0" marL="0">
              <a:buNone/>
            </a:pPr>
            <a:r>
              <a:rPr lang="en-US" sz="1500" b="1" dirty="0">
                <a:solidFill>
                  <a:srgbClr val="066B47"/>
                </a:solidFill>
                <a:latin typeface="Cambria" pitchFamily="34" charset="0"/>
                <a:ea typeface="Cambria" pitchFamily="34" charset="-122"/>
                <a:cs typeface="Cambria" pitchFamily="34" charset="-120"/>
              </a:rPr>
              <a:t>α pequeno</a:t>
            </a:r>
            <a:endParaRPr lang="en-US" sz="1500" dirty="0"/>
          </a:p>
        </p:txBody>
      </p:sp>
      <p:sp>
        <p:nvSpPr>
          <p:cNvPr id="32" name="Text 29"/>
          <p:cNvSpPr txBox="1"/>
          <p:nvPr/>
        </p:nvSpPr>
        <p:spPr>
          <a:xfrm>
            <a:off x="8138160" y="2331720"/>
            <a:ext cx="3246120" cy="146304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Aprende devagar: com 0,01, em 3000 épocas a perda mal saiu de 0,69. Precisaria de muito mais épocas.</a:t>
            </a:r>
            <a:endParaRPr lang="en-US" sz="1300" dirty="0"/>
          </a:p>
        </p:txBody>
      </p:sp>
      <p:sp>
        <p:nvSpPr>
          <p:cNvPr id="33" name="Shape 30"/>
          <p:cNvSpPr/>
          <p:nvPr/>
        </p:nvSpPr>
        <p:spPr>
          <a:xfrm>
            <a:off x="7955280" y="3977640"/>
            <a:ext cx="3593592" cy="2057400"/>
          </a:xfrm>
          <a:prstGeom prst="roundRect">
            <a:avLst>
              <a:gd name="adj" fmla="val 5333"/>
            </a:avLst>
          </a:prstGeom>
          <a:solidFill>
            <a:srgbClr val="FFEBDD"/>
          </a:solidFill>
          <a:ln w="12700">
            <a:solidFill>
              <a:srgbClr val="FFEBDD"/>
            </a:solidFill>
            <a:prstDash val="solid"/>
          </a:ln>
        </p:spPr>
      </p:sp>
      <p:sp>
        <p:nvSpPr>
          <p:cNvPr id="34" name="Text 31"/>
          <p:cNvSpPr txBox="1"/>
          <p:nvPr/>
        </p:nvSpPr>
        <p:spPr>
          <a:xfrm>
            <a:off x="8138160" y="4069080"/>
            <a:ext cx="3200400" cy="411480"/>
          </a:xfrm>
          <a:prstGeom prst="rect">
            <a:avLst/>
          </a:prstGeom>
          <a:noFill/>
          <a:ln/>
        </p:spPr>
        <p:txBody>
          <a:bodyPr wrap="square" lIns="0" tIns="0" rIns="0" bIns="0" rtlCol="0" anchor="ctr"/>
          <a:lstStyle/>
          <a:p>
            <a:pPr indent="0" marL="0">
              <a:buNone/>
            </a:pPr>
            <a:r>
              <a:rPr lang="en-US" sz="1500" b="1" dirty="0">
                <a:solidFill>
                  <a:srgbClr val="B34700"/>
                </a:solidFill>
                <a:latin typeface="Cambria" pitchFamily="34" charset="0"/>
                <a:ea typeface="Cambria" pitchFamily="34" charset="-122"/>
                <a:cs typeface="Cambria" pitchFamily="34" charset="-120"/>
              </a:rPr>
              <a:t>α grande</a:t>
            </a:r>
            <a:endParaRPr lang="en-US" sz="1500" dirty="0"/>
          </a:p>
        </p:txBody>
      </p:sp>
      <p:sp>
        <p:nvSpPr>
          <p:cNvPr id="35" name="Text 32"/>
          <p:cNvSpPr txBox="1"/>
          <p:nvPr/>
        </p:nvSpPr>
        <p:spPr>
          <a:xfrm>
            <a:off x="8138160" y="4526280"/>
            <a:ext cx="3246120" cy="146304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Aqui até 5,0 funcionou, num problema minúsculo. Em redes reais, α alto costuma fazer a perda oscilar ou explodir.</a:t>
            </a:r>
            <a:endParaRPr lang="en-US" sz="1300" dirty="0"/>
          </a:p>
        </p:txBody>
      </p:sp>
      <p:sp>
        <p:nvSpPr>
          <p:cNvPr id="36" name="Shape 33"/>
          <p:cNvSpPr/>
          <p:nvPr/>
        </p:nvSpPr>
        <p:spPr>
          <a:xfrm>
            <a:off x="640080" y="5120640"/>
            <a:ext cx="7040880" cy="1005840"/>
          </a:xfrm>
          <a:prstGeom prst="roundRect">
            <a:avLst>
              <a:gd name="adj" fmla="val 10909"/>
            </a:avLst>
          </a:prstGeom>
          <a:solidFill>
            <a:srgbClr val="FFEBDD"/>
          </a:solidFill>
          <a:ln w="12700">
            <a:solidFill>
              <a:srgbClr val="FFEBDD"/>
            </a:solidFill>
            <a:prstDash val="solid"/>
          </a:ln>
        </p:spPr>
      </p:sp>
      <p:sp>
        <p:nvSpPr>
          <p:cNvPr id="37" name="Text 34"/>
          <p:cNvSpPr txBox="1"/>
          <p:nvPr/>
        </p:nvSpPr>
        <p:spPr>
          <a:xfrm>
            <a:off x="914400" y="5120640"/>
            <a:ext cx="6492240" cy="100584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Sempre acompanhe a curva de perda. α é o hiperparâmetro mais importante do treino (aula 09).</a:t>
            </a:r>
            <a:endParaRPr lang="en-US" sz="1400" dirty="0"/>
          </a:p>
        </p:txBody>
      </p:sp>
      <p:sp>
        <p:nvSpPr>
          <p:cNvPr id="38" name="Text 35"/>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9" name="Text 36"/>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AJUSTES DO TREINO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Por que não inicializar os pesos com zero</a:t>
            </a:r>
            <a:endParaRPr lang="en-US" sz="3000" dirty="0"/>
          </a:p>
        </p:txBody>
      </p:sp>
      <p:sp>
        <p:nvSpPr>
          <p:cNvPr id="6" name="Shape 3"/>
          <p:cNvSpPr/>
          <p:nvPr/>
        </p:nvSpPr>
        <p:spPr>
          <a:xfrm>
            <a:off x="640080" y="1783080"/>
            <a:ext cx="6949440" cy="2198370"/>
          </a:xfrm>
          <a:prstGeom prst="roundRect">
            <a:avLst>
              <a:gd name="adj" fmla="val 4991"/>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mlp_inicio.py (resumido)</a:t>
            </a:r>
            <a:endParaRPr lang="en-US" sz="1100" dirty="0"/>
          </a:p>
        </p:txBody>
      </p:sp>
      <p:sp>
        <p:nvSpPr>
          <p:cNvPr id="11" name="Text 8"/>
          <p:cNvSpPr txBox="1"/>
          <p:nvPr/>
        </p:nvSpPr>
        <p:spPr>
          <a:xfrm>
            <a:off x="914400" y="22860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h0</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treinar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zeros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9D5C"/>
                </a:solidFill>
                <a:latin typeface="Courier New" pitchFamily="34" charset="0"/>
                <a:ea typeface="Courier New" pitchFamily="34" charset="-122"/>
                <a:cs typeface="Courier New" pitchFamily="34" charset="-120"/>
              </a:rPr>
              <a:t>True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epocas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3000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s0</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forward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ravel</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"zeros: perda"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4</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291465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"W1 colunas iguais?"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allclose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"W1"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"W1"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treinar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zeros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9D5C"/>
                </a:solidFill>
                <a:latin typeface="Courier New" pitchFamily="34" charset="0"/>
                <a:ea typeface="Courier New" pitchFamily="34" charset="-122"/>
                <a:cs typeface="Courier New" pitchFamily="34" charset="-120"/>
              </a:rPr>
              <a:t>False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epocas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3000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3337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s1</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forward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ravel</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Text 14"/>
          <p:cNvSpPr txBox="1"/>
          <p:nvPr/>
        </p:nvSpPr>
        <p:spPr>
          <a:xfrm>
            <a:off x="914400" y="354330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"aleatoria: perda"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4</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s1</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8" name="Shape 15"/>
          <p:cNvSpPr/>
          <p:nvPr/>
        </p:nvSpPr>
        <p:spPr>
          <a:xfrm>
            <a:off x="640080" y="4164330"/>
            <a:ext cx="6949440" cy="457200"/>
          </a:xfrm>
          <a:prstGeom prst="roundRect">
            <a:avLst>
              <a:gd name="adj" fmla="val 20000"/>
            </a:avLst>
          </a:prstGeom>
          <a:solidFill>
            <a:srgbClr val="0F2A1D"/>
          </a:solidFill>
          <a:ln w="12700">
            <a:solidFill>
              <a:srgbClr val="0F2A1D"/>
            </a:solidFill>
            <a:prstDash val="solid"/>
          </a:ln>
        </p:spPr>
      </p:sp>
      <p:sp>
        <p:nvSpPr>
          <p:cNvPr id="19" name="Text 16"/>
          <p:cNvSpPr txBox="1"/>
          <p:nvPr/>
        </p:nvSpPr>
        <p:spPr>
          <a:xfrm>
            <a:off x="749808" y="4164330"/>
            <a:ext cx="25603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Inicialização</a:t>
            </a:r>
            <a:endParaRPr lang="en-US" sz="1200" dirty="0"/>
          </a:p>
        </p:txBody>
      </p:sp>
      <p:sp>
        <p:nvSpPr>
          <p:cNvPr id="20" name="Text 17"/>
          <p:cNvSpPr txBox="1"/>
          <p:nvPr/>
        </p:nvSpPr>
        <p:spPr>
          <a:xfrm>
            <a:off x="3493008" y="4164330"/>
            <a:ext cx="20116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Perda final</a:t>
            </a:r>
            <a:endParaRPr lang="en-US" sz="1200" dirty="0"/>
          </a:p>
        </p:txBody>
      </p:sp>
      <p:sp>
        <p:nvSpPr>
          <p:cNvPr id="21" name="Text 18"/>
          <p:cNvSpPr txBox="1"/>
          <p:nvPr/>
        </p:nvSpPr>
        <p:spPr>
          <a:xfrm>
            <a:off x="5687568" y="4164330"/>
            <a:ext cx="18288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Saídas</a:t>
            </a:r>
            <a:endParaRPr lang="en-US" sz="1200" dirty="0"/>
          </a:p>
        </p:txBody>
      </p:sp>
      <p:sp>
        <p:nvSpPr>
          <p:cNvPr id="22" name="Shape 19"/>
          <p:cNvSpPr/>
          <p:nvPr/>
        </p:nvSpPr>
        <p:spPr>
          <a:xfrm>
            <a:off x="640080" y="4694682"/>
            <a:ext cx="6949440" cy="402336"/>
          </a:xfrm>
          <a:prstGeom prst="roundRect">
            <a:avLst>
              <a:gd name="adj" fmla="val 18182"/>
            </a:avLst>
          </a:prstGeom>
          <a:solidFill>
            <a:srgbClr val="FFEBDD"/>
          </a:solidFill>
          <a:ln w="12700">
            <a:solidFill>
              <a:srgbClr val="FFEBDD"/>
            </a:solidFill>
            <a:prstDash val="solid"/>
          </a:ln>
        </p:spPr>
      </p:sp>
      <p:sp>
        <p:nvSpPr>
          <p:cNvPr id="23" name="Text 20"/>
          <p:cNvSpPr txBox="1"/>
          <p:nvPr/>
        </p:nvSpPr>
        <p:spPr>
          <a:xfrm>
            <a:off x="749808" y="4694682"/>
            <a:ext cx="2560320" cy="40233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zeros</a:t>
            </a:r>
            <a:endParaRPr lang="en-US" sz="1200" dirty="0"/>
          </a:p>
        </p:txBody>
      </p:sp>
      <p:sp>
        <p:nvSpPr>
          <p:cNvPr id="24" name="Text 21"/>
          <p:cNvSpPr txBox="1"/>
          <p:nvPr/>
        </p:nvSpPr>
        <p:spPr>
          <a:xfrm>
            <a:off x="3493008" y="4694682"/>
            <a:ext cx="2011680" cy="40233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0.6931</a:t>
            </a:r>
            <a:endParaRPr lang="en-US" sz="1100" dirty="0"/>
          </a:p>
        </p:txBody>
      </p:sp>
      <p:sp>
        <p:nvSpPr>
          <p:cNvPr id="25" name="Text 22"/>
          <p:cNvSpPr txBox="1"/>
          <p:nvPr/>
        </p:nvSpPr>
        <p:spPr>
          <a:xfrm>
            <a:off x="5687568" y="4694682"/>
            <a:ext cx="1828800" cy="40233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0.5 0.5 0.5 0.5</a:t>
            </a:r>
            <a:endParaRPr lang="en-US" sz="1100" dirty="0"/>
          </a:p>
        </p:txBody>
      </p:sp>
      <p:sp>
        <p:nvSpPr>
          <p:cNvPr id="26" name="Shape 23"/>
          <p:cNvSpPr/>
          <p:nvPr/>
        </p:nvSpPr>
        <p:spPr>
          <a:xfrm>
            <a:off x="640080" y="5151882"/>
            <a:ext cx="6949440" cy="402336"/>
          </a:xfrm>
          <a:prstGeom prst="roundRect">
            <a:avLst>
              <a:gd name="adj" fmla="val 18182"/>
            </a:avLst>
          </a:prstGeom>
          <a:solidFill>
            <a:srgbClr val="E6EEE9"/>
          </a:solidFill>
          <a:ln w="12700">
            <a:solidFill>
              <a:srgbClr val="E6EEE9"/>
            </a:solidFill>
            <a:prstDash val="solid"/>
          </a:ln>
        </p:spPr>
      </p:sp>
      <p:sp>
        <p:nvSpPr>
          <p:cNvPr id="27" name="Text 24"/>
          <p:cNvSpPr txBox="1"/>
          <p:nvPr/>
        </p:nvSpPr>
        <p:spPr>
          <a:xfrm>
            <a:off x="749808" y="5151882"/>
            <a:ext cx="2560320" cy="40233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aleatória</a:t>
            </a:r>
            <a:endParaRPr lang="en-US" sz="1200" dirty="0"/>
          </a:p>
        </p:txBody>
      </p:sp>
      <p:sp>
        <p:nvSpPr>
          <p:cNvPr id="28" name="Text 25"/>
          <p:cNvSpPr txBox="1"/>
          <p:nvPr/>
        </p:nvSpPr>
        <p:spPr>
          <a:xfrm>
            <a:off x="3493008" y="5151882"/>
            <a:ext cx="2011680" cy="40233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0.0043</a:t>
            </a:r>
            <a:endParaRPr lang="en-US" sz="1100" dirty="0"/>
          </a:p>
        </p:txBody>
      </p:sp>
      <p:sp>
        <p:nvSpPr>
          <p:cNvPr id="29" name="Text 26"/>
          <p:cNvSpPr txBox="1"/>
          <p:nvPr/>
        </p:nvSpPr>
        <p:spPr>
          <a:xfrm>
            <a:off x="5687568" y="5151882"/>
            <a:ext cx="1828800" cy="40233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0.0 0.995 0.995 0.008</a:t>
            </a:r>
            <a:endParaRPr lang="en-US" sz="1100" dirty="0"/>
          </a:p>
        </p:txBody>
      </p:sp>
      <p:sp>
        <p:nvSpPr>
          <p:cNvPr id="30" name="Shape 27"/>
          <p:cNvSpPr/>
          <p:nvPr/>
        </p:nvSpPr>
        <p:spPr>
          <a:xfrm>
            <a:off x="7799832" y="1783080"/>
            <a:ext cx="3749040" cy="4343400"/>
          </a:xfrm>
          <a:prstGeom prst="roundRect">
            <a:avLst>
              <a:gd name="adj" fmla="val 2927"/>
            </a:avLst>
          </a:prstGeom>
          <a:solidFill>
            <a:srgbClr val="FBE3EC"/>
          </a:solidFill>
          <a:ln w="12700">
            <a:solidFill>
              <a:srgbClr val="FBE3EC"/>
            </a:solidFill>
            <a:prstDash val="solid"/>
          </a:ln>
        </p:spPr>
      </p:sp>
      <p:sp>
        <p:nvSpPr>
          <p:cNvPr id="31" name="Text 28"/>
          <p:cNvSpPr txBox="1"/>
          <p:nvPr/>
        </p:nvSpPr>
        <p:spPr>
          <a:xfrm>
            <a:off x="8001000" y="1874520"/>
            <a:ext cx="3383280" cy="457200"/>
          </a:xfrm>
          <a:prstGeom prst="rect">
            <a:avLst/>
          </a:prstGeom>
          <a:noFill/>
          <a:ln/>
        </p:spPr>
        <p:txBody>
          <a:bodyPr wrap="square" lIns="0" tIns="0" rIns="0" bIns="0" rtlCol="0" anchor="ctr"/>
          <a:lstStyle/>
          <a:p>
            <a:pPr indent="0" marL="0">
              <a:buNone/>
            </a:pPr>
            <a:r>
              <a:rPr lang="en-US" sz="1600" b="1" dirty="0">
                <a:solidFill>
                  <a:srgbClr val="A31548"/>
                </a:solidFill>
                <a:latin typeface="Cambria" pitchFamily="34" charset="0"/>
                <a:ea typeface="Cambria" pitchFamily="34" charset="-122"/>
                <a:cs typeface="Cambria" pitchFamily="34" charset="-120"/>
              </a:rPr>
              <a:t>O problema da simetria</a:t>
            </a:r>
            <a:endParaRPr lang="en-US" sz="1600" dirty="0"/>
          </a:p>
        </p:txBody>
      </p:sp>
      <p:sp>
        <p:nvSpPr>
          <p:cNvPr id="32" name="Text 29"/>
          <p:cNvSpPr txBox="1"/>
          <p:nvPr/>
        </p:nvSpPr>
        <p:spPr>
          <a:xfrm>
            <a:off x="8001000" y="2377440"/>
            <a:ext cx="3383280" cy="3657600"/>
          </a:xfrm>
          <a:prstGeom prst="rect">
            <a:avLst/>
          </a:prstGeom>
          <a:noFill/>
          <a:ln/>
        </p:spPr>
        <p:txBody>
          <a:bodyPr wrap="square" lIns="0" tIns="0" rIns="0" bIns="0" rtlCol="0" anchor="t"/>
          <a:lstStyle/>
          <a:p>
            <a:pPr indent="0" marL="0">
              <a:buNone/>
            </a:pPr>
            <a:r>
              <a:rPr lang="en-US" sz="1300" dirty="0">
                <a:solidFill>
                  <a:srgbClr val="0B1A12"/>
                </a:solidFill>
                <a:latin typeface="Calibri" pitchFamily="34" charset="0"/>
                <a:ea typeface="Calibri" pitchFamily="34" charset="-122"/>
                <a:cs typeface="Calibri" pitchFamily="34" charset="-120"/>
              </a:rPr>
              <a:t>Com todos os pesos iguais, todos os neurônios ocultos calculam o mesmo e recebem o mesmo gradiente: continuam iguais para sempre. A rede se comporta como se tivesse um só neurônio oculto, e a perda empaca em 0,6931 (= ln 2, o chute de 50%). Pesos aleatórios quebram a simetria.</a:t>
            </a:r>
            <a:endParaRPr lang="en-US" sz="1300" dirty="0"/>
          </a:p>
        </p:txBody>
      </p:sp>
      <p:sp>
        <p:nvSpPr>
          <p:cNvPr id="33" name="Text 3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4" name="Text 3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AJUSTES DO TREINO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Quantos neurônios ocultos?</a:t>
            </a:r>
            <a:endParaRPr lang="en-US" sz="3000" dirty="0"/>
          </a:p>
        </p:txBody>
      </p:sp>
      <p:sp>
        <p:nvSpPr>
          <p:cNvPr id="6" name="Shape 3"/>
          <p:cNvSpPr/>
          <p:nvPr/>
        </p:nvSpPr>
        <p:spPr>
          <a:xfrm>
            <a:off x="640080" y="1783080"/>
            <a:ext cx="6400800" cy="1988820"/>
          </a:xfrm>
          <a:prstGeom prst="roundRect">
            <a:avLst>
              <a:gd name="adj" fmla="val 551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30352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mlp_sementes.py (resumido)</a:t>
            </a:r>
            <a:endParaRPr lang="en-US" sz="1100" dirty="0"/>
          </a:p>
        </p:txBody>
      </p:sp>
      <p:sp>
        <p:nvSpPr>
          <p:cNvPr id="11" name="Text 8"/>
          <p:cNvSpPr txBox="1"/>
          <p:nvPr/>
        </p:nvSpPr>
        <p:spPr>
          <a:xfrm>
            <a:off x="914400" y="2286000"/>
            <a:ext cx="5852160" cy="209550"/>
          </a:xfrm>
          <a:prstGeom prst="rect">
            <a:avLst/>
          </a:prstGeom>
          <a:noFill/>
          <a:ln/>
        </p:spPr>
        <p:txBody>
          <a:bodyPr wrap="none" lIns="0" tIns="0" rIns="0" bIns="0" rtlCol="0" anchor="ctr"/>
          <a:lstStyle/>
          <a:p>
            <a:pPr indent="0" marL="0">
              <a:buNone/>
            </a:pPr>
            <a:r>
              <a:rPr lang="en-US" sz="1100" dirty="0">
                <a:solidFill>
                  <a:srgbClr val="FF9D5C"/>
                </a:solidFill>
                <a:latin typeface="Courier New" pitchFamily="34" charset="0"/>
                <a:ea typeface="Courier New" pitchFamily="34" charset="-122"/>
                <a:cs typeface="Courier New" pitchFamily="34" charset="-120"/>
              </a:rPr>
              <a:t>for</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n_oc</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9D5C"/>
                </a:solidFill>
                <a:latin typeface="Courier New" pitchFamily="34" charset="0"/>
                <a:ea typeface="Courier New" pitchFamily="34" charset="-122"/>
                <a:cs typeface="Courier New" pitchFamily="34" charset="-120"/>
              </a:rPr>
              <a:t>in</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4</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585216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ok</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a:t>
            </a:r>
            <a:endParaRPr lang="en-US" sz="1100" dirty="0"/>
          </a:p>
        </p:txBody>
      </p:sp>
      <p:sp>
        <p:nvSpPr>
          <p:cNvPr id="13" name="Text 10"/>
          <p:cNvSpPr txBox="1"/>
          <p:nvPr/>
        </p:nvSpPr>
        <p:spPr>
          <a:xfrm>
            <a:off x="914400" y="2705100"/>
            <a:ext cx="585216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9D5C"/>
                </a:solidFill>
                <a:latin typeface="Courier New" pitchFamily="34" charset="0"/>
                <a:ea typeface="Courier New" pitchFamily="34" charset="-122"/>
                <a:cs typeface="Courier New" pitchFamily="34" charset="-120"/>
              </a:rPr>
              <a:t>for</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seed</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9D5C"/>
                </a:solidFill>
                <a:latin typeface="Courier New" pitchFamily="34" charset="0"/>
                <a:ea typeface="Courier New" pitchFamily="34" charset="-122"/>
                <a:cs typeface="Courier New" pitchFamily="34" charset="-120"/>
              </a:rPr>
              <a:t>in</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CC8FF"/>
                </a:solidFill>
                <a:latin typeface="Courier New" pitchFamily="34" charset="0"/>
                <a:ea typeface="Courier New" pitchFamily="34" charset="-122"/>
                <a:cs typeface="Courier New" pitchFamily="34" charset="-120"/>
              </a:rPr>
              <a:t>range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2914650"/>
            <a:ext cx="585216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treinar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n_oc</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n_oc</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epocas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3000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seed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seed</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585216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ok</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forward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&gt;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all</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333750"/>
            <a:ext cx="585216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n_oc</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7EE2B0"/>
                </a:solidFill>
                <a:latin typeface="Courier New" pitchFamily="34" charset="0"/>
                <a:ea typeface="Courier New" pitchFamily="34" charset="-122"/>
                <a:cs typeface="Courier New" pitchFamily="34" charset="-120"/>
              </a:rPr>
              <a:t>"neuronios ocultos:"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ok</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7EE2B0"/>
                </a:solidFill>
                <a:latin typeface="Courier New" pitchFamily="34" charset="0"/>
                <a:ea typeface="Courier New" pitchFamily="34" charset="-122"/>
                <a:cs typeface="Courier New" pitchFamily="34" charset="-120"/>
              </a:rPr>
              <a:t>"de 20 sementes"</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Shape 14"/>
          <p:cNvSpPr/>
          <p:nvPr/>
        </p:nvSpPr>
        <p:spPr>
          <a:xfrm>
            <a:off x="7342632" y="1783080"/>
            <a:ext cx="4206240" cy="457200"/>
          </a:xfrm>
          <a:prstGeom prst="roundRect">
            <a:avLst>
              <a:gd name="adj" fmla="val 20000"/>
            </a:avLst>
          </a:prstGeom>
          <a:solidFill>
            <a:srgbClr val="0F2A1D"/>
          </a:solidFill>
          <a:ln w="12700">
            <a:solidFill>
              <a:srgbClr val="0F2A1D"/>
            </a:solidFill>
            <a:prstDash val="solid"/>
          </a:ln>
        </p:spPr>
      </p:sp>
      <p:sp>
        <p:nvSpPr>
          <p:cNvPr id="18" name="Text 15"/>
          <p:cNvSpPr txBox="1"/>
          <p:nvPr/>
        </p:nvSpPr>
        <p:spPr>
          <a:xfrm>
            <a:off x="7452360" y="1783080"/>
            <a:ext cx="20116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Ocultos</a:t>
            </a:r>
            <a:endParaRPr lang="en-US" sz="1300" dirty="0"/>
          </a:p>
        </p:txBody>
      </p:sp>
      <p:sp>
        <p:nvSpPr>
          <p:cNvPr id="19" name="Text 16"/>
          <p:cNvSpPr txBox="1"/>
          <p:nvPr/>
        </p:nvSpPr>
        <p:spPr>
          <a:xfrm>
            <a:off x="9646920" y="1783080"/>
            <a:ext cx="18288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Resolveu o XOR</a:t>
            </a:r>
            <a:endParaRPr lang="en-US" sz="1300" dirty="0"/>
          </a:p>
        </p:txBody>
      </p:sp>
      <p:sp>
        <p:nvSpPr>
          <p:cNvPr id="20" name="Shape 17"/>
          <p:cNvSpPr/>
          <p:nvPr/>
        </p:nvSpPr>
        <p:spPr>
          <a:xfrm>
            <a:off x="7342632" y="2313432"/>
            <a:ext cx="4206240" cy="493776"/>
          </a:xfrm>
          <a:prstGeom prst="roundRect">
            <a:avLst>
              <a:gd name="adj" fmla="val 14815"/>
            </a:avLst>
          </a:prstGeom>
          <a:solidFill>
            <a:srgbClr val="F1F6F3"/>
          </a:solidFill>
          <a:ln w="12700">
            <a:solidFill>
              <a:srgbClr val="F1F6F3"/>
            </a:solidFill>
            <a:prstDash val="solid"/>
          </a:ln>
        </p:spPr>
      </p:sp>
      <p:sp>
        <p:nvSpPr>
          <p:cNvPr id="21" name="Text 18"/>
          <p:cNvSpPr txBox="1"/>
          <p:nvPr/>
        </p:nvSpPr>
        <p:spPr>
          <a:xfrm>
            <a:off x="7452360" y="2313432"/>
            <a:ext cx="2011680" cy="49377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2" name="Text 19"/>
          <p:cNvSpPr txBox="1"/>
          <p:nvPr/>
        </p:nvSpPr>
        <p:spPr>
          <a:xfrm>
            <a:off x="9646920" y="2313432"/>
            <a:ext cx="1828800" cy="49377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 de 20</a:t>
            </a:r>
            <a:endParaRPr lang="en-US" sz="1200" dirty="0"/>
          </a:p>
        </p:txBody>
      </p:sp>
      <p:sp>
        <p:nvSpPr>
          <p:cNvPr id="23" name="Shape 20"/>
          <p:cNvSpPr/>
          <p:nvPr/>
        </p:nvSpPr>
        <p:spPr>
          <a:xfrm>
            <a:off x="7342632" y="2862072"/>
            <a:ext cx="4206240" cy="493776"/>
          </a:xfrm>
          <a:prstGeom prst="roundRect">
            <a:avLst>
              <a:gd name="adj" fmla="val 14815"/>
            </a:avLst>
          </a:prstGeom>
          <a:solidFill>
            <a:srgbClr val="E6EEE9"/>
          </a:solidFill>
          <a:ln w="12700">
            <a:solidFill>
              <a:srgbClr val="E6EEE9"/>
            </a:solidFill>
            <a:prstDash val="solid"/>
          </a:ln>
        </p:spPr>
      </p:sp>
      <p:sp>
        <p:nvSpPr>
          <p:cNvPr id="24" name="Text 21"/>
          <p:cNvSpPr txBox="1"/>
          <p:nvPr/>
        </p:nvSpPr>
        <p:spPr>
          <a:xfrm>
            <a:off x="7452360" y="2862072"/>
            <a:ext cx="2011680" cy="49377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2</a:t>
            </a:r>
            <a:endParaRPr lang="en-US" sz="1200" dirty="0"/>
          </a:p>
        </p:txBody>
      </p:sp>
      <p:sp>
        <p:nvSpPr>
          <p:cNvPr id="25" name="Text 22"/>
          <p:cNvSpPr txBox="1"/>
          <p:nvPr/>
        </p:nvSpPr>
        <p:spPr>
          <a:xfrm>
            <a:off x="9646920" y="2862072"/>
            <a:ext cx="1828800" cy="49377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17 de 20</a:t>
            </a:r>
            <a:endParaRPr lang="en-US" sz="1200" dirty="0"/>
          </a:p>
        </p:txBody>
      </p:sp>
      <p:sp>
        <p:nvSpPr>
          <p:cNvPr id="26" name="Shape 23"/>
          <p:cNvSpPr/>
          <p:nvPr/>
        </p:nvSpPr>
        <p:spPr>
          <a:xfrm>
            <a:off x="7342632" y="3410712"/>
            <a:ext cx="4206240" cy="493776"/>
          </a:xfrm>
          <a:prstGeom prst="roundRect">
            <a:avLst>
              <a:gd name="adj" fmla="val 14815"/>
            </a:avLst>
          </a:prstGeom>
          <a:solidFill>
            <a:srgbClr val="F1F6F3"/>
          </a:solidFill>
          <a:ln w="12700">
            <a:solidFill>
              <a:srgbClr val="F1F6F3"/>
            </a:solidFill>
            <a:prstDash val="solid"/>
          </a:ln>
        </p:spPr>
      </p:sp>
      <p:sp>
        <p:nvSpPr>
          <p:cNvPr id="27" name="Text 24"/>
          <p:cNvSpPr txBox="1"/>
          <p:nvPr/>
        </p:nvSpPr>
        <p:spPr>
          <a:xfrm>
            <a:off x="7452360" y="3410712"/>
            <a:ext cx="2011680" cy="49377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4</a:t>
            </a:r>
            <a:endParaRPr lang="en-US" sz="1200" dirty="0"/>
          </a:p>
        </p:txBody>
      </p:sp>
      <p:sp>
        <p:nvSpPr>
          <p:cNvPr id="28" name="Text 25"/>
          <p:cNvSpPr txBox="1"/>
          <p:nvPr/>
        </p:nvSpPr>
        <p:spPr>
          <a:xfrm>
            <a:off x="9646920" y="3410712"/>
            <a:ext cx="1828800" cy="49377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20 de 20</a:t>
            </a:r>
            <a:endParaRPr lang="en-US" sz="1200" dirty="0"/>
          </a:p>
        </p:txBody>
      </p:sp>
      <p:sp>
        <p:nvSpPr>
          <p:cNvPr id="29" name="Shape 26"/>
          <p:cNvSpPr/>
          <p:nvPr/>
        </p:nvSpPr>
        <p:spPr>
          <a:xfrm>
            <a:off x="640080" y="4000500"/>
            <a:ext cx="10911535" cy="2125980"/>
          </a:xfrm>
          <a:prstGeom prst="roundRect">
            <a:avLst>
              <a:gd name="adj" fmla="val 5161"/>
            </a:avLst>
          </a:prstGeom>
          <a:solidFill>
            <a:srgbClr val="FFEBDD"/>
          </a:solidFill>
          <a:ln w="12700">
            <a:solidFill>
              <a:srgbClr val="FFEBDD"/>
            </a:solidFill>
            <a:prstDash val="solid"/>
          </a:ln>
        </p:spPr>
      </p:sp>
      <p:sp>
        <p:nvSpPr>
          <p:cNvPr id="30" name="Text 27"/>
          <p:cNvSpPr txBox="1"/>
          <p:nvPr/>
        </p:nvSpPr>
        <p:spPr>
          <a:xfrm>
            <a:off x="914400" y="4000500"/>
            <a:ext cx="10362895" cy="212598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Um neurônio oculto não basta (o XOR precisa de duas retas). Com dois, depende da sorte da inicialização (17 de 20). Com quatro, as 20 sementes resolveram. Neurônios “de sobra” dão folga ao treino, mas custam mais parâmetros e podem causar overfitting.</a:t>
            </a:r>
            <a:endParaRPr lang="en-US" sz="1400" dirty="0"/>
          </a:p>
        </p:txBody>
      </p:sp>
      <p:sp>
        <p:nvSpPr>
          <p:cNvPr id="31" name="Text 28"/>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2" name="Text 29"/>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AJUSTES DO TREINO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Época, lote e otimizadores</a:t>
            </a:r>
            <a:endParaRPr lang="en-US" sz="3000" dirty="0"/>
          </a:p>
        </p:txBody>
      </p:sp>
      <p:sp>
        <p:nvSpPr>
          <p:cNvPr id="6" name="Shape 3"/>
          <p:cNvSpPr/>
          <p:nvPr/>
        </p:nvSpPr>
        <p:spPr>
          <a:xfrm>
            <a:off x="640080" y="1783080"/>
            <a:ext cx="3493008" cy="2651760"/>
          </a:xfrm>
          <a:prstGeom prst="roundRect">
            <a:avLst>
              <a:gd name="adj" fmla="val 4138"/>
            </a:avLst>
          </a:prstGeom>
          <a:solidFill>
            <a:srgbClr val="F1F6F3"/>
          </a:solidFill>
          <a:ln w="12700">
            <a:solidFill>
              <a:srgbClr val="F1F6F3"/>
            </a:solidFill>
            <a:prstDash val="solid"/>
          </a:ln>
        </p:spPr>
      </p:sp>
      <p:sp>
        <p:nvSpPr>
          <p:cNvPr id="7" name="Text 4"/>
          <p:cNvSpPr txBox="1"/>
          <p:nvPr/>
        </p:nvSpPr>
        <p:spPr>
          <a:xfrm>
            <a:off x="868680"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Época</a:t>
            </a:r>
            <a:endParaRPr lang="en-US" sz="1600" dirty="0"/>
          </a:p>
        </p:txBody>
      </p:sp>
      <p:sp>
        <p:nvSpPr>
          <p:cNvPr id="8" name="Text 5"/>
          <p:cNvSpPr txBox="1"/>
          <p:nvPr/>
        </p:nvSpPr>
        <p:spPr>
          <a:xfrm>
            <a:off x="868680" y="2651760"/>
            <a:ext cx="3063240" cy="16916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Uma passada completa pelos dados de treino. Treinar costuma levar dezenas ou milhares de épocas.</a:t>
            </a:r>
            <a:endParaRPr lang="en-US" sz="1400" dirty="0"/>
          </a:p>
        </p:txBody>
      </p:sp>
      <p:sp>
        <p:nvSpPr>
          <p:cNvPr id="9" name="Shape 6"/>
          <p:cNvSpPr/>
          <p:nvPr/>
        </p:nvSpPr>
        <p:spPr>
          <a:xfrm>
            <a:off x="4347972" y="1783080"/>
            <a:ext cx="3493008" cy="2651760"/>
          </a:xfrm>
          <a:prstGeom prst="roundRect">
            <a:avLst>
              <a:gd name="adj" fmla="val 4138"/>
            </a:avLst>
          </a:prstGeom>
          <a:solidFill>
            <a:srgbClr val="F1F6F3"/>
          </a:solidFill>
          <a:ln w="12700">
            <a:solidFill>
              <a:srgbClr val="F1F6F3"/>
            </a:solidFill>
            <a:prstDash val="solid"/>
          </a:ln>
        </p:spPr>
      </p:sp>
      <p:sp>
        <p:nvSpPr>
          <p:cNvPr id="10" name="Text 7"/>
          <p:cNvSpPr txBox="1"/>
          <p:nvPr/>
        </p:nvSpPr>
        <p:spPr>
          <a:xfrm>
            <a:off x="4576572"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Lote (batch)</a:t>
            </a:r>
            <a:endParaRPr lang="en-US" sz="1600" dirty="0"/>
          </a:p>
        </p:txBody>
      </p:sp>
      <p:sp>
        <p:nvSpPr>
          <p:cNvPr id="11" name="Text 8"/>
          <p:cNvSpPr txBox="1"/>
          <p:nvPr/>
        </p:nvSpPr>
        <p:spPr>
          <a:xfrm>
            <a:off x="4576572" y="2651760"/>
            <a:ext cx="3063240" cy="16916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Quantos exemplos entram em cada atualização. Nós usamos todos (lote completo). Mini-lotes (ex.: 32) são mais rápidos e ruidosos.</a:t>
            </a:r>
            <a:endParaRPr lang="en-US" sz="1400" dirty="0"/>
          </a:p>
        </p:txBody>
      </p:sp>
      <p:sp>
        <p:nvSpPr>
          <p:cNvPr id="12" name="Shape 9"/>
          <p:cNvSpPr/>
          <p:nvPr/>
        </p:nvSpPr>
        <p:spPr>
          <a:xfrm>
            <a:off x="8055864" y="1783080"/>
            <a:ext cx="3493008" cy="2651760"/>
          </a:xfrm>
          <a:prstGeom prst="roundRect">
            <a:avLst>
              <a:gd name="adj" fmla="val 4138"/>
            </a:avLst>
          </a:prstGeom>
          <a:solidFill>
            <a:srgbClr val="F1F6F3"/>
          </a:solidFill>
          <a:ln w="12700">
            <a:solidFill>
              <a:srgbClr val="F1F6F3"/>
            </a:solidFill>
            <a:prstDash val="solid"/>
          </a:ln>
        </p:spPr>
      </p:sp>
      <p:sp>
        <p:nvSpPr>
          <p:cNvPr id="13" name="Text 10"/>
          <p:cNvSpPr txBox="1"/>
          <p:nvPr/>
        </p:nvSpPr>
        <p:spPr>
          <a:xfrm>
            <a:off x="8284464"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Otimizador</a:t>
            </a:r>
            <a:endParaRPr lang="en-US" sz="1600" dirty="0"/>
          </a:p>
        </p:txBody>
      </p:sp>
      <p:sp>
        <p:nvSpPr>
          <p:cNvPr id="14" name="Text 11"/>
          <p:cNvSpPr txBox="1"/>
          <p:nvPr/>
        </p:nvSpPr>
        <p:spPr>
          <a:xfrm>
            <a:off x="8284464" y="2651760"/>
            <a:ext cx="3063240" cy="16916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Descida do gradiente simples (SGD), ou variantes como Adam, que adaptam o passo de cada parâmetro. O scikit-learn usa Adam por padrão.</a:t>
            </a:r>
            <a:endParaRPr lang="en-US" sz="1400" dirty="0"/>
          </a:p>
        </p:txBody>
      </p:sp>
      <p:sp>
        <p:nvSpPr>
          <p:cNvPr id="15" name="Shape 12"/>
          <p:cNvSpPr/>
          <p:nvPr/>
        </p:nvSpPr>
        <p:spPr>
          <a:xfrm>
            <a:off x="640080" y="4663440"/>
            <a:ext cx="10911535" cy="1463040"/>
          </a:xfrm>
          <a:prstGeom prst="roundRect">
            <a:avLst>
              <a:gd name="adj" fmla="val 7500"/>
            </a:avLst>
          </a:prstGeom>
          <a:solidFill>
            <a:srgbClr val="FFEBDD"/>
          </a:solidFill>
          <a:ln w="12700">
            <a:solidFill>
              <a:srgbClr val="FFEBDD"/>
            </a:solidFill>
            <a:prstDash val="solid"/>
          </a:ln>
        </p:spPr>
      </p:sp>
      <p:sp>
        <p:nvSpPr>
          <p:cNvPr id="16" name="Text 13"/>
          <p:cNvSpPr txBox="1"/>
          <p:nvPr/>
        </p:nvSpPr>
        <p:spPr>
          <a:xfrm>
            <a:off x="914400" y="4663440"/>
            <a:ext cx="10362895" cy="146304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Em redes grandes, usar todos os dados a cada passo é caro demais. Por isso o padrão é o mini-lote: embaralhar os dados, cortar em lotes e atualizar a cada lote. Uma época tem n/lote atualizações.</a:t>
            </a:r>
            <a:endParaRPr lang="en-US" sz="1400" dirty="0"/>
          </a:p>
        </p:txBody>
      </p:sp>
      <p:sp>
        <p:nvSpPr>
          <p:cNvPr id="17" name="Text 14"/>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18" name="Text 15"/>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SCIKIT-LEARN</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MLPClassifier: uma rede em quatro linhas</a:t>
            </a:r>
            <a:endParaRPr lang="en-US" sz="3000" dirty="0"/>
          </a:p>
        </p:txBody>
      </p:sp>
      <p:sp>
        <p:nvSpPr>
          <p:cNvPr id="6" name="Shape 3"/>
          <p:cNvSpPr/>
          <p:nvPr/>
        </p:nvSpPr>
        <p:spPr>
          <a:xfrm>
            <a:off x="640080" y="1783080"/>
            <a:ext cx="6949440" cy="2617470"/>
          </a:xfrm>
          <a:prstGeom prst="roundRect">
            <a:avLst>
              <a:gd name="adj" fmla="val 4192"/>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moons_mlp.py (imports omitidos)</a:t>
            </a:r>
            <a:endParaRPr lang="en-US" sz="1100" dirty="0"/>
          </a:p>
        </p:txBody>
      </p:sp>
      <p:sp>
        <p:nvSpPr>
          <p:cNvPr id="11" name="Text 8"/>
          <p:cNvSpPr txBox="1"/>
          <p:nvPr/>
        </p:nvSpPr>
        <p:spPr>
          <a:xfrm>
            <a:off x="914400" y="22860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make_moons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n_samples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400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noise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0.15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train_test_split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test_size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stratify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31242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linear</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LogisticRegression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3337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MLPClassifier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hidden_layer_sizes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16</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16</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max_iter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2000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5433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Text 14"/>
          <p:cNvSpPr txBox="1"/>
          <p:nvPr/>
        </p:nvSpPr>
        <p:spPr>
          <a:xfrm>
            <a:off x="914400" y="375285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"regressao logistica:"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linear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8" name="Text 15"/>
          <p:cNvSpPr txBox="1"/>
          <p:nvPr/>
        </p:nvSpPr>
        <p:spPr>
          <a:xfrm>
            <a:off x="914400" y="396240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"rede neural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9" name="Shape 16"/>
          <p:cNvSpPr/>
          <p:nvPr/>
        </p:nvSpPr>
        <p:spPr>
          <a:xfrm>
            <a:off x="7799832" y="1783080"/>
            <a:ext cx="1828800" cy="1828800"/>
          </a:xfrm>
          <a:prstGeom prst="roundRect">
            <a:avLst>
              <a:gd name="adj" fmla="val 6000"/>
            </a:avLst>
          </a:prstGeom>
          <a:solidFill>
            <a:srgbClr val="FBE3EC"/>
          </a:solidFill>
          <a:ln w="12700">
            <a:solidFill>
              <a:srgbClr val="FBE3EC"/>
            </a:solidFill>
            <a:prstDash val="solid"/>
          </a:ln>
        </p:spPr>
      </p:sp>
      <p:sp>
        <p:nvSpPr>
          <p:cNvPr id="20" name="Text 17"/>
          <p:cNvSpPr txBox="1"/>
          <p:nvPr/>
        </p:nvSpPr>
        <p:spPr>
          <a:xfrm>
            <a:off x="7799832" y="1892808"/>
            <a:ext cx="1828800" cy="1005840"/>
          </a:xfrm>
          <a:prstGeom prst="rect">
            <a:avLst/>
          </a:prstGeom>
          <a:noFill/>
          <a:ln/>
        </p:spPr>
        <p:txBody>
          <a:bodyPr wrap="square" lIns="0" tIns="0" rIns="0" bIns="0" rtlCol="0" anchor="ctr"/>
          <a:lstStyle/>
          <a:p>
            <a:pPr algn="ctr" indent="0" marL="0">
              <a:buNone/>
            </a:pPr>
            <a:r>
              <a:rPr lang="en-US" sz="4000" b="1" dirty="0">
                <a:solidFill>
                  <a:srgbClr val="A31548"/>
                </a:solidFill>
                <a:latin typeface="Cambria" pitchFamily="34" charset="0"/>
                <a:ea typeface="Cambria" pitchFamily="34" charset="-122"/>
                <a:cs typeface="Cambria" pitchFamily="34" charset="-120"/>
              </a:rPr>
              <a:t>0,908</a:t>
            </a:r>
            <a:endParaRPr lang="en-US" sz="4000" dirty="0"/>
          </a:p>
        </p:txBody>
      </p:sp>
      <p:sp>
        <p:nvSpPr>
          <p:cNvPr id="21" name="Text 18"/>
          <p:cNvSpPr txBox="1"/>
          <p:nvPr/>
        </p:nvSpPr>
        <p:spPr>
          <a:xfrm>
            <a:off x="7936992" y="2880360"/>
            <a:ext cx="1554480" cy="658368"/>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regressão logística</a:t>
            </a:r>
            <a:endParaRPr lang="en-US" sz="1400" dirty="0"/>
          </a:p>
        </p:txBody>
      </p:sp>
      <p:sp>
        <p:nvSpPr>
          <p:cNvPr id="22" name="Shape 19"/>
          <p:cNvSpPr/>
          <p:nvPr/>
        </p:nvSpPr>
        <p:spPr>
          <a:xfrm>
            <a:off x="9720072" y="1783080"/>
            <a:ext cx="1828800" cy="1828800"/>
          </a:xfrm>
          <a:prstGeom prst="roundRect">
            <a:avLst>
              <a:gd name="adj" fmla="val 6000"/>
            </a:avLst>
          </a:prstGeom>
          <a:solidFill>
            <a:srgbClr val="F1F6F3"/>
          </a:solidFill>
          <a:ln w="12700">
            <a:solidFill>
              <a:srgbClr val="F1F6F3"/>
            </a:solidFill>
            <a:prstDash val="solid"/>
          </a:ln>
        </p:spPr>
      </p:sp>
      <p:sp>
        <p:nvSpPr>
          <p:cNvPr id="23" name="Text 20"/>
          <p:cNvSpPr txBox="1"/>
          <p:nvPr/>
        </p:nvSpPr>
        <p:spPr>
          <a:xfrm>
            <a:off x="9720072" y="1892808"/>
            <a:ext cx="1828800" cy="1005840"/>
          </a:xfrm>
          <a:prstGeom prst="rect">
            <a:avLst/>
          </a:prstGeom>
          <a:noFill/>
          <a:ln/>
        </p:spPr>
        <p:txBody>
          <a:bodyPr wrap="square" lIns="0" tIns="0" rIns="0" bIns="0" rtlCol="0" anchor="ctr"/>
          <a:lstStyle/>
          <a:p>
            <a:pPr algn="ctr" indent="0" marL="0">
              <a:buNone/>
            </a:pPr>
            <a:r>
              <a:rPr lang="en-US" sz="4000" b="1" dirty="0">
                <a:solidFill>
                  <a:srgbClr val="066B47"/>
                </a:solidFill>
                <a:latin typeface="Cambria" pitchFamily="34" charset="0"/>
                <a:ea typeface="Cambria" pitchFamily="34" charset="-122"/>
                <a:cs typeface="Cambria" pitchFamily="34" charset="-120"/>
              </a:rPr>
              <a:t>0,983</a:t>
            </a:r>
            <a:endParaRPr lang="en-US" sz="4000" dirty="0"/>
          </a:p>
        </p:txBody>
      </p:sp>
      <p:sp>
        <p:nvSpPr>
          <p:cNvPr id="24" name="Text 21"/>
          <p:cNvSpPr txBox="1"/>
          <p:nvPr/>
        </p:nvSpPr>
        <p:spPr>
          <a:xfrm>
            <a:off x="9857232" y="2880360"/>
            <a:ext cx="1554480" cy="658368"/>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rede neural</a:t>
            </a:r>
            <a:endParaRPr lang="en-US" sz="1400" dirty="0"/>
          </a:p>
        </p:txBody>
      </p:sp>
      <p:sp>
        <p:nvSpPr>
          <p:cNvPr id="25" name="Shape 22"/>
          <p:cNvSpPr/>
          <p:nvPr/>
        </p:nvSpPr>
        <p:spPr>
          <a:xfrm>
            <a:off x="640080" y="4629150"/>
            <a:ext cx="10911535" cy="1497330"/>
          </a:xfrm>
          <a:prstGeom prst="roundRect">
            <a:avLst>
              <a:gd name="adj" fmla="val 7328"/>
            </a:avLst>
          </a:prstGeom>
          <a:solidFill>
            <a:srgbClr val="FFEBDD"/>
          </a:solidFill>
          <a:ln w="12700">
            <a:solidFill>
              <a:srgbClr val="FFEBDD"/>
            </a:solidFill>
            <a:prstDash val="solid"/>
          </a:ln>
        </p:spPr>
      </p:sp>
      <p:sp>
        <p:nvSpPr>
          <p:cNvPr id="26" name="Text 23"/>
          <p:cNvSpPr txBox="1"/>
          <p:nvPr/>
        </p:nvSpPr>
        <p:spPr>
          <a:xfrm>
            <a:off x="914400" y="4629150"/>
            <a:ext cx="10362895" cy="149733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As “luas” não se separam por uma reta. A regressão logística (fronteira linear) acerta 90,8%; a rede, com duas camadas ocultas de 16 neurônios, chega a 98,3%. Esta é a vantagem das camadas ocultas: fronteiras curvas.</a:t>
            </a:r>
            <a:endParaRPr lang="en-US" sz="1400" dirty="0"/>
          </a:p>
        </p:txBody>
      </p:sp>
      <p:sp>
        <p:nvSpPr>
          <p:cNvPr id="27" name="Text 24"/>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8" name="Text 25"/>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SCIKIT-LEARN</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Redes neurais exigem atributos na mesma escala</a:t>
            </a:r>
            <a:endParaRPr lang="en-US" sz="3000" dirty="0"/>
          </a:p>
        </p:txBody>
      </p:sp>
      <p:sp>
        <p:nvSpPr>
          <p:cNvPr id="6" name="Shape 3"/>
          <p:cNvSpPr/>
          <p:nvPr/>
        </p:nvSpPr>
        <p:spPr>
          <a:xfrm>
            <a:off x="640080" y="1783080"/>
            <a:ext cx="7223760" cy="1988820"/>
          </a:xfrm>
          <a:prstGeom prst="roundRect">
            <a:avLst>
              <a:gd name="adj" fmla="val 551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61264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mlp_cancer.py (imports omitidos)</a:t>
            </a:r>
            <a:endParaRPr lang="en-US" sz="1100" dirty="0"/>
          </a:p>
        </p:txBody>
      </p:sp>
      <p:sp>
        <p:nvSpPr>
          <p:cNvPr id="11" name="Text 8"/>
          <p:cNvSpPr txBox="1"/>
          <p:nvPr/>
        </p:nvSpPr>
        <p:spPr>
          <a:xfrm>
            <a:off x="914400" y="2286000"/>
            <a:ext cx="6675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sem</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MLPClassifier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hidden_layer_sizes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16</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max_iter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2000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6675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com</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make_pipeline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StandardScaler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6675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MLPClassifier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hidden_layer_sizes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16</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max_iter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2000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2914650"/>
            <a:ext cx="6675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667512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"sem escala:"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cross_val_score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sem</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cv</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cv</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mean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333750"/>
            <a:ext cx="667512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"com escala:"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cross_val_score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com</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cv</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cv</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mean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Shape 14"/>
          <p:cNvSpPr/>
          <p:nvPr/>
        </p:nvSpPr>
        <p:spPr>
          <a:xfrm>
            <a:off x="8074152" y="1783080"/>
            <a:ext cx="1645920" cy="1737360"/>
          </a:xfrm>
          <a:prstGeom prst="roundRect">
            <a:avLst>
              <a:gd name="adj" fmla="val 6667"/>
            </a:avLst>
          </a:prstGeom>
          <a:solidFill>
            <a:srgbClr val="FBE3EC"/>
          </a:solidFill>
          <a:ln w="12700">
            <a:solidFill>
              <a:srgbClr val="FBE3EC"/>
            </a:solidFill>
            <a:prstDash val="solid"/>
          </a:ln>
        </p:spPr>
      </p:sp>
      <p:sp>
        <p:nvSpPr>
          <p:cNvPr id="18" name="Text 15"/>
          <p:cNvSpPr txBox="1"/>
          <p:nvPr/>
        </p:nvSpPr>
        <p:spPr>
          <a:xfrm>
            <a:off x="8074152" y="1892808"/>
            <a:ext cx="1645920" cy="955548"/>
          </a:xfrm>
          <a:prstGeom prst="rect">
            <a:avLst/>
          </a:prstGeom>
          <a:noFill/>
          <a:ln/>
        </p:spPr>
        <p:txBody>
          <a:bodyPr wrap="square" lIns="0" tIns="0" rIns="0" bIns="0" rtlCol="0" anchor="ctr"/>
          <a:lstStyle/>
          <a:p>
            <a:pPr algn="ctr" indent="0" marL="0">
              <a:buNone/>
            </a:pPr>
            <a:r>
              <a:rPr lang="en-US" sz="4000" b="1" dirty="0">
                <a:solidFill>
                  <a:srgbClr val="A31548"/>
                </a:solidFill>
                <a:latin typeface="Cambria" pitchFamily="34" charset="0"/>
                <a:ea typeface="Cambria" pitchFamily="34" charset="-122"/>
                <a:cs typeface="Cambria" pitchFamily="34" charset="-120"/>
              </a:rPr>
              <a:t>0,935</a:t>
            </a:r>
            <a:endParaRPr lang="en-US" sz="4000" dirty="0"/>
          </a:p>
        </p:txBody>
      </p:sp>
      <p:sp>
        <p:nvSpPr>
          <p:cNvPr id="19" name="Text 16"/>
          <p:cNvSpPr txBox="1"/>
          <p:nvPr/>
        </p:nvSpPr>
        <p:spPr>
          <a:xfrm>
            <a:off x="8211312" y="2825496"/>
            <a:ext cx="1371600" cy="625450"/>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sem escala</a:t>
            </a:r>
            <a:endParaRPr lang="en-US" sz="1400" dirty="0"/>
          </a:p>
        </p:txBody>
      </p:sp>
      <p:sp>
        <p:nvSpPr>
          <p:cNvPr id="20" name="Shape 17"/>
          <p:cNvSpPr/>
          <p:nvPr/>
        </p:nvSpPr>
        <p:spPr>
          <a:xfrm>
            <a:off x="9857232" y="1783080"/>
            <a:ext cx="1691640" cy="1737360"/>
          </a:xfrm>
          <a:prstGeom prst="roundRect">
            <a:avLst>
              <a:gd name="adj" fmla="val 6486"/>
            </a:avLst>
          </a:prstGeom>
          <a:solidFill>
            <a:srgbClr val="F1F6F3"/>
          </a:solidFill>
          <a:ln w="12700">
            <a:solidFill>
              <a:srgbClr val="F1F6F3"/>
            </a:solidFill>
            <a:prstDash val="solid"/>
          </a:ln>
        </p:spPr>
      </p:sp>
      <p:sp>
        <p:nvSpPr>
          <p:cNvPr id="21" name="Text 18"/>
          <p:cNvSpPr txBox="1"/>
          <p:nvPr/>
        </p:nvSpPr>
        <p:spPr>
          <a:xfrm>
            <a:off x="9857232" y="1892808"/>
            <a:ext cx="1691640" cy="955548"/>
          </a:xfrm>
          <a:prstGeom prst="rect">
            <a:avLst/>
          </a:prstGeom>
          <a:noFill/>
          <a:ln/>
        </p:spPr>
        <p:txBody>
          <a:bodyPr wrap="square" lIns="0" tIns="0" rIns="0" bIns="0" rtlCol="0" anchor="ctr"/>
          <a:lstStyle/>
          <a:p>
            <a:pPr algn="ctr" indent="0" marL="0">
              <a:buNone/>
            </a:pPr>
            <a:r>
              <a:rPr lang="en-US" sz="4000" b="1" dirty="0">
                <a:solidFill>
                  <a:srgbClr val="066B47"/>
                </a:solidFill>
                <a:latin typeface="Cambria" pitchFamily="34" charset="0"/>
                <a:ea typeface="Cambria" pitchFamily="34" charset="-122"/>
                <a:cs typeface="Cambria" pitchFamily="34" charset="-120"/>
              </a:rPr>
              <a:t>0,975</a:t>
            </a:r>
            <a:endParaRPr lang="en-US" sz="4000" dirty="0"/>
          </a:p>
        </p:txBody>
      </p:sp>
      <p:sp>
        <p:nvSpPr>
          <p:cNvPr id="22" name="Text 19"/>
          <p:cNvSpPr txBox="1"/>
          <p:nvPr/>
        </p:nvSpPr>
        <p:spPr>
          <a:xfrm>
            <a:off x="9994392" y="2825496"/>
            <a:ext cx="1417320" cy="625450"/>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com escala</a:t>
            </a:r>
            <a:endParaRPr lang="en-US" sz="1400" dirty="0"/>
          </a:p>
        </p:txBody>
      </p:sp>
      <p:sp>
        <p:nvSpPr>
          <p:cNvPr id="23" name="Shape 20"/>
          <p:cNvSpPr/>
          <p:nvPr/>
        </p:nvSpPr>
        <p:spPr>
          <a:xfrm>
            <a:off x="640080" y="4000500"/>
            <a:ext cx="10911535" cy="2125980"/>
          </a:xfrm>
          <a:prstGeom prst="roundRect">
            <a:avLst>
              <a:gd name="adj" fmla="val 5161"/>
            </a:avLst>
          </a:prstGeom>
          <a:solidFill>
            <a:srgbClr val="FFEBDD"/>
          </a:solidFill>
          <a:ln w="12700">
            <a:solidFill>
              <a:srgbClr val="FFEBDD"/>
            </a:solidFill>
            <a:prstDash val="solid"/>
          </a:ln>
        </p:spPr>
      </p:sp>
      <p:sp>
        <p:nvSpPr>
          <p:cNvPr id="24" name="Text 21"/>
          <p:cNvSpPr txBox="1"/>
          <p:nvPr/>
        </p:nvSpPr>
        <p:spPr>
          <a:xfrm>
            <a:off x="914400" y="4000500"/>
            <a:ext cx="10362895" cy="212598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Câncer de mama, validação cruzada de 5 dobras. Atributos em escalas muito diferentes (área em centenas, suavidade em décimos) fazem os gradientes desiguais e o treino difícil. StandardScaler dentro do pipeline, como na aula 09, evita vazamento e melhora o resultado de 0,935 para 0,975.</a:t>
            </a:r>
            <a:endParaRPr lang="en-US" sz="1400" dirty="0"/>
          </a:p>
        </p:txBody>
      </p:sp>
      <p:sp>
        <p:nvSpPr>
          <p:cNvPr id="25" name="Text 22"/>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6" name="Text 23"/>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SCIKIT-LEARN</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A curva de perda do MLPClassifier</a:t>
            </a:r>
            <a:endParaRPr lang="en-US" sz="3000" dirty="0"/>
          </a:p>
        </p:txBody>
      </p:sp>
      <p:sp>
        <p:nvSpPr>
          <p:cNvPr id="6" name="Shape 3"/>
          <p:cNvSpPr/>
          <p:nvPr/>
        </p:nvSpPr>
        <p:spPr>
          <a:xfrm>
            <a:off x="640080" y="1783080"/>
            <a:ext cx="5303520" cy="2407920"/>
          </a:xfrm>
          <a:prstGeom prst="roundRect">
            <a:avLst>
              <a:gd name="adj" fmla="val 455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420624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curva_perda.py (resumido)</a:t>
            </a:r>
            <a:endParaRPr lang="en-US" sz="1100" dirty="0"/>
          </a:p>
        </p:txBody>
      </p:sp>
      <p:sp>
        <p:nvSpPr>
          <p:cNvPr id="11" name="Text 8"/>
          <p:cNvSpPr txBox="1"/>
          <p:nvPr/>
        </p:nvSpPr>
        <p:spPr>
          <a:xfrm>
            <a:off x="914400" y="2286000"/>
            <a:ext cx="47548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esc</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StandardScaler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47548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MLPClassifier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hidden_layer_sizes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16</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47548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max_iter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500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2914650"/>
            <a:ext cx="47548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esc</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transform</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47548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perdas</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loss_curve_</a:t>
            </a:r>
            <a:endParaRPr lang="en-US" sz="1100" dirty="0"/>
          </a:p>
        </p:txBody>
      </p:sp>
      <p:sp>
        <p:nvSpPr>
          <p:cNvPr id="16" name="Text 13"/>
          <p:cNvSpPr txBox="1"/>
          <p:nvPr/>
        </p:nvSpPr>
        <p:spPr>
          <a:xfrm>
            <a:off x="914400" y="3333750"/>
            <a:ext cx="475488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"iteracoes:"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n_iter_</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Text 14"/>
          <p:cNvSpPr txBox="1"/>
          <p:nvPr/>
        </p:nvSpPr>
        <p:spPr>
          <a:xfrm>
            <a:off x="914400" y="3543300"/>
            <a:ext cx="475488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"teste:"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8" name="Text 15"/>
          <p:cNvSpPr txBox="1"/>
          <p:nvPr/>
        </p:nvSpPr>
        <p:spPr>
          <a:xfrm>
            <a:off x="914400" y="3752850"/>
            <a:ext cx="475488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esc</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transform</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9" name="Shape 16"/>
          <p:cNvSpPr/>
          <p:nvPr/>
        </p:nvSpPr>
        <p:spPr>
          <a:xfrm>
            <a:off x="640080" y="4373880"/>
            <a:ext cx="5303520" cy="1752600"/>
          </a:xfrm>
          <a:prstGeom prst="roundRect">
            <a:avLst>
              <a:gd name="adj" fmla="val 6261"/>
            </a:avLst>
          </a:prstGeom>
          <a:solidFill>
            <a:srgbClr val="FFEBDD"/>
          </a:solidFill>
          <a:ln w="12700">
            <a:solidFill>
              <a:srgbClr val="FFEBDD"/>
            </a:solidFill>
            <a:prstDash val="solid"/>
          </a:ln>
        </p:spPr>
      </p:sp>
      <p:sp>
        <p:nvSpPr>
          <p:cNvPr id="20" name="Text 17"/>
          <p:cNvSpPr txBox="1"/>
          <p:nvPr/>
        </p:nvSpPr>
        <p:spPr>
          <a:xfrm>
            <a:off x="914400" y="4373880"/>
            <a:ext cx="4754880" cy="1752600"/>
          </a:xfrm>
          <a:prstGeom prst="rect">
            <a:avLst/>
          </a:prstGeom>
          <a:noFill/>
          <a:ln/>
        </p:spPr>
        <p:txBody>
          <a:bodyPr wrap="square" lIns="0" tIns="0" rIns="0" bIns="0" rtlCol="0" anchor="ctr"/>
          <a:lstStyle/>
          <a:p>
            <a:pPr indent="0" marL="0">
              <a:buNone/>
            </a:pPr>
            <a:r>
              <a:rPr lang="en-US" sz="1200" b="1" dirty="0">
                <a:solidFill>
                  <a:srgbClr val="0B1A12"/>
                </a:solidFill>
                <a:latin typeface="Calibri" pitchFamily="34" charset="0"/>
                <a:ea typeface="Calibri" pitchFamily="34" charset="-122"/>
                <a:cs typeface="Calibri" pitchFamily="34" charset="-120"/>
              </a:rPr>
              <a:t>360 iterações; perda de 1,008 até 0,046; teste 0,971. O treino parou sozinho quando a perda parou de melhorar (tol padrão).</a:t>
            </a:r>
            <a:endParaRPr lang="en-US" sz="1200" dirty="0"/>
          </a:p>
        </p:txBody>
      </p:sp>
      <p:sp>
        <p:nvSpPr>
          <p:cNvPr id="21" name="Shape 18"/>
          <p:cNvSpPr/>
          <p:nvPr/>
        </p:nvSpPr>
        <p:spPr>
          <a:xfrm>
            <a:off x="6217920" y="1783080"/>
            <a:ext cx="5330952" cy="4343400"/>
          </a:xfrm>
          <a:prstGeom prst="roundRect">
            <a:avLst>
              <a:gd name="adj" fmla="val 2526"/>
            </a:avLst>
          </a:prstGeom>
          <a:solidFill>
            <a:srgbClr val="F1F6F3"/>
          </a:solidFill>
          <a:ln w="12700">
            <a:solidFill>
              <a:srgbClr val="F1F6F3"/>
            </a:solidFill>
            <a:prstDash val="solid"/>
          </a:ln>
        </p:spPr>
      </p:sp>
      <p:graphicFrame>
        <p:nvGraphicFramePr>
          <p:cNvPr id="22" name="Chart 0" descr=""/>
          <p:cNvGraphicFramePr/>
          <p:nvPr/>
        </p:nvGraphicFramePr>
        <p:xfrm>
          <a:off x="6309360" y="1874520"/>
          <a:ext cx="5148072" cy="4160520"/>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4" name="Text 20"/>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AJUSTES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Hiperparâmetros: o tamanho da rede importa menos</a:t>
            </a:r>
            <a:endParaRPr lang="en-US" sz="3000" dirty="0"/>
          </a:p>
        </p:txBody>
      </p:sp>
      <p:sp>
        <p:nvSpPr>
          <p:cNvPr id="6" name="Shape 3"/>
          <p:cNvSpPr/>
          <p:nvPr/>
        </p:nvSpPr>
        <p:spPr>
          <a:xfrm>
            <a:off x="640080" y="1783080"/>
            <a:ext cx="5669280"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749808" y="1783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hidden_layer_sizes</a:t>
            </a:r>
            <a:endParaRPr lang="en-US" sz="1300" dirty="0"/>
          </a:p>
        </p:txBody>
      </p:sp>
      <p:sp>
        <p:nvSpPr>
          <p:cNvPr id="8" name="Text 5"/>
          <p:cNvSpPr txBox="1"/>
          <p:nvPr/>
        </p:nvSpPr>
        <p:spPr>
          <a:xfrm>
            <a:off x="3675888" y="1783080"/>
            <a:ext cx="25603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Acurácia (5 dobras)</a:t>
            </a:r>
            <a:endParaRPr lang="en-US" sz="1300" dirty="0"/>
          </a:p>
        </p:txBody>
      </p:sp>
      <p:sp>
        <p:nvSpPr>
          <p:cNvPr id="9" name="Shape 6"/>
          <p:cNvSpPr/>
          <p:nvPr/>
        </p:nvSpPr>
        <p:spPr>
          <a:xfrm>
            <a:off x="640080" y="2313432"/>
            <a:ext cx="5669280" cy="402336"/>
          </a:xfrm>
          <a:prstGeom prst="roundRect">
            <a:avLst>
              <a:gd name="adj" fmla="val 18182"/>
            </a:avLst>
          </a:prstGeom>
          <a:solidFill>
            <a:srgbClr val="F1F6F3"/>
          </a:solidFill>
          <a:ln w="12700">
            <a:solidFill>
              <a:srgbClr val="F1F6F3"/>
            </a:solidFill>
            <a:prstDash val="solid"/>
          </a:ln>
        </p:spPr>
      </p:sp>
      <p:sp>
        <p:nvSpPr>
          <p:cNvPr id="10" name="Text 7"/>
          <p:cNvSpPr txBox="1"/>
          <p:nvPr/>
        </p:nvSpPr>
        <p:spPr>
          <a:xfrm>
            <a:off x="749808" y="2313432"/>
            <a:ext cx="274320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11" name="Text 8"/>
          <p:cNvSpPr txBox="1"/>
          <p:nvPr/>
        </p:nvSpPr>
        <p:spPr>
          <a:xfrm>
            <a:off x="3675888" y="2313432"/>
            <a:ext cx="256032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0.974</a:t>
            </a:r>
            <a:endParaRPr lang="en-US" sz="1200" dirty="0"/>
          </a:p>
        </p:txBody>
      </p:sp>
      <p:sp>
        <p:nvSpPr>
          <p:cNvPr id="12" name="Shape 9"/>
          <p:cNvSpPr/>
          <p:nvPr/>
        </p:nvSpPr>
        <p:spPr>
          <a:xfrm>
            <a:off x="640080" y="2770632"/>
            <a:ext cx="5669280" cy="402336"/>
          </a:xfrm>
          <a:prstGeom prst="roundRect">
            <a:avLst>
              <a:gd name="adj" fmla="val 18182"/>
            </a:avLst>
          </a:prstGeom>
          <a:solidFill>
            <a:srgbClr val="E6EEE9"/>
          </a:solidFill>
          <a:ln w="12700">
            <a:solidFill>
              <a:srgbClr val="E6EEE9"/>
            </a:solidFill>
            <a:prstDash val="solid"/>
          </a:ln>
        </p:spPr>
      </p:sp>
      <p:sp>
        <p:nvSpPr>
          <p:cNvPr id="13" name="Text 10"/>
          <p:cNvSpPr txBox="1"/>
          <p:nvPr/>
        </p:nvSpPr>
        <p:spPr>
          <a:xfrm>
            <a:off x="749808" y="2770632"/>
            <a:ext cx="274320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(4,)</a:t>
            </a:r>
            <a:endParaRPr lang="en-US" sz="1200" dirty="0"/>
          </a:p>
        </p:txBody>
      </p:sp>
      <p:sp>
        <p:nvSpPr>
          <p:cNvPr id="14" name="Text 11"/>
          <p:cNvSpPr txBox="1"/>
          <p:nvPr/>
        </p:nvSpPr>
        <p:spPr>
          <a:xfrm>
            <a:off x="3675888" y="2770632"/>
            <a:ext cx="256032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0.977</a:t>
            </a:r>
            <a:endParaRPr lang="en-US" sz="1200" dirty="0"/>
          </a:p>
        </p:txBody>
      </p:sp>
      <p:sp>
        <p:nvSpPr>
          <p:cNvPr id="15" name="Shape 12"/>
          <p:cNvSpPr/>
          <p:nvPr/>
        </p:nvSpPr>
        <p:spPr>
          <a:xfrm>
            <a:off x="640080" y="3227832"/>
            <a:ext cx="5669280" cy="402336"/>
          </a:xfrm>
          <a:prstGeom prst="roundRect">
            <a:avLst>
              <a:gd name="adj" fmla="val 18182"/>
            </a:avLst>
          </a:prstGeom>
          <a:solidFill>
            <a:srgbClr val="F1F6F3"/>
          </a:solidFill>
          <a:ln w="12700">
            <a:solidFill>
              <a:srgbClr val="F1F6F3"/>
            </a:solidFill>
            <a:prstDash val="solid"/>
          </a:ln>
        </p:spPr>
      </p:sp>
      <p:sp>
        <p:nvSpPr>
          <p:cNvPr id="16" name="Text 13"/>
          <p:cNvSpPr txBox="1"/>
          <p:nvPr/>
        </p:nvSpPr>
        <p:spPr>
          <a:xfrm>
            <a:off x="749808" y="3227832"/>
            <a:ext cx="274320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(16,)</a:t>
            </a:r>
            <a:endParaRPr lang="en-US" sz="1200" dirty="0"/>
          </a:p>
        </p:txBody>
      </p:sp>
      <p:sp>
        <p:nvSpPr>
          <p:cNvPr id="17" name="Text 14"/>
          <p:cNvSpPr txBox="1"/>
          <p:nvPr/>
        </p:nvSpPr>
        <p:spPr>
          <a:xfrm>
            <a:off x="3675888" y="3227832"/>
            <a:ext cx="256032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0.975</a:t>
            </a:r>
            <a:endParaRPr lang="en-US" sz="1200" dirty="0"/>
          </a:p>
        </p:txBody>
      </p:sp>
      <p:sp>
        <p:nvSpPr>
          <p:cNvPr id="18" name="Shape 15"/>
          <p:cNvSpPr/>
          <p:nvPr/>
        </p:nvSpPr>
        <p:spPr>
          <a:xfrm>
            <a:off x="640080" y="3685032"/>
            <a:ext cx="5669280" cy="402336"/>
          </a:xfrm>
          <a:prstGeom prst="roundRect">
            <a:avLst>
              <a:gd name="adj" fmla="val 18182"/>
            </a:avLst>
          </a:prstGeom>
          <a:solidFill>
            <a:srgbClr val="E6EEE9"/>
          </a:solidFill>
          <a:ln w="12700">
            <a:solidFill>
              <a:srgbClr val="E6EEE9"/>
            </a:solidFill>
            <a:prstDash val="solid"/>
          </a:ln>
        </p:spPr>
      </p:sp>
      <p:sp>
        <p:nvSpPr>
          <p:cNvPr id="19" name="Text 16"/>
          <p:cNvSpPr txBox="1"/>
          <p:nvPr/>
        </p:nvSpPr>
        <p:spPr>
          <a:xfrm>
            <a:off x="749808" y="3685032"/>
            <a:ext cx="274320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(64,)</a:t>
            </a:r>
            <a:endParaRPr lang="en-US" sz="1200" dirty="0"/>
          </a:p>
        </p:txBody>
      </p:sp>
      <p:sp>
        <p:nvSpPr>
          <p:cNvPr id="20" name="Text 17"/>
          <p:cNvSpPr txBox="1"/>
          <p:nvPr/>
        </p:nvSpPr>
        <p:spPr>
          <a:xfrm>
            <a:off x="3675888" y="3685032"/>
            <a:ext cx="256032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0.975</a:t>
            </a:r>
            <a:endParaRPr lang="en-US" sz="1200" dirty="0"/>
          </a:p>
        </p:txBody>
      </p:sp>
      <p:sp>
        <p:nvSpPr>
          <p:cNvPr id="21" name="Shape 18"/>
          <p:cNvSpPr/>
          <p:nvPr/>
        </p:nvSpPr>
        <p:spPr>
          <a:xfrm>
            <a:off x="640080" y="4142232"/>
            <a:ext cx="5669280" cy="402336"/>
          </a:xfrm>
          <a:prstGeom prst="roundRect">
            <a:avLst>
              <a:gd name="adj" fmla="val 18182"/>
            </a:avLst>
          </a:prstGeom>
          <a:solidFill>
            <a:srgbClr val="F1F6F3"/>
          </a:solidFill>
          <a:ln w="12700">
            <a:solidFill>
              <a:srgbClr val="F1F6F3"/>
            </a:solidFill>
            <a:prstDash val="solid"/>
          </a:ln>
        </p:spPr>
      </p:sp>
      <p:sp>
        <p:nvSpPr>
          <p:cNvPr id="22" name="Text 19"/>
          <p:cNvSpPr txBox="1"/>
          <p:nvPr/>
        </p:nvSpPr>
        <p:spPr>
          <a:xfrm>
            <a:off x="749808" y="4142232"/>
            <a:ext cx="274320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(16, 16)</a:t>
            </a:r>
            <a:endParaRPr lang="en-US" sz="1200" dirty="0"/>
          </a:p>
        </p:txBody>
      </p:sp>
      <p:sp>
        <p:nvSpPr>
          <p:cNvPr id="23" name="Text 20"/>
          <p:cNvSpPr txBox="1"/>
          <p:nvPr/>
        </p:nvSpPr>
        <p:spPr>
          <a:xfrm>
            <a:off x="3675888" y="4142232"/>
            <a:ext cx="2560320" cy="40233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0.970</a:t>
            </a:r>
            <a:endParaRPr lang="en-US" sz="1200" dirty="0"/>
          </a:p>
        </p:txBody>
      </p:sp>
      <p:sp>
        <p:nvSpPr>
          <p:cNvPr id="24" name="Shape 21"/>
          <p:cNvSpPr/>
          <p:nvPr/>
        </p:nvSpPr>
        <p:spPr>
          <a:xfrm>
            <a:off x="6492240" y="1783080"/>
            <a:ext cx="5056632" cy="1493520"/>
          </a:xfrm>
          <a:prstGeom prst="roundRect">
            <a:avLst>
              <a:gd name="adj" fmla="val 7347"/>
            </a:avLst>
          </a:prstGeom>
          <a:solidFill>
            <a:srgbClr val="0A1B13"/>
          </a:solidFill>
          <a:ln w="12700">
            <a:solidFill>
              <a:srgbClr val="0A1B13"/>
            </a:solidFill>
            <a:prstDash val="solid"/>
          </a:ln>
        </p:spPr>
      </p:sp>
      <p:sp>
        <p:nvSpPr>
          <p:cNvPr id="25" name="Shape 22"/>
          <p:cNvSpPr/>
          <p:nvPr/>
        </p:nvSpPr>
        <p:spPr>
          <a:xfrm>
            <a:off x="6693408" y="1965960"/>
            <a:ext cx="118872" cy="118872"/>
          </a:xfrm>
          <a:prstGeom prst="ellipse">
            <a:avLst/>
          </a:prstGeom>
          <a:solidFill>
            <a:srgbClr val="D6336C"/>
          </a:solidFill>
          <a:ln w="12700">
            <a:solidFill>
              <a:srgbClr val="D6336C"/>
            </a:solidFill>
            <a:prstDash val="solid"/>
          </a:ln>
        </p:spPr>
      </p:sp>
      <p:sp>
        <p:nvSpPr>
          <p:cNvPr id="26" name="Shape 23"/>
          <p:cNvSpPr/>
          <p:nvPr/>
        </p:nvSpPr>
        <p:spPr>
          <a:xfrm>
            <a:off x="6894576" y="1965960"/>
            <a:ext cx="118872" cy="118872"/>
          </a:xfrm>
          <a:prstGeom prst="ellipse">
            <a:avLst/>
          </a:prstGeom>
          <a:solidFill>
            <a:srgbClr val="FF7A2F"/>
          </a:solidFill>
          <a:ln w="12700">
            <a:solidFill>
              <a:srgbClr val="FF7A2F"/>
            </a:solidFill>
            <a:prstDash val="solid"/>
          </a:ln>
        </p:spPr>
      </p:sp>
      <p:sp>
        <p:nvSpPr>
          <p:cNvPr id="27" name="Shape 24"/>
          <p:cNvSpPr/>
          <p:nvPr/>
        </p:nvSpPr>
        <p:spPr>
          <a:xfrm>
            <a:off x="7095744" y="1965960"/>
            <a:ext cx="118872" cy="118872"/>
          </a:xfrm>
          <a:prstGeom prst="ellipse">
            <a:avLst/>
          </a:prstGeom>
          <a:solidFill>
            <a:srgbClr val="5FE3A1"/>
          </a:solidFill>
          <a:ln w="12700">
            <a:solidFill>
              <a:srgbClr val="5FE3A1"/>
            </a:solidFill>
            <a:prstDash val="solid"/>
          </a:ln>
        </p:spPr>
      </p:sp>
      <p:sp>
        <p:nvSpPr>
          <p:cNvPr id="28" name="Text 25"/>
          <p:cNvSpPr txBox="1"/>
          <p:nvPr/>
        </p:nvSpPr>
        <p:spPr>
          <a:xfrm>
            <a:off x="7406640" y="1901952"/>
            <a:ext cx="3959352"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grade_mlp.py (resumido)</a:t>
            </a:r>
            <a:endParaRPr lang="en-US" sz="1100" dirty="0"/>
          </a:p>
        </p:txBody>
      </p:sp>
      <p:sp>
        <p:nvSpPr>
          <p:cNvPr id="29" name="Text 26"/>
          <p:cNvSpPr txBox="1"/>
          <p:nvPr/>
        </p:nvSpPr>
        <p:spPr>
          <a:xfrm>
            <a:off x="6766560" y="2286000"/>
            <a:ext cx="4507992" cy="190500"/>
          </a:xfrm>
          <a:prstGeom prst="rect">
            <a:avLst/>
          </a:prstGeom>
          <a:noFill/>
          <a:ln/>
        </p:spPr>
        <p:txBody>
          <a:bodyPr wrap="none" lIns="0" tIns="0" rIns="0" bIns="0" rtlCol="0" anchor="ctr"/>
          <a:lstStyle/>
          <a:p>
            <a:pPr indent="0" marL="0">
              <a:buNone/>
            </a:pPr>
            <a:r>
              <a:rPr lang="en-US" sz="1000" dirty="0">
                <a:solidFill>
                  <a:srgbClr val="E9F2EC"/>
                </a:solidFill>
                <a:latin typeface="Courier New" pitchFamily="34" charset="0"/>
                <a:ea typeface="Courier New" pitchFamily="34" charset="-122"/>
                <a:cs typeface="Courier New" pitchFamily="34" charset="-120"/>
              </a:rPr>
              <a:t>grade</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7EE2B0"/>
                </a:solidFill>
                <a:latin typeface="Courier New" pitchFamily="34" charset="0"/>
                <a:ea typeface="Courier New" pitchFamily="34" charset="-122"/>
                <a:cs typeface="Courier New" pitchFamily="34" charset="-120"/>
              </a:rPr>
              <a:t>"mlpclassifier__hidden_layer_sizes"</a:t>
            </a:r>
            <a:pPr indent="0" marL="0">
              <a:buNone/>
            </a:pPr>
            <a:r>
              <a:rPr lang="en-US" sz="1000" dirty="0">
                <a:solidFill>
                  <a:srgbClr val="E9F2EC"/>
                </a:solidFill>
                <a:latin typeface="Courier New" pitchFamily="34" charset="0"/>
                <a:ea typeface="Courier New" pitchFamily="34" charset="-122"/>
                <a:cs typeface="Courier New" pitchFamily="34" charset="-120"/>
              </a:rPr>
              <a:t>:</a:t>
            </a:r>
            <a:endParaRPr lang="en-US" sz="1000" dirty="0"/>
          </a:p>
        </p:txBody>
      </p:sp>
      <p:sp>
        <p:nvSpPr>
          <p:cNvPr id="30" name="Text 27"/>
          <p:cNvSpPr txBox="1"/>
          <p:nvPr/>
        </p:nvSpPr>
        <p:spPr>
          <a:xfrm>
            <a:off x="6766560" y="2476500"/>
            <a:ext cx="4507992" cy="190500"/>
          </a:xfrm>
          <a:prstGeom prst="rect">
            <a:avLst/>
          </a:prstGeom>
          <a:noFill/>
          <a:ln/>
        </p:spPr>
        <p:txBody>
          <a:bodyPr wrap="none" lIns="0" tIns="0" rIns="0" bIns="0" rtlCol="0" anchor="ctr"/>
          <a:lstStyle/>
          <a:p>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FFD166"/>
                </a:solidFill>
                <a:latin typeface="Courier New" pitchFamily="34" charset="0"/>
                <a:ea typeface="Courier New" pitchFamily="34" charset="-122"/>
                <a:cs typeface="Courier New" pitchFamily="34" charset="-120"/>
              </a:rPr>
              <a:t>4</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FFD166"/>
                </a:solidFill>
                <a:latin typeface="Courier New" pitchFamily="34" charset="0"/>
                <a:ea typeface="Courier New" pitchFamily="34" charset="-122"/>
                <a:cs typeface="Courier New" pitchFamily="34" charset="-120"/>
              </a:rPr>
              <a:t>16</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FFD166"/>
                </a:solidFill>
                <a:latin typeface="Courier New" pitchFamily="34" charset="0"/>
                <a:ea typeface="Courier New" pitchFamily="34" charset="-122"/>
                <a:cs typeface="Courier New" pitchFamily="34" charset="-120"/>
              </a:rPr>
              <a:t>64</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FFD166"/>
                </a:solidFill>
                <a:latin typeface="Courier New" pitchFamily="34" charset="0"/>
                <a:ea typeface="Courier New" pitchFamily="34" charset="-122"/>
                <a:cs typeface="Courier New" pitchFamily="34" charset="-120"/>
              </a:rPr>
              <a:t>16</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FFD166"/>
                </a:solidFill>
                <a:latin typeface="Courier New" pitchFamily="34" charset="0"/>
                <a:ea typeface="Courier New" pitchFamily="34" charset="-122"/>
                <a:cs typeface="Courier New" pitchFamily="34" charset="-120"/>
              </a:rPr>
              <a:t>16</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endParaRPr lang="en-US" sz="1000" dirty="0"/>
          </a:p>
        </p:txBody>
      </p:sp>
      <p:sp>
        <p:nvSpPr>
          <p:cNvPr id="31" name="Text 28"/>
          <p:cNvSpPr txBox="1"/>
          <p:nvPr/>
        </p:nvSpPr>
        <p:spPr>
          <a:xfrm>
            <a:off x="6766560" y="2667000"/>
            <a:ext cx="4507992" cy="190500"/>
          </a:xfrm>
          <a:prstGeom prst="rect">
            <a:avLst/>
          </a:prstGeom>
          <a:noFill/>
          <a:ln/>
        </p:spPr>
        <p:txBody>
          <a:bodyPr wrap="none" lIns="0" tIns="0" rIns="0" bIns="0" rtlCol="0" anchor="ctr"/>
          <a:lstStyle/>
          <a:p>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7EE2B0"/>
                </a:solidFill>
                <a:latin typeface="Courier New" pitchFamily="34" charset="0"/>
                <a:ea typeface="Courier New" pitchFamily="34" charset="-122"/>
                <a:cs typeface="Courier New" pitchFamily="34" charset="-120"/>
              </a:rPr>
              <a:t>"mlpclassifier__activation"</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7EE2B0"/>
                </a:solidFill>
                <a:latin typeface="Courier New" pitchFamily="34" charset="0"/>
                <a:ea typeface="Courier New" pitchFamily="34" charset="-122"/>
                <a:cs typeface="Courier New" pitchFamily="34" charset="-120"/>
              </a:rPr>
              <a:t>"relu"</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7EE2B0"/>
                </a:solidFill>
                <a:latin typeface="Courier New" pitchFamily="34" charset="0"/>
                <a:ea typeface="Courier New" pitchFamily="34" charset="-122"/>
                <a:cs typeface="Courier New" pitchFamily="34" charset="-120"/>
              </a:rPr>
              <a:t>"tanh"</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endParaRPr lang="en-US" sz="1000" dirty="0"/>
          </a:p>
        </p:txBody>
      </p:sp>
      <p:sp>
        <p:nvSpPr>
          <p:cNvPr id="32" name="Text 29"/>
          <p:cNvSpPr txBox="1"/>
          <p:nvPr/>
        </p:nvSpPr>
        <p:spPr>
          <a:xfrm>
            <a:off x="6766560" y="2857500"/>
            <a:ext cx="4507992" cy="190500"/>
          </a:xfrm>
          <a:prstGeom prst="rect">
            <a:avLst/>
          </a:prstGeom>
          <a:noFill/>
          <a:ln/>
        </p:spPr>
        <p:txBody>
          <a:bodyPr wrap="none" lIns="0" tIns="0" rIns="0" bIns="0" rtlCol="0" anchor="ctr"/>
          <a:lstStyle/>
          <a:p>
            <a:pPr indent="0" marL="0">
              <a:buNone/>
            </a:pPr>
            <a:r>
              <a:rPr lang="en-US" sz="1000" dirty="0">
                <a:solidFill>
                  <a:srgbClr val="E9F2EC"/>
                </a:solidFill>
                <a:latin typeface="Courier New" pitchFamily="34" charset="0"/>
                <a:ea typeface="Courier New" pitchFamily="34" charset="-122"/>
                <a:cs typeface="Courier New" pitchFamily="34" charset="-120"/>
              </a:rPr>
              <a:t>busca</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GridSearchCV</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pipe</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grade</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cv</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cv</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fit</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X_tr</a:t>
            </a:r>
            <a:pPr indent="0" marL="0">
              <a:buNone/>
            </a:pPr>
            <a:r>
              <a:rPr lang="en-US" sz="1000" dirty="0">
                <a:solidFill>
                  <a:srgbClr val="E9F2EC"/>
                </a:solidFill>
                <a:latin typeface="Courier New" pitchFamily="34" charset="0"/>
                <a:ea typeface="Courier New" pitchFamily="34" charset="-122"/>
                <a:cs typeface="Courier New" pitchFamily="34" charset="-120"/>
              </a:rPr>
              <a:t>,</a:t>
            </a:r>
            <a:pPr indent="0" marL="0">
              <a:buNone/>
            </a:pPr>
            <a:r>
              <a:rPr lang="en-US" sz="1000" dirty="0">
                <a:solidFill>
                  <a:srgbClr val="E9F2EC"/>
                </a:solidFill>
                <a:latin typeface="Courier New" pitchFamily="34" charset="0"/>
                <a:ea typeface="Courier New" pitchFamily="34" charset="-122"/>
                <a:cs typeface="Courier New" pitchFamily="34" charset="-120"/>
              </a:rPr>
              <a:t> </a:t>
            </a:r>
            <a:pPr indent="0" marL="0">
              <a:buNone/>
            </a:pPr>
            <a:r>
              <a:rPr lang="en-US" sz="1000" dirty="0">
                <a:solidFill>
                  <a:srgbClr val="E9F2EC"/>
                </a:solidFill>
                <a:latin typeface="Courier New" pitchFamily="34" charset="0"/>
                <a:ea typeface="Courier New" pitchFamily="34" charset="-122"/>
                <a:cs typeface="Courier New" pitchFamily="34" charset="-120"/>
              </a:rPr>
              <a:t>y_tr</a:t>
            </a:r>
            <a:pPr indent="0" marL="0">
              <a:buNone/>
            </a:pPr>
            <a:r>
              <a:rPr lang="en-US" sz="1000" dirty="0">
                <a:solidFill>
                  <a:srgbClr val="E9F2EC"/>
                </a:solidFill>
                <a:latin typeface="Courier New" pitchFamily="34" charset="0"/>
                <a:ea typeface="Courier New" pitchFamily="34" charset="-122"/>
                <a:cs typeface="Courier New" pitchFamily="34" charset="-120"/>
              </a:rPr>
              <a:t>)</a:t>
            </a:r>
            <a:endParaRPr lang="en-US" sz="1000" dirty="0"/>
          </a:p>
        </p:txBody>
      </p:sp>
      <p:sp>
        <p:nvSpPr>
          <p:cNvPr id="33" name="Shape 30"/>
          <p:cNvSpPr/>
          <p:nvPr/>
        </p:nvSpPr>
        <p:spPr>
          <a:xfrm>
            <a:off x="640080" y="4800600"/>
            <a:ext cx="10911535" cy="1325880"/>
          </a:xfrm>
          <a:prstGeom prst="roundRect">
            <a:avLst>
              <a:gd name="adj" fmla="val 8276"/>
            </a:avLst>
          </a:prstGeom>
          <a:solidFill>
            <a:srgbClr val="FFEBDD"/>
          </a:solidFill>
          <a:ln w="12700">
            <a:solidFill>
              <a:srgbClr val="FFEBDD"/>
            </a:solidFill>
            <a:prstDash val="solid"/>
          </a:ln>
        </p:spPr>
      </p:sp>
      <p:sp>
        <p:nvSpPr>
          <p:cNvPr id="34" name="Text 31"/>
          <p:cNvSpPr txBox="1"/>
          <p:nvPr/>
        </p:nvSpPr>
        <p:spPr>
          <a:xfrm>
            <a:off x="914400" y="4800600"/>
            <a:ext cx="10362895" cy="132588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No câncer, de 1 a 64 neurônios dão praticamente o mesmo (~0,975): o problema é quase linear. O GridSearchCV escolheu tanh com 64 neurônios (CV 0,982, teste 0,982). Diferenças de 0,005 estão dentro do ruído. Comece simples e só aumente a rede se houver ganho medido.</a:t>
            </a:r>
            <a:endParaRPr lang="en-US" sz="1400" dirty="0"/>
          </a:p>
        </p:txBody>
      </p:sp>
      <p:sp>
        <p:nvSpPr>
          <p:cNvPr id="35" name="Text 32"/>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6" name="Text 33"/>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AJUSTES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Overfitting em redes: alpha e parada antecipada</a:t>
            </a:r>
            <a:endParaRPr lang="en-US" sz="3000" dirty="0"/>
          </a:p>
        </p:txBody>
      </p:sp>
      <p:sp>
        <p:nvSpPr>
          <p:cNvPr id="6" name="Shape 3"/>
          <p:cNvSpPr/>
          <p:nvPr/>
        </p:nvSpPr>
        <p:spPr>
          <a:xfrm>
            <a:off x="640080" y="1783080"/>
            <a:ext cx="3493008" cy="2468880"/>
          </a:xfrm>
          <a:prstGeom prst="roundRect">
            <a:avLst>
              <a:gd name="adj" fmla="val 4444"/>
            </a:avLst>
          </a:prstGeom>
          <a:solidFill>
            <a:srgbClr val="F1F6F3"/>
          </a:solidFill>
          <a:ln w="12700">
            <a:solidFill>
              <a:srgbClr val="F1F6F3"/>
            </a:solidFill>
            <a:prstDash val="solid"/>
          </a:ln>
        </p:spPr>
      </p:sp>
      <p:sp>
        <p:nvSpPr>
          <p:cNvPr id="7" name="Text 4"/>
          <p:cNvSpPr txBox="1"/>
          <p:nvPr/>
        </p:nvSpPr>
        <p:spPr>
          <a:xfrm>
            <a:off x="868680"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alpha (regularização L2)</a:t>
            </a:r>
            <a:endParaRPr lang="en-US" sz="1600" dirty="0"/>
          </a:p>
        </p:txBody>
      </p:sp>
      <p:sp>
        <p:nvSpPr>
          <p:cNvPr id="8" name="Text 5"/>
          <p:cNvSpPr txBox="1"/>
          <p:nvPr/>
        </p:nvSpPr>
        <p:spPr>
          <a:xfrm>
            <a:off x="868680" y="2651760"/>
            <a:ext cx="3063240" cy="150876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Penaliza pesos grandes, deixando a fronteira mais suave. O padrão é 0,0001; valores maiores regularizam mais.</a:t>
            </a:r>
            <a:endParaRPr lang="en-US" sz="1400" dirty="0"/>
          </a:p>
        </p:txBody>
      </p:sp>
      <p:sp>
        <p:nvSpPr>
          <p:cNvPr id="9" name="Shape 6"/>
          <p:cNvSpPr/>
          <p:nvPr/>
        </p:nvSpPr>
        <p:spPr>
          <a:xfrm>
            <a:off x="4347972" y="1783080"/>
            <a:ext cx="3493008" cy="2468880"/>
          </a:xfrm>
          <a:prstGeom prst="roundRect">
            <a:avLst>
              <a:gd name="adj" fmla="val 4444"/>
            </a:avLst>
          </a:prstGeom>
          <a:solidFill>
            <a:srgbClr val="F1F6F3"/>
          </a:solidFill>
          <a:ln w="12700">
            <a:solidFill>
              <a:srgbClr val="F1F6F3"/>
            </a:solidFill>
            <a:prstDash val="solid"/>
          </a:ln>
        </p:spPr>
      </p:sp>
      <p:sp>
        <p:nvSpPr>
          <p:cNvPr id="10" name="Text 7"/>
          <p:cNvSpPr txBox="1"/>
          <p:nvPr/>
        </p:nvSpPr>
        <p:spPr>
          <a:xfrm>
            <a:off x="4576572"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early_stopping=True</a:t>
            </a:r>
            <a:endParaRPr lang="en-US" sz="1600" dirty="0"/>
          </a:p>
        </p:txBody>
      </p:sp>
      <p:sp>
        <p:nvSpPr>
          <p:cNvPr id="11" name="Text 8"/>
          <p:cNvSpPr txBox="1"/>
          <p:nvPr/>
        </p:nvSpPr>
        <p:spPr>
          <a:xfrm>
            <a:off x="4576572" y="2651760"/>
            <a:ext cx="3063240" cy="150876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Separa 10% do treino para validação e interrompe quando ela para de melhorar.</a:t>
            </a:r>
            <a:endParaRPr lang="en-US" sz="1400" dirty="0"/>
          </a:p>
        </p:txBody>
      </p:sp>
      <p:sp>
        <p:nvSpPr>
          <p:cNvPr id="12" name="Shape 9"/>
          <p:cNvSpPr/>
          <p:nvPr/>
        </p:nvSpPr>
        <p:spPr>
          <a:xfrm>
            <a:off x="8055864" y="1783080"/>
            <a:ext cx="3493008" cy="2468880"/>
          </a:xfrm>
          <a:prstGeom prst="roundRect">
            <a:avLst>
              <a:gd name="adj" fmla="val 4444"/>
            </a:avLst>
          </a:prstGeom>
          <a:solidFill>
            <a:srgbClr val="F1F6F3"/>
          </a:solidFill>
          <a:ln w="12700">
            <a:solidFill>
              <a:srgbClr val="F1F6F3"/>
            </a:solidFill>
            <a:prstDash val="solid"/>
          </a:ln>
        </p:spPr>
      </p:sp>
      <p:sp>
        <p:nvSpPr>
          <p:cNvPr id="13" name="Text 10"/>
          <p:cNvSpPr txBox="1"/>
          <p:nvPr/>
        </p:nvSpPr>
        <p:spPr>
          <a:xfrm>
            <a:off x="8284464" y="1965960"/>
            <a:ext cx="3017520" cy="548640"/>
          </a:xfrm>
          <a:prstGeom prst="rect">
            <a:avLst/>
          </a:prstGeom>
          <a:noFill/>
          <a:ln/>
        </p:spPr>
        <p:txBody>
          <a:bodyPr wrap="square" lIns="0" tIns="0" rIns="0" bIns="0" rtlCol="0" anchor="ctr"/>
          <a:lstStyle/>
          <a:p>
            <a:pPr indent="0" marL="0">
              <a:buNone/>
            </a:pPr>
            <a:r>
              <a:rPr lang="en-US" sz="1600" b="1" dirty="0">
                <a:solidFill>
                  <a:srgbClr val="066B47"/>
                </a:solidFill>
                <a:latin typeface="Cambria" pitchFamily="34" charset="0"/>
                <a:ea typeface="Cambria" pitchFamily="34" charset="-122"/>
                <a:cs typeface="Cambria" pitchFamily="34" charset="-120"/>
              </a:rPr>
              <a:t>Mais dados</a:t>
            </a:r>
            <a:endParaRPr lang="en-US" sz="1600" dirty="0"/>
          </a:p>
        </p:txBody>
      </p:sp>
      <p:sp>
        <p:nvSpPr>
          <p:cNvPr id="14" name="Text 11"/>
          <p:cNvSpPr txBox="1"/>
          <p:nvPr/>
        </p:nvSpPr>
        <p:spPr>
          <a:xfrm>
            <a:off x="8284464" y="2651760"/>
            <a:ext cx="3063240" cy="150876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A melhor defesa: redes com muitos parâmetros precisam de muitos exemplos.</a:t>
            </a:r>
            <a:endParaRPr lang="en-US" sz="1400" dirty="0"/>
          </a:p>
        </p:txBody>
      </p:sp>
      <p:sp>
        <p:nvSpPr>
          <p:cNvPr id="15" name="Shape 12"/>
          <p:cNvSpPr/>
          <p:nvPr/>
        </p:nvSpPr>
        <p:spPr>
          <a:xfrm>
            <a:off x="640080" y="4480560"/>
            <a:ext cx="10908792" cy="411480"/>
          </a:xfrm>
          <a:prstGeom prst="roundRect">
            <a:avLst>
              <a:gd name="adj" fmla="val 22222"/>
            </a:avLst>
          </a:prstGeom>
          <a:solidFill>
            <a:srgbClr val="0F2A1D"/>
          </a:solidFill>
          <a:ln w="12700">
            <a:solidFill>
              <a:srgbClr val="0F2A1D"/>
            </a:solidFill>
            <a:prstDash val="solid"/>
          </a:ln>
        </p:spPr>
      </p:sp>
      <p:sp>
        <p:nvSpPr>
          <p:cNvPr id="16" name="Text 13"/>
          <p:cNvSpPr txBox="1"/>
          <p:nvPr/>
        </p:nvSpPr>
        <p:spPr>
          <a:xfrm>
            <a:off x="749808" y="4480560"/>
            <a:ext cx="38404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Rede (64, 64) no câncer, 5 dobras</a:t>
            </a:r>
            <a:endParaRPr lang="en-US" sz="1200" dirty="0"/>
          </a:p>
        </p:txBody>
      </p:sp>
      <p:sp>
        <p:nvSpPr>
          <p:cNvPr id="17" name="Text 14"/>
          <p:cNvSpPr txBox="1"/>
          <p:nvPr/>
        </p:nvSpPr>
        <p:spPr>
          <a:xfrm>
            <a:off x="4773168" y="4480560"/>
            <a:ext cx="20116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Acurácia</a:t>
            </a:r>
            <a:endParaRPr lang="en-US" sz="1200" dirty="0"/>
          </a:p>
        </p:txBody>
      </p:sp>
      <p:sp>
        <p:nvSpPr>
          <p:cNvPr id="18" name="Text 15"/>
          <p:cNvSpPr txBox="1"/>
          <p:nvPr/>
        </p:nvSpPr>
        <p:spPr>
          <a:xfrm>
            <a:off x="6967728" y="4480560"/>
            <a:ext cx="4507992"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Leitura</a:t>
            </a:r>
            <a:endParaRPr lang="en-US" sz="1200" dirty="0"/>
          </a:p>
        </p:txBody>
      </p:sp>
      <p:sp>
        <p:nvSpPr>
          <p:cNvPr id="19" name="Shape 16"/>
          <p:cNvSpPr/>
          <p:nvPr/>
        </p:nvSpPr>
        <p:spPr>
          <a:xfrm>
            <a:off x="640080" y="4965192"/>
            <a:ext cx="10908792" cy="356616"/>
          </a:xfrm>
          <a:prstGeom prst="roundRect">
            <a:avLst>
              <a:gd name="adj" fmla="val 20513"/>
            </a:avLst>
          </a:prstGeom>
          <a:solidFill>
            <a:srgbClr val="F1F6F3"/>
          </a:solidFill>
          <a:ln w="12700">
            <a:solidFill>
              <a:srgbClr val="F1F6F3"/>
            </a:solidFill>
            <a:prstDash val="solid"/>
          </a:ln>
        </p:spPr>
      </p:sp>
      <p:sp>
        <p:nvSpPr>
          <p:cNvPr id="20" name="Text 17"/>
          <p:cNvSpPr txBox="1"/>
          <p:nvPr/>
        </p:nvSpPr>
        <p:spPr>
          <a:xfrm>
            <a:off x="749808" y="4965192"/>
            <a:ext cx="3840480" cy="3566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padrão (alpha = 0,0001)</a:t>
            </a:r>
            <a:endParaRPr lang="en-US" sz="1200" dirty="0"/>
          </a:p>
        </p:txBody>
      </p:sp>
      <p:sp>
        <p:nvSpPr>
          <p:cNvPr id="21" name="Text 18"/>
          <p:cNvSpPr txBox="1"/>
          <p:nvPr/>
        </p:nvSpPr>
        <p:spPr>
          <a:xfrm>
            <a:off x="4773168" y="4965192"/>
            <a:ext cx="20116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0.977</a:t>
            </a:r>
            <a:endParaRPr lang="en-US" sz="1100" dirty="0"/>
          </a:p>
        </p:txBody>
      </p:sp>
      <p:sp>
        <p:nvSpPr>
          <p:cNvPr id="22" name="Text 19"/>
          <p:cNvSpPr txBox="1"/>
          <p:nvPr/>
        </p:nvSpPr>
        <p:spPr>
          <a:xfrm>
            <a:off x="6967728" y="4965192"/>
            <a:ext cx="4507992" cy="3566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referência</a:t>
            </a:r>
            <a:endParaRPr lang="en-US" sz="1200" dirty="0"/>
          </a:p>
        </p:txBody>
      </p:sp>
      <p:sp>
        <p:nvSpPr>
          <p:cNvPr id="23" name="Shape 20"/>
          <p:cNvSpPr/>
          <p:nvPr/>
        </p:nvSpPr>
        <p:spPr>
          <a:xfrm>
            <a:off x="640080" y="5376672"/>
            <a:ext cx="10908792" cy="356616"/>
          </a:xfrm>
          <a:prstGeom prst="roundRect">
            <a:avLst>
              <a:gd name="adj" fmla="val 20513"/>
            </a:avLst>
          </a:prstGeom>
          <a:solidFill>
            <a:srgbClr val="E6EEE9"/>
          </a:solidFill>
          <a:ln w="12700">
            <a:solidFill>
              <a:srgbClr val="E6EEE9"/>
            </a:solidFill>
            <a:prstDash val="solid"/>
          </a:ln>
        </p:spPr>
      </p:sp>
      <p:sp>
        <p:nvSpPr>
          <p:cNvPr id="24" name="Text 21"/>
          <p:cNvSpPr txBox="1"/>
          <p:nvPr/>
        </p:nvSpPr>
        <p:spPr>
          <a:xfrm>
            <a:off x="749808" y="5376672"/>
            <a:ext cx="3840480" cy="3566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alpha = 1,0</a:t>
            </a:r>
            <a:endParaRPr lang="en-US" sz="1200" dirty="0"/>
          </a:p>
        </p:txBody>
      </p:sp>
      <p:sp>
        <p:nvSpPr>
          <p:cNvPr id="25" name="Text 22"/>
          <p:cNvSpPr txBox="1"/>
          <p:nvPr/>
        </p:nvSpPr>
        <p:spPr>
          <a:xfrm>
            <a:off x="4773168" y="5376672"/>
            <a:ext cx="20116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0.974</a:t>
            </a:r>
            <a:endParaRPr lang="en-US" sz="1100" dirty="0"/>
          </a:p>
        </p:txBody>
      </p:sp>
      <p:sp>
        <p:nvSpPr>
          <p:cNvPr id="26" name="Text 23"/>
          <p:cNvSpPr txBox="1"/>
          <p:nvPr/>
        </p:nvSpPr>
        <p:spPr>
          <a:xfrm>
            <a:off x="6967728" y="5376672"/>
            <a:ext cx="4507992" cy="3566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praticamente igual</a:t>
            </a:r>
            <a:endParaRPr lang="en-US" sz="1200" dirty="0"/>
          </a:p>
        </p:txBody>
      </p:sp>
      <p:sp>
        <p:nvSpPr>
          <p:cNvPr id="27" name="Shape 24"/>
          <p:cNvSpPr/>
          <p:nvPr/>
        </p:nvSpPr>
        <p:spPr>
          <a:xfrm>
            <a:off x="640080" y="5788152"/>
            <a:ext cx="10908792" cy="356616"/>
          </a:xfrm>
          <a:prstGeom prst="roundRect">
            <a:avLst>
              <a:gd name="adj" fmla="val 20513"/>
            </a:avLst>
          </a:prstGeom>
          <a:solidFill>
            <a:srgbClr val="F1F6F3"/>
          </a:solidFill>
          <a:ln w="12700">
            <a:solidFill>
              <a:srgbClr val="F1F6F3"/>
            </a:solidFill>
            <a:prstDash val="solid"/>
          </a:ln>
        </p:spPr>
      </p:sp>
      <p:sp>
        <p:nvSpPr>
          <p:cNvPr id="28" name="Text 25"/>
          <p:cNvSpPr txBox="1"/>
          <p:nvPr/>
        </p:nvSpPr>
        <p:spPr>
          <a:xfrm>
            <a:off x="749808" y="5788152"/>
            <a:ext cx="3840480" cy="3566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early_stopping = True</a:t>
            </a:r>
            <a:endParaRPr lang="en-US" sz="1200" dirty="0"/>
          </a:p>
        </p:txBody>
      </p:sp>
      <p:sp>
        <p:nvSpPr>
          <p:cNvPr id="29" name="Text 26"/>
          <p:cNvSpPr txBox="1"/>
          <p:nvPr/>
        </p:nvSpPr>
        <p:spPr>
          <a:xfrm>
            <a:off x="4773168" y="5788152"/>
            <a:ext cx="2011680" cy="356616"/>
          </a:xfrm>
          <a:prstGeom prst="rect">
            <a:avLst/>
          </a:prstGeom>
          <a:noFill/>
          <a:ln/>
        </p:spPr>
        <p:txBody>
          <a:bodyPr wrap="square" lIns="0" tIns="0" rIns="0" bIns="0" rtlCol="0" anchor="ctr"/>
          <a:lstStyle/>
          <a:p>
            <a:pPr indent="0" marL="0">
              <a:buNone/>
            </a:pPr>
            <a:r>
              <a:rPr lang="en-US" sz="1100" dirty="0">
                <a:solidFill>
                  <a:srgbClr val="0B1A12"/>
                </a:solidFill>
                <a:latin typeface="Courier New" pitchFamily="34" charset="0"/>
                <a:ea typeface="Courier New" pitchFamily="34" charset="-122"/>
                <a:cs typeface="Courier New" pitchFamily="34" charset="-120"/>
              </a:rPr>
              <a:t>0.949</a:t>
            </a:r>
            <a:endParaRPr lang="en-US" sz="1100" dirty="0"/>
          </a:p>
        </p:txBody>
      </p:sp>
      <p:sp>
        <p:nvSpPr>
          <p:cNvPr id="30" name="Text 27"/>
          <p:cNvSpPr txBox="1"/>
          <p:nvPr/>
        </p:nvSpPr>
        <p:spPr>
          <a:xfrm>
            <a:off x="6967728" y="5788152"/>
            <a:ext cx="4507992" cy="356616"/>
          </a:xfrm>
          <a:prstGeom prst="rect">
            <a:avLst/>
          </a:prstGeom>
          <a:noFill/>
          <a:ln/>
        </p:spPr>
        <p:txBody>
          <a:bodyPr wrap="square" lIns="0" tIns="0" rIns="0" bIns="0" rtlCol="0" anchor="ctr"/>
          <a:lstStyle/>
          <a:p>
            <a:pPr indent="0" marL="0">
              <a:buNone/>
            </a:pPr>
            <a:r>
              <a:rPr lang="en-US" sz="1200" dirty="0">
                <a:solidFill>
                  <a:srgbClr val="0B1A12"/>
                </a:solidFill>
                <a:latin typeface="Calibri" pitchFamily="34" charset="0"/>
                <a:ea typeface="Calibri" pitchFamily="34" charset="-122"/>
                <a:cs typeface="Calibri" pitchFamily="34" charset="-120"/>
              </a:rPr>
              <a:t>piorou: poucos dados para separar 10%</a:t>
            </a:r>
            <a:endParaRPr lang="en-US" sz="1200" dirty="0"/>
          </a:p>
        </p:txBody>
      </p:sp>
      <p:sp>
        <p:nvSpPr>
          <p:cNvPr id="31" name="Text 28"/>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2" name="Text 29"/>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RECONHECIMENTO DE PADRÕES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Reconhecendo dígitos escritos à mão</a:t>
            </a:r>
            <a:endParaRPr lang="en-US" sz="3000" dirty="0"/>
          </a:p>
        </p:txBody>
      </p:sp>
      <p:sp>
        <p:nvSpPr>
          <p:cNvPr id="6" name="Shape 3"/>
          <p:cNvSpPr/>
          <p:nvPr/>
        </p:nvSpPr>
        <p:spPr>
          <a:xfrm>
            <a:off x="640080" y="1783080"/>
            <a:ext cx="5029200" cy="2377440"/>
          </a:xfrm>
          <a:prstGeom prst="roundRect">
            <a:avLst>
              <a:gd name="adj" fmla="val 4615"/>
            </a:avLst>
          </a:prstGeom>
          <a:solidFill>
            <a:srgbClr val="FFFFFF"/>
          </a:solidFill>
          <a:ln w="12700">
            <a:solidFill>
              <a:srgbClr val="FFFFFF"/>
            </a:solidFill>
            <a:prstDash val="solid"/>
          </a:ln>
        </p:spPr>
      </p:sp>
      <p:pic>
        <p:nvPicPr>
          <p:cNvPr id="7" name="Image 1" descr="C:\Users\daniel\AppData\Local\Temp\claude\C--Users-daniel-Documents\60c841d3-e138-44c2-bcbf-3ebaf6046bb6\scratchpad/code11/digitos.png">    </p:cNvPr>
          <p:cNvPicPr>
            <a:picLocks noChangeAspect="1"/>
          </p:cNvPicPr>
          <p:nvPr/>
        </p:nvPicPr>
        <p:blipFill>
          <a:blip r:embed="rId2"/>
          <a:stretch>
            <a:fillRect/>
          </a:stretch>
        </p:blipFill>
        <p:spPr>
          <a:xfrm>
            <a:off x="868680" y="1828800"/>
            <a:ext cx="4572000" cy="2316480"/>
          </a:xfrm>
          <a:prstGeom prst="rect">
            <a:avLst/>
          </a:prstGeom>
        </p:spPr>
      </p:pic>
      <p:sp>
        <p:nvSpPr>
          <p:cNvPr id="8" name="Text 4"/>
          <p:cNvSpPr txBox="1"/>
          <p:nvPr/>
        </p:nvSpPr>
        <p:spPr>
          <a:xfrm>
            <a:off x="640080" y="4224528"/>
            <a:ext cx="5029200" cy="365760"/>
          </a:xfrm>
          <a:prstGeom prst="rect">
            <a:avLst/>
          </a:prstGeom>
          <a:noFill/>
          <a:ln/>
        </p:spPr>
        <p:txBody>
          <a:bodyPr wrap="square" lIns="0" tIns="0" rIns="0" bIns="0" rtlCol="0" anchor="t"/>
          <a:lstStyle/>
          <a:p>
            <a:pPr algn="ctr" indent="0" marL="0">
              <a:buNone/>
            </a:pPr>
            <a:r>
              <a:rPr lang="en-US" sz="1300" i="1" dirty="0">
                <a:solidFill>
                  <a:srgbClr val="55645B"/>
                </a:solidFill>
                <a:latin typeface="Calibri" pitchFamily="34" charset="0"/>
                <a:ea typeface="Calibri" pitchFamily="34" charset="-122"/>
                <a:cs typeface="Calibri" pitchFamily="34" charset="-120"/>
              </a:rPr>
              <a:t>load_digits: 1 797 imagens de 8 × 8 pixels (tons de 0 a 16)</a:t>
            </a:r>
            <a:endParaRPr lang="en-US" sz="1300" dirty="0"/>
          </a:p>
        </p:txBody>
      </p:sp>
      <p:sp>
        <p:nvSpPr>
          <p:cNvPr id="9" name="Shape 5"/>
          <p:cNvSpPr/>
          <p:nvPr/>
        </p:nvSpPr>
        <p:spPr>
          <a:xfrm>
            <a:off x="5943600" y="1783080"/>
            <a:ext cx="5605272" cy="685800"/>
          </a:xfrm>
          <a:prstGeom prst="roundRect">
            <a:avLst>
              <a:gd name="adj" fmla="val 16000"/>
            </a:avLst>
          </a:prstGeom>
          <a:solidFill>
            <a:srgbClr val="F1F6F3"/>
          </a:solidFill>
          <a:ln w="12700">
            <a:solidFill>
              <a:srgbClr val="F1F6F3"/>
            </a:solidFill>
            <a:prstDash val="solid"/>
          </a:ln>
        </p:spPr>
      </p:sp>
      <p:sp>
        <p:nvSpPr>
          <p:cNvPr id="10" name="Text 6"/>
          <p:cNvSpPr txBox="1"/>
          <p:nvPr/>
        </p:nvSpPr>
        <p:spPr>
          <a:xfrm>
            <a:off x="6126480" y="1783080"/>
            <a:ext cx="5303520" cy="68580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Cada imagem é um vetor  </a:t>
            </a:r>
            <a:pPr indent="0" marL="0">
              <a:buNone/>
            </a:pPr>
            <a:r>
              <a:rPr lang="en-US" sz="1300" dirty="0">
                <a:solidFill>
                  <a:srgbClr val="0B1A12"/>
                </a:solidFill>
                <a:latin typeface="Calibri" pitchFamily="34" charset="0"/>
                <a:ea typeface="Calibri" pitchFamily="34" charset="-122"/>
                <a:cs typeface="Calibri" pitchFamily="34" charset="-120"/>
              </a:rPr>
              <a:t>8 × 8 = 64 números: um atributo por pixel.</a:t>
            </a:r>
            <a:endParaRPr lang="en-US" sz="1400" dirty="0"/>
          </a:p>
        </p:txBody>
      </p:sp>
      <p:sp>
        <p:nvSpPr>
          <p:cNvPr id="11" name="Shape 7"/>
          <p:cNvSpPr/>
          <p:nvPr/>
        </p:nvSpPr>
        <p:spPr>
          <a:xfrm>
            <a:off x="5943600" y="2560320"/>
            <a:ext cx="5605272" cy="685800"/>
          </a:xfrm>
          <a:prstGeom prst="roundRect">
            <a:avLst>
              <a:gd name="adj" fmla="val 16000"/>
            </a:avLst>
          </a:prstGeom>
          <a:solidFill>
            <a:srgbClr val="F1F6F3"/>
          </a:solidFill>
          <a:ln w="12700">
            <a:solidFill>
              <a:srgbClr val="F1F6F3"/>
            </a:solidFill>
            <a:prstDash val="solid"/>
          </a:ln>
        </p:spPr>
      </p:sp>
      <p:sp>
        <p:nvSpPr>
          <p:cNvPr id="12" name="Text 8"/>
          <p:cNvSpPr txBox="1"/>
          <p:nvPr/>
        </p:nvSpPr>
        <p:spPr>
          <a:xfrm>
            <a:off x="6126480" y="2560320"/>
            <a:ext cx="5303520" cy="68580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Normalizar  </a:t>
            </a:r>
            <a:pPr indent="0" marL="0">
              <a:buNone/>
            </a:pPr>
            <a:r>
              <a:rPr lang="en-US" sz="1300" dirty="0">
                <a:solidFill>
                  <a:srgbClr val="0B1A12"/>
                </a:solidFill>
                <a:latin typeface="Calibri" pitchFamily="34" charset="0"/>
                <a:ea typeface="Calibri" pitchFamily="34" charset="-122"/>
                <a:cs typeface="Calibri" pitchFamily="34" charset="-120"/>
              </a:rPr>
              <a:t>Dividir por 16 leva os pixels a [0, 1].</a:t>
            </a:r>
            <a:endParaRPr lang="en-US" sz="1400" dirty="0"/>
          </a:p>
        </p:txBody>
      </p:sp>
      <p:sp>
        <p:nvSpPr>
          <p:cNvPr id="13" name="Shape 9"/>
          <p:cNvSpPr/>
          <p:nvPr/>
        </p:nvSpPr>
        <p:spPr>
          <a:xfrm>
            <a:off x="5943600" y="3337560"/>
            <a:ext cx="5605272" cy="685800"/>
          </a:xfrm>
          <a:prstGeom prst="roundRect">
            <a:avLst>
              <a:gd name="adj" fmla="val 16000"/>
            </a:avLst>
          </a:prstGeom>
          <a:solidFill>
            <a:srgbClr val="F1F6F3"/>
          </a:solidFill>
          <a:ln w="12700">
            <a:solidFill>
              <a:srgbClr val="F1F6F3"/>
            </a:solidFill>
            <a:prstDash val="solid"/>
          </a:ln>
        </p:spPr>
      </p:sp>
      <p:sp>
        <p:nvSpPr>
          <p:cNvPr id="14" name="Text 10"/>
          <p:cNvSpPr txBox="1"/>
          <p:nvPr/>
        </p:nvSpPr>
        <p:spPr>
          <a:xfrm>
            <a:off x="6126480" y="3337560"/>
            <a:ext cx="5303520" cy="685800"/>
          </a:xfrm>
          <a:prstGeom prst="rect">
            <a:avLst/>
          </a:prstGeom>
          <a:noFill/>
          <a:ln/>
        </p:spPr>
        <p:txBody>
          <a:bodyPr wrap="square" lIns="0" tIns="0" rIns="0" bIns="0" rtlCol="0" anchor="ctr"/>
          <a:lstStyle/>
          <a:p>
            <a:pPr indent="0" marL="0">
              <a:buNone/>
            </a:pPr>
            <a:r>
              <a:rPr lang="en-US" sz="1400" b="1" dirty="0">
                <a:solidFill>
                  <a:srgbClr val="066B47"/>
                </a:solidFill>
                <a:latin typeface="Cambria" pitchFamily="34" charset="0"/>
                <a:ea typeface="Cambria" pitchFamily="34" charset="-122"/>
                <a:cs typeface="Cambria" pitchFamily="34" charset="-120"/>
              </a:rPr>
              <a:t>Dez classes  </a:t>
            </a:r>
            <a:pPr indent="0" marL="0">
              <a:buNone/>
            </a:pPr>
            <a:r>
              <a:rPr lang="en-US" sz="1300" dirty="0">
                <a:solidFill>
                  <a:srgbClr val="0B1A12"/>
                </a:solidFill>
                <a:latin typeface="Calibri" pitchFamily="34" charset="0"/>
                <a:ea typeface="Calibri" pitchFamily="34" charset="-122"/>
                <a:cs typeface="Calibri" pitchFamily="34" charset="-120"/>
              </a:rPr>
              <a:t>Um dígito de 0 a 9 por imagem.</a:t>
            </a:r>
            <a:endParaRPr lang="en-US" sz="1400" dirty="0"/>
          </a:p>
        </p:txBody>
      </p:sp>
      <p:sp>
        <p:nvSpPr>
          <p:cNvPr id="15" name="Shape 11"/>
          <p:cNvSpPr/>
          <p:nvPr/>
        </p:nvSpPr>
        <p:spPr>
          <a:xfrm>
            <a:off x="640080" y="4754880"/>
            <a:ext cx="10911535" cy="1371600"/>
          </a:xfrm>
          <a:prstGeom prst="roundRect">
            <a:avLst>
              <a:gd name="adj" fmla="val 8000"/>
            </a:avLst>
          </a:prstGeom>
          <a:solidFill>
            <a:srgbClr val="FFEBDD"/>
          </a:solidFill>
          <a:ln w="12700">
            <a:solidFill>
              <a:srgbClr val="FFEBDD"/>
            </a:solidFill>
            <a:prstDash val="solid"/>
          </a:ln>
        </p:spPr>
      </p:sp>
      <p:sp>
        <p:nvSpPr>
          <p:cNvPr id="16" name="Text 12"/>
          <p:cNvSpPr txBox="1"/>
          <p:nvPr/>
        </p:nvSpPr>
        <p:spPr>
          <a:xfrm>
            <a:off x="914400" y="4754880"/>
            <a:ext cx="10362895" cy="137160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Conjunto de dígitos do scikit-learn (versão pequena do banco do UCI). Para o computador, a imagem é só uma tabela de 64 números. Redes convolucionais (aula 14) aproveitam a vizinhança entre os pixels, que aqui ignoramos.</a:t>
            </a:r>
            <a:endParaRPr lang="en-US" sz="1400" dirty="0"/>
          </a:p>
        </p:txBody>
      </p:sp>
      <p:sp>
        <p:nvSpPr>
          <p:cNvPr id="17" name="Text 13"/>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18" name="Text 14"/>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RECONHECIMENTO DE PADRÕES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Uma rede para os dígitos</a:t>
            </a:r>
            <a:endParaRPr lang="en-US" sz="3000" dirty="0"/>
          </a:p>
        </p:txBody>
      </p:sp>
      <p:sp>
        <p:nvSpPr>
          <p:cNvPr id="6" name="Shape 3"/>
          <p:cNvSpPr/>
          <p:nvPr/>
        </p:nvSpPr>
        <p:spPr>
          <a:xfrm>
            <a:off x="640080" y="1783080"/>
            <a:ext cx="6949440" cy="3036570"/>
          </a:xfrm>
          <a:prstGeom prst="roundRect">
            <a:avLst>
              <a:gd name="adj" fmla="val 3614"/>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85216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digitos.py (imports omitidos)</a:t>
            </a:r>
            <a:endParaRPr lang="en-US" sz="1100" dirty="0"/>
          </a:p>
        </p:txBody>
      </p:sp>
      <p:sp>
        <p:nvSpPr>
          <p:cNvPr id="11" name="Text 8"/>
          <p:cNvSpPr txBox="1"/>
          <p:nvPr/>
        </p:nvSpPr>
        <p:spPr>
          <a:xfrm>
            <a:off x="914400" y="22860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digitos</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load_digits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digitos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data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16.0</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FA698"/>
                </a:solidFill>
                <a:latin typeface="Courier New" pitchFamily="34" charset="0"/>
                <a:ea typeface="Courier New" pitchFamily="34" charset="-122"/>
                <a:cs typeface="Courier New" pitchFamily="34" charset="-120"/>
              </a:rPr>
              <a:t># pixels de 0 a 16 -&gt; 0 a 1</a:t>
            </a:r>
            <a:endParaRPr lang="en-US" sz="1100" dirty="0"/>
          </a:p>
        </p:txBody>
      </p:sp>
      <p:sp>
        <p:nvSpPr>
          <p:cNvPr id="13" name="Text 10"/>
          <p:cNvSpPr txBox="1"/>
          <p:nvPr/>
        </p:nvSpPr>
        <p:spPr>
          <a:xfrm>
            <a:off x="914400" y="27051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digitos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target</a:t>
            </a:r>
            <a:endParaRPr lang="en-US" sz="1100" dirty="0"/>
          </a:p>
        </p:txBody>
      </p:sp>
      <p:sp>
        <p:nvSpPr>
          <p:cNvPr id="14" name="Text 11"/>
          <p:cNvSpPr txBox="1"/>
          <p:nvPr/>
        </p:nvSpPr>
        <p:spPr>
          <a:xfrm>
            <a:off x="914400" y="29146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train_test_split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test_size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0.25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42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stratify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5433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MLPClassifier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hidden_layer_sizes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64</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max_iter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500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Text 14"/>
          <p:cNvSpPr txBox="1"/>
          <p:nvPr/>
        </p:nvSpPr>
        <p:spPr>
          <a:xfrm>
            <a:off x="914400" y="375285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8" name="Text 15"/>
          <p:cNvSpPr txBox="1"/>
          <p:nvPr/>
        </p:nvSpPr>
        <p:spPr>
          <a:xfrm>
            <a:off x="914400" y="3962400"/>
            <a:ext cx="640080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9" name="Text 16"/>
          <p:cNvSpPr txBox="1"/>
          <p:nvPr/>
        </p:nvSpPr>
        <p:spPr>
          <a:xfrm>
            <a:off x="914400" y="417195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"treino:"</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0" name="Text 17"/>
          <p:cNvSpPr txBox="1"/>
          <p:nvPr/>
        </p:nvSpPr>
        <p:spPr>
          <a:xfrm>
            <a:off x="914400" y="4381500"/>
            <a:ext cx="640080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"teste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1" name="Shape 18"/>
          <p:cNvSpPr/>
          <p:nvPr/>
        </p:nvSpPr>
        <p:spPr>
          <a:xfrm>
            <a:off x="7799832" y="1783080"/>
            <a:ext cx="1828800" cy="1828800"/>
          </a:xfrm>
          <a:prstGeom prst="roundRect">
            <a:avLst>
              <a:gd name="adj" fmla="val 6000"/>
            </a:avLst>
          </a:prstGeom>
          <a:solidFill>
            <a:srgbClr val="FFEBDD"/>
          </a:solidFill>
          <a:ln w="12700">
            <a:solidFill>
              <a:srgbClr val="FFEBDD"/>
            </a:solidFill>
            <a:prstDash val="solid"/>
          </a:ln>
        </p:spPr>
      </p:sp>
      <p:sp>
        <p:nvSpPr>
          <p:cNvPr id="22" name="Text 19"/>
          <p:cNvSpPr txBox="1"/>
          <p:nvPr/>
        </p:nvSpPr>
        <p:spPr>
          <a:xfrm>
            <a:off x="7799832" y="1892808"/>
            <a:ext cx="1828800" cy="1005840"/>
          </a:xfrm>
          <a:prstGeom prst="rect">
            <a:avLst/>
          </a:prstGeom>
          <a:noFill/>
          <a:ln/>
        </p:spPr>
        <p:txBody>
          <a:bodyPr wrap="square" lIns="0" tIns="0" rIns="0" bIns="0" rtlCol="0" anchor="ctr"/>
          <a:lstStyle/>
          <a:p>
            <a:pPr algn="ctr" indent="0" marL="0">
              <a:buNone/>
            </a:pPr>
            <a:r>
              <a:rPr lang="en-US" sz="4000" b="1" dirty="0">
                <a:solidFill>
                  <a:srgbClr val="B34700"/>
                </a:solidFill>
                <a:latin typeface="Cambria" pitchFamily="34" charset="0"/>
                <a:ea typeface="Cambria" pitchFamily="34" charset="-122"/>
                <a:cs typeface="Cambria" pitchFamily="34" charset="-120"/>
              </a:rPr>
              <a:t>1,000</a:t>
            </a:r>
            <a:endParaRPr lang="en-US" sz="4000" dirty="0"/>
          </a:p>
        </p:txBody>
      </p:sp>
      <p:sp>
        <p:nvSpPr>
          <p:cNvPr id="23" name="Text 20"/>
          <p:cNvSpPr txBox="1"/>
          <p:nvPr/>
        </p:nvSpPr>
        <p:spPr>
          <a:xfrm>
            <a:off x="7936992" y="2880360"/>
            <a:ext cx="1554480" cy="658368"/>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treino</a:t>
            </a:r>
            <a:endParaRPr lang="en-US" sz="1400" dirty="0"/>
          </a:p>
        </p:txBody>
      </p:sp>
      <p:sp>
        <p:nvSpPr>
          <p:cNvPr id="24" name="Shape 21"/>
          <p:cNvSpPr/>
          <p:nvPr/>
        </p:nvSpPr>
        <p:spPr>
          <a:xfrm>
            <a:off x="9720072" y="1783080"/>
            <a:ext cx="1828800" cy="1828800"/>
          </a:xfrm>
          <a:prstGeom prst="roundRect">
            <a:avLst>
              <a:gd name="adj" fmla="val 6000"/>
            </a:avLst>
          </a:prstGeom>
          <a:solidFill>
            <a:srgbClr val="F1F6F3"/>
          </a:solidFill>
          <a:ln w="12700">
            <a:solidFill>
              <a:srgbClr val="F1F6F3"/>
            </a:solidFill>
            <a:prstDash val="solid"/>
          </a:ln>
        </p:spPr>
      </p:sp>
      <p:sp>
        <p:nvSpPr>
          <p:cNvPr id="25" name="Text 22"/>
          <p:cNvSpPr txBox="1"/>
          <p:nvPr/>
        </p:nvSpPr>
        <p:spPr>
          <a:xfrm>
            <a:off x="9720072" y="1892808"/>
            <a:ext cx="1828800" cy="1005840"/>
          </a:xfrm>
          <a:prstGeom prst="rect">
            <a:avLst/>
          </a:prstGeom>
          <a:noFill/>
          <a:ln/>
        </p:spPr>
        <p:txBody>
          <a:bodyPr wrap="square" lIns="0" tIns="0" rIns="0" bIns="0" rtlCol="0" anchor="ctr"/>
          <a:lstStyle/>
          <a:p>
            <a:pPr algn="ctr" indent="0" marL="0">
              <a:buNone/>
            </a:pPr>
            <a:r>
              <a:rPr lang="en-US" sz="4000" b="1" dirty="0">
                <a:solidFill>
                  <a:srgbClr val="066B47"/>
                </a:solidFill>
                <a:latin typeface="Cambria" pitchFamily="34" charset="0"/>
                <a:ea typeface="Cambria" pitchFamily="34" charset="-122"/>
                <a:cs typeface="Cambria" pitchFamily="34" charset="-120"/>
              </a:rPr>
              <a:t>0,984</a:t>
            </a:r>
            <a:endParaRPr lang="en-US" sz="4000" dirty="0"/>
          </a:p>
        </p:txBody>
      </p:sp>
      <p:sp>
        <p:nvSpPr>
          <p:cNvPr id="26" name="Text 23"/>
          <p:cNvSpPr txBox="1"/>
          <p:nvPr/>
        </p:nvSpPr>
        <p:spPr>
          <a:xfrm>
            <a:off x="9857232" y="2880360"/>
            <a:ext cx="1554480" cy="658368"/>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teste</a:t>
            </a:r>
            <a:endParaRPr lang="en-US" sz="1400" dirty="0"/>
          </a:p>
        </p:txBody>
      </p:sp>
      <p:sp>
        <p:nvSpPr>
          <p:cNvPr id="27" name="Shape 24"/>
          <p:cNvSpPr/>
          <p:nvPr/>
        </p:nvSpPr>
        <p:spPr>
          <a:xfrm>
            <a:off x="640080" y="5048250"/>
            <a:ext cx="10911535" cy="1078230"/>
          </a:xfrm>
          <a:prstGeom prst="roundRect">
            <a:avLst>
              <a:gd name="adj" fmla="val 10177"/>
            </a:avLst>
          </a:prstGeom>
          <a:solidFill>
            <a:srgbClr val="FFEBDD"/>
          </a:solidFill>
          <a:ln w="12700">
            <a:solidFill>
              <a:srgbClr val="FFEBDD"/>
            </a:solidFill>
            <a:prstDash val="solid"/>
          </a:ln>
        </p:spPr>
      </p:sp>
      <p:sp>
        <p:nvSpPr>
          <p:cNvPr id="28" name="Text 25"/>
          <p:cNvSpPr txBox="1"/>
          <p:nvPr/>
        </p:nvSpPr>
        <p:spPr>
          <a:xfrm>
            <a:off x="914400" y="5048250"/>
            <a:ext cx="10362895" cy="107823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Acerta 98,4% dos 450 dígitos de teste. Treino de 1,000 contra teste de 0,984: uma pequena diferença, comum em redes, que pede atenção (aula 09). Em um problema de 10 classes, chutar acertaria só 10%.</a:t>
            </a:r>
            <a:endParaRPr lang="en-US" sz="1400" dirty="0"/>
          </a:p>
        </p:txBody>
      </p:sp>
      <p:sp>
        <p:nvSpPr>
          <p:cNvPr id="29" name="Text 26"/>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0" name="Text 27"/>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RECONHECIMENTO DE PADRÕES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Onde a rede erra: a matriz de confusão</a:t>
            </a:r>
            <a:endParaRPr lang="en-US" sz="3000" dirty="0"/>
          </a:p>
        </p:txBody>
      </p:sp>
      <p:sp>
        <p:nvSpPr>
          <p:cNvPr id="6" name="Shape 3"/>
          <p:cNvSpPr/>
          <p:nvPr/>
        </p:nvSpPr>
        <p:spPr>
          <a:xfrm>
            <a:off x="640080" y="1783080"/>
            <a:ext cx="5852160" cy="2103120"/>
          </a:xfrm>
          <a:prstGeom prst="roundRect">
            <a:avLst>
              <a:gd name="adj" fmla="val 521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47548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digitos.py (continuação)</a:t>
            </a:r>
            <a:endParaRPr lang="en-US" sz="1100" dirty="0"/>
          </a:p>
        </p:txBody>
      </p:sp>
      <p:sp>
        <p:nvSpPr>
          <p:cNvPr id="11" name="Text 8"/>
          <p:cNvSpPr txBox="1"/>
          <p:nvPr/>
        </p:nvSpPr>
        <p:spPr>
          <a:xfrm>
            <a:off x="914400" y="2286000"/>
            <a:ext cx="53035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pred</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rede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predict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X_te</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2" name="Text 9"/>
          <p:cNvSpPr txBox="1"/>
          <p:nvPr/>
        </p:nvSpPr>
        <p:spPr>
          <a:xfrm>
            <a:off x="914400" y="2514600"/>
            <a:ext cx="53035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cm</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confusion_matrix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y_te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pred</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3" name="Text 10"/>
          <p:cNvSpPr txBox="1"/>
          <p:nvPr/>
        </p:nvSpPr>
        <p:spPr>
          <a:xfrm>
            <a:off x="914400" y="2743200"/>
            <a:ext cx="53035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erros</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i</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j</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cm</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i</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j</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4" name="Text 11"/>
          <p:cNvSpPr txBox="1"/>
          <p:nvPr/>
        </p:nvSpPr>
        <p:spPr>
          <a:xfrm>
            <a:off x="914400" y="2971800"/>
            <a:ext cx="53035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for</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i</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8CC8FF"/>
                </a:solidFill>
                <a:latin typeface="Courier New" pitchFamily="34" charset="0"/>
                <a:ea typeface="Courier New" pitchFamily="34" charset="-122"/>
                <a:cs typeface="Courier New" pitchFamily="34" charset="-120"/>
              </a:rPr>
              <a:t>range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for</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j</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8CC8FF"/>
                </a:solidFill>
                <a:latin typeface="Courier New" pitchFamily="34" charset="0"/>
                <a:ea typeface="Courier New" pitchFamily="34" charset="-122"/>
                <a:cs typeface="Courier New" pitchFamily="34" charset="-120"/>
              </a:rPr>
              <a:t>range</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10</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5" name="Text 12"/>
          <p:cNvSpPr txBox="1"/>
          <p:nvPr/>
        </p:nvSpPr>
        <p:spPr>
          <a:xfrm>
            <a:off x="914400" y="3200400"/>
            <a:ext cx="53035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if</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i</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j</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and</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cm</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i</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j</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6" name="Text 13"/>
          <p:cNvSpPr txBox="1"/>
          <p:nvPr/>
        </p:nvSpPr>
        <p:spPr>
          <a:xfrm>
            <a:off x="914400" y="3429000"/>
            <a:ext cx="5303520" cy="228600"/>
          </a:xfrm>
          <a:prstGeom prst="rect">
            <a:avLst/>
          </a:prstGeom>
          <a:noFill/>
          <a:ln/>
        </p:spPr>
        <p:txBody>
          <a:bodyPr wrap="none" lIns="0" tIns="0" rIns="0" bIns="0" rtlCol="0" anchor="ctr"/>
          <a:lstStyle/>
          <a:p>
            <a:pPr indent="0" marL="0">
              <a:buNone/>
            </a:pPr>
            <a:r>
              <a:rPr lang="en-US" sz="1200" dirty="0">
                <a:solidFill>
                  <a:srgbClr val="8CC8FF"/>
                </a:solidFill>
                <a:latin typeface="Courier New" pitchFamily="34" charset="0"/>
                <a:ea typeface="Courier New" pitchFamily="34" charset="-122"/>
                <a:cs typeface="Courier New" pitchFamily="34" charset="-120"/>
              </a:rPr>
              <a:t>print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7EE2B0"/>
                </a:solidFill>
                <a:latin typeface="Courier New" pitchFamily="34" charset="0"/>
                <a:ea typeface="Courier New" pitchFamily="34" charset="-122"/>
                <a:cs typeface="Courier New" pitchFamily="34" charset="-120"/>
              </a:rPr>
              <a:t>"erros (real, previsto, quantos):"</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erros</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7" name="Shape 14"/>
          <p:cNvSpPr/>
          <p:nvPr/>
        </p:nvSpPr>
        <p:spPr>
          <a:xfrm>
            <a:off x="6702552" y="1783080"/>
            <a:ext cx="4846320" cy="457200"/>
          </a:xfrm>
          <a:prstGeom prst="roundRect">
            <a:avLst>
              <a:gd name="adj" fmla="val 20000"/>
            </a:avLst>
          </a:prstGeom>
          <a:solidFill>
            <a:srgbClr val="0F2A1D"/>
          </a:solidFill>
          <a:ln w="12700">
            <a:solidFill>
              <a:srgbClr val="0F2A1D"/>
            </a:solidFill>
            <a:prstDash val="solid"/>
          </a:ln>
        </p:spPr>
      </p:sp>
      <p:sp>
        <p:nvSpPr>
          <p:cNvPr id="18" name="Text 15"/>
          <p:cNvSpPr txBox="1"/>
          <p:nvPr/>
        </p:nvSpPr>
        <p:spPr>
          <a:xfrm>
            <a:off x="6812280" y="1783080"/>
            <a:ext cx="13716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Real</a:t>
            </a:r>
            <a:endParaRPr lang="en-US" sz="1300" dirty="0"/>
          </a:p>
        </p:txBody>
      </p:sp>
      <p:sp>
        <p:nvSpPr>
          <p:cNvPr id="19" name="Text 16"/>
          <p:cNvSpPr txBox="1"/>
          <p:nvPr/>
        </p:nvSpPr>
        <p:spPr>
          <a:xfrm>
            <a:off x="8366760" y="1783080"/>
            <a:ext cx="15544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Previsto</a:t>
            </a:r>
            <a:endParaRPr lang="en-US" sz="1300" dirty="0"/>
          </a:p>
        </p:txBody>
      </p:sp>
      <p:sp>
        <p:nvSpPr>
          <p:cNvPr id="20" name="Text 17"/>
          <p:cNvSpPr txBox="1"/>
          <p:nvPr/>
        </p:nvSpPr>
        <p:spPr>
          <a:xfrm>
            <a:off x="10104120" y="1783080"/>
            <a:ext cx="13716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Casos</a:t>
            </a:r>
            <a:endParaRPr lang="en-US" sz="1300" dirty="0"/>
          </a:p>
        </p:txBody>
      </p:sp>
      <p:sp>
        <p:nvSpPr>
          <p:cNvPr id="21" name="Shape 18"/>
          <p:cNvSpPr/>
          <p:nvPr/>
        </p:nvSpPr>
        <p:spPr>
          <a:xfrm>
            <a:off x="6702552" y="2313432"/>
            <a:ext cx="4846320" cy="448056"/>
          </a:xfrm>
          <a:prstGeom prst="roundRect">
            <a:avLst>
              <a:gd name="adj" fmla="val 16327"/>
            </a:avLst>
          </a:prstGeom>
          <a:solidFill>
            <a:srgbClr val="F1F6F3"/>
          </a:solidFill>
          <a:ln w="12700">
            <a:solidFill>
              <a:srgbClr val="F1F6F3"/>
            </a:solidFill>
            <a:prstDash val="solid"/>
          </a:ln>
        </p:spPr>
      </p:sp>
      <p:sp>
        <p:nvSpPr>
          <p:cNvPr id="22" name="Text 19"/>
          <p:cNvSpPr txBox="1"/>
          <p:nvPr/>
        </p:nvSpPr>
        <p:spPr>
          <a:xfrm>
            <a:off x="6812280" y="231343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0</a:t>
            </a:r>
            <a:endParaRPr lang="en-US" sz="1200" dirty="0"/>
          </a:p>
        </p:txBody>
      </p:sp>
      <p:sp>
        <p:nvSpPr>
          <p:cNvPr id="23" name="Text 20"/>
          <p:cNvSpPr txBox="1"/>
          <p:nvPr/>
        </p:nvSpPr>
        <p:spPr>
          <a:xfrm>
            <a:off x="8366760" y="2313432"/>
            <a:ext cx="155448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4</a:t>
            </a:r>
            <a:endParaRPr lang="en-US" sz="1200" dirty="0"/>
          </a:p>
        </p:txBody>
      </p:sp>
      <p:sp>
        <p:nvSpPr>
          <p:cNvPr id="24" name="Text 21"/>
          <p:cNvSpPr txBox="1"/>
          <p:nvPr/>
        </p:nvSpPr>
        <p:spPr>
          <a:xfrm>
            <a:off x="10104120" y="231343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5" name="Shape 22"/>
          <p:cNvSpPr/>
          <p:nvPr/>
        </p:nvSpPr>
        <p:spPr>
          <a:xfrm>
            <a:off x="6702552" y="2816352"/>
            <a:ext cx="4846320" cy="448056"/>
          </a:xfrm>
          <a:prstGeom prst="roundRect">
            <a:avLst>
              <a:gd name="adj" fmla="val 16327"/>
            </a:avLst>
          </a:prstGeom>
          <a:solidFill>
            <a:srgbClr val="E6EEE9"/>
          </a:solidFill>
          <a:ln w="12700">
            <a:solidFill>
              <a:srgbClr val="E6EEE9"/>
            </a:solidFill>
            <a:prstDash val="solid"/>
          </a:ln>
        </p:spPr>
      </p:sp>
      <p:sp>
        <p:nvSpPr>
          <p:cNvPr id="26" name="Text 23"/>
          <p:cNvSpPr txBox="1"/>
          <p:nvPr/>
        </p:nvSpPr>
        <p:spPr>
          <a:xfrm>
            <a:off x="6812280" y="281635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7" name="Text 24"/>
          <p:cNvSpPr txBox="1"/>
          <p:nvPr/>
        </p:nvSpPr>
        <p:spPr>
          <a:xfrm>
            <a:off x="8366760" y="2816352"/>
            <a:ext cx="155448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8</a:t>
            </a:r>
            <a:endParaRPr lang="en-US" sz="1200" dirty="0"/>
          </a:p>
        </p:txBody>
      </p:sp>
      <p:sp>
        <p:nvSpPr>
          <p:cNvPr id="28" name="Text 25"/>
          <p:cNvSpPr txBox="1"/>
          <p:nvPr/>
        </p:nvSpPr>
        <p:spPr>
          <a:xfrm>
            <a:off x="10104120" y="281635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29" name="Shape 26"/>
          <p:cNvSpPr/>
          <p:nvPr/>
        </p:nvSpPr>
        <p:spPr>
          <a:xfrm>
            <a:off x="6702552" y="3319272"/>
            <a:ext cx="4846320" cy="448056"/>
          </a:xfrm>
          <a:prstGeom prst="roundRect">
            <a:avLst>
              <a:gd name="adj" fmla="val 16327"/>
            </a:avLst>
          </a:prstGeom>
          <a:solidFill>
            <a:srgbClr val="F1F6F3"/>
          </a:solidFill>
          <a:ln w="12700">
            <a:solidFill>
              <a:srgbClr val="F1F6F3"/>
            </a:solidFill>
            <a:prstDash val="solid"/>
          </a:ln>
        </p:spPr>
      </p:sp>
      <p:sp>
        <p:nvSpPr>
          <p:cNvPr id="30" name="Text 27"/>
          <p:cNvSpPr txBox="1"/>
          <p:nvPr/>
        </p:nvSpPr>
        <p:spPr>
          <a:xfrm>
            <a:off x="6812280" y="331927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5</a:t>
            </a:r>
            <a:endParaRPr lang="en-US" sz="1200" dirty="0"/>
          </a:p>
        </p:txBody>
      </p:sp>
      <p:sp>
        <p:nvSpPr>
          <p:cNvPr id="31" name="Text 28"/>
          <p:cNvSpPr txBox="1"/>
          <p:nvPr/>
        </p:nvSpPr>
        <p:spPr>
          <a:xfrm>
            <a:off x="8366760" y="3319272"/>
            <a:ext cx="155448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9</a:t>
            </a:r>
            <a:endParaRPr lang="en-US" sz="1200" dirty="0"/>
          </a:p>
        </p:txBody>
      </p:sp>
      <p:sp>
        <p:nvSpPr>
          <p:cNvPr id="32" name="Text 29"/>
          <p:cNvSpPr txBox="1"/>
          <p:nvPr/>
        </p:nvSpPr>
        <p:spPr>
          <a:xfrm>
            <a:off x="10104120" y="331927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3" name="Shape 30"/>
          <p:cNvSpPr/>
          <p:nvPr/>
        </p:nvSpPr>
        <p:spPr>
          <a:xfrm>
            <a:off x="6702552" y="3822192"/>
            <a:ext cx="4846320" cy="448056"/>
          </a:xfrm>
          <a:prstGeom prst="roundRect">
            <a:avLst>
              <a:gd name="adj" fmla="val 16327"/>
            </a:avLst>
          </a:prstGeom>
          <a:solidFill>
            <a:srgbClr val="E6EEE9"/>
          </a:solidFill>
          <a:ln w="12700">
            <a:solidFill>
              <a:srgbClr val="E6EEE9"/>
            </a:solidFill>
            <a:prstDash val="solid"/>
          </a:ln>
        </p:spPr>
      </p:sp>
      <p:sp>
        <p:nvSpPr>
          <p:cNvPr id="34" name="Text 31"/>
          <p:cNvSpPr txBox="1"/>
          <p:nvPr/>
        </p:nvSpPr>
        <p:spPr>
          <a:xfrm>
            <a:off x="6812280" y="382219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6</a:t>
            </a:r>
            <a:endParaRPr lang="en-US" sz="1200" dirty="0"/>
          </a:p>
        </p:txBody>
      </p:sp>
      <p:sp>
        <p:nvSpPr>
          <p:cNvPr id="35" name="Text 32"/>
          <p:cNvSpPr txBox="1"/>
          <p:nvPr/>
        </p:nvSpPr>
        <p:spPr>
          <a:xfrm>
            <a:off x="8366760" y="3822192"/>
            <a:ext cx="155448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8</a:t>
            </a:r>
            <a:endParaRPr lang="en-US" sz="1200" dirty="0"/>
          </a:p>
        </p:txBody>
      </p:sp>
      <p:sp>
        <p:nvSpPr>
          <p:cNvPr id="36" name="Text 33"/>
          <p:cNvSpPr txBox="1"/>
          <p:nvPr/>
        </p:nvSpPr>
        <p:spPr>
          <a:xfrm>
            <a:off x="10104120" y="382219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37" name="Shape 34"/>
          <p:cNvSpPr/>
          <p:nvPr/>
        </p:nvSpPr>
        <p:spPr>
          <a:xfrm>
            <a:off x="6702552" y="4325112"/>
            <a:ext cx="4846320" cy="448056"/>
          </a:xfrm>
          <a:prstGeom prst="roundRect">
            <a:avLst>
              <a:gd name="adj" fmla="val 16327"/>
            </a:avLst>
          </a:prstGeom>
          <a:solidFill>
            <a:srgbClr val="FFEBDD"/>
          </a:solidFill>
          <a:ln w="12700">
            <a:solidFill>
              <a:srgbClr val="FFEBDD"/>
            </a:solidFill>
            <a:prstDash val="solid"/>
          </a:ln>
        </p:spPr>
      </p:sp>
      <p:sp>
        <p:nvSpPr>
          <p:cNvPr id="38" name="Text 35"/>
          <p:cNvSpPr txBox="1"/>
          <p:nvPr/>
        </p:nvSpPr>
        <p:spPr>
          <a:xfrm>
            <a:off x="6812280" y="432511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8</a:t>
            </a:r>
            <a:endParaRPr lang="en-US" sz="1200" dirty="0"/>
          </a:p>
        </p:txBody>
      </p:sp>
      <p:sp>
        <p:nvSpPr>
          <p:cNvPr id="39" name="Text 36"/>
          <p:cNvSpPr txBox="1"/>
          <p:nvPr/>
        </p:nvSpPr>
        <p:spPr>
          <a:xfrm>
            <a:off x="8366760" y="4325112"/>
            <a:ext cx="155448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1</a:t>
            </a:r>
            <a:endParaRPr lang="en-US" sz="1200" dirty="0"/>
          </a:p>
        </p:txBody>
      </p:sp>
      <p:sp>
        <p:nvSpPr>
          <p:cNvPr id="40" name="Text 37"/>
          <p:cNvSpPr txBox="1"/>
          <p:nvPr/>
        </p:nvSpPr>
        <p:spPr>
          <a:xfrm>
            <a:off x="10104120" y="4325112"/>
            <a:ext cx="1371600" cy="448056"/>
          </a:xfrm>
          <a:prstGeom prst="rect">
            <a:avLst/>
          </a:prstGeom>
          <a:noFill/>
          <a:ln/>
        </p:spPr>
        <p:txBody>
          <a:bodyPr wrap="square" lIns="0" tIns="0" rIns="0" bIns="0" rtlCol="0" anchor="ctr"/>
          <a:lstStyle/>
          <a:p>
            <a:pPr indent="0" marL="0">
              <a:buNone/>
            </a:pPr>
            <a:r>
              <a:rPr lang="en-US" sz="1200" dirty="0">
                <a:solidFill>
                  <a:srgbClr val="0B1A12"/>
                </a:solidFill>
                <a:latin typeface="Courier New" pitchFamily="34" charset="0"/>
                <a:ea typeface="Courier New" pitchFamily="34" charset="-122"/>
                <a:cs typeface="Courier New" pitchFamily="34" charset="-120"/>
              </a:rPr>
              <a:t>3</a:t>
            </a:r>
            <a:endParaRPr lang="en-US" sz="1200" dirty="0"/>
          </a:p>
        </p:txBody>
      </p:sp>
      <p:sp>
        <p:nvSpPr>
          <p:cNvPr id="41" name="Shape 38"/>
          <p:cNvSpPr/>
          <p:nvPr/>
        </p:nvSpPr>
        <p:spPr>
          <a:xfrm>
            <a:off x="640080" y="4114800"/>
            <a:ext cx="5852160" cy="2011680"/>
          </a:xfrm>
          <a:prstGeom prst="roundRect">
            <a:avLst>
              <a:gd name="adj" fmla="val 5455"/>
            </a:avLst>
          </a:prstGeom>
          <a:solidFill>
            <a:srgbClr val="FFEBDD"/>
          </a:solidFill>
          <a:ln w="12700">
            <a:solidFill>
              <a:srgbClr val="FFEBDD"/>
            </a:solidFill>
            <a:prstDash val="solid"/>
          </a:ln>
        </p:spPr>
      </p:sp>
      <p:sp>
        <p:nvSpPr>
          <p:cNvPr id="42" name="Text 39"/>
          <p:cNvSpPr txBox="1"/>
          <p:nvPr/>
        </p:nvSpPr>
        <p:spPr>
          <a:xfrm>
            <a:off x="914400" y="4114800"/>
            <a:ext cx="5303520" cy="201168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Só 7 erros em 450. O mais frequente: o 8 confundido com o 1 (3 vezes).</a:t>
            </a:r>
            <a:endParaRPr lang="en-US" sz="1300" dirty="0"/>
          </a:p>
        </p:txBody>
      </p:sp>
      <p:sp>
        <p:nvSpPr>
          <p:cNvPr id="43" name="Text 40"/>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44" name="Text 41"/>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REGRESSÃO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Redes também fazem regressão: MLPRegressor</a:t>
            </a:r>
            <a:endParaRPr lang="en-US" sz="3000" dirty="0"/>
          </a:p>
        </p:txBody>
      </p:sp>
      <p:sp>
        <p:nvSpPr>
          <p:cNvPr id="6" name="Shape 3"/>
          <p:cNvSpPr/>
          <p:nvPr/>
        </p:nvSpPr>
        <p:spPr>
          <a:xfrm>
            <a:off x="640080" y="1783080"/>
            <a:ext cx="6766560" cy="2407920"/>
          </a:xfrm>
          <a:prstGeom prst="roundRect">
            <a:avLst>
              <a:gd name="adj" fmla="val 455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56692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regressao_mlp.py (resumido)</a:t>
            </a:r>
            <a:endParaRPr lang="en-US" sz="1100" dirty="0"/>
          </a:p>
        </p:txBody>
      </p:sp>
      <p:sp>
        <p:nvSpPr>
          <p:cNvPr id="11" name="Text 8"/>
          <p:cNvSpPr txBox="1"/>
          <p:nvPr/>
        </p:nvSpPr>
        <p:spPr>
          <a:xfrm>
            <a:off x="914400" y="228600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sin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ravel</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rng</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normal</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0.15</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200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2" name="Text 9"/>
          <p:cNvSpPr txBox="1"/>
          <p:nvPr/>
        </p:nvSpPr>
        <p:spPr>
          <a:xfrm>
            <a:off x="914400" y="249555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make_pipeline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StandardScaler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MLPRegressor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hidden_layer_sizes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32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activation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"tanh"</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4" name="Text 11"/>
          <p:cNvSpPr txBox="1"/>
          <p:nvPr/>
        </p:nvSpPr>
        <p:spPr>
          <a:xfrm>
            <a:off x="914400" y="291465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max_iter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5000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6" name="Text 13"/>
          <p:cNvSpPr txBox="1"/>
          <p:nvPr/>
        </p:nvSpPr>
        <p:spPr>
          <a:xfrm>
            <a:off x="914400" y="3333750"/>
            <a:ext cx="62179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reta</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LinearRegression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7" name="Text 14"/>
          <p:cNvSpPr txBox="1"/>
          <p:nvPr/>
        </p:nvSpPr>
        <p:spPr>
          <a:xfrm>
            <a:off x="914400" y="3543300"/>
            <a:ext cx="621792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"R2 teste, 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rede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8" name="Text 15"/>
          <p:cNvSpPr txBox="1"/>
          <p:nvPr/>
        </p:nvSpPr>
        <p:spPr>
          <a:xfrm>
            <a:off x="914400" y="3752850"/>
            <a:ext cx="621792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7EE2B0"/>
                </a:solidFill>
                <a:latin typeface="Courier New" pitchFamily="34" charset="0"/>
                <a:ea typeface="Courier New" pitchFamily="34" charset="-122"/>
                <a:cs typeface="Courier New" pitchFamily="34" charset="-120"/>
              </a:rPr>
              <a:t>"R2 teste, reta:"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reta</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9" name="Shape 16"/>
          <p:cNvSpPr/>
          <p:nvPr/>
        </p:nvSpPr>
        <p:spPr>
          <a:xfrm>
            <a:off x="7616952" y="1783080"/>
            <a:ext cx="1920240" cy="1828800"/>
          </a:xfrm>
          <a:prstGeom prst="roundRect">
            <a:avLst>
              <a:gd name="adj" fmla="val 6000"/>
            </a:avLst>
          </a:prstGeom>
          <a:solidFill>
            <a:srgbClr val="F1F6F3"/>
          </a:solidFill>
          <a:ln w="12700">
            <a:solidFill>
              <a:srgbClr val="F1F6F3"/>
            </a:solidFill>
            <a:prstDash val="solid"/>
          </a:ln>
        </p:spPr>
      </p:sp>
      <p:sp>
        <p:nvSpPr>
          <p:cNvPr id="20" name="Text 17"/>
          <p:cNvSpPr txBox="1"/>
          <p:nvPr/>
        </p:nvSpPr>
        <p:spPr>
          <a:xfrm>
            <a:off x="7616952" y="1892808"/>
            <a:ext cx="1920240" cy="1005840"/>
          </a:xfrm>
          <a:prstGeom prst="rect">
            <a:avLst/>
          </a:prstGeom>
          <a:noFill/>
          <a:ln/>
        </p:spPr>
        <p:txBody>
          <a:bodyPr wrap="square" lIns="0" tIns="0" rIns="0" bIns="0" rtlCol="0" anchor="ctr"/>
          <a:lstStyle/>
          <a:p>
            <a:pPr algn="ctr" indent="0" marL="0">
              <a:buNone/>
            </a:pPr>
            <a:r>
              <a:rPr lang="en-US" sz="4000" b="1" dirty="0">
                <a:solidFill>
                  <a:srgbClr val="066B47"/>
                </a:solidFill>
                <a:latin typeface="Cambria" pitchFamily="34" charset="0"/>
                <a:ea typeface="Cambria" pitchFamily="34" charset="-122"/>
                <a:cs typeface="Cambria" pitchFamily="34" charset="-120"/>
              </a:rPr>
              <a:t>0,884</a:t>
            </a:r>
            <a:endParaRPr lang="en-US" sz="4000" dirty="0"/>
          </a:p>
        </p:txBody>
      </p:sp>
      <p:sp>
        <p:nvSpPr>
          <p:cNvPr id="21" name="Text 18"/>
          <p:cNvSpPr txBox="1"/>
          <p:nvPr/>
        </p:nvSpPr>
        <p:spPr>
          <a:xfrm>
            <a:off x="7754112" y="2880360"/>
            <a:ext cx="1645920" cy="658368"/>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R² da rede</a:t>
            </a:r>
            <a:endParaRPr lang="en-US" sz="1400" dirty="0"/>
          </a:p>
        </p:txBody>
      </p:sp>
      <p:sp>
        <p:nvSpPr>
          <p:cNvPr id="22" name="Shape 19"/>
          <p:cNvSpPr/>
          <p:nvPr/>
        </p:nvSpPr>
        <p:spPr>
          <a:xfrm>
            <a:off x="9628632" y="1783080"/>
            <a:ext cx="1920240" cy="1828800"/>
          </a:xfrm>
          <a:prstGeom prst="roundRect">
            <a:avLst>
              <a:gd name="adj" fmla="val 6000"/>
            </a:avLst>
          </a:prstGeom>
          <a:solidFill>
            <a:srgbClr val="FBE3EC"/>
          </a:solidFill>
          <a:ln w="12700">
            <a:solidFill>
              <a:srgbClr val="FBE3EC"/>
            </a:solidFill>
            <a:prstDash val="solid"/>
          </a:ln>
        </p:spPr>
      </p:sp>
      <p:sp>
        <p:nvSpPr>
          <p:cNvPr id="23" name="Text 20"/>
          <p:cNvSpPr txBox="1"/>
          <p:nvPr/>
        </p:nvSpPr>
        <p:spPr>
          <a:xfrm>
            <a:off x="9628632" y="1892808"/>
            <a:ext cx="1920240" cy="1005840"/>
          </a:xfrm>
          <a:prstGeom prst="rect">
            <a:avLst/>
          </a:prstGeom>
          <a:noFill/>
          <a:ln/>
        </p:spPr>
        <p:txBody>
          <a:bodyPr wrap="square" lIns="0" tIns="0" rIns="0" bIns="0" rtlCol="0" anchor="ctr"/>
          <a:lstStyle/>
          <a:p>
            <a:pPr algn="ctr" indent="0" marL="0">
              <a:buNone/>
            </a:pPr>
            <a:r>
              <a:rPr lang="en-US" sz="4000" b="1" dirty="0">
                <a:solidFill>
                  <a:srgbClr val="A31548"/>
                </a:solidFill>
                <a:latin typeface="Cambria" pitchFamily="34" charset="0"/>
                <a:ea typeface="Cambria" pitchFamily="34" charset="-122"/>
                <a:cs typeface="Cambria" pitchFamily="34" charset="-120"/>
              </a:rPr>
              <a:t>−0,002</a:t>
            </a:r>
            <a:endParaRPr lang="en-US" sz="4000" dirty="0"/>
          </a:p>
        </p:txBody>
      </p:sp>
      <p:sp>
        <p:nvSpPr>
          <p:cNvPr id="24" name="Text 21"/>
          <p:cNvSpPr txBox="1"/>
          <p:nvPr/>
        </p:nvSpPr>
        <p:spPr>
          <a:xfrm>
            <a:off x="9765792" y="2880360"/>
            <a:ext cx="1645920" cy="658368"/>
          </a:xfrm>
          <a:prstGeom prst="rect">
            <a:avLst/>
          </a:prstGeom>
          <a:noFill/>
          <a:ln/>
        </p:spPr>
        <p:txBody>
          <a:bodyPr wrap="square" lIns="0" tIns="0" rIns="0" bIns="0" rtlCol="0" anchor="t"/>
          <a:lstStyle/>
          <a:p>
            <a:pPr algn="ctr" indent="0" marL="0">
              <a:buNone/>
            </a:pPr>
            <a:r>
              <a:rPr lang="en-US" sz="1400" dirty="0">
                <a:solidFill>
                  <a:srgbClr val="0B1A12"/>
                </a:solidFill>
                <a:latin typeface="Calibri" pitchFamily="34" charset="0"/>
                <a:ea typeface="Calibri" pitchFamily="34" charset="-122"/>
                <a:cs typeface="Calibri" pitchFamily="34" charset="-120"/>
              </a:rPr>
              <a:t>R² da reta</a:t>
            </a:r>
            <a:endParaRPr lang="en-US" sz="1400" dirty="0"/>
          </a:p>
        </p:txBody>
      </p:sp>
      <p:sp>
        <p:nvSpPr>
          <p:cNvPr id="25" name="Shape 22"/>
          <p:cNvSpPr/>
          <p:nvPr/>
        </p:nvSpPr>
        <p:spPr>
          <a:xfrm>
            <a:off x="640080" y="4419600"/>
            <a:ext cx="10911535" cy="1706880"/>
          </a:xfrm>
          <a:prstGeom prst="roundRect">
            <a:avLst>
              <a:gd name="adj" fmla="val 6429"/>
            </a:avLst>
          </a:prstGeom>
          <a:solidFill>
            <a:srgbClr val="FFEBDD"/>
          </a:solidFill>
          <a:ln w="12700">
            <a:solidFill>
              <a:srgbClr val="FFEBDD"/>
            </a:solidFill>
            <a:prstDash val="solid"/>
          </a:ln>
        </p:spPr>
      </p:sp>
      <p:sp>
        <p:nvSpPr>
          <p:cNvPr id="26" name="Text 23"/>
          <p:cNvSpPr txBox="1"/>
          <p:nvPr/>
        </p:nvSpPr>
        <p:spPr>
          <a:xfrm>
            <a:off x="914400" y="4419600"/>
            <a:ext cx="10362895" cy="170688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O alvo é uma senoide: uma reta não explica nada (R² ≈ 0), a rede captura a curva (R² = 0,884 em dados de teste). Sem a escala e a tanh, a mesma rede teve R² de apenas 0,011 num teste que fizemos: escala e ativação importam.</a:t>
            </a:r>
            <a:endParaRPr lang="en-US" sz="1400" dirty="0"/>
          </a:p>
        </p:txBody>
      </p:sp>
      <p:sp>
        <p:nvSpPr>
          <p:cNvPr id="27" name="Text 24"/>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8" name="Text 25"/>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INTERPRETAÇÃO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Redes são caixas-pretas: o preço do poder</a:t>
            </a:r>
            <a:endParaRPr lang="en-US" sz="3000" dirty="0"/>
          </a:p>
        </p:txBody>
      </p:sp>
      <p:sp>
        <p:nvSpPr>
          <p:cNvPr id="6" name="Shape 3"/>
          <p:cNvSpPr/>
          <p:nvPr/>
        </p:nvSpPr>
        <p:spPr>
          <a:xfrm>
            <a:off x="640080" y="1783080"/>
            <a:ext cx="10911535" cy="457200"/>
          </a:xfrm>
          <a:prstGeom prst="roundRect">
            <a:avLst>
              <a:gd name="adj" fmla="val 20000"/>
            </a:avLst>
          </a:prstGeom>
          <a:solidFill>
            <a:srgbClr val="0F2A1D"/>
          </a:solidFill>
          <a:ln w="12700">
            <a:solidFill>
              <a:srgbClr val="0F2A1D"/>
            </a:solidFill>
            <a:prstDash val="solid"/>
          </a:ln>
        </p:spPr>
      </p:sp>
      <p:sp>
        <p:nvSpPr>
          <p:cNvPr id="7" name="Text 4"/>
          <p:cNvSpPr txBox="1"/>
          <p:nvPr/>
        </p:nvSpPr>
        <p:spPr>
          <a:xfrm>
            <a:off x="3154680" y="1783080"/>
            <a:ext cx="3992728"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Árvore de decisão (aula 10)</a:t>
            </a:r>
            <a:endParaRPr lang="en-US" sz="1500" dirty="0"/>
          </a:p>
        </p:txBody>
      </p:sp>
      <p:sp>
        <p:nvSpPr>
          <p:cNvPr id="8" name="Text 5"/>
          <p:cNvSpPr txBox="1"/>
          <p:nvPr/>
        </p:nvSpPr>
        <p:spPr>
          <a:xfrm>
            <a:off x="7421728" y="1783080"/>
            <a:ext cx="3992728"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Rede neural</a:t>
            </a:r>
            <a:endParaRPr lang="en-US" sz="1500" dirty="0"/>
          </a:p>
        </p:txBody>
      </p:sp>
      <p:sp>
        <p:nvSpPr>
          <p:cNvPr id="9" name="Shape 6"/>
          <p:cNvSpPr/>
          <p:nvPr/>
        </p:nvSpPr>
        <p:spPr>
          <a:xfrm>
            <a:off x="640080" y="2313432"/>
            <a:ext cx="10911535" cy="566928"/>
          </a:xfrm>
          <a:prstGeom prst="roundRect">
            <a:avLst>
              <a:gd name="adj" fmla="val 12903"/>
            </a:avLst>
          </a:prstGeom>
          <a:solidFill>
            <a:srgbClr val="F1F6F3"/>
          </a:solidFill>
          <a:ln w="12700">
            <a:solidFill>
              <a:srgbClr val="F1F6F3"/>
            </a:solidFill>
            <a:prstDash val="solid"/>
          </a:ln>
        </p:spPr>
      </p:sp>
      <p:sp>
        <p:nvSpPr>
          <p:cNvPr id="10" name="Text 7"/>
          <p:cNvSpPr txBox="1"/>
          <p:nvPr/>
        </p:nvSpPr>
        <p:spPr>
          <a:xfrm>
            <a:off x="777240" y="2313432"/>
            <a:ext cx="2194560" cy="566928"/>
          </a:xfrm>
          <a:prstGeom prst="rect">
            <a:avLst/>
          </a:prstGeom>
          <a:noFill/>
          <a:ln/>
        </p:spPr>
        <p:txBody>
          <a:bodyPr wrap="square" lIns="0" tIns="0" rIns="0" bIns="0" rtlCol="0" anchor="ctr"/>
          <a:lstStyle/>
          <a:p>
            <a:pPr indent="0" marL="0">
              <a:buNone/>
            </a:pPr>
            <a:r>
              <a:rPr lang="en-US" sz="1400" b="1" dirty="0">
                <a:solidFill>
                  <a:srgbClr val="066B47"/>
                </a:solidFill>
                <a:latin typeface="Calibri" pitchFamily="34" charset="0"/>
                <a:ea typeface="Calibri" pitchFamily="34" charset="-122"/>
                <a:cs typeface="Calibri" pitchFamily="34" charset="-120"/>
              </a:rPr>
              <a:t>Explicar uma previsão</a:t>
            </a:r>
            <a:endParaRPr lang="en-US" sz="1400" dirty="0"/>
          </a:p>
        </p:txBody>
      </p:sp>
      <p:sp>
        <p:nvSpPr>
          <p:cNvPr id="11" name="Text 8"/>
          <p:cNvSpPr txBox="1"/>
          <p:nvPr/>
        </p:nvSpPr>
        <p:spPr>
          <a:xfrm>
            <a:off x="3154680" y="2313432"/>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Seguir o caminho: perguntas e respostas</a:t>
            </a:r>
            <a:endParaRPr lang="en-US" sz="1400" dirty="0"/>
          </a:p>
        </p:txBody>
      </p:sp>
      <p:sp>
        <p:nvSpPr>
          <p:cNvPr id="12" name="Text 9"/>
          <p:cNvSpPr txBox="1"/>
          <p:nvPr/>
        </p:nvSpPr>
        <p:spPr>
          <a:xfrm>
            <a:off x="7421728" y="2313432"/>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Milhares de pesos: sem leitura direta</a:t>
            </a:r>
            <a:endParaRPr lang="en-US" sz="1400" dirty="0"/>
          </a:p>
        </p:txBody>
      </p:sp>
      <p:sp>
        <p:nvSpPr>
          <p:cNvPr id="13" name="Shape 10"/>
          <p:cNvSpPr/>
          <p:nvPr/>
        </p:nvSpPr>
        <p:spPr>
          <a:xfrm>
            <a:off x="640080" y="2935224"/>
            <a:ext cx="10911535" cy="566928"/>
          </a:xfrm>
          <a:prstGeom prst="roundRect">
            <a:avLst>
              <a:gd name="adj" fmla="val 12903"/>
            </a:avLst>
          </a:prstGeom>
          <a:solidFill>
            <a:srgbClr val="E6EEE9"/>
          </a:solidFill>
          <a:ln w="12700">
            <a:solidFill>
              <a:srgbClr val="E6EEE9"/>
            </a:solidFill>
            <a:prstDash val="solid"/>
          </a:ln>
        </p:spPr>
      </p:sp>
      <p:sp>
        <p:nvSpPr>
          <p:cNvPr id="14" name="Text 11"/>
          <p:cNvSpPr txBox="1"/>
          <p:nvPr/>
        </p:nvSpPr>
        <p:spPr>
          <a:xfrm>
            <a:off x="777240" y="2935224"/>
            <a:ext cx="2194560" cy="566928"/>
          </a:xfrm>
          <a:prstGeom prst="rect">
            <a:avLst/>
          </a:prstGeom>
          <a:noFill/>
          <a:ln/>
        </p:spPr>
        <p:txBody>
          <a:bodyPr wrap="square" lIns="0" tIns="0" rIns="0" bIns="0" rtlCol="0" anchor="ctr"/>
          <a:lstStyle/>
          <a:p>
            <a:pPr indent="0" marL="0">
              <a:buNone/>
            </a:pPr>
            <a:r>
              <a:rPr lang="en-US" sz="1400" b="1" dirty="0">
                <a:solidFill>
                  <a:srgbClr val="066B47"/>
                </a:solidFill>
                <a:latin typeface="Calibri" pitchFamily="34" charset="0"/>
                <a:ea typeface="Calibri" pitchFamily="34" charset="-122"/>
                <a:cs typeface="Calibri" pitchFamily="34" charset="-120"/>
              </a:rPr>
              <a:t>Padrões complexos</a:t>
            </a:r>
            <a:endParaRPr lang="en-US" sz="1400" dirty="0"/>
          </a:p>
        </p:txBody>
      </p:sp>
      <p:sp>
        <p:nvSpPr>
          <p:cNvPr id="15" name="Text 12"/>
          <p:cNvSpPr txBox="1"/>
          <p:nvPr/>
        </p:nvSpPr>
        <p:spPr>
          <a:xfrm>
            <a:off x="3154680" y="2935224"/>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Fronteiras em degraus</a:t>
            </a:r>
            <a:endParaRPr lang="en-US" sz="1400" dirty="0"/>
          </a:p>
        </p:txBody>
      </p:sp>
      <p:sp>
        <p:nvSpPr>
          <p:cNvPr id="16" name="Text 13"/>
          <p:cNvSpPr txBox="1"/>
          <p:nvPr/>
        </p:nvSpPr>
        <p:spPr>
          <a:xfrm>
            <a:off x="7421728" y="2935224"/>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Fronteiras curvas e interações</a:t>
            </a:r>
            <a:endParaRPr lang="en-US" sz="1400" dirty="0"/>
          </a:p>
        </p:txBody>
      </p:sp>
      <p:sp>
        <p:nvSpPr>
          <p:cNvPr id="17" name="Shape 14"/>
          <p:cNvSpPr/>
          <p:nvPr/>
        </p:nvSpPr>
        <p:spPr>
          <a:xfrm>
            <a:off x="640080" y="3557016"/>
            <a:ext cx="10911535" cy="566928"/>
          </a:xfrm>
          <a:prstGeom prst="roundRect">
            <a:avLst>
              <a:gd name="adj" fmla="val 12903"/>
            </a:avLst>
          </a:prstGeom>
          <a:solidFill>
            <a:srgbClr val="F1F6F3"/>
          </a:solidFill>
          <a:ln w="12700">
            <a:solidFill>
              <a:srgbClr val="F1F6F3"/>
            </a:solidFill>
            <a:prstDash val="solid"/>
          </a:ln>
        </p:spPr>
      </p:sp>
      <p:sp>
        <p:nvSpPr>
          <p:cNvPr id="18" name="Text 15"/>
          <p:cNvSpPr txBox="1"/>
          <p:nvPr/>
        </p:nvSpPr>
        <p:spPr>
          <a:xfrm>
            <a:off x="777240" y="3557016"/>
            <a:ext cx="2194560" cy="566928"/>
          </a:xfrm>
          <a:prstGeom prst="rect">
            <a:avLst/>
          </a:prstGeom>
          <a:noFill/>
          <a:ln/>
        </p:spPr>
        <p:txBody>
          <a:bodyPr wrap="square" lIns="0" tIns="0" rIns="0" bIns="0" rtlCol="0" anchor="ctr"/>
          <a:lstStyle/>
          <a:p>
            <a:pPr indent="0" marL="0">
              <a:buNone/>
            </a:pPr>
            <a:r>
              <a:rPr lang="en-US" sz="1400" b="1" dirty="0">
                <a:solidFill>
                  <a:srgbClr val="066B47"/>
                </a:solidFill>
                <a:latin typeface="Calibri" pitchFamily="34" charset="0"/>
                <a:ea typeface="Calibri" pitchFamily="34" charset="-122"/>
                <a:cs typeface="Calibri" pitchFamily="34" charset="-120"/>
              </a:rPr>
              <a:t>Dados necessários</a:t>
            </a:r>
            <a:endParaRPr lang="en-US" sz="1400" dirty="0"/>
          </a:p>
        </p:txBody>
      </p:sp>
      <p:sp>
        <p:nvSpPr>
          <p:cNvPr id="19" name="Text 16"/>
          <p:cNvSpPr txBox="1"/>
          <p:nvPr/>
        </p:nvSpPr>
        <p:spPr>
          <a:xfrm>
            <a:off x="3154680" y="3557016"/>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Poucos a médios</a:t>
            </a:r>
            <a:endParaRPr lang="en-US" sz="1400" dirty="0"/>
          </a:p>
        </p:txBody>
      </p:sp>
      <p:sp>
        <p:nvSpPr>
          <p:cNvPr id="20" name="Text 17"/>
          <p:cNvSpPr txBox="1"/>
          <p:nvPr/>
        </p:nvSpPr>
        <p:spPr>
          <a:xfrm>
            <a:off x="7421728" y="3557016"/>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Médios a muitos</a:t>
            </a:r>
            <a:endParaRPr lang="en-US" sz="1400" dirty="0"/>
          </a:p>
        </p:txBody>
      </p:sp>
      <p:sp>
        <p:nvSpPr>
          <p:cNvPr id="21" name="Shape 18"/>
          <p:cNvSpPr/>
          <p:nvPr/>
        </p:nvSpPr>
        <p:spPr>
          <a:xfrm>
            <a:off x="640080" y="4178808"/>
            <a:ext cx="10911535" cy="566928"/>
          </a:xfrm>
          <a:prstGeom prst="roundRect">
            <a:avLst>
              <a:gd name="adj" fmla="val 12903"/>
            </a:avLst>
          </a:prstGeom>
          <a:solidFill>
            <a:srgbClr val="E6EEE9"/>
          </a:solidFill>
          <a:ln w="12700">
            <a:solidFill>
              <a:srgbClr val="E6EEE9"/>
            </a:solidFill>
            <a:prstDash val="solid"/>
          </a:ln>
        </p:spPr>
      </p:sp>
      <p:sp>
        <p:nvSpPr>
          <p:cNvPr id="22" name="Text 19"/>
          <p:cNvSpPr txBox="1"/>
          <p:nvPr/>
        </p:nvSpPr>
        <p:spPr>
          <a:xfrm>
            <a:off x="777240" y="4178808"/>
            <a:ext cx="2194560" cy="566928"/>
          </a:xfrm>
          <a:prstGeom prst="rect">
            <a:avLst/>
          </a:prstGeom>
          <a:noFill/>
          <a:ln/>
        </p:spPr>
        <p:txBody>
          <a:bodyPr wrap="square" lIns="0" tIns="0" rIns="0" bIns="0" rtlCol="0" anchor="ctr"/>
          <a:lstStyle/>
          <a:p>
            <a:pPr indent="0" marL="0">
              <a:buNone/>
            </a:pPr>
            <a:r>
              <a:rPr lang="en-US" sz="1400" b="1" dirty="0">
                <a:solidFill>
                  <a:srgbClr val="066B47"/>
                </a:solidFill>
                <a:latin typeface="Calibri" pitchFamily="34" charset="0"/>
                <a:ea typeface="Calibri" pitchFamily="34" charset="-122"/>
                <a:cs typeface="Calibri" pitchFamily="34" charset="-120"/>
              </a:rPr>
              <a:t>Pré-processamento</a:t>
            </a:r>
            <a:endParaRPr lang="en-US" sz="1400" dirty="0"/>
          </a:p>
        </p:txBody>
      </p:sp>
      <p:sp>
        <p:nvSpPr>
          <p:cNvPr id="23" name="Text 20"/>
          <p:cNvSpPr txBox="1"/>
          <p:nvPr/>
        </p:nvSpPr>
        <p:spPr>
          <a:xfrm>
            <a:off x="3154680" y="4178808"/>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Quase nenhum</a:t>
            </a:r>
            <a:endParaRPr lang="en-US" sz="1400" dirty="0"/>
          </a:p>
        </p:txBody>
      </p:sp>
      <p:sp>
        <p:nvSpPr>
          <p:cNvPr id="24" name="Text 21"/>
          <p:cNvSpPr txBox="1"/>
          <p:nvPr/>
        </p:nvSpPr>
        <p:spPr>
          <a:xfrm>
            <a:off x="7421728" y="4178808"/>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Escala obrigatória</a:t>
            </a:r>
            <a:endParaRPr lang="en-US" sz="1400" dirty="0"/>
          </a:p>
        </p:txBody>
      </p:sp>
      <p:sp>
        <p:nvSpPr>
          <p:cNvPr id="25" name="Shape 22"/>
          <p:cNvSpPr/>
          <p:nvPr/>
        </p:nvSpPr>
        <p:spPr>
          <a:xfrm>
            <a:off x="640080" y="4800600"/>
            <a:ext cx="10911535" cy="566928"/>
          </a:xfrm>
          <a:prstGeom prst="roundRect">
            <a:avLst>
              <a:gd name="adj" fmla="val 12903"/>
            </a:avLst>
          </a:prstGeom>
          <a:solidFill>
            <a:srgbClr val="F1F6F3"/>
          </a:solidFill>
          <a:ln w="12700">
            <a:solidFill>
              <a:srgbClr val="F1F6F3"/>
            </a:solidFill>
            <a:prstDash val="solid"/>
          </a:ln>
        </p:spPr>
      </p:sp>
      <p:sp>
        <p:nvSpPr>
          <p:cNvPr id="26" name="Text 23"/>
          <p:cNvSpPr txBox="1"/>
          <p:nvPr/>
        </p:nvSpPr>
        <p:spPr>
          <a:xfrm>
            <a:off x="777240" y="4800600"/>
            <a:ext cx="2194560" cy="566928"/>
          </a:xfrm>
          <a:prstGeom prst="rect">
            <a:avLst/>
          </a:prstGeom>
          <a:noFill/>
          <a:ln/>
        </p:spPr>
        <p:txBody>
          <a:bodyPr wrap="square" lIns="0" tIns="0" rIns="0" bIns="0" rtlCol="0" anchor="ctr"/>
          <a:lstStyle/>
          <a:p>
            <a:pPr indent="0" marL="0">
              <a:buNone/>
            </a:pPr>
            <a:r>
              <a:rPr lang="en-US" sz="1400" b="1" dirty="0">
                <a:solidFill>
                  <a:srgbClr val="066B47"/>
                </a:solidFill>
                <a:latin typeface="Calibri" pitchFamily="34" charset="0"/>
                <a:ea typeface="Calibri" pitchFamily="34" charset="-122"/>
                <a:cs typeface="Calibri" pitchFamily="34" charset="-120"/>
              </a:rPr>
              <a:t>Ajuste e custo</a:t>
            </a:r>
            <a:endParaRPr lang="en-US" sz="1400" dirty="0"/>
          </a:p>
        </p:txBody>
      </p:sp>
      <p:sp>
        <p:nvSpPr>
          <p:cNvPr id="27" name="Text 24"/>
          <p:cNvSpPr txBox="1"/>
          <p:nvPr/>
        </p:nvSpPr>
        <p:spPr>
          <a:xfrm>
            <a:off x="3154680" y="4800600"/>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Rápido, poucos hiperparâmetros</a:t>
            </a:r>
            <a:endParaRPr lang="en-US" sz="1400" dirty="0"/>
          </a:p>
        </p:txBody>
      </p:sp>
      <p:sp>
        <p:nvSpPr>
          <p:cNvPr id="28" name="Text 25"/>
          <p:cNvSpPr txBox="1"/>
          <p:nvPr/>
        </p:nvSpPr>
        <p:spPr>
          <a:xfrm>
            <a:off x="7421728" y="4800600"/>
            <a:ext cx="3992728" cy="566928"/>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Mais hiperparâmetros e tempo</a:t>
            </a:r>
            <a:endParaRPr lang="en-US" sz="1400" dirty="0"/>
          </a:p>
        </p:txBody>
      </p:sp>
      <p:sp>
        <p:nvSpPr>
          <p:cNvPr id="29" name="Shape 26"/>
          <p:cNvSpPr/>
          <p:nvPr/>
        </p:nvSpPr>
        <p:spPr>
          <a:xfrm>
            <a:off x="640080" y="5605272"/>
            <a:ext cx="10911535" cy="731520"/>
          </a:xfrm>
          <a:prstGeom prst="roundRect">
            <a:avLst>
              <a:gd name="adj" fmla="val 15000"/>
            </a:avLst>
          </a:prstGeom>
          <a:solidFill>
            <a:srgbClr val="FFEBDD"/>
          </a:solidFill>
          <a:ln w="12700">
            <a:solidFill>
              <a:srgbClr val="FFEBDD"/>
            </a:solidFill>
            <a:prstDash val="solid"/>
          </a:ln>
        </p:spPr>
      </p:sp>
      <p:sp>
        <p:nvSpPr>
          <p:cNvPr id="30" name="Text 27"/>
          <p:cNvSpPr txBox="1"/>
          <p:nvPr/>
        </p:nvSpPr>
        <p:spPr>
          <a:xfrm>
            <a:off x="914400" y="5605272"/>
            <a:ext cx="10362895" cy="73152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Existem técnicas de explicação para redes (importância por permutação, SHAP, LIME), mas explicam de fora; não tornam a rede legível por dentro.</a:t>
            </a:r>
            <a:endParaRPr lang="en-US" sz="1300" dirty="0"/>
          </a:p>
        </p:txBody>
      </p:sp>
      <p:sp>
        <p:nvSpPr>
          <p:cNvPr id="31" name="Text 28"/>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2" name="Text 29"/>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NEGÓCIOS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Quando usar redes neurais</a:t>
            </a:r>
            <a:endParaRPr lang="en-US" sz="3000" dirty="0"/>
          </a:p>
        </p:txBody>
      </p:sp>
      <p:sp>
        <p:nvSpPr>
          <p:cNvPr id="6" name="Shape 3"/>
          <p:cNvSpPr/>
          <p:nvPr/>
        </p:nvSpPr>
        <p:spPr>
          <a:xfrm>
            <a:off x="640080" y="1783080"/>
            <a:ext cx="5349240" cy="1828800"/>
          </a:xfrm>
          <a:prstGeom prst="roundRect">
            <a:avLst>
              <a:gd name="adj" fmla="val 6000"/>
            </a:avLst>
          </a:prstGeom>
          <a:solidFill>
            <a:srgbClr val="F1F6F3"/>
          </a:solidFill>
          <a:ln w="12700">
            <a:solidFill>
              <a:srgbClr val="F1F6F3"/>
            </a:solidFill>
            <a:prstDash val="solid"/>
          </a:ln>
        </p:spPr>
      </p:sp>
      <p:sp>
        <p:nvSpPr>
          <p:cNvPr id="7" name="Shape 4"/>
          <p:cNvSpPr/>
          <p:nvPr/>
        </p:nvSpPr>
        <p:spPr>
          <a:xfrm>
            <a:off x="868680" y="2011680"/>
            <a:ext cx="548640" cy="548640"/>
          </a:xfrm>
          <a:prstGeom prst="ellipse">
            <a:avLst/>
          </a:prstGeom>
          <a:solidFill>
            <a:srgbClr val="0B8A5B"/>
          </a:solidFill>
          <a:ln w="12700">
            <a:solidFill>
              <a:srgbClr val="0B8A5B"/>
            </a:solidFill>
            <a:prstDash val="solid"/>
          </a:ln>
        </p:spPr>
      </p:sp>
      <p:pic>
        <p:nvPicPr>
          <p:cNvPr id="8" name="Image 1" descr="preencoded.png">    </p:cNvPr>
          <p:cNvPicPr>
            <a:picLocks noChangeAspect="1"/>
          </p:cNvPicPr>
          <p:nvPr/>
        </p:nvPicPr>
        <p:blipFill>
          <a:blip r:embed="rId2"/>
          <a:stretch>
            <a:fillRect/>
          </a:stretch>
        </p:blipFill>
        <p:spPr>
          <a:xfrm>
            <a:off x="1005840" y="2148840"/>
            <a:ext cx="274320" cy="274320"/>
          </a:xfrm>
          <a:prstGeom prst="rect">
            <a:avLst/>
          </a:prstGeom>
        </p:spPr>
      </p:pic>
      <p:sp>
        <p:nvSpPr>
          <p:cNvPr id="9" name="Text 5"/>
          <p:cNvSpPr txBox="1"/>
          <p:nvPr/>
        </p:nvSpPr>
        <p:spPr>
          <a:xfrm>
            <a:off x="1600200" y="2011680"/>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Imagem, voz e texto</a:t>
            </a:r>
            <a:endParaRPr lang="en-US" sz="1800" dirty="0"/>
          </a:p>
        </p:txBody>
      </p:sp>
      <p:sp>
        <p:nvSpPr>
          <p:cNvPr id="10" name="Text 6"/>
          <p:cNvSpPr txBox="1"/>
          <p:nvPr/>
        </p:nvSpPr>
        <p:spPr>
          <a:xfrm>
            <a:off x="868680" y="2697480"/>
            <a:ext cx="4892040" cy="7772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Dados “brutos” sem atributos prontos: onde as redes dominam (aulas 14 e 15).</a:t>
            </a:r>
            <a:endParaRPr lang="en-US" sz="1400" dirty="0"/>
          </a:p>
        </p:txBody>
      </p:sp>
      <p:sp>
        <p:nvSpPr>
          <p:cNvPr id="11" name="Shape 7"/>
          <p:cNvSpPr/>
          <p:nvPr/>
        </p:nvSpPr>
        <p:spPr>
          <a:xfrm>
            <a:off x="6199632" y="1783080"/>
            <a:ext cx="5349240" cy="1828800"/>
          </a:xfrm>
          <a:prstGeom prst="roundRect">
            <a:avLst>
              <a:gd name="adj" fmla="val 6000"/>
            </a:avLst>
          </a:prstGeom>
          <a:solidFill>
            <a:srgbClr val="F1F6F3"/>
          </a:solidFill>
          <a:ln w="12700">
            <a:solidFill>
              <a:srgbClr val="F1F6F3"/>
            </a:solidFill>
            <a:prstDash val="solid"/>
          </a:ln>
        </p:spPr>
      </p:sp>
      <p:sp>
        <p:nvSpPr>
          <p:cNvPr id="12" name="Shape 8"/>
          <p:cNvSpPr/>
          <p:nvPr/>
        </p:nvSpPr>
        <p:spPr>
          <a:xfrm>
            <a:off x="6428232" y="2011680"/>
            <a:ext cx="548640" cy="548640"/>
          </a:xfrm>
          <a:prstGeom prst="ellipse">
            <a:avLst/>
          </a:prstGeom>
          <a:solidFill>
            <a:srgbClr val="0B8A5B"/>
          </a:solidFill>
          <a:ln w="12700">
            <a:solidFill>
              <a:srgbClr val="0B8A5B"/>
            </a:solidFill>
            <a:prstDash val="solid"/>
          </a:ln>
        </p:spPr>
      </p:sp>
      <p:pic>
        <p:nvPicPr>
          <p:cNvPr id="13" name="Image 2" descr="preencoded.png">    </p:cNvPr>
          <p:cNvPicPr>
            <a:picLocks noChangeAspect="1"/>
          </p:cNvPicPr>
          <p:nvPr/>
        </p:nvPicPr>
        <p:blipFill>
          <a:blip r:embed="rId3"/>
          <a:stretch>
            <a:fillRect/>
          </a:stretch>
        </p:blipFill>
        <p:spPr>
          <a:xfrm>
            <a:off x="6565392" y="2148840"/>
            <a:ext cx="274320" cy="274320"/>
          </a:xfrm>
          <a:prstGeom prst="rect">
            <a:avLst/>
          </a:prstGeom>
        </p:spPr>
      </p:pic>
      <p:sp>
        <p:nvSpPr>
          <p:cNvPr id="14" name="Text 9"/>
          <p:cNvSpPr txBox="1"/>
          <p:nvPr/>
        </p:nvSpPr>
        <p:spPr>
          <a:xfrm>
            <a:off x="7159752" y="2011680"/>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Muitos dados e padrões complexos</a:t>
            </a:r>
            <a:endParaRPr lang="en-US" sz="1800" dirty="0"/>
          </a:p>
        </p:txBody>
      </p:sp>
      <p:sp>
        <p:nvSpPr>
          <p:cNvPr id="15" name="Text 10"/>
          <p:cNvSpPr txBox="1"/>
          <p:nvPr/>
        </p:nvSpPr>
        <p:spPr>
          <a:xfrm>
            <a:off x="6428232" y="2697480"/>
            <a:ext cx="4892040" cy="7772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Quando árvores e modelos lineares se esgotam e há exemplos suficientes.</a:t>
            </a:r>
            <a:endParaRPr lang="en-US" sz="1400" dirty="0"/>
          </a:p>
        </p:txBody>
      </p:sp>
      <p:sp>
        <p:nvSpPr>
          <p:cNvPr id="16" name="Shape 11"/>
          <p:cNvSpPr/>
          <p:nvPr/>
        </p:nvSpPr>
        <p:spPr>
          <a:xfrm>
            <a:off x="640080" y="3776472"/>
            <a:ext cx="5349240" cy="1828800"/>
          </a:xfrm>
          <a:prstGeom prst="roundRect">
            <a:avLst>
              <a:gd name="adj" fmla="val 6000"/>
            </a:avLst>
          </a:prstGeom>
          <a:solidFill>
            <a:srgbClr val="F1F6F3"/>
          </a:solidFill>
          <a:ln w="12700">
            <a:solidFill>
              <a:srgbClr val="F1F6F3"/>
            </a:solidFill>
            <a:prstDash val="solid"/>
          </a:ln>
        </p:spPr>
      </p:sp>
      <p:sp>
        <p:nvSpPr>
          <p:cNvPr id="17" name="Shape 12"/>
          <p:cNvSpPr/>
          <p:nvPr/>
        </p:nvSpPr>
        <p:spPr>
          <a:xfrm>
            <a:off x="868680" y="4005072"/>
            <a:ext cx="548640" cy="548640"/>
          </a:xfrm>
          <a:prstGeom prst="ellipse">
            <a:avLst/>
          </a:prstGeom>
          <a:solidFill>
            <a:srgbClr val="D6336C"/>
          </a:solidFill>
          <a:ln w="12700">
            <a:solidFill>
              <a:srgbClr val="D6336C"/>
            </a:solidFill>
            <a:prstDash val="solid"/>
          </a:ln>
        </p:spPr>
      </p:sp>
      <p:pic>
        <p:nvPicPr>
          <p:cNvPr id="18" name="Image 3" descr="preencoded.png">    </p:cNvPr>
          <p:cNvPicPr>
            <a:picLocks noChangeAspect="1"/>
          </p:cNvPicPr>
          <p:nvPr/>
        </p:nvPicPr>
        <p:blipFill>
          <a:blip r:embed="rId4"/>
          <a:stretch>
            <a:fillRect/>
          </a:stretch>
        </p:blipFill>
        <p:spPr>
          <a:xfrm>
            <a:off x="1005840" y="4142232"/>
            <a:ext cx="274320" cy="274320"/>
          </a:xfrm>
          <a:prstGeom prst="rect">
            <a:avLst/>
          </a:prstGeom>
        </p:spPr>
      </p:pic>
      <p:sp>
        <p:nvSpPr>
          <p:cNvPr id="19" name="Text 13"/>
          <p:cNvSpPr txBox="1"/>
          <p:nvPr/>
        </p:nvSpPr>
        <p:spPr>
          <a:xfrm>
            <a:off x="1600200" y="4005072"/>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Decisões explicáveis</a:t>
            </a:r>
            <a:endParaRPr lang="en-US" sz="1800" dirty="0"/>
          </a:p>
        </p:txBody>
      </p:sp>
      <p:sp>
        <p:nvSpPr>
          <p:cNvPr id="20" name="Text 14"/>
          <p:cNvSpPr txBox="1"/>
          <p:nvPr/>
        </p:nvSpPr>
        <p:spPr>
          <a:xfrm>
            <a:off x="868680" y="4690872"/>
            <a:ext cx="4892040" cy="7772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Crédito, saúde, direito: preferir modelos legíveis ou combinar com explicação.</a:t>
            </a:r>
            <a:endParaRPr lang="en-US" sz="1400" dirty="0"/>
          </a:p>
        </p:txBody>
      </p:sp>
      <p:sp>
        <p:nvSpPr>
          <p:cNvPr id="21" name="Shape 15"/>
          <p:cNvSpPr/>
          <p:nvPr/>
        </p:nvSpPr>
        <p:spPr>
          <a:xfrm>
            <a:off x="6199632" y="3776472"/>
            <a:ext cx="5349240" cy="1828800"/>
          </a:xfrm>
          <a:prstGeom prst="roundRect">
            <a:avLst>
              <a:gd name="adj" fmla="val 6000"/>
            </a:avLst>
          </a:prstGeom>
          <a:solidFill>
            <a:srgbClr val="F1F6F3"/>
          </a:solidFill>
          <a:ln w="12700">
            <a:solidFill>
              <a:srgbClr val="F1F6F3"/>
            </a:solidFill>
            <a:prstDash val="solid"/>
          </a:ln>
        </p:spPr>
      </p:sp>
      <p:sp>
        <p:nvSpPr>
          <p:cNvPr id="22" name="Shape 16"/>
          <p:cNvSpPr/>
          <p:nvPr/>
        </p:nvSpPr>
        <p:spPr>
          <a:xfrm>
            <a:off x="6428232" y="4005072"/>
            <a:ext cx="548640" cy="548640"/>
          </a:xfrm>
          <a:prstGeom prst="ellipse">
            <a:avLst/>
          </a:prstGeom>
          <a:solidFill>
            <a:srgbClr val="0B8A5B"/>
          </a:solidFill>
          <a:ln w="12700">
            <a:solidFill>
              <a:srgbClr val="0B8A5B"/>
            </a:solidFill>
            <a:prstDash val="solid"/>
          </a:ln>
        </p:spPr>
      </p:sp>
      <p:pic>
        <p:nvPicPr>
          <p:cNvPr id="23" name="Image 4" descr="preencoded.png">    </p:cNvPr>
          <p:cNvPicPr>
            <a:picLocks noChangeAspect="1"/>
          </p:cNvPicPr>
          <p:nvPr/>
        </p:nvPicPr>
        <p:blipFill>
          <a:blip r:embed="rId5"/>
          <a:stretch>
            <a:fillRect/>
          </a:stretch>
        </p:blipFill>
        <p:spPr>
          <a:xfrm>
            <a:off x="6565392" y="4142232"/>
            <a:ext cx="274320" cy="274320"/>
          </a:xfrm>
          <a:prstGeom prst="rect">
            <a:avLst/>
          </a:prstGeom>
        </p:spPr>
      </p:pic>
      <p:sp>
        <p:nvSpPr>
          <p:cNvPr id="24" name="Text 17"/>
          <p:cNvSpPr txBox="1"/>
          <p:nvPr/>
        </p:nvSpPr>
        <p:spPr>
          <a:xfrm>
            <a:off x="7159752" y="4005072"/>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Poucos dados tabulares</a:t>
            </a:r>
            <a:endParaRPr lang="en-US" sz="1800" dirty="0"/>
          </a:p>
        </p:txBody>
      </p:sp>
      <p:sp>
        <p:nvSpPr>
          <p:cNvPr id="25" name="Text 18"/>
          <p:cNvSpPr txBox="1"/>
          <p:nvPr/>
        </p:nvSpPr>
        <p:spPr>
          <a:xfrm>
            <a:off x="6428232" y="4690872"/>
            <a:ext cx="4892040" cy="77724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Muitas vezes árvores, florestas e regressão logística rendem tanto ou mais.</a:t>
            </a:r>
            <a:endParaRPr lang="en-US" sz="1400" dirty="0"/>
          </a:p>
        </p:txBody>
      </p:sp>
      <p:sp>
        <p:nvSpPr>
          <p:cNvPr id="26" name="Shape 19"/>
          <p:cNvSpPr/>
          <p:nvPr/>
        </p:nvSpPr>
        <p:spPr>
          <a:xfrm>
            <a:off x="640080" y="5760720"/>
            <a:ext cx="10911535" cy="411480"/>
          </a:xfrm>
          <a:prstGeom prst="roundRect">
            <a:avLst>
              <a:gd name="adj" fmla="val 26667"/>
            </a:avLst>
          </a:prstGeom>
          <a:solidFill>
            <a:srgbClr val="FFEBDD"/>
          </a:solidFill>
          <a:ln w="12700">
            <a:solidFill>
              <a:srgbClr val="FFEBDD"/>
            </a:solidFill>
            <a:prstDash val="solid"/>
          </a:ln>
        </p:spPr>
      </p:sp>
      <p:sp>
        <p:nvSpPr>
          <p:cNvPr id="27" name="Text 20"/>
          <p:cNvSpPr txBox="1"/>
          <p:nvPr/>
        </p:nvSpPr>
        <p:spPr>
          <a:xfrm>
            <a:off x="914400" y="5760720"/>
            <a:ext cx="10362895" cy="411480"/>
          </a:xfrm>
          <a:prstGeom prst="rect">
            <a:avLst/>
          </a:prstGeom>
          <a:noFill/>
          <a:ln/>
        </p:spPr>
        <p:txBody>
          <a:bodyPr wrap="square" lIns="0" tIns="0" rIns="0" bIns="0" rtlCol="0" anchor="ctr"/>
          <a:lstStyle/>
          <a:p>
            <a:pPr indent="0" marL="0">
              <a:buNone/>
            </a:pPr>
            <a:r>
              <a:rPr lang="en-US" sz="1200" b="1" dirty="0">
                <a:solidFill>
                  <a:srgbClr val="0B1A12"/>
                </a:solidFill>
                <a:latin typeface="Calibri" pitchFamily="34" charset="0"/>
                <a:ea typeface="Calibri" pitchFamily="34" charset="-122"/>
                <a:cs typeface="Calibri" pitchFamily="34" charset="-120"/>
              </a:rPr>
              <a:t>No câncer, a rede (0,975) não bateu a regressão logística (0,974 na aula 09): complexidade não garante ganho.</a:t>
            </a:r>
            <a:endParaRPr lang="en-US" sz="1200" dirty="0"/>
          </a:p>
        </p:txBody>
      </p:sp>
      <p:sp>
        <p:nvSpPr>
          <p:cNvPr id="28" name="Text 21"/>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9" name="Text 22"/>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LIMITES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Limitações e riscos</a:t>
            </a:r>
            <a:endParaRPr lang="en-US" sz="3000" dirty="0"/>
          </a:p>
        </p:txBody>
      </p:sp>
      <p:sp>
        <p:nvSpPr>
          <p:cNvPr id="6" name="Shape 3"/>
          <p:cNvSpPr/>
          <p:nvPr/>
        </p:nvSpPr>
        <p:spPr>
          <a:xfrm>
            <a:off x="640080" y="1783080"/>
            <a:ext cx="5349240" cy="2011680"/>
          </a:xfrm>
          <a:prstGeom prst="roundRect">
            <a:avLst>
              <a:gd name="adj" fmla="val 5455"/>
            </a:avLst>
          </a:prstGeom>
          <a:solidFill>
            <a:srgbClr val="F1F6F3"/>
          </a:solidFill>
          <a:ln w="12700">
            <a:solidFill>
              <a:srgbClr val="F1F6F3"/>
            </a:solidFill>
            <a:prstDash val="solid"/>
          </a:ln>
        </p:spPr>
      </p:sp>
      <p:sp>
        <p:nvSpPr>
          <p:cNvPr id="7" name="Shape 4"/>
          <p:cNvSpPr/>
          <p:nvPr/>
        </p:nvSpPr>
        <p:spPr>
          <a:xfrm>
            <a:off x="868680" y="2011680"/>
            <a:ext cx="548640" cy="548640"/>
          </a:xfrm>
          <a:prstGeom prst="ellipse">
            <a:avLst/>
          </a:prstGeom>
          <a:solidFill>
            <a:srgbClr val="0B8A5B"/>
          </a:solidFill>
          <a:ln w="12700">
            <a:solidFill>
              <a:srgbClr val="0B8A5B"/>
            </a:solidFill>
            <a:prstDash val="solid"/>
          </a:ln>
        </p:spPr>
      </p:sp>
      <p:pic>
        <p:nvPicPr>
          <p:cNvPr id="8" name="Image 1" descr="preencoded.png">    </p:cNvPr>
          <p:cNvPicPr>
            <a:picLocks noChangeAspect="1"/>
          </p:cNvPicPr>
          <p:nvPr/>
        </p:nvPicPr>
        <p:blipFill>
          <a:blip r:embed="rId2"/>
          <a:stretch>
            <a:fillRect/>
          </a:stretch>
        </p:blipFill>
        <p:spPr>
          <a:xfrm>
            <a:off x="1005840" y="2148840"/>
            <a:ext cx="274320" cy="274320"/>
          </a:xfrm>
          <a:prstGeom prst="rect">
            <a:avLst/>
          </a:prstGeom>
        </p:spPr>
      </p:pic>
      <p:sp>
        <p:nvSpPr>
          <p:cNvPr id="9" name="Text 5"/>
          <p:cNvSpPr txBox="1"/>
          <p:nvPr/>
        </p:nvSpPr>
        <p:spPr>
          <a:xfrm>
            <a:off x="1600200" y="2011680"/>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Fome de dados</a:t>
            </a:r>
            <a:endParaRPr lang="en-US" sz="1800" dirty="0"/>
          </a:p>
        </p:txBody>
      </p:sp>
      <p:sp>
        <p:nvSpPr>
          <p:cNvPr id="10" name="Text 6"/>
          <p:cNvSpPr txBox="1"/>
          <p:nvPr/>
        </p:nvSpPr>
        <p:spPr>
          <a:xfrm>
            <a:off x="868680" y="2697480"/>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Muitos parâmetros pedem muitos exemplos rotulados; com poucos dados, overfitting.</a:t>
            </a:r>
            <a:endParaRPr lang="en-US" sz="1400" dirty="0"/>
          </a:p>
        </p:txBody>
      </p:sp>
      <p:sp>
        <p:nvSpPr>
          <p:cNvPr id="11" name="Shape 7"/>
          <p:cNvSpPr/>
          <p:nvPr/>
        </p:nvSpPr>
        <p:spPr>
          <a:xfrm>
            <a:off x="6199632" y="1783080"/>
            <a:ext cx="5349240" cy="2011680"/>
          </a:xfrm>
          <a:prstGeom prst="roundRect">
            <a:avLst>
              <a:gd name="adj" fmla="val 5455"/>
            </a:avLst>
          </a:prstGeom>
          <a:solidFill>
            <a:srgbClr val="F1F6F3"/>
          </a:solidFill>
          <a:ln w="12700">
            <a:solidFill>
              <a:srgbClr val="F1F6F3"/>
            </a:solidFill>
            <a:prstDash val="solid"/>
          </a:ln>
        </p:spPr>
      </p:sp>
      <p:sp>
        <p:nvSpPr>
          <p:cNvPr id="12" name="Shape 8"/>
          <p:cNvSpPr/>
          <p:nvPr/>
        </p:nvSpPr>
        <p:spPr>
          <a:xfrm>
            <a:off x="6428232" y="2011680"/>
            <a:ext cx="548640" cy="548640"/>
          </a:xfrm>
          <a:prstGeom prst="ellipse">
            <a:avLst/>
          </a:prstGeom>
          <a:solidFill>
            <a:srgbClr val="0B8A5B"/>
          </a:solidFill>
          <a:ln w="12700">
            <a:solidFill>
              <a:srgbClr val="0B8A5B"/>
            </a:solidFill>
            <a:prstDash val="solid"/>
          </a:ln>
        </p:spPr>
      </p:sp>
      <p:pic>
        <p:nvPicPr>
          <p:cNvPr id="13" name="Image 2" descr="preencoded.png">    </p:cNvPr>
          <p:cNvPicPr>
            <a:picLocks noChangeAspect="1"/>
          </p:cNvPicPr>
          <p:nvPr/>
        </p:nvPicPr>
        <p:blipFill>
          <a:blip r:embed="rId3"/>
          <a:stretch>
            <a:fillRect/>
          </a:stretch>
        </p:blipFill>
        <p:spPr>
          <a:xfrm>
            <a:off x="6565392" y="2148840"/>
            <a:ext cx="274320" cy="274320"/>
          </a:xfrm>
          <a:prstGeom prst="rect">
            <a:avLst/>
          </a:prstGeom>
        </p:spPr>
      </p:pic>
      <p:sp>
        <p:nvSpPr>
          <p:cNvPr id="14" name="Text 9"/>
          <p:cNvSpPr txBox="1"/>
          <p:nvPr/>
        </p:nvSpPr>
        <p:spPr>
          <a:xfrm>
            <a:off x="7159752" y="2011680"/>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Custo de treino</a:t>
            </a:r>
            <a:endParaRPr lang="en-US" sz="1800" dirty="0"/>
          </a:p>
        </p:txBody>
      </p:sp>
      <p:sp>
        <p:nvSpPr>
          <p:cNvPr id="15" name="Text 10"/>
          <p:cNvSpPr txBox="1"/>
          <p:nvPr/>
        </p:nvSpPr>
        <p:spPr>
          <a:xfrm>
            <a:off x="6428232" y="2697480"/>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Redes grandes exigem tempo e hardware (GPU). Cada experimento custa.</a:t>
            </a:r>
            <a:endParaRPr lang="en-US" sz="1400" dirty="0"/>
          </a:p>
        </p:txBody>
      </p:sp>
      <p:sp>
        <p:nvSpPr>
          <p:cNvPr id="16" name="Shape 11"/>
          <p:cNvSpPr/>
          <p:nvPr/>
        </p:nvSpPr>
        <p:spPr>
          <a:xfrm>
            <a:off x="640080" y="3959352"/>
            <a:ext cx="5349240" cy="2011680"/>
          </a:xfrm>
          <a:prstGeom prst="roundRect">
            <a:avLst>
              <a:gd name="adj" fmla="val 5455"/>
            </a:avLst>
          </a:prstGeom>
          <a:solidFill>
            <a:srgbClr val="F1F6F3"/>
          </a:solidFill>
          <a:ln w="12700">
            <a:solidFill>
              <a:srgbClr val="F1F6F3"/>
            </a:solidFill>
            <a:prstDash val="solid"/>
          </a:ln>
        </p:spPr>
      </p:sp>
      <p:sp>
        <p:nvSpPr>
          <p:cNvPr id="17" name="Shape 12"/>
          <p:cNvSpPr/>
          <p:nvPr/>
        </p:nvSpPr>
        <p:spPr>
          <a:xfrm>
            <a:off x="868680" y="4187952"/>
            <a:ext cx="548640" cy="548640"/>
          </a:xfrm>
          <a:prstGeom prst="ellipse">
            <a:avLst/>
          </a:prstGeom>
          <a:solidFill>
            <a:srgbClr val="D6336C"/>
          </a:solidFill>
          <a:ln w="12700">
            <a:solidFill>
              <a:srgbClr val="D6336C"/>
            </a:solidFill>
            <a:prstDash val="solid"/>
          </a:ln>
        </p:spPr>
      </p:sp>
      <p:pic>
        <p:nvPicPr>
          <p:cNvPr id="18" name="Image 3" descr="preencoded.png">    </p:cNvPr>
          <p:cNvPicPr>
            <a:picLocks noChangeAspect="1"/>
          </p:cNvPicPr>
          <p:nvPr/>
        </p:nvPicPr>
        <p:blipFill>
          <a:blip r:embed="rId4"/>
          <a:stretch>
            <a:fillRect/>
          </a:stretch>
        </p:blipFill>
        <p:spPr>
          <a:xfrm>
            <a:off x="1005840" y="4325112"/>
            <a:ext cx="274320" cy="274320"/>
          </a:xfrm>
          <a:prstGeom prst="rect">
            <a:avLst/>
          </a:prstGeom>
        </p:spPr>
      </p:pic>
      <p:sp>
        <p:nvSpPr>
          <p:cNvPr id="19" name="Text 13"/>
          <p:cNvSpPr txBox="1"/>
          <p:nvPr/>
        </p:nvSpPr>
        <p:spPr>
          <a:xfrm>
            <a:off x="1600200" y="4187952"/>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Pouca transparência</a:t>
            </a:r>
            <a:endParaRPr lang="en-US" sz="1800" dirty="0"/>
          </a:p>
        </p:txBody>
      </p:sp>
      <p:sp>
        <p:nvSpPr>
          <p:cNvPr id="20" name="Text 14"/>
          <p:cNvSpPr txBox="1"/>
          <p:nvPr/>
        </p:nvSpPr>
        <p:spPr>
          <a:xfrm>
            <a:off x="868680" y="4873752"/>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Difícil justificar uma decisão individual: um problema legal e ético (LGPD, aula 01).</a:t>
            </a:r>
            <a:endParaRPr lang="en-US" sz="1400" dirty="0"/>
          </a:p>
        </p:txBody>
      </p:sp>
      <p:sp>
        <p:nvSpPr>
          <p:cNvPr id="21" name="Shape 15"/>
          <p:cNvSpPr/>
          <p:nvPr/>
        </p:nvSpPr>
        <p:spPr>
          <a:xfrm>
            <a:off x="6199632" y="3959352"/>
            <a:ext cx="5349240" cy="2011680"/>
          </a:xfrm>
          <a:prstGeom prst="roundRect">
            <a:avLst>
              <a:gd name="adj" fmla="val 5455"/>
            </a:avLst>
          </a:prstGeom>
          <a:solidFill>
            <a:srgbClr val="F1F6F3"/>
          </a:solidFill>
          <a:ln w="12700">
            <a:solidFill>
              <a:srgbClr val="F1F6F3"/>
            </a:solidFill>
            <a:prstDash val="solid"/>
          </a:ln>
        </p:spPr>
      </p:sp>
      <p:sp>
        <p:nvSpPr>
          <p:cNvPr id="22" name="Shape 16"/>
          <p:cNvSpPr/>
          <p:nvPr/>
        </p:nvSpPr>
        <p:spPr>
          <a:xfrm>
            <a:off x="6428232" y="4187952"/>
            <a:ext cx="548640" cy="548640"/>
          </a:xfrm>
          <a:prstGeom prst="ellipse">
            <a:avLst/>
          </a:prstGeom>
          <a:solidFill>
            <a:srgbClr val="0B8A5B"/>
          </a:solidFill>
          <a:ln w="12700">
            <a:solidFill>
              <a:srgbClr val="0B8A5B"/>
            </a:solidFill>
            <a:prstDash val="solid"/>
          </a:ln>
        </p:spPr>
      </p:sp>
      <p:pic>
        <p:nvPicPr>
          <p:cNvPr id="23" name="Image 4" descr="preencoded.png">    </p:cNvPr>
          <p:cNvPicPr>
            <a:picLocks noChangeAspect="1"/>
          </p:cNvPicPr>
          <p:nvPr/>
        </p:nvPicPr>
        <p:blipFill>
          <a:blip r:embed="rId5"/>
          <a:stretch>
            <a:fillRect/>
          </a:stretch>
        </p:blipFill>
        <p:spPr>
          <a:xfrm>
            <a:off x="6565392" y="4325112"/>
            <a:ext cx="274320" cy="274320"/>
          </a:xfrm>
          <a:prstGeom prst="rect">
            <a:avLst/>
          </a:prstGeom>
        </p:spPr>
      </p:pic>
      <p:sp>
        <p:nvSpPr>
          <p:cNvPr id="24" name="Text 17"/>
          <p:cNvSpPr txBox="1"/>
          <p:nvPr/>
        </p:nvSpPr>
        <p:spPr>
          <a:xfrm>
            <a:off x="7159752" y="4187952"/>
            <a:ext cx="4160520" cy="548640"/>
          </a:xfrm>
          <a:prstGeom prst="rect">
            <a:avLst/>
          </a:prstGeom>
          <a:noFill/>
          <a:ln/>
        </p:spPr>
        <p:txBody>
          <a:bodyPr wrap="square" lIns="0" tIns="0" rIns="0" bIns="0" rtlCol="0" anchor="ctr"/>
          <a:lstStyle/>
          <a:p>
            <a:pPr indent="0" marL="0">
              <a:buNone/>
            </a:pPr>
            <a:r>
              <a:rPr lang="en-US" sz="1800" b="1" dirty="0">
                <a:solidFill>
                  <a:srgbClr val="0B1A12"/>
                </a:solidFill>
                <a:latin typeface="Cambria" pitchFamily="34" charset="0"/>
                <a:ea typeface="Cambria" pitchFamily="34" charset="-122"/>
                <a:cs typeface="Cambria" pitchFamily="34" charset="-120"/>
              </a:rPr>
              <a:t>Viés herdado</a:t>
            </a:r>
            <a:endParaRPr lang="en-US" sz="1800" dirty="0"/>
          </a:p>
        </p:txBody>
      </p:sp>
      <p:sp>
        <p:nvSpPr>
          <p:cNvPr id="25" name="Text 18"/>
          <p:cNvSpPr txBox="1"/>
          <p:nvPr/>
        </p:nvSpPr>
        <p:spPr>
          <a:xfrm>
            <a:off x="6428232" y="4873752"/>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A rede aprende os padrões do treino, inclusive os injustos. Avalie por subgrupo.</a:t>
            </a:r>
            <a:endParaRPr lang="en-US" sz="1400" dirty="0"/>
          </a:p>
        </p:txBody>
      </p:sp>
      <p:sp>
        <p:nvSpPr>
          <p:cNvPr id="26" name="Text 19"/>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7" name="Text 20"/>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BOAS PRÁTICAS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Erros comuns nesta aula</a:t>
            </a:r>
            <a:endParaRPr lang="en-US" sz="3000" dirty="0"/>
          </a:p>
        </p:txBody>
      </p:sp>
      <p:sp>
        <p:nvSpPr>
          <p:cNvPr id="6" name="Shape 3"/>
          <p:cNvSpPr/>
          <p:nvPr/>
        </p:nvSpPr>
        <p:spPr>
          <a:xfrm>
            <a:off x="640080" y="1783080"/>
            <a:ext cx="5349240" cy="2011680"/>
          </a:xfrm>
          <a:prstGeom prst="roundRect">
            <a:avLst>
              <a:gd name="adj" fmla="val 5455"/>
            </a:avLst>
          </a:prstGeom>
          <a:solidFill>
            <a:srgbClr val="F1F6F3"/>
          </a:solidFill>
          <a:ln w="12700">
            <a:solidFill>
              <a:srgbClr val="F1F6F3"/>
            </a:solidFill>
            <a:prstDash val="solid"/>
          </a:ln>
        </p:spPr>
      </p:sp>
      <p:sp>
        <p:nvSpPr>
          <p:cNvPr id="7" name="Shape 4"/>
          <p:cNvSpPr/>
          <p:nvPr/>
        </p:nvSpPr>
        <p:spPr>
          <a:xfrm>
            <a:off x="868680" y="2011680"/>
            <a:ext cx="548640" cy="548640"/>
          </a:xfrm>
          <a:prstGeom prst="ellipse">
            <a:avLst/>
          </a:prstGeom>
          <a:solidFill>
            <a:srgbClr val="0B8A5B"/>
          </a:solidFill>
          <a:ln w="12700">
            <a:solidFill>
              <a:srgbClr val="0B8A5B"/>
            </a:solidFill>
            <a:prstDash val="solid"/>
          </a:ln>
        </p:spPr>
      </p:sp>
      <p:pic>
        <p:nvPicPr>
          <p:cNvPr id="8" name="Image 1" descr="preencoded.png">    </p:cNvPr>
          <p:cNvPicPr>
            <a:picLocks noChangeAspect="1"/>
          </p:cNvPicPr>
          <p:nvPr/>
        </p:nvPicPr>
        <p:blipFill>
          <a:blip r:embed="rId2"/>
          <a:stretch>
            <a:fillRect/>
          </a:stretch>
        </p:blipFill>
        <p:spPr>
          <a:xfrm>
            <a:off x="1005840" y="2148840"/>
            <a:ext cx="274320" cy="274320"/>
          </a:xfrm>
          <a:prstGeom prst="rect">
            <a:avLst/>
          </a:prstGeom>
        </p:spPr>
      </p:pic>
      <p:sp>
        <p:nvSpPr>
          <p:cNvPr id="9" name="Text 5"/>
          <p:cNvSpPr txBox="1"/>
          <p:nvPr/>
        </p:nvSpPr>
        <p:spPr>
          <a:xfrm>
            <a:off x="1600200" y="2011680"/>
            <a:ext cx="4160520" cy="548640"/>
          </a:xfrm>
          <a:prstGeom prst="rect">
            <a:avLst/>
          </a:prstGeom>
          <a:noFill/>
          <a:ln/>
        </p:spPr>
        <p:txBody>
          <a:bodyPr wrap="square" lIns="0" tIns="0" rIns="0" bIns="0" rtlCol="0" anchor="ctr"/>
          <a:lstStyle/>
          <a:p>
            <a:pPr indent="0" marL="0">
              <a:buNone/>
            </a:pPr>
            <a:r>
              <a:rPr lang="en-US" sz="1600" b="1" dirty="0">
                <a:solidFill>
                  <a:srgbClr val="0B1A12"/>
                </a:solidFill>
                <a:latin typeface="Cambria" pitchFamily="34" charset="0"/>
                <a:ea typeface="Cambria" pitchFamily="34" charset="-122"/>
                <a:cs typeface="Cambria" pitchFamily="34" charset="-120"/>
              </a:rPr>
              <a:t>Esquecer a escala</a:t>
            </a:r>
            <a:endParaRPr lang="en-US" sz="1600" dirty="0"/>
          </a:p>
        </p:txBody>
      </p:sp>
      <p:sp>
        <p:nvSpPr>
          <p:cNvPr id="10" name="Text 6"/>
          <p:cNvSpPr txBox="1"/>
          <p:nvPr/>
        </p:nvSpPr>
        <p:spPr>
          <a:xfrm>
            <a:off x="868680" y="2697480"/>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Redes e gradientes pedem atributos na mesma faixa. Use StandardScaler no pipeline.</a:t>
            </a:r>
            <a:endParaRPr lang="en-US" sz="1400" dirty="0"/>
          </a:p>
        </p:txBody>
      </p:sp>
      <p:sp>
        <p:nvSpPr>
          <p:cNvPr id="11" name="Shape 7"/>
          <p:cNvSpPr/>
          <p:nvPr/>
        </p:nvSpPr>
        <p:spPr>
          <a:xfrm>
            <a:off x="6199632" y="1783080"/>
            <a:ext cx="5349240" cy="2011680"/>
          </a:xfrm>
          <a:prstGeom prst="roundRect">
            <a:avLst>
              <a:gd name="adj" fmla="val 5455"/>
            </a:avLst>
          </a:prstGeom>
          <a:solidFill>
            <a:srgbClr val="F1F6F3"/>
          </a:solidFill>
          <a:ln w="12700">
            <a:solidFill>
              <a:srgbClr val="F1F6F3"/>
            </a:solidFill>
            <a:prstDash val="solid"/>
          </a:ln>
        </p:spPr>
      </p:sp>
      <p:sp>
        <p:nvSpPr>
          <p:cNvPr id="12" name="Shape 8"/>
          <p:cNvSpPr/>
          <p:nvPr/>
        </p:nvSpPr>
        <p:spPr>
          <a:xfrm>
            <a:off x="6428232" y="2011680"/>
            <a:ext cx="548640" cy="548640"/>
          </a:xfrm>
          <a:prstGeom prst="ellipse">
            <a:avLst/>
          </a:prstGeom>
          <a:solidFill>
            <a:srgbClr val="D6336C"/>
          </a:solidFill>
          <a:ln w="12700">
            <a:solidFill>
              <a:srgbClr val="D6336C"/>
            </a:solidFill>
            <a:prstDash val="solid"/>
          </a:ln>
        </p:spPr>
      </p:sp>
      <p:pic>
        <p:nvPicPr>
          <p:cNvPr id="13" name="Image 2" descr="preencoded.png">    </p:cNvPr>
          <p:cNvPicPr>
            <a:picLocks noChangeAspect="1"/>
          </p:cNvPicPr>
          <p:nvPr/>
        </p:nvPicPr>
        <p:blipFill>
          <a:blip r:embed="rId3"/>
          <a:stretch>
            <a:fillRect/>
          </a:stretch>
        </p:blipFill>
        <p:spPr>
          <a:xfrm>
            <a:off x="6565392" y="2148840"/>
            <a:ext cx="274320" cy="274320"/>
          </a:xfrm>
          <a:prstGeom prst="rect">
            <a:avLst/>
          </a:prstGeom>
        </p:spPr>
      </p:pic>
      <p:sp>
        <p:nvSpPr>
          <p:cNvPr id="14" name="Text 9"/>
          <p:cNvSpPr txBox="1"/>
          <p:nvPr/>
        </p:nvSpPr>
        <p:spPr>
          <a:xfrm>
            <a:off x="7159752" y="2011680"/>
            <a:ext cx="4160520" cy="548640"/>
          </a:xfrm>
          <a:prstGeom prst="rect">
            <a:avLst/>
          </a:prstGeom>
          <a:noFill/>
          <a:ln/>
        </p:spPr>
        <p:txBody>
          <a:bodyPr wrap="square" lIns="0" tIns="0" rIns="0" bIns="0" rtlCol="0" anchor="ctr"/>
          <a:lstStyle/>
          <a:p>
            <a:pPr indent="0" marL="0">
              <a:buNone/>
            </a:pPr>
            <a:r>
              <a:rPr lang="en-US" sz="1600" b="1" dirty="0">
                <a:solidFill>
                  <a:srgbClr val="0B1A12"/>
                </a:solidFill>
                <a:latin typeface="Cambria" pitchFamily="34" charset="0"/>
                <a:ea typeface="Cambria" pitchFamily="34" charset="-122"/>
                <a:cs typeface="Cambria" pitchFamily="34" charset="-120"/>
              </a:rPr>
              <a:t>Pesos zero</a:t>
            </a:r>
            <a:endParaRPr lang="en-US" sz="1600" dirty="0"/>
          </a:p>
        </p:txBody>
      </p:sp>
      <p:sp>
        <p:nvSpPr>
          <p:cNvPr id="15" name="Text 10"/>
          <p:cNvSpPr txBox="1"/>
          <p:nvPr/>
        </p:nvSpPr>
        <p:spPr>
          <a:xfrm>
            <a:off x="6428232" y="2697480"/>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Neurônios idênticos nunca se diferenciam. Inicialize com valores aleatórios.</a:t>
            </a:r>
            <a:endParaRPr lang="en-US" sz="1400" dirty="0"/>
          </a:p>
        </p:txBody>
      </p:sp>
      <p:sp>
        <p:nvSpPr>
          <p:cNvPr id="16" name="Shape 11"/>
          <p:cNvSpPr/>
          <p:nvPr/>
        </p:nvSpPr>
        <p:spPr>
          <a:xfrm>
            <a:off x="640080" y="3959352"/>
            <a:ext cx="5349240" cy="2011680"/>
          </a:xfrm>
          <a:prstGeom prst="roundRect">
            <a:avLst>
              <a:gd name="adj" fmla="val 5455"/>
            </a:avLst>
          </a:prstGeom>
          <a:solidFill>
            <a:srgbClr val="F1F6F3"/>
          </a:solidFill>
          <a:ln w="12700">
            <a:solidFill>
              <a:srgbClr val="F1F6F3"/>
            </a:solidFill>
            <a:prstDash val="solid"/>
          </a:ln>
        </p:spPr>
      </p:sp>
      <p:sp>
        <p:nvSpPr>
          <p:cNvPr id="17" name="Shape 12"/>
          <p:cNvSpPr/>
          <p:nvPr/>
        </p:nvSpPr>
        <p:spPr>
          <a:xfrm>
            <a:off x="868680" y="4187952"/>
            <a:ext cx="548640" cy="548640"/>
          </a:xfrm>
          <a:prstGeom prst="ellipse">
            <a:avLst/>
          </a:prstGeom>
          <a:solidFill>
            <a:srgbClr val="0B8A5B"/>
          </a:solidFill>
          <a:ln w="12700">
            <a:solidFill>
              <a:srgbClr val="0B8A5B"/>
            </a:solidFill>
            <a:prstDash val="solid"/>
          </a:ln>
        </p:spPr>
      </p:sp>
      <p:pic>
        <p:nvPicPr>
          <p:cNvPr id="18" name="Image 3" descr="preencoded.png">    </p:cNvPr>
          <p:cNvPicPr>
            <a:picLocks noChangeAspect="1"/>
          </p:cNvPicPr>
          <p:nvPr/>
        </p:nvPicPr>
        <p:blipFill>
          <a:blip r:embed="rId4"/>
          <a:stretch>
            <a:fillRect/>
          </a:stretch>
        </p:blipFill>
        <p:spPr>
          <a:xfrm>
            <a:off x="1005840" y="4325112"/>
            <a:ext cx="274320" cy="274320"/>
          </a:xfrm>
          <a:prstGeom prst="rect">
            <a:avLst/>
          </a:prstGeom>
        </p:spPr>
      </p:pic>
      <p:sp>
        <p:nvSpPr>
          <p:cNvPr id="19" name="Text 13"/>
          <p:cNvSpPr txBox="1"/>
          <p:nvPr/>
        </p:nvSpPr>
        <p:spPr>
          <a:xfrm>
            <a:off x="1600200" y="4187952"/>
            <a:ext cx="4160520" cy="548640"/>
          </a:xfrm>
          <a:prstGeom prst="rect">
            <a:avLst/>
          </a:prstGeom>
          <a:noFill/>
          <a:ln/>
        </p:spPr>
        <p:txBody>
          <a:bodyPr wrap="square" lIns="0" tIns="0" rIns="0" bIns="0" rtlCol="0" anchor="ctr"/>
          <a:lstStyle/>
          <a:p>
            <a:pPr indent="0" marL="0">
              <a:buNone/>
            </a:pPr>
            <a:r>
              <a:rPr lang="en-US" sz="1600" b="1" dirty="0">
                <a:solidFill>
                  <a:srgbClr val="0B1A12"/>
                </a:solidFill>
                <a:latin typeface="Cambria" pitchFamily="34" charset="0"/>
                <a:ea typeface="Cambria" pitchFamily="34" charset="-122"/>
                <a:cs typeface="Cambria" pitchFamily="34" charset="-120"/>
              </a:rPr>
              <a:t>Não olhar a perda</a:t>
            </a:r>
            <a:endParaRPr lang="en-US" sz="1600" dirty="0"/>
          </a:p>
        </p:txBody>
      </p:sp>
      <p:sp>
        <p:nvSpPr>
          <p:cNvPr id="20" name="Text 14"/>
          <p:cNvSpPr txBox="1"/>
          <p:nvPr/>
        </p:nvSpPr>
        <p:spPr>
          <a:xfrm>
            <a:off x="868680" y="4873752"/>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Sem a curva de perda você não sabe se o treino converge, oscila ou explode.</a:t>
            </a:r>
            <a:endParaRPr lang="en-US" sz="1400" dirty="0"/>
          </a:p>
        </p:txBody>
      </p:sp>
      <p:sp>
        <p:nvSpPr>
          <p:cNvPr id="21" name="Shape 15"/>
          <p:cNvSpPr/>
          <p:nvPr/>
        </p:nvSpPr>
        <p:spPr>
          <a:xfrm>
            <a:off x="6199632" y="3959352"/>
            <a:ext cx="5349240" cy="2011680"/>
          </a:xfrm>
          <a:prstGeom prst="roundRect">
            <a:avLst>
              <a:gd name="adj" fmla="val 5455"/>
            </a:avLst>
          </a:prstGeom>
          <a:solidFill>
            <a:srgbClr val="F1F6F3"/>
          </a:solidFill>
          <a:ln w="12700">
            <a:solidFill>
              <a:srgbClr val="F1F6F3"/>
            </a:solidFill>
            <a:prstDash val="solid"/>
          </a:ln>
        </p:spPr>
      </p:sp>
      <p:sp>
        <p:nvSpPr>
          <p:cNvPr id="22" name="Shape 16"/>
          <p:cNvSpPr/>
          <p:nvPr/>
        </p:nvSpPr>
        <p:spPr>
          <a:xfrm>
            <a:off x="6428232" y="4187952"/>
            <a:ext cx="548640" cy="548640"/>
          </a:xfrm>
          <a:prstGeom prst="ellipse">
            <a:avLst/>
          </a:prstGeom>
          <a:solidFill>
            <a:srgbClr val="0B8A5B"/>
          </a:solidFill>
          <a:ln w="12700">
            <a:solidFill>
              <a:srgbClr val="0B8A5B"/>
            </a:solidFill>
            <a:prstDash val="solid"/>
          </a:ln>
        </p:spPr>
      </p:sp>
      <p:pic>
        <p:nvPicPr>
          <p:cNvPr id="23" name="Image 4" descr="preencoded.png">    </p:cNvPr>
          <p:cNvPicPr>
            <a:picLocks noChangeAspect="1"/>
          </p:cNvPicPr>
          <p:nvPr/>
        </p:nvPicPr>
        <p:blipFill>
          <a:blip r:embed="rId5"/>
          <a:stretch>
            <a:fillRect/>
          </a:stretch>
        </p:blipFill>
        <p:spPr>
          <a:xfrm>
            <a:off x="6565392" y="4325112"/>
            <a:ext cx="274320" cy="274320"/>
          </a:xfrm>
          <a:prstGeom prst="rect">
            <a:avLst/>
          </a:prstGeom>
        </p:spPr>
      </p:pic>
      <p:sp>
        <p:nvSpPr>
          <p:cNvPr id="24" name="Text 17"/>
          <p:cNvSpPr txBox="1"/>
          <p:nvPr/>
        </p:nvSpPr>
        <p:spPr>
          <a:xfrm>
            <a:off x="7159752" y="4187952"/>
            <a:ext cx="4160520" cy="548640"/>
          </a:xfrm>
          <a:prstGeom prst="rect">
            <a:avLst/>
          </a:prstGeom>
          <a:noFill/>
          <a:ln/>
        </p:spPr>
        <p:txBody>
          <a:bodyPr wrap="square" lIns="0" tIns="0" rIns="0" bIns="0" rtlCol="0" anchor="ctr"/>
          <a:lstStyle/>
          <a:p>
            <a:pPr indent="0" marL="0">
              <a:buNone/>
            </a:pPr>
            <a:r>
              <a:rPr lang="en-US" sz="1600" b="1" dirty="0">
                <a:solidFill>
                  <a:srgbClr val="0B1A12"/>
                </a:solidFill>
                <a:latin typeface="Cambria" pitchFamily="34" charset="0"/>
                <a:ea typeface="Cambria" pitchFamily="34" charset="-122"/>
                <a:cs typeface="Cambria" pitchFamily="34" charset="-120"/>
              </a:rPr>
              <a:t>Pular o teste</a:t>
            </a:r>
            <a:endParaRPr lang="en-US" sz="1600" dirty="0"/>
          </a:p>
        </p:txBody>
      </p:sp>
      <p:sp>
        <p:nvSpPr>
          <p:cNvPr id="25" name="Text 18"/>
          <p:cNvSpPr txBox="1"/>
          <p:nvPr/>
        </p:nvSpPr>
        <p:spPr>
          <a:xfrm>
            <a:off x="6428232" y="4873752"/>
            <a:ext cx="4892040" cy="960120"/>
          </a:xfrm>
          <a:prstGeom prst="rect">
            <a:avLst/>
          </a:prstGeom>
          <a:noFill/>
          <a:ln/>
        </p:spPr>
        <p:txBody>
          <a:bodyPr wrap="square" lIns="0" tIns="0" rIns="0" bIns="0" rtlCol="0" anchor="t"/>
          <a:lstStyle/>
          <a:p>
            <a:pPr indent="0" marL="0">
              <a:buNone/>
            </a:pPr>
            <a:r>
              <a:rPr lang="en-US" sz="1400" dirty="0">
                <a:solidFill>
                  <a:srgbClr val="0B1A12"/>
                </a:solidFill>
                <a:latin typeface="Calibri" pitchFamily="34" charset="0"/>
                <a:ea typeface="Calibri" pitchFamily="34" charset="-122"/>
                <a:cs typeface="Calibri" pitchFamily="34" charset="-120"/>
              </a:rPr>
              <a:t>Treino de 1,000 não prova nada. Meça em dados separados, como na aula 09.</a:t>
            </a:r>
            <a:endParaRPr lang="en-US" sz="1400" dirty="0"/>
          </a:p>
        </p:txBody>
      </p:sp>
      <p:sp>
        <p:nvSpPr>
          <p:cNvPr id="26" name="Text 19"/>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7" name="Text 20"/>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EXERCÍCIOS</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Mão na massa: quatro exercícios</a:t>
            </a:r>
            <a:endParaRPr lang="en-US" sz="3000" dirty="0"/>
          </a:p>
        </p:txBody>
      </p:sp>
      <p:sp>
        <p:nvSpPr>
          <p:cNvPr id="6" name="Shape 3"/>
          <p:cNvSpPr/>
          <p:nvPr/>
        </p:nvSpPr>
        <p:spPr>
          <a:xfrm>
            <a:off x="640080" y="1783080"/>
            <a:ext cx="10911535" cy="960120"/>
          </a:xfrm>
          <a:prstGeom prst="roundRect">
            <a:avLst>
              <a:gd name="adj" fmla="val 11429"/>
            </a:avLst>
          </a:prstGeom>
          <a:solidFill>
            <a:srgbClr val="F1F6F3"/>
          </a:solidFill>
          <a:ln w="12700">
            <a:solidFill>
              <a:srgbClr val="F1F6F3"/>
            </a:solidFill>
            <a:prstDash val="solid"/>
          </a:ln>
        </p:spPr>
      </p:sp>
      <p:sp>
        <p:nvSpPr>
          <p:cNvPr id="7" name="Shape 4"/>
          <p:cNvSpPr/>
          <p:nvPr/>
        </p:nvSpPr>
        <p:spPr>
          <a:xfrm>
            <a:off x="868680" y="2029968"/>
            <a:ext cx="457200" cy="457200"/>
          </a:xfrm>
          <a:prstGeom prst="ellipse">
            <a:avLst/>
          </a:prstGeom>
          <a:solidFill>
            <a:srgbClr val="0B8A5B"/>
          </a:solidFill>
          <a:ln w="12700">
            <a:solidFill>
              <a:srgbClr val="0B8A5B"/>
            </a:solidFill>
            <a:prstDash val="solid"/>
          </a:ln>
        </p:spPr>
      </p:sp>
      <p:sp>
        <p:nvSpPr>
          <p:cNvPr id="8" name="Text 5"/>
          <p:cNvSpPr txBox="1"/>
          <p:nvPr/>
        </p:nvSpPr>
        <p:spPr>
          <a:xfrm>
            <a:off x="868680" y="2029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645920" y="1783080"/>
            <a:ext cx="2377440" cy="960120"/>
          </a:xfrm>
          <a:prstGeom prst="rect">
            <a:avLst/>
          </a:prstGeom>
          <a:noFill/>
          <a:ln/>
        </p:spPr>
        <p:txBody>
          <a:bodyPr wrap="square" lIns="0" tIns="0" rIns="0" bIns="0" rtlCol="0" anchor="ctr"/>
          <a:lstStyle/>
          <a:p>
            <a:pPr indent="0" marL="0">
              <a:buNone/>
            </a:pPr>
            <a:r>
              <a:rPr lang="en-US" sz="1700" b="1" dirty="0">
                <a:solidFill>
                  <a:srgbClr val="0B1A12"/>
                </a:solidFill>
                <a:latin typeface="Cambria" pitchFamily="34" charset="0"/>
                <a:ea typeface="Cambria" pitchFamily="34" charset="-122"/>
                <a:cs typeface="Cambria" pitchFamily="34" charset="-120"/>
              </a:rPr>
              <a:t>Porta lógica</a:t>
            </a:r>
            <a:endParaRPr lang="en-US" sz="1700" dirty="0"/>
          </a:p>
        </p:txBody>
      </p:sp>
      <p:sp>
        <p:nvSpPr>
          <p:cNvPr id="10" name="Text 7"/>
          <p:cNvSpPr txBox="1"/>
          <p:nvPr/>
        </p:nvSpPr>
        <p:spPr>
          <a:xfrm>
            <a:off x="4023360" y="1783080"/>
            <a:ext cx="7315200" cy="960120"/>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Escolha pesos e viés para o neurônio calcular NAND (o contrário do AND) e confira as 4 linhas da tabela.</a:t>
            </a:r>
            <a:endParaRPr lang="en-US" sz="1400" dirty="0"/>
          </a:p>
        </p:txBody>
      </p:sp>
      <p:sp>
        <p:nvSpPr>
          <p:cNvPr id="11" name="Shape 8"/>
          <p:cNvSpPr/>
          <p:nvPr/>
        </p:nvSpPr>
        <p:spPr>
          <a:xfrm>
            <a:off x="640080" y="2880360"/>
            <a:ext cx="10911535" cy="960120"/>
          </a:xfrm>
          <a:prstGeom prst="roundRect">
            <a:avLst>
              <a:gd name="adj" fmla="val 11429"/>
            </a:avLst>
          </a:prstGeom>
          <a:solidFill>
            <a:srgbClr val="F1F6F3"/>
          </a:solidFill>
          <a:ln w="12700">
            <a:solidFill>
              <a:srgbClr val="F1F6F3"/>
            </a:solidFill>
            <a:prstDash val="solid"/>
          </a:ln>
        </p:spPr>
      </p:sp>
      <p:sp>
        <p:nvSpPr>
          <p:cNvPr id="12" name="Shape 9"/>
          <p:cNvSpPr/>
          <p:nvPr/>
        </p:nvSpPr>
        <p:spPr>
          <a:xfrm>
            <a:off x="868680" y="3127248"/>
            <a:ext cx="457200" cy="457200"/>
          </a:xfrm>
          <a:prstGeom prst="ellipse">
            <a:avLst/>
          </a:prstGeom>
          <a:solidFill>
            <a:srgbClr val="0B8A5B"/>
          </a:solidFill>
          <a:ln w="12700">
            <a:solidFill>
              <a:srgbClr val="0B8A5B"/>
            </a:solidFill>
            <a:prstDash val="solid"/>
          </a:ln>
        </p:spPr>
      </p:sp>
      <p:sp>
        <p:nvSpPr>
          <p:cNvPr id="13" name="Text 10"/>
          <p:cNvSpPr txBox="1"/>
          <p:nvPr/>
        </p:nvSpPr>
        <p:spPr>
          <a:xfrm>
            <a:off x="868680" y="31272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1645920" y="2880360"/>
            <a:ext cx="2377440" cy="960120"/>
          </a:xfrm>
          <a:prstGeom prst="rect">
            <a:avLst/>
          </a:prstGeom>
          <a:noFill/>
          <a:ln/>
        </p:spPr>
        <p:txBody>
          <a:bodyPr wrap="square" lIns="0" tIns="0" rIns="0" bIns="0" rtlCol="0" anchor="ctr"/>
          <a:lstStyle/>
          <a:p>
            <a:pPr indent="0" marL="0">
              <a:buNone/>
            </a:pPr>
            <a:r>
              <a:rPr lang="en-US" sz="1700" b="1" dirty="0">
                <a:solidFill>
                  <a:srgbClr val="0B1A12"/>
                </a:solidFill>
                <a:latin typeface="Cambria" pitchFamily="34" charset="0"/>
                <a:ea typeface="Cambria" pitchFamily="34" charset="-122"/>
                <a:cs typeface="Cambria" pitchFamily="34" charset="-120"/>
              </a:rPr>
              <a:t>Parâmetros</a:t>
            </a:r>
            <a:endParaRPr lang="en-US" sz="1700" dirty="0"/>
          </a:p>
        </p:txBody>
      </p:sp>
      <p:sp>
        <p:nvSpPr>
          <p:cNvPr id="15" name="Text 12"/>
          <p:cNvSpPr txBox="1"/>
          <p:nvPr/>
        </p:nvSpPr>
        <p:spPr>
          <a:xfrm>
            <a:off x="4023360" y="2880360"/>
            <a:ext cx="7315200" cy="960120"/>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Quantos parâmetros tem uma rede 4 → 8 → 3? E uma 64 → 64 → 10?</a:t>
            </a:r>
            <a:endParaRPr lang="en-US" sz="1400" dirty="0"/>
          </a:p>
        </p:txBody>
      </p:sp>
      <p:sp>
        <p:nvSpPr>
          <p:cNvPr id="16" name="Shape 13"/>
          <p:cNvSpPr/>
          <p:nvPr/>
        </p:nvSpPr>
        <p:spPr>
          <a:xfrm>
            <a:off x="640080" y="3977640"/>
            <a:ext cx="10911535" cy="960120"/>
          </a:xfrm>
          <a:prstGeom prst="roundRect">
            <a:avLst>
              <a:gd name="adj" fmla="val 11429"/>
            </a:avLst>
          </a:prstGeom>
          <a:solidFill>
            <a:srgbClr val="F1F6F3"/>
          </a:solidFill>
          <a:ln w="12700">
            <a:solidFill>
              <a:srgbClr val="F1F6F3"/>
            </a:solidFill>
            <a:prstDash val="solid"/>
          </a:ln>
        </p:spPr>
      </p:sp>
      <p:sp>
        <p:nvSpPr>
          <p:cNvPr id="17" name="Shape 14"/>
          <p:cNvSpPr/>
          <p:nvPr/>
        </p:nvSpPr>
        <p:spPr>
          <a:xfrm>
            <a:off x="868680" y="4224528"/>
            <a:ext cx="457200" cy="457200"/>
          </a:xfrm>
          <a:prstGeom prst="ellipse">
            <a:avLst/>
          </a:prstGeom>
          <a:solidFill>
            <a:srgbClr val="0B8A5B"/>
          </a:solidFill>
          <a:ln w="12700">
            <a:solidFill>
              <a:srgbClr val="0B8A5B"/>
            </a:solidFill>
            <a:prstDash val="solid"/>
          </a:ln>
        </p:spPr>
      </p:sp>
      <p:sp>
        <p:nvSpPr>
          <p:cNvPr id="18" name="Text 15"/>
          <p:cNvSpPr txBox="1"/>
          <p:nvPr/>
        </p:nvSpPr>
        <p:spPr>
          <a:xfrm>
            <a:off x="868680" y="42245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6"/>
          <p:cNvSpPr txBox="1"/>
          <p:nvPr/>
        </p:nvSpPr>
        <p:spPr>
          <a:xfrm>
            <a:off x="1645920" y="3977640"/>
            <a:ext cx="2377440" cy="960120"/>
          </a:xfrm>
          <a:prstGeom prst="rect">
            <a:avLst/>
          </a:prstGeom>
          <a:noFill/>
          <a:ln/>
        </p:spPr>
        <p:txBody>
          <a:bodyPr wrap="square" lIns="0" tIns="0" rIns="0" bIns="0" rtlCol="0" anchor="ctr"/>
          <a:lstStyle/>
          <a:p>
            <a:pPr indent="0" marL="0">
              <a:buNone/>
            </a:pPr>
            <a:r>
              <a:rPr lang="en-US" sz="1700" b="1" dirty="0">
                <a:solidFill>
                  <a:srgbClr val="0B1A12"/>
                </a:solidFill>
                <a:latin typeface="Cambria" pitchFamily="34" charset="0"/>
                <a:ea typeface="Cambria" pitchFamily="34" charset="-122"/>
                <a:cs typeface="Cambria" pitchFamily="34" charset="-120"/>
              </a:rPr>
              <a:t>XOR com o perceptron</a:t>
            </a:r>
            <a:endParaRPr lang="en-US" sz="1700" dirty="0"/>
          </a:p>
        </p:txBody>
      </p:sp>
      <p:sp>
        <p:nvSpPr>
          <p:cNvPr id="20" name="Text 17"/>
          <p:cNvSpPr txBox="1"/>
          <p:nvPr/>
        </p:nvSpPr>
        <p:spPr>
          <a:xfrm>
            <a:off x="4023360" y="3977640"/>
            <a:ext cx="7315200" cy="960120"/>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Treine o Perceptron em NAND e em XOR. Em quantas épocas cada um converge?</a:t>
            </a:r>
            <a:endParaRPr lang="en-US" sz="1400" dirty="0"/>
          </a:p>
        </p:txBody>
      </p:sp>
      <p:sp>
        <p:nvSpPr>
          <p:cNvPr id="21" name="Shape 18"/>
          <p:cNvSpPr/>
          <p:nvPr/>
        </p:nvSpPr>
        <p:spPr>
          <a:xfrm>
            <a:off x="640080" y="5074920"/>
            <a:ext cx="10911535" cy="960120"/>
          </a:xfrm>
          <a:prstGeom prst="roundRect">
            <a:avLst>
              <a:gd name="adj" fmla="val 11429"/>
            </a:avLst>
          </a:prstGeom>
          <a:solidFill>
            <a:srgbClr val="F1F6F3"/>
          </a:solidFill>
          <a:ln w="12700">
            <a:solidFill>
              <a:srgbClr val="F1F6F3"/>
            </a:solidFill>
            <a:prstDash val="solid"/>
          </a:ln>
        </p:spPr>
      </p:sp>
      <p:sp>
        <p:nvSpPr>
          <p:cNvPr id="22" name="Shape 19"/>
          <p:cNvSpPr/>
          <p:nvPr/>
        </p:nvSpPr>
        <p:spPr>
          <a:xfrm>
            <a:off x="868680" y="5321808"/>
            <a:ext cx="457200" cy="457200"/>
          </a:xfrm>
          <a:prstGeom prst="ellipse">
            <a:avLst/>
          </a:prstGeom>
          <a:solidFill>
            <a:srgbClr val="0B8A5B"/>
          </a:solidFill>
          <a:ln w="12700">
            <a:solidFill>
              <a:srgbClr val="0B8A5B"/>
            </a:solidFill>
            <a:prstDash val="solid"/>
          </a:ln>
        </p:spPr>
      </p:sp>
      <p:sp>
        <p:nvSpPr>
          <p:cNvPr id="23" name="Text 20"/>
          <p:cNvSpPr txBox="1"/>
          <p:nvPr/>
        </p:nvSpPr>
        <p:spPr>
          <a:xfrm>
            <a:off x="868680" y="53218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1"/>
          <p:cNvSpPr txBox="1"/>
          <p:nvPr/>
        </p:nvSpPr>
        <p:spPr>
          <a:xfrm>
            <a:off x="1645920" y="5074920"/>
            <a:ext cx="2377440" cy="960120"/>
          </a:xfrm>
          <a:prstGeom prst="rect">
            <a:avLst/>
          </a:prstGeom>
          <a:noFill/>
          <a:ln/>
        </p:spPr>
        <p:txBody>
          <a:bodyPr wrap="square" lIns="0" tIns="0" rIns="0" bIns="0" rtlCol="0" anchor="ctr"/>
          <a:lstStyle/>
          <a:p>
            <a:pPr indent="0" marL="0">
              <a:buNone/>
            </a:pPr>
            <a:r>
              <a:rPr lang="en-US" sz="1700" b="1" dirty="0">
                <a:solidFill>
                  <a:srgbClr val="0B1A12"/>
                </a:solidFill>
                <a:latin typeface="Cambria" pitchFamily="34" charset="0"/>
                <a:ea typeface="Cambria" pitchFamily="34" charset="-122"/>
                <a:cs typeface="Cambria" pitchFamily="34" charset="-120"/>
              </a:rPr>
              <a:t>Rede nos dígitos</a:t>
            </a:r>
            <a:endParaRPr lang="en-US" sz="1700" dirty="0"/>
          </a:p>
        </p:txBody>
      </p:sp>
      <p:sp>
        <p:nvSpPr>
          <p:cNvPr id="25" name="Text 22"/>
          <p:cNvSpPr txBox="1"/>
          <p:nvPr/>
        </p:nvSpPr>
        <p:spPr>
          <a:xfrm>
            <a:off x="4023360" y="5074920"/>
            <a:ext cx="7315200" cy="960120"/>
          </a:xfrm>
          <a:prstGeom prst="rect">
            <a:avLst/>
          </a:prstGeom>
          <a:noFill/>
          <a:ln/>
        </p:spPr>
        <p:txBody>
          <a:bodyPr wrap="square" lIns="0" tIns="0" rIns="0" bIns="0" rtlCol="0" anchor="ctr"/>
          <a:lstStyle/>
          <a:p>
            <a:pPr indent="0" marL="0">
              <a:buNone/>
            </a:pPr>
            <a:r>
              <a:rPr lang="en-US" sz="1400" dirty="0">
                <a:solidFill>
                  <a:srgbClr val="0B1A12"/>
                </a:solidFill>
                <a:latin typeface="Calibri" pitchFamily="34" charset="0"/>
                <a:ea typeface="Calibri" pitchFamily="34" charset="-122"/>
                <a:cs typeface="Calibri" pitchFamily="34" charset="-120"/>
              </a:rPr>
              <a:t>Compare MLPClassifier (32,) e (128,) nos dígitos, com a mesma divisão. Qual acerta mais no teste?</a:t>
            </a:r>
            <a:endParaRPr lang="en-US" sz="1400" dirty="0"/>
          </a:p>
        </p:txBody>
      </p:sp>
      <p:sp>
        <p:nvSpPr>
          <p:cNvPr id="26" name="Text 23"/>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7" name="Text 24"/>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GABARITO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Gabarito: exercícios 1 e 2</a:t>
            </a:r>
            <a:endParaRPr lang="en-US" sz="3000" dirty="0"/>
          </a:p>
        </p:txBody>
      </p:sp>
      <p:sp>
        <p:nvSpPr>
          <p:cNvPr id="6" name="Shape 3"/>
          <p:cNvSpPr/>
          <p:nvPr/>
        </p:nvSpPr>
        <p:spPr>
          <a:xfrm>
            <a:off x="640080" y="1783080"/>
            <a:ext cx="5852160" cy="1645920"/>
          </a:xfrm>
          <a:prstGeom prst="roundRect">
            <a:avLst>
              <a:gd name="adj" fmla="val 666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47548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Exercício 1</a:t>
            </a:r>
            <a:endParaRPr lang="en-US" sz="1100" dirty="0"/>
          </a:p>
        </p:txBody>
      </p:sp>
      <p:sp>
        <p:nvSpPr>
          <p:cNvPr id="11" name="Text 8"/>
          <p:cNvSpPr txBox="1"/>
          <p:nvPr/>
        </p:nvSpPr>
        <p:spPr>
          <a:xfrm>
            <a:off x="914400" y="2286000"/>
            <a:ext cx="53035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w</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1.5</a:t>
            </a:r>
            <a:endParaRPr lang="en-US" sz="1200" dirty="0"/>
          </a:p>
        </p:txBody>
      </p:sp>
      <p:sp>
        <p:nvSpPr>
          <p:cNvPr id="12" name="Text 9"/>
          <p:cNvSpPr txBox="1"/>
          <p:nvPr/>
        </p:nvSpPr>
        <p:spPr>
          <a:xfrm>
            <a:off x="914400" y="2514600"/>
            <a:ext cx="5303520" cy="228600"/>
          </a:xfrm>
          <a:prstGeom prst="rect">
            <a:avLst/>
          </a:prstGeom>
          <a:noFill/>
          <a:ln/>
        </p:spPr>
        <p:txBody>
          <a:bodyPr wrap="none" lIns="0" tIns="0" rIns="0" bIns="0" rtlCol="0" anchor="ctr"/>
          <a:lstStyle/>
          <a:p>
            <a:pPr indent="0" marL="0">
              <a:buNone/>
            </a:pPr>
            <a:r>
              <a:rPr lang="en-US" sz="1200" dirty="0">
                <a:solidFill>
                  <a:srgbClr val="FF9D5C"/>
                </a:solidFill>
                <a:latin typeface="Courier New" pitchFamily="34" charset="0"/>
                <a:ea typeface="Courier New" pitchFamily="34" charset="-122"/>
                <a:cs typeface="Courier New" pitchFamily="34" charset="-120"/>
              </a:rPr>
              <a:t>for</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9D5C"/>
                </a:solidFill>
                <a:latin typeface="Courier New" pitchFamily="34" charset="0"/>
                <a:ea typeface="Courier New" pitchFamily="34" charset="-122"/>
                <a:cs typeface="Courier New" pitchFamily="34" charset="-120"/>
              </a:rPr>
              <a:t>in</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0</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FFD166"/>
                </a:solidFill>
                <a:latin typeface="Courier New" pitchFamily="34" charset="0"/>
                <a:ea typeface="Courier New" pitchFamily="34" charset="-122"/>
                <a:cs typeface="Courier New" pitchFamily="34" charset="-120"/>
              </a:rPr>
              <a:t>1</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3" name="Text 10"/>
          <p:cNvSpPr txBox="1"/>
          <p:nvPr/>
        </p:nvSpPr>
        <p:spPr>
          <a:xfrm>
            <a:off x="914400" y="2743200"/>
            <a:ext cx="5303520" cy="228600"/>
          </a:xfrm>
          <a:prstGeom prst="rect">
            <a:avLst/>
          </a:prstGeom>
          <a:noFill/>
          <a:ln/>
        </p:spPr>
        <p:txBody>
          <a:bodyPr wrap="none" lIns="0" tIns="0" rIns="0" bIns="0" rtlCol="0" anchor="ctr"/>
          <a:lstStyle/>
          <a:p>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8CC8FF"/>
                </a:solidFill>
                <a:latin typeface="Courier New" pitchFamily="34" charset="0"/>
                <a:ea typeface="Courier New" pitchFamily="34" charset="-122"/>
                <a:cs typeface="Courier New" pitchFamily="34" charset="-120"/>
              </a:rPr>
              <a:t>print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neuronio</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np</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array</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x</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w</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 </a:t>
            </a:r>
            <a:pPr indent="0" marL="0">
              <a:buNone/>
            </a:pPr>
            <a:r>
              <a:rPr lang="en-US" sz="1200" dirty="0">
                <a:solidFill>
                  <a:srgbClr val="E9F2EC"/>
                </a:solidFill>
                <a:latin typeface="Courier New" pitchFamily="34" charset="0"/>
                <a:ea typeface="Courier New" pitchFamily="34" charset="-122"/>
                <a:cs typeface="Courier New" pitchFamily="34" charset="-120"/>
              </a:rPr>
              <a:t>b</a:t>
            </a:r>
            <a:pPr indent="0" marL="0">
              <a:buNone/>
            </a:pPr>
            <a:r>
              <a:rPr lang="en-US" sz="1200" dirty="0">
                <a:solidFill>
                  <a:srgbClr val="E9F2EC"/>
                </a:solidFill>
                <a:latin typeface="Courier New" pitchFamily="34" charset="0"/>
                <a:ea typeface="Courier New" pitchFamily="34" charset="-122"/>
                <a:cs typeface="Courier New" pitchFamily="34" charset="-120"/>
              </a:rPr>
              <a:t>)</a:t>
            </a:r>
            <a:pPr indent="0" marL="0">
              <a:buNone/>
            </a:pPr>
            <a:r>
              <a:rPr lang="en-US" sz="1200" dirty="0">
                <a:solidFill>
                  <a:srgbClr val="E9F2EC"/>
                </a:solidFill>
                <a:latin typeface="Courier New" pitchFamily="34" charset="0"/>
                <a:ea typeface="Courier New" pitchFamily="34" charset="-122"/>
                <a:cs typeface="Courier New" pitchFamily="34" charset="-120"/>
              </a:rPr>
              <a:t>)</a:t>
            </a:r>
            <a:endParaRPr lang="en-US" sz="1200" dirty="0"/>
          </a:p>
        </p:txBody>
      </p:sp>
      <p:sp>
        <p:nvSpPr>
          <p:cNvPr id="14" name="Text 11"/>
          <p:cNvSpPr txBox="1"/>
          <p:nvPr/>
        </p:nvSpPr>
        <p:spPr>
          <a:xfrm>
            <a:off x="914400" y="2971800"/>
            <a:ext cx="5303520" cy="228600"/>
          </a:xfrm>
          <a:prstGeom prst="rect">
            <a:avLst/>
          </a:prstGeom>
          <a:noFill/>
          <a:ln/>
        </p:spPr>
        <p:txBody>
          <a:bodyPr wrap="none" lIns="0" tIns="0" rIns="0" bIns="0" rtlCol="0" anchor="ctr"/>
          <a:lstStyle/>
          <a:p>
            <a:pPr indent="0" marL="0">
              <a:buNone/>
            </a:pPr>
            <a:r>
              <a:rPr lang="en-US" sz="1200" dirty="0">
                <a:solidFill>
                  <a:srgbClr val="8FA698"/>
                </a:solidFill>
                <a:latin typeface="Courier New" pitchFamily="34" charset="0"/>
                <a:ea typeface="Courier New" pitchFamily="34" charset="-122"/>
                <a:cs typeface="Courier New" pitchFamily="34" charset="-120"/>
              </a:rPr>
              <a:t># 1, 1, 1, 0  (NAND)</a:t>
            </a:r>
            <a:endParaRPr lang="en-US" sz="1200" dirty="0"/>
          </a:p>
        </p:txBody>
      </p:sp>
      <p:sp>
        <p:nvSpPr>
          <p:cNvPr id="15" name="Shape 12"/>
          <p:cNvSpPr/>
          <p:nvPr/>
        </p:nvSpPr>
        <p:spPr>
          <a:xfrm>
            <a:off x="640080" y="3611880"/>
            <a:ext cx="5852160" cy="2514600"/>
          </a:xfrm>
          <a:prstGeom prst="roundRect">
            <a:avLst>
              <a:gd name="adj" fmla="val 4364"/>
            </a:avLst>
          </a:prstGeom>
          <a:solidFill>
            <a:srgbClr val="F1F6F3"/>
          </a:solidFill>
          <a:ln w="12700">
            <a:solidFill>
              <a:srgbClr val="F1F6F3"/>
            </a:solidFill>
            <a:prstDash val="solid"/>
          </a:ln>
        </p:spPr>
      </p:sp>
      <p:sp>
        <p:nvSpPr>
          <p:cNvPr id="16" name="Text 13"/>
          <p:cNvSpPr txBox="1"/>
          <p:nvPr/>
        </p:nvSpPr>
        <p:spPr>
          <a:xfrm>
            <a:off x="914400" y="3611880"/>
            <a:ext cx="5303520" cy="251460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Pesos negativos e viés +1,5: só fica abaixo de zero quando os dois valem 1. Há outras respostas corretas.</a:t>
            </a:r>
            <a:endParaRPr lang="en-US" sz="1400" dirty="0"/>
          </a:p>
        </p:txBody>
      </p:sp>
      <p:sp>
        <p:nvSpPr>
          <p:cNvPr id="17" name="Shape 14"/>
          <p:cNvSpPr/>
          <p:nvPr/>
        </p:nvSpPr>
        <p:spPr>
          <a:xfrm>
            <a:off x="6611112" y="1783080"/>
            <a:ext cx="4937760" cy="4343400"/>
          </a:xfrm>
          <a:prstGeom prst="roundRect">
            <a:avLst>
              <a:gd name="adj" fmla="val 2526"/>
            </a:avLst>
          </a:prstGeom>
          <a:solidFill>
            <a:srgbClr val="FFEBDD"/>
          </a:solidFill>
          <a:ln w="12700">
            <a:solidFill>
              <a:srgbClr val="FFEBDD"/>
            </a:solidFill>
            <a:prstDash val="solid"/>
          </a:ln>
        </p:spPr>
      </p:sp>
      <p:sp>
        <p:nvSpPr>
          <p:cNvPr id="18" name="Text 15"/>
          <p:cNvSpPr txBox="1"/>
          <p:nvPr/>
        </p:nvSpPr>
        <p:spPr>
          <a:xfrm>
            <a:off x="6858000" y="1874520"/>
            <a:ext cx="4480560" cy="411480"/>
          </a:xfrm>
          <a:prstGeom prst="rect">
            <a:avLst/>
          </a:prstGeom>
          <a:noFill/>
          <a:ln/>
        </p:spPr>
        <p:txBody>
          <a:bodyPr wrap="square" lIns="0" tIns="0" rIns="0" bIns="0" rtlCol="0" anchor="ctr"/>
          <a:lstStyle/>
          <a:p>
            <a:pPr indent="0" marL="0">
              <a:buNone/>
            </a:pPr>
            <a:r>
              <a:rPr lang="en-US" sz="1600" b="1" dirty="0">
                <a:solidFill>
                  <a:srgbClr val="B34700"/>
                </a:solidFill>
                <a:latin typeface="Cambria" pitchFamily="34" charset="0"/>
                <a:ea typeface="Cambria" pitchFamily="34" charset="-122"/>
                <a:cs typeface="Cambria" pitchFamily="34" charset="-120"/>
              </a:rPr>
              <a:t>Exercício 2</a:t>
            </a:r>
            <a:endParaRPr lang="en-US" sz="1600" dirty="0"/>
          </a:p>
        </p:txBody>
      </p:sp>
      <p:sp>
        <p:nvSpPr>
          <p:cNvPr id="19" name="Text 16"/>
          <p:cNvSpPr txBox="1"/>
          <p:nvPr/>
        </p:nvSpPr>
        <p:spPr>
          <a:xfrm>
            <a:off x="6858000" y="2377440"/>
            <a:ext cx="4480560" cy="914400"/>
          </a:xfrm>
          <a:prstGeom prst="rect">
            <a:avLst/>
          </a:prstGeom>
          <a:noFill/>
          <a:ln/>
        </p:spPr>
        <p:txBody>
          <a:bodyPr wrap="square" lIns="0" tIns="0" rIns="0" bIns="0" rtlCol="0" anchor="t"/>
          <a:lstStyle/>
          <a:p>
            <a:pPr indent="0" marL="0">
              <a:buNone/>
            </a:pPr>
            <a:r>
              <a:rPr lang="en-US" sz="1400" b="1" dirty="0">
                <a:solidFill>
                  <a:srgbClr val="0B1A12"/>
                </a:solidFill>
                <a:latin typeface="Calibri" pitchFamily="34" charset="0"/>
                <a:ea typeface="Calibri" pitchFamily="34" charset="-122"/>
                <a:cs typeface="Calibri" pitchFamily="34" charset="-120"/>
              </a:rPr>
              <a:t>4 → 8 → 3: (4×8 + 8) + (8×3 + 3) = 40 + 27 = 67 parâmetros.</a:t>
            </a:r>
            <a:endParaRPr lang="en-US" sz="1400" dirty="0"/>
          </a:p>
        </p:txBody>
      </p:sp>
      <p:sp>
        <p:nvSpPr>
          <p:cNvPr id="20" name="Text 17"/>
          <p:cNvSpPr txBox="1"/>
          <p:nvPr/>
        </p:nvSpPr>
        <p:spPr>
          <a:xfrm>
            <a:off x="6858000" y="3383280"/>
            <a:ext cx="4480560" cy="1097280"/>
          </a:xfrm>
          <a:prstGeom prst="rect">
            <a:avLst/>
          </a:prstGeom>
          <a:noFill/>
          <a:ln/>
        </p:spPr>
        <p:txBody>
          <a:bodyPr wrap="square" lIns="0" tIns="0" rIns="0" bIns="0" rtlCol="0" anchor="t"/>
          <a:lstStyle/>
          <a:p>
            <a:pPr indent="0" marL="0">
              <a:buNone/>
            </a:pPr>
            <a:r>
              <a:rPr lang="en-US" sz="1400" b="1" dirty="0">
                <a:solidFill>
                  <a:srgbClr val="0B1A12"/>
                </a:solidFill>
                <a:latin typeface="Calibri" pitchFamily="34" charset="0"/>
                <a:ea typeface="Calibri" pitchFamily="34" charset="-122"/>
                <a:cs typeface="Calibri" pitchFamily="34" charset="-120"/>
              </a:rPr>
              <a:t>64 → 64 → 10: (64×64 + 64) + (64×10 + 10) = 4160 + 650 = 4810 parâmetros.</a:t>
            </a:r>
            <a:endParaRPr lang="en-US" sz="1400" dirty="0"/>
          </a:p>
        </p:txBody>
      </p:sp>
      <p:sp>
        <p:nvSpPr>
          <p:cNvPr id="21" name="Text 18"/>
          <p:cNvSpPr txBox="1"/>
          <p:nvPr/>
        </p:nvSpPr>
        <p:spPr>
          <a:xfrm>
            <a:off x="6858000" y="4572000"/>
            <a:ext cx="4480560" cy="1280160"/>
          </a:xfrm>
          <a:prstGeom prst="rect">
            <a:avLst/>
          </a:prstGeom>
          <a:noFill/>
          <a:ln/>
        </p:spPr>
        <p:txBody>
          <a:bodyPr wrap="square" lIns="0" tIns="0" rIns="0" bIns="0" rtlCol="0" anchor="t"/>
          <a:lstStyle/>
          <a:p>
            <a:pPr indent="0" marL="0">
              <a:buNone/>
            </a:pPr>
            <a:r>
              <a:rPr lang="en-US" sz="1300" dirty="0">
                <a:solidFill>
                  <a:srgbClr val="55645B"/>
                </a:solidFill>
                <a:latin typeface="Calibri" pitchFamily="34" charset="0"/>
                <a:ea typeface="Calibri" pitchFamily="34" charset="-122"/>
                <a:cs typeface="Calibri" pitchFamily="34" charset="-120"/>
              </a:rPr>
              <a:t>Regra: cada camada tem (entradas × neurônios) pesos mais um viés por neurônio.</a:t>
            </a:r>
            <a:endParaRPr lang="en-US" sz="1300" dirty="0"/>
          </a:p>
        </p:txBody>
      </p:sp>
      <p:sp>
        <p:nvSpPr>
          <p:cNvPr id="22" name="Text 19"/>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23" name="Text 20"/>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29184" cy="329184"/>
          </a:xfrm>
          <a:prstGeom prst="ellipse">
            <a:avLst/>
          </a:prstGeom>
          <a:solidFill>
            <a:srgbClr val="0B8A5B"/>
          </a:solidFill>
          <a:ln w="12700">
            <a:solidFill>
              <a:srgbClr val="0B8A5B"/>
            </a:solidFill>
            <a:prstDash val="solid"/>
          </a:ln>
        </p:spPr>
      </p:sp>
      <p:pic>
        <p:nvPicPr>
          <p:cNvPr id="3"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4" name="Text 1"/>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066B47"/>
                </a:solidFill>
                <a:latin typeface="Calibri" pitchFamily="34" charset="0"/>
                <a:ea typeface="Calibri" pitchFamily="34" charset="-122"/>
                <a:cs typeface="Calibri" pitchFamily="34" charset="-120"/>
              </a:rPr>
              <a:t>GABARITO</a:t>
            </a:r>
            <a:endParaRPr lang="en-US" sz="1200" dirty="0"/>
          </a:p>
        </p:txBody>
      </p:sp>
      <p:sp>
        <p:nvSpPr>
          <p:cNvPr id="5" name="Text 2"/>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0B1A12"/>
                </a:solidFill>
                <a:latin typeface="Cambria" pitchFamily="34" charset="0"/>
                <a:ea typeface="Cambria" pitchFamily="34" charset="-122"/>
                <a:cs typeface="Cambria" pitchFamily="34" charset="-120"/>
              </a:rPr>
              <a:t>Gabarito: exercícios 3 e 4</a:t>
            </a:r>
            <a:endParaRPr lang="en-US" sz="3000" dirty="0"/>
          </a:p>
        </p:txBody>
      </p:sp>
      <p:sp>
        <p:nvSpPr>
          <p:cNvPr id="6" name="Shape 3"/>
          <p:cNvSpPr/>
          <p:nvPr/>
        </p:nvSpPr>
        <p:spPr>
          <a:xfrm>
            <a:off x="640080" y="1783080"/>
            <a:ext cx="5852160" cy="1779270"/>
          </a:xfrm>
          <a:prstGeom prst="roundRect">
            <a:avLst>
              <a:gd name="adj" fmla="val 6167"/>
            </a:avLst>
          </a:prstGeom>
          <a:solidFill>
            <a:srgbClr val="0A1B13"/>
          </a:solidFill>
          <a:ln w="12700">
            <a:solidFill>
              <a:srgbClr val="0A1B13"/>
            </a:solidFill>
            <a:prstDash val="solid"/>
          </a:ln>
        </p:spPr>
      </p:sp>
      <p:sp>
        <p:nvSpPr>
          <p:cNvPr id="7" name="Shape 4"/>
          <p:cNvSpPr/>
          <p:nvPr/>
        </p:nvSpPr>
        <p:spPr>
          <a:xfrm>
            <a:off x="841248" y="1965960"/>
            <a:ext cx="118872" cy="118872"/>
          </a:xfrm>
          <a:prstGeom prst="ellipse">
            <a:avLst/>
          </a:prstGeom>
          <a:solidFill>
            <a:srgbClr val="D6336C"/>
          </a:solidFill>
          <a:ln w="12700">
            <a:solidFill>
              <a:srgbClr val="D6336C"/>
            </a:solidFill>
            <a:prstDash val="solid"/>
          </a:ln>
        </p:spPr>
      </p:sp>
      <p:sp>
        <p:nvSpPr>
          <p:cNvPr id="8" name="Shape 5"/>
          <p:cNvSpPr/>
          <p:nvPr/>
        </p:nvSpPr>
        <p:spPr>
          <a:xfrm>
            <a:off x="1042416" y="1965960"/>
            <a:ext cx="118872" cy="118872"/>
          </a:xfrm>
          <a:prstGeom prst="ellipse">
            <a:avLst/>
          </a:prstGeom>
          <a:solidFill>
            <a:srgbClr val="FF7A2F"/>
          </a:solidFill>
          <a:ln w="12700">
            <a:solidFill>
              <a:srgbClr val="FF7A2F"/>
            </a:solidFill>
            <a:prstDash val="solid"/>
          </a:ln>
        </p:spPr>
      </p:sp>
      <p:sp>
        <p:nvSpPr>
          <p:cNvPr id="9" name="Shape 6"/>
          <p:cNvSpPr/>
          <p:nvPr/>
        </p:nvSpPr>
        <p:spPr>
          <a:xfrm>
            <a:off x="1243584" y="1965960"/>
            <a:ext cx="118872" cy="118872"/>
          </a:xfrm>
          <a:prstGeom prst="ellipse">
            <a:avLst/>
          </a:prstGeom>
          <a:solidFill>
            <a:srgbClr val="5FE3A1"/>
          </a:solidFill>
          <a:ln w="12700">
            <a:solidFill>
              <a:srgbClr val="5FE3A1"/>
            </a:solidFill>
            <a:prstDash val="solid"/>
          </a:ln>
        </p:spPr>
      </p:sp>
      <p:sp>
        <p:nvSpPr>
          <p:cNvPr id="10" name="Text 7"/>
          <p:cNvSpPr txBox="1"/>
          <p:nvPr/>
        </p:nvSpPr>
        <p:spPr>
          <a:xfrm>
            <a:off x="1554480" y="1901952"/>
            <a:ext cx="47548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Exercício 3</a:t>
            </a:r>
            <a:endParaRPr lang="en-US" sz="1100" dirty="0"/>
          </a:p>
        </p:txBody>
      </p:sp>
      <p:sp>
        <p:nvSpPr>
          <p:cNvPr id="11" name="Text 8"/>
          <p:cNvSpPr txBox="1"/>
          <p:nvPr/>
        </p:nvSpPr>
        <p:spPr>
          <a:xfrm>
            <a:off x="914400" y="2286000"/>
            <a:ext cx="53035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FA698"/>
                </a:solidFill>
                <a:latin typeface="Courier New" pitchFamily="34" charset="0"/>
                <a:ea typeface="Courier New" pitchFamily="34" charset="-122"/>
                <a:cs typeface="Courier New" pitchFamily="34" charset="-120"/>
              </a:rPr>
              <a:t># NAND</a:t>
            </a:r>
            <a:endParaRPr lang="en-US" sz="1100" dirty="0"/>
          </a:p>
        </p:txBody>
      </p:sp>
      <p:sp>
        <p:nvSpPr>
          <p:cNvPr id="12" name="Text 9"/>
          <p:cNvSpPr txBox="1"/>
          <p:nvPr/>
        </p:nvSpPr>
        <p:spPr>
          <a:xfrm>
            <a:off x="914400" y="2495550"/>
            <a:ext cx="53035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Perceptron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3" name="Text 10"/>
          <p:cNvSpPr txBox="1"/>
          <p:nvPr/>
        </p:nvSpPr>
        <p:spPr>
          <a:xfrm>
            <a:off x="914400" y="2705100"/>
            <a:ext cx="530352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treinar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FA698"/>
                </a:solidFill>
                <a:latin typeface="Courier New" pitchFamily="34" charset="0"/>
                <a:ea typeface="Courier New" pitchFamily="34" charset="-122"/>
                <a:cs typeface="Courier New" pitchFamily="34" charset="-120"/>
              </a:rPr>
              <a:t># 6</a:t>
            </a:r>
            <a:endParaRPr lang="en-US" sz="1100" dirty="0"/>
          </a:p>
        </p:txBody>
      </p:sp>
      <p:sp>
        <p:nvSpPr>
          <p:cNvPr id="14" name="Text 11"/>
          <p:cNvSpPr txBox="1"/>
          <p:nvPr/>
        </p:nvSpPr>
        <p:spPr>
          <a:xfrm>
            <a:off x="914400" y="2914650"/>
            <a:ext cx="53035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Perceptron</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2</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914400" y="3124200"/>
            <a:ext cx="5303520" cy="209550"/>
          </a:xfrm>
          <a:prstGeom prst="rect">
            <a:avLst/>
          </a:prstGeom>
          <a:noFill/>
          <a:ln/>
        </p:spPr>
        <p:txBody>
          <a:bodyPr wrap="none" lIns="0" tIns="0" rIns="0" bIns="0" rtlCol="0" anchor="ctr"/>
          <a:lstStyle/>
          <a:p>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treinar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np</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array</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FA698"/>
                </a:solidFill>
                <a:latin typeface="Courier New" pitchFamily="34" charset="0"/>
                <a:ea typeface="Courier New" pitchFamily="34" charset="-122"/>
                <a:cs typeface="Courier New" pitchFamily="34" charset="-120"/>
              </a:rPr>
              <a:t># None</a:t>
            </a:r>
            <a:endParaRPr lang="en-US" sz="1100" dirty="0"/>
          </a:p>
        </p:txBody>
      </p:sp>
      <p:sp>
        <p:nvSpPr>
          <p:cNvPr id="16" name="Shape 13"/>
          <p:cNvSpPr/>
          <p:nvPr/>
        </p:nvSpPr>
        <p:spPr>
          <a:xfrm>
            <a:off x="640080" y="3745230"/>
            <a:ext cx="5852160" cy="2381250"/>
          </a:xfrm>
          <a:prstGeom prst="roundRect">
            <a:avLst>
              <a:gd name="adj" fmla="val 4608"/>
            </a:avLst>
          </a:prstGeom>
          <a:solidFill>
            <a:srgbClr val="F1F6F3"/>
          </a:solidFill>
          <a:ln w="12700">
            <a:solidFill>
              <a:srgbClr val="F1F6F3"/>
            </a:solidFill>
            <a:prstDash val="solid"/>
          </a:ln>
        </p:spPr>
      </p:sp>
      <p:sp>
        <p:nvSpPr>
          <p:cNvPr id="17" name="Text 14"/>
          <p:cNvSpPr txBox="1"/>
          <p:nvPr/>
        </p:nvSpPr>
        <p:spPr>
          <a:xfrm>
            <a:off x="914400" y="3745230"/>
            <a:ext cx="5303520" cy="2381250"/>
          </a:xfrm>
          <a:prstGeom prst="rect">
            <a:avLst/>
          </a:prstGeom>
          <a:noFill/>
          <a:ln/>
        </p:spPr>
        <p:txBody>
          <a:bodyPr wrap="square" lIns="0" tIns="0" rIns="0" bIns="0" rtlCol="0" anchor="ctr"/>
          <a:lstStyle/>
          <a:p>
            <a:pPr indent="0" marL="0">
              <a:buNone/>
            </a:pPr>
            <a:r>
              <a:rPr lang="en-US" sz="1400" b="1" dirty="0">
                <a:solidFill>
                  <a:srgbClr val="0B1A12"/>
                </a:solidFill>
                <a:latin typeface="Calibri" pitchFamily="34" charset="0"/>
                <a:ea typeface="Calibri" pitchFamily="34" charset="-122"/>
                <a:cs typeface="Calibri" pitchFamily="34" charset="-120"/>
              </a:rPr>
              <a:t>NAND é linearmente separável: converge na época 6. O XOR não converge: devolve None.</a:t>
            </a:r>
            <a:endParaRPr lang="en-US" sz="1400" dirty="0"/>
          </a:p>
        </p:txBody>
      </p:sp>
      <p:sp>
        <p:nvSpPr>
          <p:cNvPr id="18" name="Shape 15"/>
          <p:cNvSpPr/>
          <p:nvPr/>
        </p:nvSpPr>
        <p:spPr>
          <a:xfrm>
            <a:off x="6611112" y="1783080"/>
            <a:ext cx="4937760" cy="1779270"/>
          </a:xfrm>
          <a:prstGeom prst="roundRect">
            <a:avLst>
              <a:gd name="adj" fmla="val 6167"/>
            </a:avLst>
          </a:prstGeom>
          <a:solidFill>
            <a:srgbClr val="0A1B13"/>
          </a:solidFill>
          <a:ln w="12700">
            <a:solidFill>
              <a:srgbClr val="0A1B13"/>
            </a:solidFill>
            <a:prstDash val="solid"/>
          </a:ln>
        </p:spPr>
      </p:sp>
      <p:sp>
        <p:nvSpPr>
          <p:cNvPr id="19" name="Shape 16"/>
          <p:cNvSpPr/>
          <p:nvPr/>
        </p:nvSpPr>
        <p:spPr>
          <a:xfrm>
            <a:off x="6812280" y="1965960"/>
            <a:ext cx="118872" cy="118872"/>
          </a:xfrm>
          <a:prstGeom prst="ellipse">
            <a:avLst/>
          </a:prstGeom>
          <a:solidFill>
            <a:srgbClr val="D6336C"/>
          </a:solidFill>
          <a:ln w="12700">
            <a:solidFill>
              <a:srgbClr val="D6336C"/>
            </a:solidFill>
            <a:prstDash val="solid"/>
          </a:ln>
        </p:spPr>
      </p:sp>
      <p:sp>
        <p:nvSpPr>
          <p:cNvPr id="20" name="Shape 17"/>
          <p:cNvSpPr/>
          <p:nvPr/>
        </p:nvSpPr>
        <p:spPr>
          <a:xfrm>
            <a:off x="7013448" y="1965960"/>
            <a:ext cx="118872" cy="118872"/>
          </a:xfrm>
          <a:prstGeom prst="ellipse">
            <a:avLst/>
          </a:prstGeom>
          <a:solidFill>
            <a:srgbClr val="FF7A2F"/>
          </a:solidFill>
          <a:ln w="12700">
            <a:solidFill>
              <a:srgbClr val="FF7A2F"/>
            </a:solidFill>
            <a:prstDash val="solid"/>
          </a:ln>
        </p:spPr>
      </p:sp>
      <p:sp>
        <p:nvSpPr>
          <p:cNvPr id="21" name="Shape 18"/>
          <p:cNvSpPr/>
          <p:nvPr/>
        </p:nvSpPr>
        <p:spPr>
          <a:xfrm>
            <a:off x="7214616" y="1965960"/>
            <a:ext cx="118872" cy="118872"/>
          </a:xfrm>
          <a:prstGeom prst="ellipse">
            <a:avLst/>
          </a:prstGeom>
          <a:solidFill>
            <a:srgbClr val="5FE3A1"/>
          </a:solidFill>
          <a:ln w="12700">
            <a:solidFill>
              <a:srgbClr val="5FE3A1"/>
            </a:solidFill>
            <a:prstDash val="solid"/>
          </a:ln>
        </p:spPr>
      </p:sp>
      <p:sp>
        <p:nvSpPr>
          <p:cNvPr id="22" name="Text 19"/>
          <p:cNvSpPr txBox="1"/>
          <p:nvPr/>
        </p:nvSpPr>
        <p:spPr>
          <a:xfrm>
            <a:off x="7525512" y="1901952"/>
            <a:ext cx="3840480" cy="246888"/>
          </a:xfrm>
          <a:prstGeom prst="rect">
            <a:avLst/>
          </a:prstGeom>
          <a:noFill/>
          <a:ln/>
        </p:spPr>
        <p:txBody>
          <a:bodyPr wrap="square" lIns="0" tIns="0" rIns="0" bIns="0" rtlCol="0" anchor="ctr"/>
          <a:lstStyle/>
          <a:p>
            <a:pPr indent="0" marL="0">
              <a:buNone/>
            </a:pPr>
            <a:r>
              <a:rPr lang="en-US" sz="1100" dirty="0">
                <a:solidFill>
                  <a:srgbClr val="9DB0A4"/>
                </a:solidFill>
                <a:latin typeface="Courier New" pitchFamily="34" charset="0"/>
                <a:ea typeface="Courier New" pitchFamily="34" charset="-122"/>
                <a:cs typeface="Courier New" pitchFamily="34" charset="-120"/>
              </a:rPr>
              <a:t>Exercício 4</a:t>
            </a:r>
            <a:endParaRPr lang="en-US" sz="1100" dirty="0"/>
          </a:p>
        </p:txBody>
      </p:sp>
      <p:sp>
        <p:nvSpPr>
          <p:cNvPr id="23" name="Text 20"/>
          <p:cNvSpPr txBox="1"/>
          <p:nvPr/>
        </p:nvSpPr>
        <p:spPr>
          <a:xfrm>
            <a:off x="6885432" y="2286000"/>
            <a:ext cx="4389120" cy="209550"/>
          </a:xfrm>
          <a:prstGeom prst="rect">
            <a:avLst/>
          </a:prstGeom>
          <a:noFill/>
          <a:ln/>
        </p:spPr>
        <p:txBody>
          <a:bodyPr wrap="none" lIns="0" tIns="0" rIns="0" bIns="0" rtlCol="0" anchor="ctr"/>
          <a:lstStyle/>
          <a:p>
            <a:pPr indent="0" marL="0">
              <a:buNone/>
            </a:pPr>
            <a:r>
              <a:rPr lang="en-US" sz="1100" dirty="0">
                <a:solidFill>
                  <a:srgbClr val="FF9D5C"/>
                </a:solidFill>
                <a:latin typeface="Courier New" pitchFamily="34" charset="0"/>
                <a:ea typeface="Courier New" pitchFamily="34" charset="-122"/>
                <a:cs typeface="Courier New" pitchFamily="34" charset="-120"/>
              </a:rPr>
              <a:t>for</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9D5C"/>
                </a:solidFill>
                <a:latin typeface="Courier New" pitchFamily="34" charset="0"/>
                <a:ea typeface="Courier New" pitchFamily="34" charset="-122"/>
                <a:cs typeface="Courier New" pitchFamily="34" charset="-120"/>
              </a:rPr>
              <a:t>in</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32</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128</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4" name="Text 21"/>
          <p:cNvSpPr txBox="1"/>
          <p:nvPr/>
        </p:nvSpPr>
        <p:spPr>
          <a:xfrm>
            <a:off x="6885432" y="2495550"/>
            <a:ext cx="4389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MLPClassifier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hidden_layer_sizes</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5" name="Text 22"/>
          <p:cNvSpPr txBox="1"/>
          <p:nvPr/>
        </p:nvSpPr>
        <p:spPr>
          <a:xfrm>
            <a:off x="6885432" y="2705100"/>
            <a:ext cx="4389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max_iter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500</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random_state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FFD166"/>
                </a:solidFill>
                <a:latin typeface="Courier New" pitchFamily="34" charset="0"/>
                <a:ea typeface="Courier New" pitchFamily="34" charset="-122"/>
                <a:cs typeface="Courier New" pitchFamily="34" charset="-120"/>
              </a:rPr>
              <a:t>0</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6" name="Text 23"/>
          <p:cNvSpPr txBox="1"/>
          <p:nvPr/>
        </p:nvSpPr>
        <p:spPr>
          <a:xfrm>
            <a:off x="6885432" y="2914650"/>
            <a:ext cx="4389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fit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y_tr</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7" name="Text 24"/>
          <p:cNvSpPr txBox="1"/>
          <p:nvPr/>
        </p:nvSpPr>
        <p:spPr>
          <a:xfrm>
            <a:off x="6885432" y="3124200"/>
            <a:ext cx="4389120" cy="209550"/>
          </a:xfrm>
          <a:prstGeom prst="rect">
            <a:avLst/>
          </a:prstGeom>
          <a:noFill/>
          <a:ln/>
        </p:spPr>
        <p:txBody>
          <a:bodyPr wrap="none" lIns="0" tIns="0" rIns="0" bIns="0" rtlCol="0" anchor="ctr"/>
          <a:lstStyle/>
          <a:p>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8CC8FF"/>
                </a:solidFill>
                <a:latin typeface="Courier New" pitchFamily="34" charset="0"/>
                <a:ea typeface="Courier New" pitchFamily="34" charset="-122"/>
                <a:cs typeface="Courier New" pitchFamily="34" charset="-120"/>
              </a:rPr>
              <a:t>print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h</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round</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r</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score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X_te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E9F2EC"/>
                </a:solidFill>
                <a:latin typeface="Courier New" pitchFamily="34" charset="0"/>
                <a:ea typeface="Courier New" pitchFamily="34" charset="-122"/>
                <a:cs typeface="Courier New" pitchFamily="34" charset="-120"/>
              </a:rPr>
              <a:t>y_te</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 </a:t>
            </a:r>
            <a:pPr indent="0" marL="0">
              <a:buNone/>
            </a:pPr>
            <a:r>
              <a:rPr lang="en-US" sz="1100" dirty="0">
                <a:solidFill>
                  <a:srgbClr val="FFD166"/>
                </a:solidFill>
                <a:latin typeface="Courier New" pitchFamily="34" charset="0"/>
                <a:ea typeface="Courier New" pitchFamily="34" charset="-122"/>
                <a:cs typeface="Courier New" pitchFamily="34" charset="-120"/>
              </a:rPr>
              <a:t>3</a:t>
            </a:r>
            <a:pPr indent="0" marL="0">
              <a:buNone/>
            </a:pPr>
            <a:r>
              <a:rPr lang="en-US" sz="1100" dirty="0">
                <a:solidFill>
                  <a:srgbClr val="E9F2EC"/>
                </a:solidFill>
                <a:latin typeface="Courier New" pitchFamily="34" charset="0"/>
                <a:ea typeface="Courier New" pitchFamily="34" charset="-122"/>
                <a:cs typeface="Courier New" pitchFamily="34" charset="-120"/>
              </a:rPr>
              <a:t>)</a:t>
            </a:r>
            <a:pPr indent="0" marL="0">
              <a:buNone/>
            </a:pPr>
            <a:r>
              <a:rPr lang="en-US" sz="1100" dirty="0">
                <a:solidFill>
                  <a:srgbClr val="E9F2EC"/>
                </a:solidFill>
                <a:latin typeface="Courier New" pitchFamily="34" charset="0"/>
                <a:ea typeface="Courier New" pitchFamily="34" charset="-122"/>
                <a:cs typeface="Courier New" pitchFamily="34" charset="-120"/>
              </a:rPr>
              <a:t>)</a:t>
            </a:r>
            <a:endParaRPr lang="en-US" sz="1100" dirty="0"/>
          </a:p>
        </p:txBody>
      </p:sp>
      <p:sp>
        <p:nvSpPr>
          <p:cNvPr id="28" name="Shape 25"/>
          <p:cNvSpPr/>
          <p:nvPr/>
        </p:nvSpPr>
        <p:spPr>
          <a:xfrm>
            <a:off x="6611112" y="3745230"/>
            <a:ext cx="4937760" cy="2381250"/>
          </a:xfrm>
          <a:prstGeom prst="roundRect">
            <a:avLst>
              <a:gd name="adj" fmla="val 4608"/>
            </a:avLst>
          </a:prstGeom>
          <a:solidFill>
            <a:srgbClr val="FFEBDD"/>
          </a:solidFill>
          <a:ln w="12700">
            <a:solidFill>
              <a:srgbClr val="FFEBDD"/>
            </a:solidFill>
            <a:prstDash val="solid"/>
          </a:ln>
        </p:spPr>
      </p:sp>
      <p:sp>
        <p:nvSpPr>
          <p:cNvPr id="29" name="Text 26"/>
          <p:cNvSpPr txBox="1"/>
          <p:nvPr/>
        </p:nvSpPr>
        <p:spPr>
          <a:xfrm>
            <a:off x="6858000" y="3745230"/>
            <a:ext cx="4434840" cy="2381250"/>
          </a:xfrm>
          <a:prstGeom prst="rect">
            <a:avLst/>
          </a:prstGeom>
          <a:noFill/>
          <a:ln/>
        </p:spPr>
        <p:txBody>
          <a:bodyPr wrap="square" lIns="0" tIns="0" rIns="0" bIns="0" rtlCol="0" anchor="ctr"/>
          <a:lstStyle/>
          <a:p>
            <a:pPr indent="0" marL="0">
              <a:buNone/>
            </a:pPr>
            <a:r>
              <a:rPr lang="en-US" sz="1300" b="1" dirty="0">
                <a:solidFill>
                  <a:srgbClr val="0B1A12"/>
                </a:solidFill>
                <a:latin typeface="Calibri" pitchFamily="34" charset="0"/>
                <a:ea typeface="Calibri" pitchFamily="34" charset="-122"/>
                <a:cs typeface="Calibri" pitchFamily="34" charset="-120"/>
              </a:rPr>
              <a:t>Teste: (32,) acerta 0,973 e (128,) acerta 0,982. A rede maior ganha só 0,009 (cerca de 4 dígitos em 450) e isso varia com a semente.</a:t>
            </a:r>
            <a:endParaRPr lang="en-US" sz="1300" dirty="0"/>
          </a:p>
        </p:txBody>
      </p:sp>
      <p:sp>
        <p:nvSpPr>
          <p:cNvPr id="30" name="Text 27"/>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55645B"/>
                </a:solidFill>
                <a:latin typeface="Calibri" pitchFamily="34" charset="0"/>
                <a:ea typeface="Calibri" pitchFamily="34" charset="-122"/>
                <a:cs typeface="Calibri" pitchFamily="34" charset="-120"/>
              </a:rPr>
              <a:t>Inteligência Artificial · Aula 11</a:t>
            </a:r>
            <a:endParaRPr lang="en-US" sz="1000" dirty="0"/>
          </a:p>
        </p:txBody>
      </p:sp>
      <p:sp>
        <p:nvSpPr>
          <p:cNvPr id="31" name="Text 28"/>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55645B"/>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F2A1D"/>
        </a:solidFill>
      </p:bgPr>
    </p:bg>
    <p:spTree>
      <p:nvGrpSpPr>
        <p:cNvPr id="1" name=""/>
        <p:cNvGrpSpPr/>
        <p:nvPr/>
      </p:nvGrpSpPr>
      <p:grpSpPr>
        <a:xfrm>
          <a:off x="0" y="0"/>
          <a:ext cx="0" cy="0"/>
          <a:chOff x="0" y="0"/>
          <a:chExt cx="0" cy="0"/>
        </a:xfrm>
      </p:grpSpPr>
      <p:sp>
        <p:nvSpPr>
          <p:cNvPr id="2" name="Shape 0"/>
          <p:cNvSpPr/>
          <p:nvPr/>
        </p:nvSpPr>
        <p:spPr>
          <a:xfrm>
            <a:off x="9265615" y="-1463040"/>
            <a:ext cx="4023360" cy="4023360"/>
          </a:xfrm>
          <a:prstGeom prst="ellipse">
            <a:avLst/>
          </a:prstGeom>
          <a:ln w="15875">
            <a:solidFill>
              <a:srgbClr val="1B4332"/>
            </a:solidFill>
            <a:prstDash val="solid"/>
          </a:ln>
        </p:spPr>
      </p:sp>
      <p:sp>
        <p:nvSpPr>
          <p:cNvPr id="3" name="Shape 1"/>
          <p:cNvSpPr/>
          <p:nvPr/>
        </p:nvSpPr>
        <p:spPr>
          <a:xfrm>
            <a:off x="10180015" y="-822960"/>
            <a:ext cx="2743200" cy="2743200"/>
          </a:xfrm>
          <a:prstGeom prst="ellipse">
            <a:avLst/>
          </a:prstGeom>
          <a:ln w="15875">
            <a:solidFill>
              <a:srgbClr val="1B4332"/>
            </a:solidFill>
            <a:prstDash val="solid"/>
          </a:ln>
        </p:spPr>
      </p:sp>
      <p:sp>
        <p:nvSpPr>
          <p:cNvPr id="4" name="Shape 2"/>
          <p:cNvSpPr/>
          <p:nvPr/>
        </p:nvSpPr>
        <p:spPr>
          <a:xfrm>
            <a:off x="-1645920" y="4846320"/>
            <a:ext cx="3474720" cy="3474720"/>
          </a:xfrm>
          <a:prstGeom prst="ellipse">
            <a:avLst/>
          </a:prstGeom>
          <a:ln w="15875">
            <a:solidFill>
              <a:srgbClr val="1B4332"/>
            </a:solidFill>
            <a:prstDash val="solid"/>
          </a:ln>
        </p:spPr>
      </p:sp>
      <p:sp>
        <p:nvSpPr>
          <p:cNvPr id="5" name="Shape 3"/>
          <p:cNvSpPr/>
          <p:nvPr/>
        </p:nvSpPr>
        <p:spPr>
          <a:xfrm>
            <a:off x="-914400" y="5486400"/>
            <a:ext cx="2194560" cy="2194560"/>
          </a:xfrm>
          <a:prstGeom prst="ellipse">
            <a:avLst/>
          </a:prstGeom>
          <a:ln w="15875">
            <a:solidFill>
              <a:srgbClr val="1B4332"/>
            </a:solidFill>
            <a:prstDash val="solid"/>
          </a:ln>
        </p:spPr>
      </p:sp>
      <p:sp>
        <p:nvSpPr>
          <p:cNvPr id="6" name="Shape 4"/>
          <p:cNvSpPr/>
          <p:nvPr/>
        </p:nvSpPr>
        <p:spPr>
          <a:xfrm>
            <a:off x="640080" y="420624"/>
            <a:ext cx="329184" cy="329184"/>
          </a:xfrm>
          <a:prstGeom prst="ellipse">
            <a:avLst/>
          </a:prstGeom>
          <a:solidFill>
            <a:srgbClr val="5FE3A1"/>
          </a:solidFill>
          <a:ln w="12700">
            <a:solidFill>
              <a:srgbClr val="5FE3A1"/>
            </a:solidFill>
            <a:prstDash val="solid"/>
          </a:ln>
        </p:spPr>
      </p:sp>
      <p:pic>
        <p:nvPicPr>
          <p:cNvPr id="7" name="Image 0" descr="preencoded.png">    </p:cNvPr>
          <p:cNvPicPr>
            <a:picLocks noChangeAspect="1"/>
          </p:cNvPicPr>
          <p:nvPr/>
        </p:nvPicPr>
        <p:blipFill>
          <a:blip r:embed="rId1"/>
          <a:stretch>
            <a:fillRect/>
          </a:stretch>
        </p:blipFill>
        <p:spPr>
          <a:xfrm>
            <a:off x="722376" y="502920"/>
            <a:ext cx="164592" cy="164592"/>
          </a:xfrm>
          <a:prstGeom prst="rect">
            <a:avLst/>
          </a:prstGeom>
        </p:spPr>
      </p:pic>
      <p:sp>
        <p:nvSpPr>
          <p:cNvPr id="8" name="Text 5"/>
          <p:cNvSpPr txBox="1"/>
          <p:nvPr/>
        </p:nvSpPr>
        <p:spPr>
          <a:xfrm>
            <a:off x="1097280" y="420624"/>
            <a:ext cx="8229600" cy="329184"/>
          </a:xfrm>
          <a:prstGeom prst="rect">
            <a:avLst/>
          </a:prstGeom>
          <a:noFill/>
          <a:ln/>
        </p:spPr>
        <p:txBody>
          <a:bodyPr wrap="square" lIns="0" tIns="0" rIns="0" bIns="0" rtlCol="0" anchor="ctr"/>
          <a:lstStyle/>
          <a:p>
            <a:pPr indent="0" marL="0">
              <a:buNone/>
            </a:pPr>
            <a:r>
              <a:rPr lang="en-US" sz="1200" b="1" spc="200" kern="0" dirty="0">
                <a:solidFill>
                  <a:srgbClr val="5FE3A1"/>
                </a:solidFill>
                <a:latin typeface="Calibri" pitchFamily="34" charset="0"/>
                <a:ea typeface="Calibri" pitchFamily="34" charset="-122"/>
                <a:cs typeface="Calibri" pitchFamily="34" charset="-120"/>
              </a:rPr>
              <a:t>RESUMO E PRÓXIMOS PASSOS</a:t>
            </a:r>
            <a:endParaRPr lang="en-US" sz="1200" dirty="0"/>
          </a:p>
        </p:txBody>
      </p:sp>
      <p:sp>
        <p:nvSpPr>
          <p:cNvPr id="9" name="Text 6"/>
          <p:cNvSpPr txBox="1"/>
          <p:nvPr/>
        </p:nvSpPr>
        <p:spPr>
          <a:xfrm>
            <a:off x="640080" y="868680"/>
            <a:ext cx="1091153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 que levamos da aula 11</a:t>
            </a:r>
            <a:endParaRPr lang="en-US" sz="3000" dirty="0"/>
          </a:p>
        </p:txBody>
      </p:sp>
      <p:sp>
        <p:nvSpPr>
          <p:cNvPr id="10" name="Shape 7"/>
          <p:cNvSpPr/>
          <p:nvPr/>
        </p:nvSpPr>
        <p:spPr>
          <a:xfrm>
            <a:off x="640080" y="1828800"/>
            <a:ext cx="411480" cy="411480"/>
          </a:xfrm>
          <a:prstGeom prst="ellipse">
            <a:avLst/>
          </a:prstGeom>
          <a:solidFill>
            <a:srgbClr val="5FE3A1"/>
          </a:solidFill>
          <a:ln w="12700">
            <a:solidFill>
              <a:srgbClr val="5FE3A1"/>
            </a:solidFill>
            <a:prstDash val="solid"/>
          </a:ln>
        </p:spPr>
      </p:sp>
      <p:pic>
        <p:nvPicPr>
          <p:cNvPr id="11" name="Image 1" descr="preencoded.png">    </p:cNvPr>
          <p:cNvPicPr>
            <a:picLocks noChangeAspect="1"/>
          </p:cNvPicPr>
          <p:nvPr/>
        </p:nvPicPr>
        <p:blipFill>
          <a:blip r:embed="rId2"/>
          <a:stretch>
            <a:fillRect/>
          </a:stretch>
        </p:blipFill>
        <p:spPr>
          <a:xfrm>
            <a:off x="742950" y="1931670"/>
            <a:ext cx="205740" cy="205740"/>
          </a:xfrm>
          <a:prstGeom prst="rect">
            <a:avLst/>
          </a:prstGeom>
        </p:spPr>
      </p:pic>
      <p:sp>
        <p:nvSpPr>
          <p:cNvPr id="12" name="Text 8"/>
          <p:cNvSpPr txBox="1"/>
          <p:nvPr/>
        </p:nvSpPr>
        <p:spPr>
          <a:xfrm>
            <a:off x="1280160" y="1737360"/>
            <a:ext cx="5760720"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 neurônio é y = f(w·x + b); a regressão da aula 03 era um neurônio.</a:t>
            </a:r>
            <a:endParaRPr lang="en-US" sz="1400" dirty="0"/>
          </a:p>
        </p:txBody>
      </p:sp>
      <p:sp>
        <p:nvSpPr>
          <p:cNvPr id="13" name="Shape 9"/>
          <p:cNvSpPr/>
          <p:nvPr/>
        </p:nvSpPr>
        <p:spPr>
          <a:xfrm>
            <a:off x="640080" y="2606040"/>
            <a:ext cx="411480" cy="411480"/>
          </a:xfrm>
          <a:prstGeom prst="ellipse">
            <a:avLst/>
          </a:prstGeom>
          <a:solidFill>
            <a:srgbClr val="5FE3A1"/>
          </a:solidFill>
          <a:ln w="12700">
            <a:solidFill>
              <a:srgbClr val="5FE3A1"/>
            </a:solidFill>
            <a:prstDash val="solid"/>
          </a:ln>
        </p:spPr>
      </p:sp>
      <p:pic>
        <p:nvPicPr>
          <p:cNvPr id="14" name="Image 2" descr="preencoded.png">    </p:cNvPr>
          <p:cNvPicPr>
            <a:picLocks noChangeAspect="1"/>
          </p:cNvPicPr>
          <p:nvPr/>
        </p:nvPicPr>
        <p:blipFill>
          <a:blip r:embed="rId3"/>
          <a:stretch>
            <a:fillRect/>
          </a:stretch>
        </p:blipFill>
        <p:spPr>
          <a:xfrm>
            <a:off x="742950" y="2708910"/>
            <a:ext cx="205740" cy="205740"/>
          </a:xfrm>
          <a:prstGeom prst="rect">
            <a:avLst/>
          </a:prstGeom>
        </p:spPr>
      </p:pic>
      <p:sp>
        <p:nvSpPr>
          <p:cNvPr id="15" name="Text 10"/>
          <p:cNvSpPr txBox="1"/>
          <p:nvPr/>
        </p:nvSpPr>
        <p:spPr>
          <a:xfrm>
            <a:off x="1280160" y="2514600"/>
            <a:ext cx="5760720"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Um neurônio só traça uma reta: o XOR exige camadas ocultas.</a:t>
            </a:r>
            <a:endParaRPr lang="en-US" sz="1400" dirty="0"/>
          </a:p>
        </p:txBody>
      </p:sp>
      <p:sp>
        <p:nvSpPr>
          <p:cNvPr id="16" name="Shape 11"/>
          <p:cNvSpPr/>
          <p:nvPr/>
        </p:nvSpPr>
        <p:spPr>
          <a:xfrm>
            <a:off x="640080" y="3383280"/>
            <a:ext cx="411480" cy="411480"/>
          </a:xfrm>
          <a:prstGeom prst="ellipse">
            <a:avLst/>
          </a:prstGeom>
          <a:solidFill>
            <a:srgbClr val="5FE3A1"/>
          </a:solidFill>
          <a:ln w="12700">
            <a:solidFill>
              <a:srgbClr val="5FE3A1"/>
            </a:solidFill>
            <a:prstDash val="solid"/>
          </a:ln>
        </p:spPr>
      </p:sp>
      <p:pic>
        <p:nvPicPr>
          <p:cNvPr id="17" name="Image 3" descr="preencoded.png">    </p:cNvPr>
          <p:cNvPicPr>
            <a:picLocks noChangeAspect="1"/>
          </p:cNvPicPr>
          <p:nvPr/>
        </p:nvPicPr>
        <p:blipFill>
          <a:blip r:embed="rId4"/>
          <a:stretch>
            <a:fillRect/>
          </a:stretch>
        </p:blipFill>
        <p:spPr>
          <a:xfrm>
            <a:off x="742950" y="3486150"/>
            <a:ext cx="205740" cy="205740"/>
          </a:xfrm>
          <a:prstGeom prst="rect">
            <a:avLst/>
          </a:prstGeom>
        </p:spPr>
      </p:pic>
      <p:sp>
        <p:nvSpPr>
          <p:cNvPr id="18" name="Text 12"/>
          <p:cNvSpPr txBox="1"/>
          <p:nvPr/>
        </p:nvSpPr>
        <p:spPr>
          <a:xfrm>
            <a:off x="1280160" y="3291840"/>
            <a:ext cx="5760720"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Backpropagation é a regra da cadeia de trás para frente; o gradiente atualiza os pesos.</a:t>
            </a:r>
            <a:endParaRPr lang="en-US" sz="1400" dirty="0"/>
          </a:p>
        </p:txBody>
      </p:sp>
      <p:sp>
        <p:nvSpPr>
          <p:cNvPr id="19" name="Shape 13"/>
          <p:cNvSpPr/>
          <p:nvPr/>
        </p:nvSpPr>
        <p:spPr>
          <a:xfrm>
            <a:off x="640080" y="4160520"/>
            <a:ext cx="411480" cy="411480"/>
          </a:xfrm>
          <a:prstGeom prst="ellipse">
            <a:avLst/>
          </a:prstGeom>
          <a:solidFill>
            <a:srgbClr val="5FE3A1"/>
          </a:solidFill>
          <a:ln w="12700">
            <a:solidFill>
              <a:srgbClr val="5FE3A1"/>
            </a:solidFill>
            <a:prstDash val="solid"/>
          </a:ln>
        </p:spPr>
      </p:sp>
      <p:pic>
        <p:nvPicPr>
          <p:cNvPr id="20" name="Image 4" descr="preencoded.png">    </p:cNvPr>
          <p:cNvPicPr>
            <a:picLocks noChangeAspect="1"/>
          </p:cNvPicPr>
          <p:nvPr/>
        </p:nvPicPr>
        <p:blipFill>
          <a:blip r:embed="rId5"/>
          <a:stretch>
            <a:fillRect/>
          </a:stretch>
        </p:blipFill>
        <p:spPr>
          <a:xfrm>
            <a:off x="742950" y="4263390"/>
            <a:ext cx="205740" cy="205740"/>
          </a:xfrm>
          <a:prstGeom prst="rect">
            <a:avLst/>
          </a:prstGeom>
        </p:spPr>
      </p:pic>
      <p:sp>
        <p:nvSpPr>
          <p:cNvPr id="21" name="Text 14"/>
          <p:cNvSpPr txBox="1"/>
          <p:nvPr/>
        </p:nvSpPr>
        <p:spPr>
          <a:xfrm>
            <a:off x="1280160" y="4069080"/>
            <a:ext cx="5760720"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 scikit-learn: escala, pipeline, curva de perda e validação, como sempre.</a:t>
            </a:r>
            <a:endParaRPr lang="en-US" sz="1400" dirty="0"/>
          </a:p>
        </p:txBody>
      </p:sp>
      <p:sp>
        <p:nvSpPr>
          <p:cNvPr id="22" name="Shape 15"/>
          <p:cNvSpPr/>
          <p:nvPr/>
        </p:nvSpPr>
        <p:spPr>
          <a:xfrm>
            <a:off x="7315200" y="1691640"/>
            <a:ext cx="4233672" cy="3017520"/>
          </a:xfrm>
          <a:prstGeom prst="roundRect">
            <a:avLst>
              <a:gd name="adj" fmla="val 3636"/>
            </a:avLst>
          </a:prstGeom>
          <a:solidFill>
            <a:srgbClr val="1B4332"/>
          </a:solidFill>
          <a:ln w="12700">
            <a:solidFill>
              <a:srgbClr val="1B4332"/>
            </a:solidFill>
            <a:prstDash val="solid"/>
          </a:ln>
        </p:spPr>
      </p:sp>
      <p:sp>
        <p:nvSpPr>
          <p:cNvPr id="23" name="Text 16"/>
          <p:cNvSpPr txBox="1"/>
          <p:nvPr/>
        </p:nvSpPr>
        <p:spPr>
          <a:xfrm>
            <a:off x="7589520" y="1828800"/>
            <a:ext cx="3657600" cy="320040"/>
          </a:xfrm>
          <a:prstGeom prst="rect">
            <a:avLst/>
          </a:prstGeom>
          <a:noFill/>
          <a:ln/>
        </p:spPr>
        <p:txBody>
          <a:bodyPr wrap="square" lIns="0" tIns="0" rIns="0" bIns="0" rtlCol="0" anchor="ctr"/>
          <a:lstStyle/>
          <a:p>
            <a:pPr indent="0" marL="0">
              <a:buNone/>
            </a:pPr>
            <a:r>
              <a:rPr lang="en-US" sz="1200" b="1" spc="200" kern="0" dirty="0">
                <a:solidFill>
                  <a:srgbClr val="5FE3A1"/>
                </a:solidFill>
                <a:latin typeface="Calibri" pitchFamily="34" charset="0"/>
                <a:ea typeface="Calibri" pitchFamily="34" charset="-122"/>
                <a:cs typeface="Calibri" pitchFamily="34" charset="-120"/>
              </a:rPr>
              <a:t>PRÓXIMAS AULAS</a:t>
            </a:r>
            <a:endParaRPr lang="en-US" sz="1200" dirty="0"/>
          </a:p>
        </p:txBody>
      </p:sp>
      <p:sp>
        <p:nvSpPr>
          <p:cNvPr id="24" name="Shape 17"/>
          <p:cNvSpPr/>
          <p:nvPr/>
        </p:nvSpPr>
        <p:spPr>
          <a:xfrm>
            <a:off x="7589520" y="2286000"/>
            <a:ext cx="502920" cy="502920"/>
          </a:xfrm>
          <a:prstGeom prst="ellipse">
            <a:avLst/>
          </a:prstGeom>
          <a:solidFill>
            <a:srgbClr val="FF7A2F"/>
          </a:solidFill>
          <a:ln w="12700">
            <a:solidFill>
              <a:srgbClr val="FF7A2F"/>
            </a:solidFill>
            <a:prstDash val="solid"/>
          </a:ln>
        </p:spPr>
      </p:sp>
      <p:sp>
        <p:nvSpPr>
          <p:cNvPr id="25" name="Text 18"/>
          <p:cNvSpPr txBox="1"/>
          <p:nvPr/>
        </p:nvSpPr>
        <p:spPr>
          <a:xfrm>
            <a:off x="7589520" y="2286000"/>
            <a:ext cx="502920" cy="502920"/>
          </a:xfrm>
          <a:prstGeom prst="rect">
            <a:avLst/>
          </a:prstGeom>
          <a:noFill/>
          <a:ln/>
        </p:spPr>
        <p:txBody>
          <a:bodyPr wrap="square" lIns="0" tIns="0" rIns="0" bIns="0" rtlCol="0" anchor="ctr"/>
          <a:lstStyle/>
          <a:p>
            <a:pPr algn="ctr" indent="0" marL="0">
              <a:buNone/>
            </a:pPr>
            <a:r>
              <a:rPr lang="en-US" sz="1400" b="1" dirty="0">
                <a:solidFill>
                  <a:srgbClr val="0B1A12"/>
                </a:solidFill>
                <a:latin typeface="Cambria" pitchFamily="34" charset="0"/>
                <a:ea typeface="Cambria" pitchFamily="34" charset="-122"/>
                <a:cs typeface="Cambria" pitchFamily="34" charset="-120"/>
              </a:rPr>
              <a:t>12</a:t>
            </a:r>
            <a:endParaRPr lang="en-US" sz="1400" dirty="0"/>
          </a:p>
        </p:txBody>
      </p:sp>
      <p:sp>
        <p:nvSpPr>
          <p:cNvPr id="26" name="Text 19"/>
          <p:cNvSpPr txBox="1"/>
          <p:nvPr/>
        </p:nvSpPr>
        <p:spPr>
          <a:xfrm>
            <a:off x="8229600" y="2240280"/>
            <a:ext cx="315468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Agrupamento e reconhecimento de padrões</a:t>
            </a:r>
            <a:endParaRPr lang="en-US" sz="1400" dirty="0"/>
          </a:p>
        </p:txBody>
      </p:sp>
      <p:sp>
        <p:nvSpPr>
          <p:cNvPr id="27" name="Shape 20"/>
          <p:cNvSpPr/>
          <p:nvPr/>
        </p:nvSpPr>
        <p:spPr>
          <a:xfrm>
            <a:off x="7589520" y="3063240"/>
            <a:ext cx="502920" cy="502920"/>
          </a:xfrm>
          <a:prstGeom prst="ellipse">
            <a:avLst/>
          </a:prstGeom>
          <a:solidFill>
            <a:srgbClr val="0B8A5B"/>
          </a:solidFill>
          <a:ln w="12700">
            <a:solidFill>
              <a:srgbClr val="0B8A5B"/>
            </a:solidFill>
            <a:prstDash val="solid"/>
          </a:ln>
        </p:spPr>
      </p:sp>
      <p:sp>
        <p:nvSpPr>
          <p:cNvPr id="28" name="Text 21"/>
          <p:cNvSpPr txBox="1"/>
          <p:nvPr/>
        </p:nvSpPr>
        <p:spPr>
          <a:xfrm>
            <a:off x="7589520" y="30632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13</a:t>
            </a:r>
            <a:endParaRPr lang="en-US" sz="1400" dirty="0"/>
          </a:p>
        </p:txBody>
      </p:sp>
      <p:sp>
        <p:nvSpPr>
          <p:cNvPr id="29" name="Text 22"/>
          <p:cNvSpPr txBox="1"/>
          <p:nvPr/>
        </p:nvSpPr>
        <p:spPr>
          <a:xfrm>
            <a:off x="8229600" y="3017520"/>
            <a:ext cx="3154680" cy="5943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Aprendizado por reforço</a:t>
            </a:r>
            <a:endParaRPr lang="en-US" sz="1400" dirty="0"/>
          </a:p>
        </p:txBody>
      </p:sp>
      <p:sp>
        <p:nvSpPr>
          <p:cNvPr id="30" name="Shape 23"/>
          <p:cNvSpPr/>
          <p:nvPr/>
        </p:nvSpPr>
        <p:spPr>
          <a:xfrm>
            <a:off x="7589520" y="3840480"/>
            <a:ext cx="502920" cy="502920"/>
          </a:xfrm>
          <a:prstGeom prst="ellipse">
            <a:avLst/>
          </a:prstGeom>
          <a:solidFill>
            <a:srgbClr val="0B8A5B"/>
          </a:solidFill>
          <a:ln w="12700">
            <a:solidFill>
              <a:srgbClr val="0B8A5B"/>
            </a:solidFill>
            <a:prstDash val="solid"/>
          </a:ln>
        </p:spPr>
      </p:sp>
      <p:sp>
        <p:nvSpPr>
          <p:cNvPr id="31" name="Text 24"/>
          <p:cNvSpPr txBox="1"/>
          <p:nvPr/>
        </p:nvSpPr>
        <p:spPr>
          <a:xfrm>
            <a:off x="7589520" y="3840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14</a:t>
            </a:r>
            <a:endParaRPr lang="en-US" sz="1400" dirty="0"/>
          </a:p>
        </p:txBody>
      </p:sp>
      <p:sp>
        <p:nvSpPr>
          <p:cNvPr id="32" name="Text 25"/>
          <p:cNvSpPr txBox="1"/>
          <p:nvPr/>
        </p:nvSpPr>
        <p:spPr>
          <a:xfrm>
            <a:off x="8229600" y="3794760"/>
            <a:ext cx="3154680" cy="5943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Deep learning: reconhecimento de imagem</a:t>
            </a:r>
            <a:endParaRPr lang="en-US" sz="1400" dirty="0"/>
          </a:p>
        </p:txBody>
      </p:sp>
      <p:sp>
        <p:nvSpPr>
          <p:cNvPr id="33" name="Shape 26"/>
          <p:cNvSpPr/>
          <p:nvPr/>
        </p:nvSpPr>
        <p:spPr>
          <a:xfrm>
            <a:off x="640080" y="4983480"/>
            <a:ext cx="10911535" cy="1097280"/>
          </a:xfrm>
          <a:prstGeom prst="roundRect">
            <a:avLst>
              <a:gd name="adj" fmla="val 10000"/>
            </a:avLst>
          </a:prstGeom>
          <a:solidFill>
            <a:srgbClr val="1B4332"/>
          </a:solidFill>
          <a:ln w="12700">
            <a:solidFill>
              <a:srgbClr val="1B4332"/>
            </a:solidFill>
            <a:prstDash val="solid"/>
          </a:ln>
        </p:spPr>
      </p:sp>
      <p:sp>
        <p:nvSpPr>
          <p:cNvPr id="34" name="Shape 27"/>
          <p:cNvSpPr/>
          <p:nvPr/>
        </p:nvSpPr>
        <p:spPr>
          <a:xfrm>
            <a:off x="914400" y="5257800"/>
            <a:ext cx="548640" cy="548640"/>
          </a:xfrm>
          <a:prstGeom prst="ellipse">
            <a:avLst/>
          </a:prstGeom>
          <a:solidFill>
            <a:srgbClr val="FF7A2F"/>
          </a:solidFill>
          <a:ln w="12700">
            <a:solidFill>
              <a:srgbClr val="FF7A2F"/>
            </a:solidFill>
            <a:prstDash val="solid"/>
          </a:ln>
        </p:spPr>
      </p:sp>
      <p:pic>
        <p:nvPicPr>
          <p:cNvPr id="35" name="Image 5" descr="preencoded.png">    </p:cNvPr>
          <p:cNvPicPr>
            <a:picLocks noChangeAspect="1"/>
          </p:cNvPicPr>
          <p:nvPr/>
        </p:nvPicPr>
        <p:blipFill>
          <a:blip r:embed="rId6"/>
          <a:stretch>
            <a:fillRect/>
          </a:stretch>
        </p:blipFill>
        <p:spPr>
          <a:xfrm>
            <a:off x="1051560" y="5394960"/>
            <a:ext cx="274320" cy="274320"/>
          </a:xfrm>
          <a:prstGeom prst="rect">
            <a:avLst/>
          </a:prstGeom>
        </p:spPr>
      </p:pic>
      <p:sp>
        <p:nvSpPr>
          <p:cNvPr id="36" name="Text 28"/>
          <p:cNvSpPr txBox="1"/>
          <p:nvPr/>
        </p:nvSpPr>
        <p:spPr>
          <a:xfrm>
            <a:off x="1737360" y="5074920"/>
            <a:ext cx="9144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Para a próxima aula</a:t>
            </a:r>
            <a:endParaRPr lang="en-US" sz="1600" dirty="0"/>
          </a:p>
        </p:txBody>
      </p:sp>
      <p:sp>
        <p:nvSpPr>
          <p:cNvPr id="37" name="Text 29"/>
          <p:cNvSpPr txBox="1"/>
          <p:nvPr/>
        </p:nvSpPr>
        <p:spPr>
          <a:xfrm>
            <a:off x="1737360" y="5468112"/>
            <a:ext cx="9692640" cy="548640"/>
          </a:xfrm>
          <a:prstGeom prst="rect">
            <a:avLst/>
          </a:prstGeom>
          <a:noFill/>
          <a:ln/>
        </p:spPr>
        <p:txBody>
          <a:bodyPr wrap="square" lIns="0" tIns="0" rIns="0" bIns="0" rtlCol="0" anchor="t"/>
          <a:lstStyle/>
          <a:p>
            <a:pPr indent="0" marL="0">
              <a:buNone/>
            </a:pPr>
            <a:r>
              <a:rPr lang="en-US" sz="1400" dirty="0">
                <a:solidFill>
                  <a:srgbClr val="C5D3CA"/>
                </a:solidFill>
                <a:latin typeface="Calibri" pitchFamily="34" charset="0"/>
                <a:ea typeface="Calibri" pitchFamily="34" charset="-122"/>
                <a:cs typeface="Calibri" pitchFamily="34" charset="-120"/>
              </a:rPr>
              <a:t>Refaça os exercícios e teste a rede do zero em outro problema pequeno (por exemplo, XNOR). Na aula 12, sem rótulos: agrupamento com K-means e mapas auto-organizáveis.</a:t>
            </a:r>
            <a:endParaRPr lang="en-US" sz="1400" dirty="0"/>
          </a:p>
        </p:txBody>
      </p:sp>
      <p:sp>
        <p:nvSpPr>
          <p:cNvPr id="38" name="Text 30"/>
          <p:cNvSpPr txBox="1"/>
          <p:nvPr/>
        </p:nvSpPr>
        <p:spPr>
          <a:xfrm>
            <a:off x="640080" y="6126480"/>
            <a:ext cx="5486400" cy="274320"/>
          </a:xfrm>
          <a:prstGeom prst="rect">
            <a:avLst/>
          </a:prstGeom>
          <a:noFill/>
          <a:ln/>
        </p:spPr>
        <p:txBody>
          <a:bodyPr wrap="square" lIns="0" tIns="0" rIns="0" bIns="0" rtlCol="0" anchor="t"/>
          <a:lstStyle/>
          <a:p>
            <a:pPr indent="0" marL="0">
              <a:buNone/>
            </a:pPr>
            <a:r>
              <a:rPr lang="en-US" sz="1100" i="1" dirty="0">
                <a:solidFill>
                  <a:srgbClr val="C5D3CA"/>
                </a:solidFill>
                <a:latin typeface="Calibri" pitchFamily="34" charset="0"/>
                <a:ea typeface="Calibri" pitchFamily="34" charset="-122"/>
                <a:cs typeface="Calibri" pitchFamily="34" charset="-120"/>
              </a:rPr>
              <a:t>Planejamento sujeito a ajustes.</a:t>
            </a:r>
            <a:endParaRPr lang="en-US" sz="1100" dirty="0"/>
          </a:p>
        </p:txBody>
      </p:sp>
      <p:sp>
        <p:nvSpPr>
          <p:cNvPr id="39" name="Text 31"/>
          <p:cNvSpPr txBox="1"/>
          <p:nvPr/>
        </p:nvSpPr>
        <p:spPr>
          <a:xfrm>
            <a:off x="640080" y="6419088"/>
            <a:ext cx="4572000" cy="274320"/>
          </a:xfrm>
          <a:prstGeom prst="rect">
            <a:avLst/>
          </a:prstGeom>
          <a:noFill/>
          <a:ln/>
        </p:spPr>
        <p:txBody>
          <a:bodyPr wrap="square" lIns="0" tIns="0" rIns="0" bIns="0" rtlCol="0" anchor="ctr"/>
          <a:lstStyle/>
          <a:p>
            <a:pPr indent="0" marL="0">
              <a:buNone/>
            </a:pPr>
            <a:r>
              <a:rPr lang="en-US" sz="1000" dirty="0">
                <a:solidFill>
                  <a:srgbClr val="C5D3CA"/>
                </a:solidFill>
                <a:latin typeface="Calibri" pitchFamily="34" charset="0"/>
                <a:ea typeface="Calibri" pitchFamily="34" charset="-122"/>
                <a:cs typeface="Calibri" pitchFamily="34" charset="-120"/>
              </a:rPr>
              <a:t>Inteligência Artificial · Aula 11</a:t>
            </a:r>
            <a:endParaRPr lang="en-US" sz="1000" dirty="0"/>
          </a:p>
        </p:txBody>
      </p:sp>
      <p:sp>
        <p:nvSpPr>
          <p:cNvPr id="40" name="Text 32"/>
          <p:cNvSpPr txBox="1"/>
          <p:nvPr/>
        </p:nvSpPr>
        <p:spPr>
          <a:xfrm>
            <a:off x="10637215" y="6419088"/>
            <a:ext cx="914400" cy="274320"/>
          </a:xfrm>
          <a:prstGeom prst="rect">
            <a:avLst/>
          </a:prstGeom>
          <a:noFill/>
          <a:ln/>
        </p:spPr>
        <p:txBody>
          <a:bodyPr wrap="square" lIns="0" tIns="0" rIns="0" bIns="0" rtlCol="0" anchor="ctr"/>
          <a:lstStyle/>
          <a:p>
            <a:pPr algn="r" indent="0" marL="0">
              <a:buNone/>
            </a:pPr>
            <a:r>
              <a:rPr lang="en-US" sz="1000" dirty="0">
                <a:solidFill>
                  <a:srgbClr val="C5D3CA"/>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 Aula 11 - Redes neurais artificiais</dc:title>
  <dc:subject>PptxGenJS Presentation</dc:subject>
  <dc:creator>Inteligência Artificial</dc:creator>
  <cp:lastModifiedBy>Inteligência Artificial</cp:lastModifiedBy>
  <cp:revision>1</cp:revision>
  <dcterms:created xsi:type="dcterms:W3CDTF">2026-10-08T13:02:23Z</dcterms:created>
  <dcterms:modified xsi:type="dcterms:W3CDTF">2026-10-08T13:02:23Z</dcterms:modified>
</cp:coreProperties>
</file>