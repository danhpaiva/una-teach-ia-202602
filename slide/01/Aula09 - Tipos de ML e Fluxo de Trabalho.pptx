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Acurácia por k (luas ruidosas)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treino</c:v>
                </c:pt>
              </c:strCache>
            </c:strRef>
          </c:tx>
          <c:spPr>
            <a:solidFill>
              <a:srgbClr val="0B8A5B"/>
            </a:solidFill>
            <a:ln w="38100" cap="flat">
              <a:solidFill>
                <a:srgbClr val="0B8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8A5B"/>
              </a:solidFill>
              <a:ln w="9525" cap="flat">
                <a:solidFill>
                  <a:srgbClr val="0B8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9</c:v>
                  </c:pt>
                  <c:pt idx="4">
                    <c:v>15</c:v>
                  </c:pt>
                  <c:pt idx="5">
                    <c:v>25</c:v>
                  </c:pt>
                  <c:pt idx="6">
                    <c:v>51</c:v>
                  </c:pt>
                  <c:pt idx="7">
                    <c:v>101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0.933</c:v>
                </c:pt>
                <c:pt idx="2">
                  <c:v>0.924</c:v>
                </c:pt>
                <c:pt idx="3">
                  <c:v>0.905</c:v>
                </c:pt>
                <c:pt idx="4">
                  <c:v>0.91</c:v>
                </c:pt>
                <c:pt idx="5">
                  <c:v>0.919</c:v>
                </c:pt>
                <c:pt idx="6">
                  <c:v>0.871</c:v>
                </c:pt>
                <c:pt idx="7">
                  <c:v>0.843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teste</c:v>
                </c:pt>
              </c:strCache>
            </c:strRef>
          </c:tx>
          <c:spPr>
            <a:solidFill>
              <a:srgbClr val="D6336C"/>
            </a:solidFill>
            <a:ln w="38100" cap="flat">
              <a:solidFill>
                <a:srgbClr val="D633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336C"/>
              </a:solidFill>
              <a:ln w="9525" cap="flat">
                <a:solidFill>
                  <a:srgbClr val="D633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9</c:v>
                  </c:pt>
                  <c:pt idx="4">
                    <c:v>15</c:v>
                  </c:pt>
                  <c:pt idx="5">
                    <c:v>25</c:v>
                  </c:pt>
                  <c:pt idx="6">
                    <c:v>51</c:v>
                  </c:pt>
                  <c:pt idx="7">
                    <c:v>101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0.878</c:v>
                </c:pt>
                <c:pt idx="1">
                  <c:v>0.9</c:v>
                </c:pt>
                <c:pt idx="2">
                  <c:v>0.9</c:v>
                </c:pt>
                <c:pt idx="3">
                  <c:v>0.9</c:v>
                </c:pt>
                <c:pt idx="4">
                  <c:v>0.922</c:v>
                </c:pt>
                <c:pt idx="5">
                  <c:v>0.889</c:v>
                </c:pt>
                <c:pt idx="6">
                  <c:v>0.844</c:v>
                </c:pt>
                <c:pt idx="7">
                  <c:v>0.744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B1A1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image" Target="../media/image-4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1097280" cy="109728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346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de máquina: tipos e fluxo de trabalho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dado ao modelo avaliado, com Python e scikit-learn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539496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3949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Supervisionado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108960" y="5394960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08960" y="53949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e teste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394960" y="5394960"/>
            <a:ext cx="146304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94960" y="53949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040880" y="539496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40880" y="53949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692640" y="5394960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92640" y="53949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PASSADA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(aula 06)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conhecimento vem do especialista e é escrito à mão.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Metaheurísticas (aula 07)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 boas soluções, sem aprender de exemplos.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Fuzzy (aula 08)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vagas e graduais, ainda escritas por pessoas.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14400" y="512064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2578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37360" y="475488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 a regra sai dos dados: o computador descobre o padrão a partir de exemplos.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fazer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aprender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e os três tipos de aprendizado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fluxo de trabalho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perguntas ao modelo em uso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modelo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treino, teste e k-NN com scikit-learn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1792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 direito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Overfitting, métricas e validação cruzada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Pré-processamento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Escala, pipeline e vazamento de dados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21792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Regressão e escolha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704088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modelos e ajustar hiperparâmetros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APRENDER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 de aprendizado de máquina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463040"/>
          </a:xfrm>
          <a:prstGeom prst="roundRect">
            <a:avLst>
              <a:gd name="adj" fmla="val 75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programa aprende com a experiência E, para uma tarefa T, se seu desempenho P em T melhora com E.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918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Tom Mitchell (livro Machine Learning, 1997)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70332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127248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(T)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870448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(E)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613648" y="370332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(P)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233672"/>
            <a:ext cx="10908792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4233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spam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127248" y="42336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e-mails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870448" y="42336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e-mails já rotulados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613648" y="4233672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classificados certo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4709160"/>
            <a:ext cx="10908792" cy="420624"/>
          </a:xfrm>
          <a:prstGeom prst="roundRect">
            <a:avLst>
              <a:gd name="adj" fmla="val 1739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" y="47091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preço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127248" y="47091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valor de imóvel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870448" y="47091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passadas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613648" y="4709160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médio do preço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APRENDER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Programar regras × aprender com dados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tradicional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51460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 escreve as regras. O computador as aplica aos dados e dá respostas.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1148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SE valor &gt; 5000 ENTÃO revisar.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73952" y="1874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de máquina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473952" y="251460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 dados e respostas conhecidas. O algoritmo descobre as regras (o modelo), depois aplicadas a dados novos.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73952" y="41148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o modelo aprende o que separa fraudes.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5212080"/>
            <a:ext cx="10911535" cy="914400"/>
          </a:xfrm>
          <a:prstGeom prst="roundRect">
            <a:avLst>
              <a:gd name="adj" fmla="val 12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52120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ideia do slide “regras × dados” da aula 01, agora com código. Aprender = ajustar parâmetros para reduzir o erro, como na regressão da aula 03.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APRENDIZADO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tipos de aprendizado de máquina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4343400"/>
          </a:xfrm>
          <a:prstGeom prst="roundRect">
            <a:avLst>
              <a:gd name="adj" fmla="val 314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3035808" cy="685800"/>
          </a:xfrm>
          <a:prstGeom prst="roundRect">
            <a:avLst>
              <a:gd name="adj" fmla="val 13333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965960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Supervisionado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8346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com exemplos que trazem a resposta certa (rótulo).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297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dizer se um e-mail é spam.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5349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09, 10, 11, 14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47972" y="1783080"/>
            <a:ext cx="3493008" cy="4343400"/>
          </a:xfrm>
          <a:prstGeom prst="roundRect">
            <a:avLst>
              <a:gd name="adj" fmla="val 314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6572" y="1965960"/>
            <a:ext cx="3035808" cy="68580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6572" y="1965960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supervisionado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4576572" y="28346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estrutura em dados sem rótulo: grupos, padrões.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76572" y="4297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segmentar clientes por perfil de compra.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6572" y="5349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12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055864" y="1783080"/>
            <a:ext cx="3493008" cy="4343400"/>
          </a:xfrm>
          <a:prstGeom prst="roundRect">
            <a:avLst>
              <a:gd name="adj" fmla="val 314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84464" y="1965960"/>
            <a:ext cx="3035808" cy="685800"/>
          </a:xfrm>
          <a:prstGeom prst="roundRect">
            <a:avLst>
              <a:gd name="adj" fmla="val 13333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84464" y="1965960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reforço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8284464" y="28346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aprende por tentativa e erro, guiado por recompensas.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284464" y="4297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um robô que aprende a andar.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284464" y="5349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APRENDIZADO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supervisionado em duas famílias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127248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424928" y="1783080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é...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127248" y="231343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categoria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424928" y="2313432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3026664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30266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127248" y="302666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ou não spam; espécie de flor; fraude ou normal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424928" y="3026664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de um imóvel; demanda de amanhã; nota prevista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739896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7398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medir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127248" y="373989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acurácia, precisão, recall, F1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424928" y="3739896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médio (MAE, RMSE), R²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4453128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4531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127248" y="445312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e câncer de mama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24928" y="4453128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(progressão da doença)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5257800"/>
            <a:ext cx="10911535" cy="868680"/>
          </a:xfrm>
          <a:prstGeom prst="roundRect">
            <a:avLst>
              <a:gd name="adj" fmla="val 1263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25780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(y) é a resposta correta; atributos (X) são o que sabemos antes de decidir. O modelo aprende a mapear X para y. A regressão da aula 03 já era supervisionada.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APRENDIZADO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outros dois tipos, em uma palavra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Agrupamento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grupos naturais sem rótulos. K-means e mapas auto-organizáveis, na aula 12.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Redução de dimensão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muitos atributos em poucos (PCA, aula 12). Também é não supervisionado.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Reforço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Agente, ambiente e recompensa. Q-learning na aula 13.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5120640"/>
            <a:ext cx="10911535" cy="1005840"/>
          </a:xfrm>
          <a:prstGeom prst="roundRect">
            <a:avLst>
              <a:gd name="adj" fmla="val 1090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1206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ainda o semissupervisionado (poucos rótulos) e o autossupervisionado (rótulos gerados dos próprios dados), base de muitos modelos de linguagem. Hoje focamos no supervisionado.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APRENDIZADO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tipo de aprendizado usar?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19088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78308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603504"/>
          </a:xfrm>
          <a:prstGeom prst="roundRect">
            <a:avLst>
              <a:gd name="adj" fmla="val 1212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se um cliente vai cancelar o plano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19088" y="231343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Supervisionado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979408" y="2313432"/>
            <a:ext cx="2496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971800"/>
            <a:ext cx="10908792" cy="603504"/>
          </a:xfrm>
          <a:prstGeom prst="roundRect">
            <a:avLst>
              <a:gd name="adj" fmla="val 1212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97180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o consumo de energia de amanhã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19088" y="297180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Supervisionado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979408" y="2971800"/>
            <a:ext cx="2496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630168"/>
            <a:ext cx="10908792" cy="603504"/>
          </a:xfrm>
          <a:prstGeom prst="roundRect">
            <a:avLst>
              <a:gd name="adj" fmla="val 1212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63016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perfis de clientes sem categorias prévias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19088" y="363016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supervisionado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979408" y="3630168"/>
            <a:ext cx="2496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4288536"/>
            <a:ext cx="10908792" cy="603504"/>
          </a:xfrm>
          <a:prstGeom prst="roundRect">
            <a:avLst>
              <a:gd name="adj" fmla="val 1212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288536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Ensinar um agente a jogar um jogo pela pontuação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419088" y="428853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reforço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979408" y="4288536"/>
            <a:ext cx="2496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5120640"/>
            <a:ext cx="10911535" cy="1005840"/>
          </a:xfrm>
          <a:prstGeom prst="roundRect">
            <a:avLst>
              <a:gd name="adj" fmla="val 1090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1206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Pergunta-guia: tenho exemplos com a resposta certa? Sim → supervisionado (categoria ou número?). Não, só quero estrutura → não supervisionado. Há ações e recompensas ao longo do tempo → reforço.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TRABALHO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fluxo de um projeto de aprendizado de máquina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2450592" cy="1874520"/>
          </a:xfrm>
          <a:prstGeom prst="roundRect">
            <a:avLst>
              <a:gd name="adj" fmla="val 585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prever? Qual métrica de sucesso?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27248" y="269748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56432" y="1783080"/>
            <a:ext cx="2450592" cy="1874520"/>
          </a:xfrm>
          <a:prstGeom prst="roundRect">
            <a:avLst>
              <a:gd name="adj" fmla="val 585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39312" y="192024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39312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639312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639312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Coletar, entender e limpar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43600" y="269748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72784" y="1783080"/>
            <a:ext cx="2450592" cy="1874520"/>
          </a:xfrm>
          <a:prstGeom prst="roundRect">
            <a:avLst>
              <a:gd name="adj" fmla="val 585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55664" y="192024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55664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55664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Separar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455664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e teste (e validação)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759952" y="269748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89136" y="1783080"/>
            <a:ext cx="2450592" cy="1874520"/>
          </a:xfrm>
          <a:prstGeom prst="roundRect">
            <a:avLst>
              <a:gd name="adj" fmla="val 585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72016" y="192024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72016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272016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Preparar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272016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Escala, categorias, faltantes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048256" y="3931920"/>
            <a:ext cx="2450592" cy="1874520"/>
          </a:xfrm>
          <a:prstGeom prst="roundRect">
            <a:avLst>
              <a:gd name="adj" fmla="val 585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231136" y="406908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231136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2231136" y="4617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Modelar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2231136" y="5029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e comparar modelos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535424" y="484632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4864608" y="3931920"/>
            <a:ext cx="2450592" cy="1874520"/>
          </a:xfrm>
          <a:prstGeom prst="roundRect">
            <a:avLst>
              <a:gd name="adj" fmla="val 5854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047488" y="4069080"/>
            <a:ext cx="411480" cy="411480"/>
          </a:xfrm>
          <a:prstGeom prst="ellipse">
            <a:avLst/>
          </a:prstGeom>
          <a:solidFill>
            <a:srgbClr val="0B1A12"/>
          </a:solidFill>
          <a:ln w="12700">
            <a:solidFill>
              <a:srgbClr val="0B1A1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047488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047488" y="4617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5047488" y="5029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no teste, uma vez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7351776" y="484632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7680960" y="3931920"/>
            <a:ext cx="2450592" cy="1874520"/>
          </a:xfrm>
          <a:prstGeom prst="roundRect">
            <a:avLst>
              <a:gd name="adj" fmla="val 585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863840" y="406908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86384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7863840" y="4617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Implantar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7863840" y="5029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Usar, monitorar, melhorar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10314432" y="3657600"/>
            <a:ext cx="0" cy="13716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273552" y="3794760"/>
            <a:ext cx="7040880" cy="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273552" y="3794760"/>
            <a:ext cx="0" cy="118872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49" name="Text 46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 o fluxo é um ciclo: resultados ruins mandam de volta aos dados e ao problema.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scikit-learn: a API em três verbos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2865120"/>
          </a:xfrm>
          <a:prstGeom prst="roundRect">
            <a:avLst>
              <a:gd name="adj" fmla="val 383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e padrão de uso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terminal, com o venv ativo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(.venv) 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scikit-learn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padrao de uso de qualquer modelo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AlgumModelo(hiperparametros)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modelo.fit(X_treino, y_treino)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previsoes = modelo.predict(X_novo)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= modelo.score(X_teste, y_teste)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702552" y="1783080"/>
            <a:ext cx="4846320" cy="868680"/>
          </a:xfrm>
          <a:prstGeom prst="roundRect">
            <a:avLst>
              <a:gd name="adj" fmla="val 1263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03720" y="1783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17830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Treina: ajusta os parâmetros do modelo aos dados.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702552" y="2743200"/>
            <a:ext cx="4846320" cy="868680"/>
          </a:xfrm>
          <a:prstGeom prst="roundRect">
            <a:avLst>
              <a:gd name="adj" fmla="val 1263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03720" y="27432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275320" y="27432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a resposta para dados novos.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702552" y="3703320"/>
            <a:ext cx="4846320" cy="868680"/>
          </a:xfrm>
          <a:prstGeom prst="roundRect">
            <a:avLst>
              <a:gd name="adj" fmla="val 1263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03720" y="3703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8275320" y="37033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Avalia: acurácia (classificação) ou R² (regressão).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40080" y="4876800"/>
            <a:ext cx="10911535" cy="1249680"/>
          </a:xfrm>
          <a:prstGeom prst="roundRect">
            <a:avLst>
              <a:gd name="adj" fmla="val 878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4400" y="4876800"/>
            <a:ext cx="10362895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modelos do scikit-learn seguem essa interface: trocar de algoritmo costuma ser trocar uma linha. Também há os transformadores (fit/transform), como o StandardScaler.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PROJETO · IRIS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conjunto Iris: nosso “olá, mundo” de ML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468880"/>
          </a:xfrm>
          <a:prstGeom prst="roundRect">
            <a:avLst>
              <a:gd name="adj" fmla="val 444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amostras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 medidas por Ronald Fisher em 1936 (dados coletados por Edgar Anderson).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7972" y="1783080"/>
            <a:ext cx="3493008" cy="2468880"/>
          </a:xfrm>
          <a:prstGeom prst="roundRect">
            <a:avLst>
              <a:gd name="adj" fmla="val 444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6572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atributos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6572" y="265176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Comprimento e largura da sépala e da pétala, em cm.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55864" y="1783080"/>
            <a:ext cx="3493008" cy="2468880"/>
          </a:xfrm>
          <a:prstGeom prst="roundRect">
            <a:avLst>
              <a:gd name="adj" fmla="val 444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84464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classes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84464" y="265176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setosa, versicolor e virginica, com 50 flores cada. Vem junto com o scikit-learn.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480560"/>
            <a:ext cx="10908792" cy="411480"/>
          </a:xfrm>
          <a:prstGeom prst="roundRect">
            <a:avLst>
              <a:gd name="adj" fmla="val 22222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4480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Espécie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493008" y="4480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Pétala, comprimento (média)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19088" y="4480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Pétala, largura (média)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345168" y="4480560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" y="4965192"/>
            <a:ext cx="10908792" cy="356616"/>
          </a:xfrm>
          <a:prstGeom prst="roundRect">
            <a:avLst>
              <a:gd name="adj" fmla="val 2051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49651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493008" y="4965192"/>
            <a:ext cx="2743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4965192"/>
            <a:ext cx="2743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345168" y="4965192"/>
            <a:ext cx="2130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" y="5376672"/>
            <a:ext cx="10908792" cy="356616"/>
          </a:xfrm>
          <a:prstGeom prst="roundRect">
            <a:avLst>
              <a:gd name="adj" fmla="val 2051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9808" y="537667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493008" y="5376672"/>
            <a:ext cx="2743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4.26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419088" y="5376672"/>
            <a:ext cx="2743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1.33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345168" y="5376672"/>
            <a:ext cx="2130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" y="5788152"/>
            <a:ext cx="10908792" cy="356616"/>
          </a:xfrm>
          <a:prstGeom prst="roundRect">
            <a:avLst>
              <a:gd name="adj" fmla="val 2051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578815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virginica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493008" y="5788152"/>
            <a:ext cx="2743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5.55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419088" y="5788152"/>
            <a:ext cx="2743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9345168" y="5788152"/>
            <a:ext cx="2130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PROJETO · IRIS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Carregando e explorando os dados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474720"/>
          </a:xfrm>
          <a:prstGeom prst="roundRect">
            <a:avLst>
              <a:gd name="adj" fmla="val 3158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iris_dados.py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load_iris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9718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load_iris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as_frame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2004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4290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"sepala_c"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"sepala_l"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"petala_c"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"petala_l"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"alvo"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576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"especie"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"alvo"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target_names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148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3434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5720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"especie"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value_counts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8006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"especie"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"petala_c"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"petala_l"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799832" y="1783080"/>
            <a:ext cx="374904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010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021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033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14232" y="19019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 (resumida)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074152" y="22860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(150, 6)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074152" y="25146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sepala_c sepala_l petala_c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074152" y="27432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0  5.1  3.5  1.4  ...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074152" y="32004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setosa        50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074152" y="34290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versicolor    50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074152" y="36576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virginica     50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40080" y="5394960"/>
            <a:ext cx="10911535" cy="731520"/>
          </a:xfrm>
          <a:prstGeom prst="roundRect">
            <a:avLst>
              <a:gd name="adj" fmla="val 15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4400" y="53949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antes de modelar: tamanho, tipos, faltantes, equilíbrio entre as classes. Aqui as três classes têm 50 amostras cada: equilibradas.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PROJETO · IRIS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Separar treino e teste: a regra de ouro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avalie um modelo nos mesmos dados em que ele treinou.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7635240" cy="731520"/>
          </a:xfrm>
          <a:prstGeom prst="roundRect">
            <a:avLst>
              <a:gd name="adj" fmla="val 12500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337560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Treino: 70% (105 flores): o modelo aprende aqui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366760" y="3337560"/>
            <a:ext cx="3182112" cy="731520"/>
          </a:xfrm>
          <a:prstGeom prst="roundRect">
            <a:avLst>
              <a:gd name="adj" fmla="val 12500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66760" y="3337560"/>
            <a:ext cx="3182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30% (45)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4297680"/>
            <a:ext cx="3493008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4480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quê?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51663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Decorar as respostas não é aprender. O teste simula dados nunca vistos.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347972" y="4297680"/>
            <a:ext cx="3493008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6572" y="4480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stratify=y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576572" y="51663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a proporção das classes nos dois conjuntos.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055864" y="4297680"/>
            <a:ext cx="3493008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84464" y="4480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random_state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284464" y="51663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 o sorteio: o resultado é reprodutível.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MODELO · K-NN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k-vizinhos mais próximos: pergunte à vizinhança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Guarde os exemplos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5603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“treino” é só memorizar os dados rotulados.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99632" y="17830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28232" y="1965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2823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68312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Meça distâncias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428232" y="25603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uma flor nova, calcule a distância às de treino.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685032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86791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38679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Olhe os k mais próximos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4622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os k exemplos mais parecidos.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199632" y="3685032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28232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068312" y="38679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Vote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428232" y="44622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mais comum entre eles é a previsão.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5577840"/>
            <a:ext cx="10911535" cy="594360"/>
          </a:xfrm>
          <a:prstGeom prst="roundRect">
            <a:avLst>
              <a:gd name="adj" fmla="val 1846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57784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é um hiperparâmetro: você escolhe antes do treino. Voltaremos a ele.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MODELO · K-NN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Treinando e avaliando o k-NN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4198620"/>
          </a:xfrm>
          <a:prstGeom prst="roundRect">
            <a:avLst>
              <a:gd name="adj" fmla="val 261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knn_iris.py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load_iris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model_selection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KNeighborsClassifier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27660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load_iris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return_X_y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52425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77190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test_size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stratify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01955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51485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KNeighborsClassifier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n_neighbors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76250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01015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"acuracia treino:"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25780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"acuracia teste :"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50545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799832" y="1783080"/>
            <a:ext cx="3749040" cy="1645920"/>
          </a:xfrm>
          <a:prstGeom prst="roundRect">
            <a:avLst>
              <a:gd name="adj" fmla="val 666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010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021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033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714232" y="19019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074152" y="22860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(105, 4) (45, 4)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074152" y="25146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acuracia treino: 0.971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074152" y="27432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acuracia teste : 0.978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074152" y="29718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 1 2 1 2] [2 1 2 1 2]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799832" y="3566160"/>
            <a:ext cx="3749040" cy="2560320"/>
          </a:xfrm>
          <a:prstGeom prst="roundRect">
            <a:avLst>
              <a:gd name="adj" fmla="val 428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01000" y="35661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Acertou 97,8% dos 45 testes (44 de 45). As 5 primeiras previsões coincidem com a realidade. Resultado de uma única divisão: veremos que ele varia.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MODELO · K-NN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divisão só pode enganar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92240" cy="1874520"/>
          </a:xfrm>
          <a:prstGeom prst="roundRect">
            <a:avLst>
              <a:gd name="adj" fmla="val 585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seeds.py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943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5943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43200"/>
            <a:ext cx="5943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test_size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71800"/>
            <a:ext cx="5943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KNeighborsClassifier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00400"/>
            <a:ext cx="5943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"random_state={seed}: {modelo.score(X_te, y_te):.3f}"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42632" y="1783080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5236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82980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42632" y="2313432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52360" y="23134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829800" y="23134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42632" y="2770632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52360" y="27706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829800" y="27706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0.978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342632" y="3227832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52360" y="32278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829800" y="32278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0.978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342632" y="3685032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52360" y="36850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9829800" y="36850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0.956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342632" y="4142232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52360" y="41422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9829800" y="41422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0.978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342632" y="4599432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452360" y="45994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9829800" y="45994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0.933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40080" y="5212080"/>
            <a:ext cx="10911535" cy="914400"/>
          </a:xfrm>
          <a:prstGeom prst="roundRect">
            <a:avLst>
              <a:gd name="adj" fmla="val 12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4400" y="52120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modelo, em sorteios diferentes, vai de 93% a 100%. Com 45 exemplos de teste, cada erro pesa 2,2 pontos. A validação cruzada (adiante) dá uma estimativa mais firme.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 e underfitting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simples demais: erra no treino e no teste. Não captou o padrão.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 ajuste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Acerta bem no treino e em dados novos. É o objetivo: generalizar.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Decorou o treino, inclusive o ruído: ótimo no treino, ruim no teste.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9377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de alerta: grande diferença entre a nota de treino e a de teste. Modelos muito flexíveis (como k-NN com k = 1) tendem a decorar. O teste existe para detectar isso.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GENERALIZAÇÃO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Variando k: onde o k-NN decora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486400" cy="2788920"/>
          </a:xfrm>
          <a:prstGeom prst="roundRect">
            <a:avLst>
              <a:gd name="adj" fmla="val 393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overfit_k.py (resumido)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4937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make_moons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743200"/>
            <a:ext cx="4937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make_moons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n_samples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971800"/>
            <a:ext cx="4937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0.35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200400"/>
            <a:ext cx="4937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train_test_split como antes ...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429000"/>
            <a:ext cx="4937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57600"/>
            <a:ext cx="4937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KNeighborsClassifier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n_neighbors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4937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14800"/>
            <a:ext cx="4937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17920" y="1783080"/>
            <a:ext cx="5330952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20" name="Chart 0" descr=""/>
          <p:cNvGraphicFramePr/>
          <p:nvPr/>
        </p:nvGraphicFramePr>
        <p:xfrm>
          <a:off x="6309360" y="1874520"/>
          <a:ext cx="514807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Shape 17"/>
          <p:cNvSpPr/>
          <p:nvPr/>
        </p:nvSpPr>
        <p:spPr>
          <a:xfrm>
            <a:off x="640080" y="480060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14400" y="48006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1: treino 1,000 e teste 0,878 (decorou). k = 101: ambos caem (simples demais). O melhor teste fica no meio: k = 15 (0,922).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confusão: onde o modelo acerta e erra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606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880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4114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70632" y="2633472"/>
            <a:ext cx="2139696" cy="1179576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43200" y="26060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965192" y="2633472"/>
            <a:ext cx="2139696" cy="1179576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37760" y="26060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770632" y="3867912"/>
            <a:ext cx="2139696" cy="1179576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743200" y="38404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965192" y="3867912"/>
            <a:ext cx="2139696" cy="1179576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37760" y="38404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498080" y="1783080"/>
            <a:ext cx="4050792" cy="822960"/>
          </a:xfrm>
          <a:prstGeom prst="roundRect">
            <a:avLst>
              <a:gd name="adj" fmla="val 13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80960" y="1783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(verdadeiro positivo)
</a:t>
            </a:r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Maligno previsto como maligno.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498080" y="2697480"/>
            <a:ext cx="4050792" cy="822960"/>
          </a:xfrm>
          <a:prstGeom prst="roundRect">
            <a:avLst>
              <a:gd name="adj" fmla="val 13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80960" y="2697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(falso negativo)
</a:t>
            </a:r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Maligno previsto como benigno: o erro mais grave aqui.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498080" y="3611880"/>
            <a:ext cx="4050792" cy="822960"/>
          </a:xfrm>
          <a:prstGeom prst="roundRect">
            <a:avLst>
              <a:gd name="adj" fmla="val 13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8096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(falso positivo)
</a:t>
            </a:r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Benigno previsto como maligno: alarme falso.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498080" y="4526280"/>
            <a:ext cx="4050792" cy="822960"/>
          </a:xfrm>
          <a:prstGeom prst="roundRect">
            <a:avLst>
              <a:gd name="adj" fmla="val 13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80960" y="4526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(verdadeiro negativo)
</a:t>
            </a:r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Benigno previsto como benigno.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0080" y="5577840"/>
            <a:ext cx="10911535" cy="594360"/>
          </a:xfrm>
          <a:prstGeom prst="roundRect">
            <a:avLst>
              <a:gd name="adj" fmla="val 1846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4400" y="557784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câncer de mama do scikit-learn (569 exames), regressão logística: 171 casos de teste.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Acurácia, precisão, recall e F1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761488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053328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que responde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979408" y="178308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exemplo (maligno)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313432"/>
            <a:ext cx="10908792" cy="621792"/>
          </a:xfrm>
          <a:prstGeom prst="roundRect">
            <a:avLst>
              <a:gd name="adj" fmla="val 1176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134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761488" y="231343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(VP + VN) / total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053328" y="231343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acertei no geral?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979408" y="2313432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169 / 171 = 0,988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990088"/>
            <a:ext cx="10908792" cy="621792"/>
          </a:xfrm>
          <a:prstGeom prst="roundRect">
            <a:avLst>
              <a:gd name="adj" fmla="val 1176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29900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761488" y="299008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 / (VP + FP)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053328" y="299008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que chamei de maligno, quantos eram?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979408" y="2990088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 / 64 = 0,984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3666744"/>
            <a:ext cx="10908792" cy="621792"/>
          </a:xfrm>
          <a:prstGeom prst="roundRect">
            <a:avLst>
              <a:gd name="adj" fmla="val 1176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366674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761488" y="366674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 / (VP + FN)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053328" y="366674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malignos reais, quantos achei?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979408" y="3666744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 / 64 = 0,984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4343400"/>
            <a:ext cx="10908792" cy="621792"/>
          </a:xfrm>
          <a:prstGeom prst="roundRect">
            <a:avLst>
              <a:gd name="adj" fmla="val 1176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3434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2761488" y="434340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2·P·R / (P + R)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053328" y="434340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entre precisão e recall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979408" y="4343400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0,984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0080" y="5257800"/>
            <a:ext cx="10911535" cy="868680"/>
          </a:xfrm>
          <a:prstGeom prst="roundRect">
            <a:avLst>
              <a:gd name="adj" fmla="val 1263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525780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erro mais caro é deixar passar um caso positivo (doença, fraude), olhe o recall. Quando alarmes falsos custam caro (bloquear um cliente bom), olhe a precisão.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no scikit-learn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246120"/>
          </a:xfrm>
          <a:prstGeom prst="roundRect">
            <a:avLst>
              <a:gd name="adj" fmla="val 338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cancer_metricas.py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load_breast_cancer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model_selection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432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make_pipeline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718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preprocessing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004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linear_model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290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load_breast_cancer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148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12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= maligno, 1 = benigno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3434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5720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test_size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load_breast_cancer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embutidos: 30 atributos de exames.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955280" y="315468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552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595360" y="306324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595360" y="342900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Precisão, recall e F1 por classe, de uma vez.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955280" y="443484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9552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595360" y="434340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595360" y="470916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2×2 do slide anterior.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40080" y="5257800"/>
            <a:ext cx="10911535" cy="868680"/>
          </a:xfrm>
          <a:prstGeom prst="roundRect">
            <a:avLst>
              <a:gd name="adj" fmla="val 1263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14400" y="525780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divisão treino/teste do Iris. O pipeline (próximos slides) junta a escala e o modelo.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Executando: um relatório de classificação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76072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cancer_metricas.py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2120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make_pipeline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52120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43200"/>
            <a:ext cx="52120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71800"/>
            <a:ext cx="52120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00400"/>
            <a:ext cx="52120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29000"/>
            <a:ext cx="52120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657600"/>
            <a:ext cx="52120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target_names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target_names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611112" y="1783080"/>
            <a:ext cx="4937760" cy="2103120"/>
          </a:xfrm>
          <a:prstGeom prst="roundRect">
            <a:avLst>
              <a:gd name="adj" fmla="val 521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122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134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146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25512" y="1901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 (resumida)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22860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[[ 63   1]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885432" y="25146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 1 106]]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885432" y="27432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precision recall  f1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85432" y="29718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malignant    0.984   0.984  0.984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885432" y="32004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benign       0.991   0.991  0.991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885432" y="34290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                   0.988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" y="4297680"/>
            <a:ext cx="10911535" cy="1828800"/>
          </a:xfrm>
          <a:prstGeom prst="roundRect">
            <a:avLst>
              <a:gd name="adj" fmla="val 6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4297680"/>
            <a:ext cx="10362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2 erros em 171 casos: 1 maligno perdido e 1 alarme falso. Num problema médico real, esse 1 maligno perdido seria o ponto de maior atenção. Este dataset é didático e não substitui avaliação clínica.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acurácia engana: classes desbalanceadas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309360" cy="2560320"/>
          </a:xfrm>
          <a:prstGeom prst="roundRect">
            <a:avLst>
              <a:gd name="adj" fmla="val 428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dummy.py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760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2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5% de fraudes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5760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971800"/>
            <a:ext cx="5760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ingenuo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DummyClassifier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"most_frequent"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200400"/>
            <a:ext cx="5760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ingenuo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429000"/>
            <a:ext cx="5760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ingenuo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57600"/>
            <a:ext cx="5760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"acuracia:"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accuracy_score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5760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"recall da classe fraude:"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recall_score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0" y="1783080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0" y="1892808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7452360" y="28803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491472" y="1783080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91472" y="1892808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31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000" dirty="0"/>
          </a:p>
        </p:txBody>
      </p:sp>
      <p:sp>
        <p:nvSpPr>
          <p:cNvPr id="23" name="Text 20"/>
          <p:cNvSpPr txBox="1"/>
          <p:nvPr/>
        </p:nvSpPr>
        <p:spPr>
          <a:xfrm>
            <a:off x="9628632" y="28803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de fraude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" y="4572000"/>
            <a:ext cx="10911535" cy="1554480"/>
          </a:xfrm>
          <a:prstGeom prst="roundRect">
            <a:avLst>
              <a:gd name="adj" fmla="val 705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" y="45720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“modelo” que sempre responde “não é fraude” acerta 95% e não detecta nenhuma fraude. Com classes desbalanceadas, use recall, precisão e F1. E compare sempre com uma linha de base ingênua (DummyClassifier).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cruzada: usar todos os dados para testar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288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03120" y="1828800"/>
            <a:ext cx="1316736" cy="475488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03120" y="182880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1828800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74720" y="182880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46320" y="1828800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82880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0" y="1828800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82880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589520" y="1828800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89520" y="182880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239572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2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103120" y="2395728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103120" y="239572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474720" y="2395728"/>
            <a:ext cx="1316736" cy="475488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74720" y="239572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846320" y="2395728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46320" y="239572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17920" y="2395728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0" y="239572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589520" y="2395728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89520" y="239572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296265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3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2103120" y="2962656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103120" y="296265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474720" y="2962656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474720" y="296265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846320" y="2962656"/>
            <a:ext cx="1316736" cy="475488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846320" y="296265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217920" y="2962656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217920" y="296265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589520" y="2962656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589520" y="296265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352958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4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2103120" y="3529584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103120" y="3529584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3474720" y="3529584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474720" y="3529584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4846320" y="3529584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846320" y="3529584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217920" y="3529584"/>
            <a:ext cx="1316736" cy="475488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217920" y="3529584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7589520" y="3529584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589520" y="3529584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409651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5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2103120" y="4096512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103120" y="409651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3474720" y="4096512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474720" y="409651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4846320" y="4096512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846320" y="409651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6217920" y="4096512"/>
            <a:ext cx="1316736" cy="475488"/>
          </a:xfrm>
          <a:prstGeom prst="rect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217920" y="409651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7589520" y="4096512"/>
            <a:ext cx="1316736" cy="475488"/>
          </a:xfrm>
          <a:prstGeom prst="rect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7589520" y="409651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640080" y="4800600"/>
            <a:ext cx="5349240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14400" y="4846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dobras (folds)</a:t>
            </a:r>
            <a:endParaRPr lang="en-US" sz="1500" dirty="0"/>
          </a:p>
        </p:txBody>
      </p:sp>
      <p:sp>
        <p:nvSpPr>
          <p:cNvPr id="63" name="Text 60"/>
          <p:cNvSpPr txBox="1"/>
          <p:nvPr/>
        </p:nvSpPr>
        <p:spPr>
          <a:xfrm>
            <a:off x="914400" y="53035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os dados em 5 partes. Em cada rodada, 4 treinam e 1 testa.</a:t>
            </a:r>
            <a:endParaRPr lang="en-US" sz="1300" dirty="0"/>
          </a:p>
        </p:txBody>
      </p:sp>
      <p:sp>
        <p:nvSpPr>
          <p:cNvPr id="64" name="Shape 61"/>
          <p:cNvSpPr/>
          <p:nvPr/>
        </p:nvSpPr>
        <p:spPr>
          <a:xfrm>
            <a:off x="6199632" y="4800600"/>
            <a:ext cx="5349240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473952" y="4846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média</a:t>
            </a:r>
            <a:endParaRPr lang="en-US" sz="1500" dirty="0"/>
          </a:p>
        </p:txBody>
      </p:sp>
      <p:sp>
        <p:nvSpPr>
          <p:cNvPr id="66" name="Text 63"/>
          <p:cNvSpPr txBox="1"/>
          <p:nvPr/>
        </p:nvSpPr>
        <p:spPr>
          <a:xfrm>
            <a:off x="6473952" y="53035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final é a média das 5 rodadas, com seu desvio.</a:t>
            </a:r>
            <a:endParaRPr lang="en-US" sz="1300" dirty="0"/>
          </a:p>
        </p:txBody>
      </p:sp>
      <p:sp>
        <p:nvSpPr>
          <p:cNvPr id="67" name="Text 6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cruzada no scikit-learn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766560" cy="2560320"/>
          </a:xfrm>
          <a:prstGeom prst="roundRect">
            <a:avLst>
              <a:gd name="adj" fmla="val 428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load_breast_cancer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return_X_y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make_pipeline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432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718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StratifiedKFold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n_splits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shuffle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004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290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6576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"media:"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886200"/>
            <a:ext cx="6217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"desvio:"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616952" y="178308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181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192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04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31352" y="190195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891272" y="2286000"/>
            <a:ext cx="3383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[0.974 0.947 0.965 0.991 0.991]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891272" y="2514600"/>
            <a:ext cx="3383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media: 0.974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891272" y="2743200"/>
            <a:ext cx="3383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desvio: 0.017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0080" y="4572000"/>
            <a:ext cx="10911535" cy="1554480"/>
          </a:xfrm>
          <a:prstGeom prst="roundRect">
            <a:avLst>
              <a:gd name="adj" fmla="val 705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4400" y="45720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notas vão de 0,947 a 0,991: um único teste poderia dar qualquer uma delas. A média (0,974) e o desvio (0,017) contam a história inteira. StratifiedKFold mantém a proporção de classes em cada dobra.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 dos atributos: o k-NN é sensível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377440"/>
          </a:xfrm>
          <a:prstGeom prst="roundRect">
            <a:avLst>
              <a:gd name="adj" fmla="val 46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em unidades diferentes (área em mm², suavidade de 0 a 1) pesam muito diferente nas distâncias.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7972" y="1783080"/>
            <a:ext cx="3493008" cy="2377440"/>
          </a:xfrm>
          <a:prstGeom prst="roundRect">
            <a:avLst>
              <a:gd name="adj" fmla="val 46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6572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StandardScaler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6572" y="265176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Subtrai a média e divide pelo desvio: cada atributo fica com média 0 e desvio 1.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55864" y="1783080"/>
            <a:ext cx="3493008" cy="2377440"/>
          </a:xfrm>
          <a:prstGeom prst="roundRect">
            <a:avLst>
              <a:gd name="adj" fmla="val 46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84464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precisa?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84464" y="265176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k-NN, regressão logística, redes neurais, SVM. Árvores de decisão não dependem da escala.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389120"/>
            <a:ext cx="6675120" cy="1569720"/>
          </a:xfrm>
          <a:prstGeom prst="roundRect">
            <a:avLst>
              <a:gd name="adj" fmla="val 699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457200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42416" y="457200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43584" y="457200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554480" y="4507992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escala.py (resumido)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892040"/>
            <a:ext cx="61264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KNeighborsClassifier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101590"/>
            <a:ext cx="61264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make_pipeline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KNeighborsClassifier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311140"/>
            <a:ext cx="61264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"sem escala:"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520690"/>
            <a:ext cx="61264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 escala:"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525512" y="438912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26680" y="457200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27848" y="457200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29016" y="457200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39912" y="450799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9832" y="4892040"/>
            <a:ext cx="3474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escala: 0.935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799832" y="5120640"/>
            <a:ext cx="3474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escala: 0.963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e vazamento de dados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Encadeia pré-processamento e modelo em um só objeto: fit, predict e score funcionam como em um modelo comum.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Vazamento (leakage)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do teste “vaza” para o treino. Ex.: calcular a média para a escala usando todos os dados antes de separar.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todo o pré-processamento dentro do pipeline: em cada dobra, ele só aprende com o treino daquela dobra.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663440"/>
            <a:ext cx="10911535" cy="1463040"/>
          </a:xfrm>
          <a:prstGeom prst="roundRect">
            <a:avLst>
              <a:gd name="adj" fmla="val 75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66344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vazamento dá notas lindas e falsas: o modelo parece ótimo no teste e fracassa em produção. É um dos erros mais comuns (e mais caros) em projetos reais. Quem separa o teste primeiro e usa pipeline está protegido.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Demonstração: o vazamento cria resultados falsos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863840" cy="3246120"/>
          </a:xfrm>
          <a:prstGeom prst="roundRect">
            <a:avLst>
              <a:gd name="adj" fmla="val 338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vazamento.py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31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731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ruido puro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731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rotulos aleatorios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124200"/>
            <a:ext cx="731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ERRADO: escolhe as 20 melhores colunas olhando TODOS os dados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33750"/>
            <a:ext cx="731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X_sel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SelectKBest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f_classif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fit_transform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543300"/>
            <a:ext cx="731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errado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X_sel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962400"/>
            <a:ext cx="731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CERTO: a selecao fica dentro do pipeline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71950"/>
            <a:ext cx="731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make_pipeline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SelectKBest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f_classif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381500"/>
            <a:ext cx="731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591050"/>
            <a:ext cx="731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686800" y="1783080"/>
            <a:ext cx="2862072" cy="1737360"/>
          </a:xfrm>
          <a:prstGeom prst="roundRect">
            <a:avLst>
              <a:gd name="adj" fmla="val 6316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0" y="1892808"/>
            <a:ext cx="2862072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31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0,81</a:t>
            </a:r>
            <a:endParaRPr lang="en-US" sz="4000" dirty="0"/>
          </a:p>
        </p:txBody>
      </p:sp>
      <p:sp>
        <p:nvSpPr>
          <p:cNvPr id="23" name="Text 20"/>
          <p:cNvSpPr txBox="1"/>
          <p:nvPr/>
        </p:nvSpPr>
        <p:spPr>
          <a:xfrm>
            <a:off x="8823960" y="2825496"/>
            <a:ext cx="2587752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vazamento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686800" y="3703320"/>
            <a:ext cx="2862072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0" y="3813048"/>
            <a:ext cx="2862072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0,52</a:t>
            </a:r>
            <a:endParaRPr lang="en-US" sz="4000" dirty="0"/>
          </a:p>
        </p:txBody>
      </p:sp>
      <p:sp>
        <p:nvSpPr>
          <p:cNvPr id="26" name="Text 23"/>
          <p:cNvSpPr txBox="1"/>
          <p:nvPr/>
        </p:nvSpPr>
        <p:spPr>
          <a:xfrm>
            <a:off x="8823960" y="4745736"/>
            <a:ext cx="2587752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vazamento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0080" y="5532120"/>
            <a:ext cx="10911535" cy="640080"/>
          </a:xfrm>
          <a:prstGeom prst="roundRect">
            <a:avLst>
              <a:gd name="adj" fmla="val 1714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4400" y="55321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são ruído puro: o acerto honesto é ~50% (acaso). O vazamento fabricou 81%.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Regressão: prever um número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Conjunto diabetes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442 pacientes, 10 atributos (idade, IMC, pressão e exames) já normalizados. Alvo: progressão da doença após um ano.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6572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6572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LinearRegression: a reta da aula 03, agora com 10 atributos (um peso por atributo).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84464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84464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erro médio absoluto. RMSE: raiz do erro quadrático médio. R²: quanto da variação o modelo explica.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663440"/>
            <a:ext cx="10911535" cy="1463040"/>
          </a:xfrm>
          <a:prstGeom prst="roundRect">
            <a:avLst>
              <a:gd name="adj" fmla="val 75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466344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1 é perfeito; R² = 0 equivale a prever sempre a média; pode até ser negativo. Compare o MAE com o de um modelo ingênuo que sempre prevê a média: se não bater a média, o modelo não serve.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Regressão linear no scikit-learn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017520"/>
          </a:xfrm>
          <a:prstGeom prst="roundRect">
            <a:avLst>
              <a:gd name="adj" fmla="val 363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regressao_diabetes.py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load_diabetes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return_X_y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432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test_size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2004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LinearRegression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4290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"MAE :"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mean_absolute_error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148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"RMSE:"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mean_squared_error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3434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"R2  :"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r2_score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99832" y="1783080"/>
            <a:ext cx="374904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0956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92124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799832" y="2313432"/>
            <a:ext cx="3749040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09560" y="2313432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921240" y="2313432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42.8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799832" y="2816352"/>
            <a:ext cx="3749040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09560" y="2816352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9921240" y="2816352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53.9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799832" y="3319272"/>
            <a:ext cx="3749040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09560" y="3319272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9921240" y="3319272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0.453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799832" y="3822192"/>
            <a:ext cx="3749040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909560" y="3822192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da média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9921240" y="3822192"/>
            <a:ext cx="1554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64.0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40080" y="502920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14400" y="502920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médio de 42,8 contra 64,0 de quem só chuta a média: melhor, mas R² de 0,45 mostra que mais da metade da variação continua sem explicação. Regressão linear simples tem limites.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Previsto × real: olhe os casos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950208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150608" y="1783080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219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950208" y="231343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150608" y="2313432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(subestimou)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880360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88036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950208" y="288036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150608" y="2880360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(superestimou)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447288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44728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950208" y="344728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150608" y="3447288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(subestimou)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4014216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01421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950208" y="401421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291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150608" y="4014216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(superestimou)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475488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" y="4937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individuais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68680" y="5623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de 60 a 110: há dispersão.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347972" y="475488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76572" y="4937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Resíduos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576572" y="5623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− previsto: revela o que faltou.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055864" y="475488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84464" y="4937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passo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284464" y="5623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mais flexíveis e dobras.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MODELO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Comparando modelos com a mesma validação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2827020"/>
          </a:xfrm>
          <a:prstGeom prst="roundRect">
            <a:avLst>
              <a:gd name="adj" fmla="val 388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comparar_modelos.py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"Regressao logistica"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make_pipeline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"k-NN (k=5)"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make_pipeline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KNeighborsClassifier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242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"Arvore de decisao"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3337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"Floresta aleatoria"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RandomForestClassifier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5433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7528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9624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719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"{nome:20} {notas.mean():.3f} +- {notas.std():.3f}"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799832" y="1783080"/>
            <a:ext cx="374904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90956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19556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média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799832" y="2313432"/>
            <a:ext cx="3749040" cy="512064"/>
          </a:xfrm>
          <a:prstGeom prst="roundRect">
            <a:avLst>
              <a:gd name="adj" fmla="val 1428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09560" y="231343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logística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195560" y="231343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0.974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799832" y="2880360"/>
            <a:ext cx="3749040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09560" y="288036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(k = 5)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195560" y="288036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0.963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799832" y="3447288"/>
            <a:ext cx="3749040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909560" y="344728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decisão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0195560" y="344728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0.910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799832" y="4014216"/>
            <a:ext cx="3749040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909560" y="401421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Floresta aleatória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0195560" y="401421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0.956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40080" y="4838700"/>
            <a:ext cx="10911535" cy="1287780"/>
          </a:xfrm>
          <a:prstGeom prst="roundRect">
            <a:avLst>
              <a:gd name="adj" fmla="val 852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4400" y="4838700"/>
            <a:ext cx="10362895" cy="1287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validação (5 dobras, mesma semente) para todos: comparação justa. A regressão logística, o modelo mais simples, ficou em primeiro. Complexidade não garante melhor resultado. As árvores (aula 10) e as redes (aula 11) virão a seguir.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MODELO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Hiperparâmetros: ajustes que você escolhe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468880"/>
          </a:xfrm>
          <a:prstGeom prst="roundRect">
            <a:avLst>
              <a:gd name="adj" fmla="val 444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Parâmetros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Aprendidos nos dados durante o treino: os pesos da regressão, as regras da árvore.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7972" y="1783080"/>
            <a:ext cx="3493008" cy="2468880"/>
          </a:xfrm>
          <a:prstGeom prst="roundRect">
            <a:avLst>
              <a:gd name="adj" fmla="val 444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6572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Hiperparâmetros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6572" y="265176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Definidos por você antes do treino: o k do k-NN, a profundidade da árvore, a taxa de aprendizado.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55864" y="1783080"/>
            <a:ext cx="3493008" cy="2468880"/>
          </a:xfrm>
          <a:prstGeom prst="roundRect">
            <a:avLst>
              <a:gd name="adj" fmla="val 444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84464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escolher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84464" y="265176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 várias combinações e compare por validação cruzada: GridSearchCV faz isso.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480560"/>
            <a:ext cx="10911535" cy="1645920"/>
          </a:xfrm>
          <a:prstGeom prst="roundRect">
            <a:avLst>
              <a:gd name="adj" fmla="val 666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4480560"/>
            <a:ext cx="103628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ajuste hiperparâmetros usando só o treino (com validação cruzada). O conjunto de teste fica guardado para o fim, uma única vez. Se você ajustar olhando o teste, ele deixa de ser teste.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MODELO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GridSearchCV: testando combinações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498080" cy="2617470"/>
          </a:xfrm>
          <a:prstGeom prst="roundRect">
            <a:avLst>
              <a:gd name="adj" fmla="val 419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grid.py (imports e divisão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make_pipeline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KNeighborsClassifier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"kneighborsclassifier__n_neighbors"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"kneighborsclassifier__weights"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"uniform"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"distance"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StratifiedKFold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n_splits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shuffle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2420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GridSearchCV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54330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"melhores:"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best_params_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75285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"cv      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best_score_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96240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"teste   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321040" y="1783080"/>
            <a:ext cx="3227832" cy="1874520"/>
          </a:xfrm>
          <a:prstGeom prst="roundRect">
            <a:avLst>
              <a:gd name="adj" fmla="val 585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2220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2337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2454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1901952"/>
            <a:ext cx="2130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2286000"/>
            <a:ext cx="26791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melhores: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2514600"/>
            <a:ext cx="26791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k=15,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2743200"/>
            <a:ext cx="26791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weights=distance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595360" y="2971800"/>
            <a:ext cx="26791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   : 0.97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595360" y="3200400"/>
            <a:ext cx="26791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 : 0.965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" y="4629150"/>
            <a:ext cx="10911535" cy="1497330"/>
          </a:xfrm>
          <a:prstGeom prst="roundRect">
            <a:avLst>
              <a:gd name="adj" fmla="val 732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4629150"/>
            <a:ext cx="10362895" cy="1497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as 12 combinações com 5 dobras cada (60 treinos) e escolhe a melhor. O nome “kneighborsclassifier__n_neighbors” é etapa + dois sublinhados + parâmetro. O teste final (0,965) fica próximo da estimativa por validação (0,970): bom sinal.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junto, na ordem certa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132320" cy="3665220"/>
          </a:xfrm>
          <a:prstGeom prst="roundRect">
            <a:avLst>
              <a:gd name="adj" fmla="val 299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fluxo_completo.py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dados   2) separar o teste e NAO olhar ate o fim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load_breast_cancer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return_X_y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test_size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3375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modelo + pre-processamento juntos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54330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make_pipeline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96240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4) validacao cruzada so no treino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7195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"cv:"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59105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5) treino final e UMA avaliacao no teste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80060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01015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"teste:"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982712" y="178308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838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3850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5862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897112" y="190195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257032" y="2286000"/>
            <a:ext cx="3017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cv: 0.98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257032" y="2514600"/>
            <a:ext cx="3017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teste: 0.982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982712" y="338328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83880" y="33832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(0,98) e teste (0,982) concordam: o modelo deve generalizar. O teste foi usado uma só vez.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ESPIADINHA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supervisionado: agrupando o Iris sem rótulos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kmeans_iris.py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load_iris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return_X_y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2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NAO e usado no treino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58521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n_clusters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43200"/>
            <a:ext cx="58521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fit_predict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200400"/>
            <a:ext cx="58521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429000"/>
            <a:ext cx="58521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bincount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minlength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57600"/>
            <a:ext cx="58521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"grupo"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"-&gt;"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42632" y="1783080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5236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549640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555480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56132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342632" y="2313432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52360" y="231343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549640" y="231343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555480" y="231343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561320" y="231343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342632" y="2880360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52360" y="28803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549640" y="288036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9555480" y="288036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0561320" y="28803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342632" y="3447288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452360" y="344728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549640" y="344728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555480" y="344728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0561320" y="344728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40080" y="4343400"/>
            <a:ext cx="10911535" cy="1783080"/>
          </a:xfrm>
          <a:prstGeom prst="roundRect">
            <a:avLst>
              <a:gd name="adj" fmla="val 6154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4400" y="4343400"/>
            <a:ext cx="103628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K-means, sem ver os rótulos, separou as setosas perfeitamente e confundiu parte das outras duas espécies (que se misturam). Os grupos não têm nome: interpretar é trabalho humano. Aula 12 aprofunda.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ESPIADINHA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Reforço: o ciclo agente–ambiente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554480" y="192024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54480" y="1920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680960" y="192024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80960" y="1920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26280" y="2240280"/>
            <a:ext cx="3108960" cy="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452628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26280" y="2697480"/>
            <a:ext cx="3108960" cy="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headEnd type="triangle"/>
          </a:ln>
        </p:spPr>
      </p:sp>
      <p:sp>
        <p:nvSpPr>
          <p:cNvPr id="13" name="Text 10"/>
          <p:cNvSpPr txBox="1"/>
          <p:nvPr/>
        </p:nvSpPr>
        <p:spPr>
          <a:xfrm>
            <a:off x="4526280" y="2743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+ recompensa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3566160"/>
            <a:ext cx="3493008" cy="2560320"/>
          </a:xfrm>
          <a:prstGeom prst="roundRect">
            <a:avLst>
              <a:gd name="adj" fmla="val 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rótulos prontos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443484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diz a ação certa. O agente descobre o que rende mais recompensa ao longo do tempo.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47972" y="3566160"/>
            <a:ext cx="3493008" cy="2560320"/>
          </a:xfrm>
          <a:prstGeom prst="roundRect">
            <a:avLst>
              <a:gd name="adj" fmla="val 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6572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Exploração × explotação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576572" y="443484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coisas novas ou repetir o que funciona? O mesmo dilema da aula 07.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055864" y="3566160"/>
            <a:ext cx="3493008" cy="2560320"/>
          </a:xfrm>
          <a:prstGeom prst="roundRect">
            <a:avLst>
              <a:gd name="adj" fmla="val 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84464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aula 13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84464" y="443484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do zero, com código, em um ambiente simples.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USO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Salvando e reusando um modelo treinado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salvar.py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make_pipeline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KNeighborsClassifier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58521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43200"/>
            <a:ext cx="58521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dump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"modelo_iris.joblib"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200400"/>
            <a:ext cx="58521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carregado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"modelo_iris.joblib"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429000"/>
            <a:ext cx="58521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carregado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57600"/>
            <a:ext cx="58521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6.7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42632" y="1783080"/>
            <a:ext cx="4206240" cy="1474470"/>
          </a:xfrm>
          <a:prstGeom prst="roundRect">
            <a:avLst>
              <a:gd name="adj" fmla="val 744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438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449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461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57032" y="190195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16952" y="2286000"/>
            <a:ext cx="3657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 2]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616952" y="2533650"/>
            <a:ext cx="3657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= setosa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616952" y="2781300"/>
            <a:ext cx="3657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= virginica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40080" y="4343400"/>
            <a:ext cx="10911535" cy="1783080"/>
          </a:xfrm>
          <a:prstGeom prst="roundRect">
            <a:avLst>
              <a:gd name="adj" fmla="val 6154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" y="4343400"/>
            <a:ext cx="103628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guarda o pipeline inteiro (escala + modelo): na produção basta carregar e chamar predict. Só carregue arquivos de modelo de fontes confiáveis, pois eles podem executar código ao serem abertos. Guarde também a versão do scikit-learn usada no treino.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USO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 da implantação: modelos envelhecem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 dos dados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mundo muda: hábitos de consumo, golpes novos, sensores trocados. Os dados de hoje deixam de ser como os do treino.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Monitorar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a distribuição das entradas e as métricas com rótulos reais, quando chegarem.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Retreinar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um critério (queda da métrica, calendário) para atualizar o modelo com dados recentes.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9377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em produção não é um produto acabado: é um sistema vivo. Prever o impacto de um erro (quem é afetado, como recorrer) faz parte do projeto, como vimos em ética na aula 01.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BOAS PRÁTICAS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ruins, decisões ruins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Viés nos dados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histórico foi enviesado (aula 01: COMPAS, Amazon), o modelo aprende e amplifica o viés. Avalie por grupos, não só na média.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Representatividade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precisa refletir quem será afetado. Um modelo bom na média pode falhar com um grupo pequeno.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Privacidade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exigem base legal (LGPD, aula 01). Use só o necessário e proteja o que guarda.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5120640"/>
            <a:ext cx="10911535" cy="1005840"/>
          </a:xfrm>
          <a:prstGeom prst="roundRect">
            <a:avLst>
              <a:gd name="adj" fmla="val 1090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1206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alta não prova que o modelo é justo. Meça o recall e a precisão por subgrupo e documente limites conhecidos antes de usar o modelo em decisões que afetam pessoas.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Regras, fuzzy ou aprendizado de máquina?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154680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 fuzzy (aulas 06 e 08)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21728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de máquina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313432"/>
            <a:ext cx="10911535" cy="585216"/>
          </a:xfrm>
          <a:prstGeom prst="roundRect">
            <a:avLst>
              <a:gd name="adj" fmla="val 125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31343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vem de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2313432"/>
            <a:ext cx="3992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 e normas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421728" y="2313432"/>
            <a:ext cx="3992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históricos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2953512"/>
            <a:ext cx="10911535" cy="585216"/>
          </a:xfrm>
          <a:prstGeom prst="roundRect">
            <a:avLst>
              <a:gd name="adj" fmla="val 125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95351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 muitos dados?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2953512"/>
            <a:ext cx="3992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421728" y="2953512"/>
            <a:ext cx="3992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e de qualidade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593592"/>
            <a:ext cx="10911535" cy="585216"/>
          </a:xfrm>
          <a:prstGeom prst="roundRect">
            <a:avLst>
              <a:gd name="adj" fmla="val 125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59359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complexos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3593592"/>
            <a:ext cx="3992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escrever à mão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21728" y="3593592"/>
            <a:ext cx="3992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ponto forte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233672"/>
            <a:ext cx="10911535" cy="585216"/>
          </a:xfrm>
          <a:prstGeom prst="roundRect">
            <a:avLst>
              <a:gd name="adj" fmla="val 125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23367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uma decisão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154680" y="4233672"/>
            <a:ext cx="3992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Direto: as regras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421728" y="4233672"/>
            <a:ext cx="3992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difícil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4873752"/>
            <a:ext cx="10911535" cy="585216"/>
          </a:xfrm>
          <a:prstGeom prst="roundRect">
            <a:avLst>
              <a:gd name="adj" fmla="val 125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487375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muda a política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154680" y="4873752"/>
            <a:ext cx="3992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 a regra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421728" y="4873752"/>
            <a:ext cx="3992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Retreina e revalida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" y="5696712"/>
            <a:ext cx="10911535" cy="731520"/>
          </a:xfrm>
          <a:prstGeom prst="roundRect">
            <a:avLst>
              <a:gd name="adj" fmla="val 15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5696712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prática, combine: o modelo estima, regras de negócio decidem e explicam. Comece pela solução mais simples que resolve o problema.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no treino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de treino alta não diz nada sobre dados novos. Sempre separe um teste.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Vazamento de dados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Escalar, selecionar atributos ou imputar com todos os dados antes de separar. Use pipeline.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Confiar só na acurácia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classes desbalanceadas, olhe recall, precisão e F1, e compare com uma linha de base.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Ajustar olhando o teste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escolhe o modelo pelo teste, ele vira treino. Use validação cruzada no treino.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massa: quatro exercícios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7830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de base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78308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Iris, treine um DummyClassifier e compare a acurácia no teste com a do k-NN.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12724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8803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k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88036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Iris (mesma divisão do slide 16), meça a acurácia de teste com k = 1, 5 e 15.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97764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39776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Profundidade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397764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cross_val_score (5 dobras), compare árvores de profundidade 1, 2, 3 e sem limite no Iris.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532180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50749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próprio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507492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um pipeline StandardScaler + LogisticRegression no Iris e avalie com validação cruzada.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1 e 2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1417320"/>
          </a:xfrm>
          <a:prstGeom prst="roundRect">
            <a:avLst>
              <a:gd name="adj" fmla="val 774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dummy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DummyClassifier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DummyClassifier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432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2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0.333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383280"/>
            <a:ext cx="5852160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38328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3 classes equilibradas, chutar dá 33,3%. O k-NN (97,8%) é muito melhor que a linha de base.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611112" y="1783080"/>
            <a:ext cx="4937760" cy="1645920"/>
          </a:xfrm>
          <a:prstGeom prst="roundRect">
            <a:avLst>
              <a:gd name="adj" fmla="val 666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122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134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146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25512" y="1901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885432" y="22860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85432" y="25146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KNeighborsClassifier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27432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885432" y="29718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0.933   5 0.978   15 0.956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611112" y="3611880"/>
            <a:ext cx="4937760" cy="2514600"/>
          </a:xfrm>
          <a:prstGeom prst="roundRect">
            <a:avLst>
              <a:gd name="adj" fmla="val 4364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0" y="3611880"/>
            <a:ext cx="4434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 foi o melhor nesta divisão. k = 1 decora um pouco mais; k = 15 suaviza demais.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3 e 4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1569720"/>
          </a:xfrm>
          <a:prstGeom prst="roundRect">
            <a:avLst>
              <a:gd name="adj" fmla="val 699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53035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0.667   2 0.933   3 0.96   None 0.96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3535680"/>
            <a:ext cx="5852160" cy="2590800"/>
          </a:xfrm>
          <a:prstGeom prst="roundRect">
            <a:avLst>
              <a:gd name="adj" fmla="val 423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3535680"/>
            <a:ext cx="530352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1 é simples demais (0,667). A partir de 3 o ganho acaba (0,96). Mais profundidade não ajuda.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11112" y="1783080"/>
            <a:ext cx="4937760" cy="1569720"/>
          </a:xfrm>
          <a:prstGeom prst="roundRect">
            <a:avLst>
              <a:gd name="adj" fmla="val 699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122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0134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146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25512" y="1901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4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885432" y="2286000"/>
            <a:ext cx="4389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make_pipeline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2495550"/>
            <a:ext cx="4389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885432" y="2705100"/>
            <a:ext cx="4389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885432" y="2914650"/>
            <a:ext cx="43891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resposta: rode e compare com o k-NN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611112" y="3535680"/>
            <a:ext cx="4937760" cy="2590800"/>
          </a:xfrm>
          <a:prstGeom prst="roundRect">
            <a:avLst>
              <a:gd name="adj" fmla="val 423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0" y="3535680"/>
            <a:ext cx="443484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exato depende das dobras; use sempre a mesma validação para comparar com o k-NN.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PRÓXIMOS PASSOS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09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3167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17373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tipos: supervisionado, não supervisionado e por reforço.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708910"/>
            <a:ext cx="205740" cy="2057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25146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treino e teste; use validação cruzada e pipeline contra vazamento.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486150"/>
            <a:ext cx="205740" cy="2057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2918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não basta: use a matriz de confusão, precisão, recall e F1.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263390"/>
            <a:ext cx="205740" cy="2057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40690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modelos com a mesma validação e ajuste hiperparâmetros só no treino.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7315200" y="1691640"/>
            <a:ext cx="4233672" cy="3017520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5895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AULAS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589520" y="228600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589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0" y="2240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de decisão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589520" y="306324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589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229600" y="3017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artificiais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589520" y="38404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589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8229600" y="3794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e reconhecimento de padrões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40080" y="49834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39496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73736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 próxima aula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737360" y="54681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Refaça os exercícios e rode o fluxo completo em outro conjunto do scikit-learn (por exemplo, wine). Na aula 10, as árvores de decisão: modelos que explicam suas regras.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sujeito a ajustes.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09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- Aula 09 - Tipos de ML e fluxo de trabalho</dc:title>
  <dc:subject>PptxGenJS Presentation</dc:subject>
  <dc:creator>Inteligência Artificial</dc:creator>
  <cp:lastModifiedBy>Inteligência Artificial</cp:lastModifiedBy>
  <cp:revision>1</cp:revision>
  <dcterms:created xsi:type="dcterms:W3CDTF">2026-10-08T11:47:41Z</dcterms:created>
  <dcterms:modified xsi:type="dcterms:W3CDTF">2026-10-08T11:47:41Z</dcterms:modified>
</cp:coreProperties>
</file>