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4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5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16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Triangular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</c:v>
                  </c:pt>
                  <c:pt idx="1">
                    <c:v>12</c:v>
                  </c:pt>
                  <c:pt idx="2">
                    <c:v>14</c:v>
                  </c:pt>
                  <c:pt idx="3">
                    <c:v>16</c:v>
                  </c:pt>
                  <c:pt idx="4">
                    <c:v>18</c:v>
                  </c:pt>
                  <c:pt idx="5">
                    <c:v>20</c:v>
                  </c:pt>
                  <c:pt idx="6">
                    <c:v>22</c:v>
                  </c:pt>
                  <c:pt idx="7">
                    <c:v>24</c:v>
                  </c:pt>
                  <c:pt idx="8">
                    <c:v>26</c:v>
                  </c:pt>
                  <c:pt idx="9">
                    <c:v>28</c:v>
                  </c:pt>
                  <c:pt idx="10">
                    <c:v>30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  <c:pt idx="6">
                  <c:v>0.8</c:v>
                </c:pt>
                <c:pt idx="7">
                  <c:v>0.6</c:v>
                </c:pt>
                <c:pt idx="8">
                  <c:v>0.4</c:v>
                </c:pt>
                <c:pt idx="9">
                  <c:v>0.2</c:v>
                </c:pt>
                <c:pt idx="1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Trapezoidal</c:v>
                </c:pt>
              </c:strCache>
            </c:strRef>
          </c:tx>
          <c:spPr>
            <a:solidFill>
              <a:srgbClr val="FF7A2F"/>
            </a:solidFill>
            <a:ln w="38100" cap="flat">
              <a:solidFill>
                <a:srgbClr val="FF7A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A2F"/>
              </a:solidFill>
              <a:ln w="9525" cap="flat">
                <a:solidFill>
                  <a:srgbClr val="FF7A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</c:v>
                  </c:pt>
                  <c:pt idx="1">
                    <c:v>12</c:v>
                  </c:pt>
                  <c:pt idx="2">
                    <c:v>14</c:v>
                  </c:pt>
                  <c:pt idx="3">
                    <c:v>16</c:v>
                  </c:pt>
                  <c:pt idx="4">
                    <c:v>18</c:v>
                  </c:pt>
                  <c:pt idx="5">
                    <c:v>20</c:v>
                  </c:pt>
                  <c:pt idx="6">
                    <c:v>22</c:v>
                  </c:pt>
                  <c:pt idx="7">
                    <c:v>24</c:v>
                  </c:pt>
                  <c:pt idx="8">
                    <c:v>26</c:v>
                  </c:pt>
                  <c:pt idx="9">
                    <c:v>28</c:v>
                  </c:pt>
                  <c:pt idx="10">
                    <c:v>30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0.4</c:v>
                </c:pt>
                <c:pt idx="2">
                  <c:v>0.8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0.8</c:v>
                </c:pt>
                <c:pt idx="9">
                  <c:v>0.4</c:v>
                </c:pt>
                <c:pt idx="1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Gaussiana</c:v>
                </c:pt>
              </c:strCache>
            </c:strRef>
          </c:tx>
          <c:spPr>
            <a:solidFill>
              <a:srgbClr val="D6336C"/>
            </a:solidFill>
            <a:ln w="38100" cap="flat">
              <a:solidFill>
                <a:srgbClr val="D633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</c:v>
                  </c:pt>
                  <c:pt idx="1">
                    <c:v>12</c:v>
                  </c:pt>
                  <c:pt idx="2">
                    <c:v>14</c:v>
                  </c:pt>
                  <c:pt idx="3">
                    <c:v>16</c:v>
                  </c:pt>
                  <c:pt idx="4">
                    <c:v>18</c:v>
                  </c:pt>
                  <c:pt idx="5">
                    <c:v>20</c:v>
                  </c:pt>
                  <c:pt idx="6">
                    <c:v>22</c:v>
                  </c:pt>
                  <c:pt idx="7">
                    <c:v>24</c:v>
                  </c:pt>
                  <c:pt idx="8">
                    <c:v>26</c:v>
                  </c:pt>
                  <c:pt idx="9">
                    <c:v>28</c:v>
                  </c:pt>
                  <c:pt idx="10">
                    <c:v>30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0.135</c:v>
                </c:pt>
                <c:pt idx="1">
                  <c:v>0.278</c:v>
                </c:pt>
                <c:pt idx="2">
                  <c:v>0.487</c:v>
                </c:pt>
                <c:pt idx="3">
                  <c:v>0.726</c:v>
                </c:pt>
                <c:pt idx="4">
                  <c:v>0.923</c:v>
                </c:pt>
                <c:pt idx="5">
                  <c:v>1</c:v>
                </c:pt>
                <c:pt idx="6">
                  <c:v>0.923</c:v>
                </c:pt>
                <c:pt idx="7">
                  <c:v>0.726</c:v>
                </c:pt>
                <c:pt idx="8">
                  <c:v>0.487</c:v>
                </c:pt>
                <c:pt idx="9">
                  <c:v>0.278</c:v>
                </c:pt>
                <c:pt idx="10">
                  <c:v>0.135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Pertinência por temperatura (°C)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frio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</c:v>
                  </c:pt>
                  <c:pt idx="1">
                    <c:v>2.5</c:v>
                  </c:pt>
                  <c:pt idx="2">
                    <c:v>5</c:v>
                  </c:pt>
                  <c:pt idx="3">
                    <c:v>7.5</c:v>
                  </c:pt>
                  <c:pt idx="4">
                    <c:v>10</c:v>
                  </c:pt>
                  <c:pt idx="5">
                    <c:v>12.5</c:v>
                  </c:pt>
                  <c:pt idx="6">
                    <c:v>15</c:v>
                  </c:pt>
                  <c:pt idx="7">
                    <c:v>17.5</c:v>
                  </c:pt>
                  <c:pt idx="8">
                    <c:v>20</c:v>
                  </c:pt>
                  <c:pt idx="9">
                    <c:v>22.5</c:v>
                  </c:pt>
                  <c:pt idx="10">
                    <c:v>25</c:v>
                  </c:pt>
                  <c:pt idx="11">
                    <c:v>27.5</c:v>
                  </c:pt>
                  <c:pt idx="12">
                    <c:v>30</c:v>
                  </c:pt>
                  <c:pt idx="13">
                    <c:v>32.5</c:v>
                  </c:pt>
                  <c:pt idx="14">
                    <c:v>35</c:v>
                  </c:pt>
                  <c:pt idx="15">
                    <c:v>37.5</c:v>
                  </c:pt>
                  <c:pt idx="16">
                    <c:v>40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0.75</c:v>
                </c:pt>
                <c:pt idx="6">
                  <c:v>0.5</c:v>
                </c:pt>
                <c:pt idx="7">
                  <c:v>0.25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agradável</c:v>
                </c:pt>
              </c:strCache>
            </c:strRef>
          </c:tx>
          <c:spPr>
            <a:solidFill>
              <a:srgbClr val="FF7A2F"/>
            </a:solidFill>
            <a:ln w="38100" cap="flat">
              <a:solidFill>
                <a:srgbClr val="FF7A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A2F"/>
              </a:solidFill>
              <a:ln w="9525" cap="flat">
                <a:solidFill>
                  <a:srgbClr val="FF7A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</c:v>
                  </c:pt>
                  <c:pt idx="1">
                    <c:v>2.5</c:v>
                  </c:pt>
                  <c:pt idx="2">
                    <c:v>5</c:v>
                  </c:pt>
                  <c:pt idx="3">
                    <c:v>7.5</c:v>
                  </c:pt>
                  <c:pt idx="4">
                    <c:v>10</c:v>
                  </c:pt>
                  <c:pt idx="5">
                    <c:v>12.5</c:v>
                  </c:pt>
                  <c:pt idx="6">
                    <c:v>15</c:v>
                  </c:pt>
                  <c:pt idx="7">
                    <c:v>17.5</c:v>
                  </c:pt>
                  <c:pt idx="8">
                    <c:v>20</c:v>
                  </c:pt>
                  <c:pt idx="9">
                    <c:v>22.5</c:v>
                  </c:pt>
                  <c:pt idx="10">
                    <c:v>25</c:v>
                  </c:pt>
                  <c:pt idx="11">
                    <c:v>27.5</c:v>
                  </c:pt>
                  <c:pt idx="12">
                    <c:v>30</c:v>
                  </c:pt>
                  <c:pt idx="13">
                    <c:v>32.5</c:v>
                  </c:pt>
                  <c:pt idx="14">
                    <c:v>35</c:v>
                  </c:pt>
                  <c:pt idx="15">
                    <c:v>37.5</c:v>
                  </c:pt>
                  <c:pt idx="16">
                    <c:v>40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0.357</c:v>
                </c:pt>
                <c:pt idx="8">
                  <c:v>0.714</c:v>
                </c:pt>
                <c:pt idx="9">
                  <c:v>0.929</c:v>
                </c:pt>
                <c:pt idx="10">
                  <c:v>0.571</c:v>
                </c:pt>
                <c:pt idx="11">
                  <c:v>0.214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quente</c:v>
                </c:pt>
              </c:strCache>
            </c:strRef>
          </c:tx>
          <c:spPr>
            <a:solidFill>
              <a:srgbClr val="D6336C"/>
            </a:solidFill>
            <a:ln w="38100" cap="flat">
              <a:solidFill>
                <a:srgbClr val="D633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</c:v>
                  </c:pt>
                  <c:pt idx="1">
                    <c:v>2.5</c:v>
                  </c:pt>
                  <c:pt idx="2">
                    <c:v>5</c:v>
                  </c:pt>
                  <c:pt idx="3">
                    <c:v>7.5</c:v>
                  </c:pt>
                  <c:pt idx="4">
                    <c:v>10</c:v>
                  </c:pt>
                  <c:pt idx="5">
                    <c:v>12.5</c:v>
                  </c:pt>
                  <c:pt idx="6">
                    <c:v>15</c:v>
                  </c:pt>
                  <c:pt idx="7">
                    <c:v>17.5</c:v>
                  </c:pt>
                  <c:pt idx="8">
                    <c:v>20</c:v>
                  </c:pt>
                  <c:pt idx="9">
                    <c:v>22.5</c:v>
                  </c:pt>
                  <c:pt idx="10">
                    <c:v>25</c:v>
                  </c:pt>
                  <c:pt idx="11">
                    <c:v>27.5</c:v>
                  </c:pt>
                  <c:pt idx="12">
                    <c:v>30</c:v>
                  </c:pt>
                  <c:pt idx="13">
                    <c:v>32.5</c:v>
                  </c:pt>
                  <c:pt idx="14">
                    <c:v>35</c:v>
                  </c:pt>
                  <c:pt idx="15">
                    <c:v>37.5</c:v>
                  </c:pt>
                  <c:pt idx="16">
                    <c:v>40</c:v>
                  </c:pt>
                </c:lvl>
              </c:multiLvlStrCache>
            </c:multiLvl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0.25</c:v>
                </c:pt>
                <c:pt idx="12">
                  <c:v>0.5</c:v>
                </c:pt>
                <c:pt idx="13">
                  <c:v>0.75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A1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Termos da saída: gorjeta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baixa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</c:v>
                </c:pt>
                <c:pt idx="1">
                  <c:v>0.923</c:v>
                </c:pt>
                <c:pt idx="2">
                  <c:v>0.846</c:v>
                </c:pt>
                <c:pt idx="3">
                  <c:v>0.769</c:v>
                </c:pt>
                <c:pt idx="4">
                  <c:v>0.692</c:v>
                </c:pt>
                <c:pt idx="5">
                  <c:v>0.615</c:v>
                </c:pt>
                <c:pt idx="6">
                  <c:v>0.538</c:v>
                </c:pt>
                <c:pt idx="7">
                  <c:v>0.462</c:v>
                </c:pt>
                <c:pt idx="8">
                  <c:v>0.385</c:v>
                </c:pt>
                <c:pt idx="9">
                  <c:v>0.308</c:v>
                </c:pt>
                <c:pt idx="10">
                  <c:v>0.231</c:v>
                </c:pt>
                <c:pt idx="11">
                  <c:v>0.154</c:v>
                </c:pt>
                <c:pt idx="12">
                  <c:v>0.077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</c:v>
                </c:pt>
              </c:strCache>
            </c:strRef>
          </c:tx>
          <c:spPr>
            <a:solidFill>
              <a:srgbClr val="FF7A2F"/>
            </a:solidFill>
            <a:ln w="38100" cap="flat">
              <a:solidFill>
                <a:srgbClr val="FF7A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A2F"/>
              </a:solidFill>
              <a:ln w="9525" cap="flat">
                <a:solidFill>
                  <a:srgbClr val="FF7A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0</c:v>
                </c:pt>
                <c:pt idx="1">
                  <c:v>0.077</c:v>
                </c:pt>
                <c:pt idx="2">
                  <c:v>0.154</c:v>
                </c:pt>
                <c:pt idx="3">
                  <c:v>0.231</c:v>
                </c:pt>
                <c:pt idx="4">
                  <c:v>0.308</c:v>
                </c:pt>
                <c:pt idx="5">
                  <c:v>0.385</c:v>
                </c:pt>
                <c:pt idx="6">
                  <c:v>0.462</c:v>
                </c:pt>
                <c:pt idx="7">
                  <c:v>0.538</c:v>
                </c:pt>
                <c:pt idx="8">
                  <c:v>0.615</c:v>
                </c:pt>
                <c:pt idx="9">
                  <c:v>0.692</c:v>
                </c:pt>
                <c:pt idx="10">
                  <c:v>0.769</c:v>
                </c:pt>
                <c:pt idx="11">
                  <c:v>0.846</c:v>
                </c:pt>
                <c:pt idx="12">
                  <c:v>0.923</c:v>
                </c:pt>
                <c:pt idx="13">
                  <c:v>1</c:v>
                </c:pt>
                <c:pt idx="14">
                  <c:v>0.917</c:v>
                </c:pt>
                <c:pt idx="15">
                  <c:v>0.833</c:v>
                </c:pt>
                <c:pt idx="16">
                  <c:v>0.75</c:v>
                </c:pt>
                <c:pt idx="17">
                  <c:v>0.667</c:v>
                </c:pt>
                <c:pt idx="18">
                  <c:v>0.583</c:v>
                </c:pt>
                <c:pt idx="19">
                  <c:v>0.5</c:v>
                </c:pt>
                <c:pt idx="20">
                  <c:v>0.417</c:v>
                </c:pt>
                <c:pt idx="21">
                  <c:v>0.333</c:v>
                </c:pt>
                <c:pt idx="22">
                  <c:v>0.25</c:v>
                </c:pt>
                <c:pt idx="23">
                  <c:v>0.167</c:v>
                </c:pt>
                <c:pt idx="24">
                  <c:v>0.083</c:v>
                </c:pt>
                <c:pt idx="25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alta</c:v>
                </c:pt>
              </c:strCache>
            </c:strRef>
          </c:tx>
          <c:spPr>
            <a:solidFill>
              <a:srgbClr val="D6336C"/>
            </a:solidFill>
            <a:ln w="38100" cap="flat">
              <a:solidFill>
                <a:srgbClr val="D633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</c:lvl>
              </c:multiLvlStrCache>
            </c:multiLvl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0.083</c:v>
                </c:pt>
                <c:pt idx="15">
                  <c:v>0.167</c:v>
                </c:pt>
                <c:pt idx="16">
                  <c:v>0.25</c:v>
                </c:pt>
                <c:pt idx="17">
                  <c:v>0.333</c:v>
                </c:pt>
                <c:pt idx="18">
                  <c:v>0.417</c:v>
                </c:pt>
                <c:pt idx="19">
                  <c:v>0.5</c:v>
                </c:pt>
                <c:pt idx="20">
                  <c:v>0.583</c:v>
                </c:pt>
                <c:pt idx="21">
                  <c:v>0.667</c:v>
                </c:pt>
                <c:pt idx="22">
                  <c:v>0.75</c:v>
                </c:pt>
                <c:pt idx="23">
                  <c:v>0.833</c:v>
                </c:pt>
                <c:pt idx="24">
                  <c:v>0.917</c:v>
                </c:pt>
                <c:pt idx="25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A1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Saída cortada e agregada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cortada em 0,61</c:v>
                </c:pt>
              </c:strCache>
            </c:strRef>
          </c:tx>
          <c:spPr>
            <a:solidFill>
              <a:srgbClr val="FF7A2F"/>
            </a:solidFill>
            <a:ln w="38100" cap="flat">
              <a:solidFill>
                <a:srgbClr val="FF7A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A2F"/>
              </a:solidFill>
              <a:ln w="9525" cap="flat">
                <a:solidFill>
                  <a:srgbClr val="FF7A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</c:v>
                </c:pt>
                <c:pt idx="1">
                  <c:v>0.077</c:v>
                </c:pt>
                <c:pt idx="2">
                  <c:v>0.154</c:v>
                </c:pt>
                <c:pt idx="3">
                  <c:v>0.231</c:v>
                </c:pt>
                <c:pt idx="4">
                  <c:v>0.308</c:v>
                </c:pt>
                <c:pt idx="5">
                  <c:v>0.385</c:v>
                </c:pt>
                <c:pt idx="6">
                  <c:v>0.462</c:v>
                </c:pt>
                <c:pt idx="7">
                  <c:v>0.538</c:v>
                </c:pt>
                <c:pt idx="8">
                  <c:v>0.607</c:v>
                </c:pt>
                <c:pt idx="9">
                  <c:v>0.607</c:v>
                </c:pt>
                <c:pt idx="10">
                  <c:v>0.607</c:v>
                </c:pt>
                <c:pt idx="11">
                  <c:v>0.607</c:v>
                </c:pt>
                <c:pt idx="12">
                  <c:v>0.607</c:v>
                </c:pt>
                <c:pt idx="13">
                  <c:v>0.607</c:v>
                </c:pt>
                <c:pt idx="14">
                  <c:v>0.607</c:v>
                </c:pt>
                <c:pt idx="15">
                  <c:v>0.607</c:v>
                </c:pt>
                <c:pt idx="16">
                  <c:v>0.607</c:v>
                </c:pt>
                <c:pt idx="17">
                  <c:v>0.607</c:v>
                </c:pt>
                <c:pt idx="18">
                  <c:v>0.583</c:v>
                </c:pt>
                <c:pt idx="19">
                  <c:v>0.5</c:v>
                </c:pt>
                <c:pt idx="20">
                  <c:v>0.417</c:v>
                </c:pt>
                <c:pt idx="21">
                  <c:v>0.333</c:v>
                </c:pt>
                <c:pt idx="22">
                  <c:v>0.25</c:v>
                </c:pt>
                <c:pt idx="23">
                  <c:v>0.167</c:v>
                </c:pt>
                <c:pt idx="24">
                  <c:v>0.083</c:v>
                </c:pt>
                <c:pt idx="25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alta cortada em 0,80</c:v>
                </c:pt>
              </c:strCache>
            </c:strRef>
          </c:tx>
          <c:spPr>
            <a:solidFill>
              <a:srgbClr val="D6336C"/>
            </a:solidFill>
            <a:ln w="38100" cap="flat">
              <a:solidFill>
                <a:srgbClr val="D633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0.083</c:v>
                </c:pt>
                <c:pt idx="15">
                  <c:v>0.167</c:v>
                </c:pt>
                <c:pt idx="16">
                  <c:v>0.25</c:v>
                </c:pt>
                <c:pt idx="17">
                  <c:v>0.333</c:v>
                </c:pt>
                <c:pt idx="18">
                  <c:v>0.417</c:v>
                </c:pt>
                <c:pt idx="19">
                  <c:v>0.5</c:v>
                </c:pt>
                <c:pt idx="20">
                  <c:v>0.583</c:v>
                </c:pt>
                <c:pt idx="21">
                  <c:v>0.667</c:v>
                </c:pt>
                <c:pt idx="22">
                  <c:v>0.75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agregada (máximo das duas)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</c:lvl>
              </c:multiLvlStrCache>
            </c:multiLvl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0</c:v>
                </c:pt>
                <c:pt idx="1">
                  <c:v>0.077</c:v>
                </c:pt>
                <c:pt idx="2">
                  <c:v>0.154</c:v>
                </c:pt>
                <c:pt idx="3">
                  <c:v>0.231</c:v>
                </c:pt>
                <c:pt idx="4">
                  <c:v>0.308</c:v>
                </c:pt>
                <c:pt idx="5">
                  <c:v>0.385</c:v>
                </c:pt>
                <c:pt idx="6">
                  <c:v>0.462</c:v>
                </c:pt>
                <c:pt idx="7">
                  <c:v>0.538</c:v>
                </c:pt>
                <c:pt idx="8">
                  <c:v>0.607</c:v>
                </c:pt>
                <c:pt idx="9">
                  <c:v>0.607</c:v>
                </c:pt>
                <c:pt idx="10">
                  <c:v>0.607</c:v>
                </c:pt>
                <c:pt idx="11">
                  <c:v>0.607</c:v>
                </c:pt>
                <c:pt idx="12">
                  <c:v>0.607</c:v>
                </c:pt>
                <c:pt idx="13">
                  <c:v>0.607</c:v>
                </c:pt>
                <c:pt idx="14">
                  <c:v>0.607</c:v>
                </c:pt>
                <c:pt idx="15">
                  <c:v>0.607</c:v>
                </c:pt>
                <c:pt idx="16">
                  <c:v>0.607</c:v>
                </c:pt>
                <c:pt idx="17">
                  <c:v>0.607</c:v>
                </c:pt>
                <c:pt idx="18">
                  <c:v>0.583</c:v>
                </c:pt>
                <c:pt idx="19">
                  <c:v>0.5</c:v>
                </c:pt>
                <c:pt idx="20">
                  <c:v>0.583</c:v>
                </c:pt>
                <c:pt idx="21">
                  <c:v>0.667</c:v>
                </c:pt>
                <c:pt idx="22">
                  <c:v>0.75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A1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gorjeta(s, s): serviço = comida = 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gorjeta (%)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4.4</c:v>
                </c:pt>
                <c:pt idx="1">
                  <c:v>5.19</c:v>
                </c:pt>
                <c:pt idx="2">
                  <c:v>7.86</c:v>
                </c:pt>
                <c:pt idx="3">
                  <c:v>11.34</c:v>
                </c:pt>
                <c:pt idx="4">
                  <c:v>12.4</c:v>
                </c:pt>
                <c:pt idx="5">
                  <c:v>12.67</c:v>
                </c:pt>
                <c:pt idx="6">
                  <c:v>12.89</c:v>
                </c:pt>
                <c:pt idx="7">
                  <c:v>13.76</c:v>
                </c:pt>
                <c:pt idx="8">
                  <c:v>17.18</c:v>
                </c:pt>
                <c:pt idx="9">
                  <c:v>20.04</c:v>
                </c:pt>
                <c:pt idx="10">
                  <c:v>20.91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Temperatura da sala por passo (alvo 24 °C)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fuzzy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31.11</c:v>
                </c:pt>
                <c:pt idx="1">
                  <c:v>30.23</c:v>
                </c:pt>
                <c:pt idx="2">
                  <c:v>29.38</c:v>
                </c:pt>
                <c:pt idx="3">
                  <c:v>28.57</c:v>
                </c:pt>
                <c:pt idx="4">
                  <c:v>27.8</c:v>
                </c:pt>
                <c:pt idx="5">
                  <c:v>27.16</c:v>
                </c:pt>
                <c:pt idx="6">
                  <c:v>26.7</c:v>
                </c:pt>
                <c:pt idx="7">
                  <c:v>26.31</c:v>
                </c:pt>
                <c:pt idx="8">
                  <c:v>25.97</c:v>
                </c:pt>
                <c:pt idx="9">
                  <c:v>25.67</c:v>
                </c:pt>
                <c:pt idx="10">
                  <c:v>25.39</c:v>
                </c:pt>
                <c:pt idx="11">
                  <c:v>25.14</c:v>
                </c:pt>
                <c:pt idx="12">
                  <c:v>24.97</c:v>
                </c:pt>
                <c:pt idx="13">
                  <c:v>24.85</c:v>
                </c:pt>
                <c:pt idx="14">
                  <c:v>24.75</c:v>
                </c:pt>
                <c:pt idx="15">
                  <c:v>24.68</c:v>
                </c:pt>
                <c:pt idx="16">
                  <c:v>24.62</c:v>
                </c:pt>
                <c:pt idx="17">
                  <c:v>24.58</c:v>
                </c:pt>
                <c:pt idx="18">
                  <c:v>24.54</c:v>
                </c:pt>
                <c:pt idx="19">
                  <c:v>24.52</c:v>
                </c:pt>
                <c:pt idx="20">
                  <c:v>24.5</c:v>
                </c:pt>
                <c:pt idx="21">
                  <c:v>24.48</c:v>
                </c:pt>
                <c:pt idx="22">
                  <c:v>24.47</c:v>
                </c:pt>
                <c:pt idx="23">
                  <c:v>24.46</c:v>
                </c:pt>
                <c:pt idx="24">
                  <c:v>24.46</c:v>
                </c:pt>
                <c:pt idx="25">
                  <c:v>24.45</c:v>
                </c:pt>
                <c:pt idx="26">
                  <c:v>24.45</c:v>
                </c:pt>
                <c:pt idx="27">
                  <c:v>24.44</c:v>
                </c:pt>
                <c:pt idx="28">
                  <c:v>24.44</c:v>
                </c:pt>
                <c:pt idx="29">
                  <c:v>24.44</c:v>
                </c:pt>
                <c:pt idx="30">
                  <c:v>24.44</c:v>
                </c:pt>
                <c:pt idx="31">
                  <c:v>24.44</c:v>
                </c:pt>
                <c:pt idx="32">
                  <c:v>24.44</c:v>
                </c:pt>
                <c:pt idx="33">
                  <c:v>24.44</c:v>
                </c:pt>
                <c:pt idx="34">
                  <c:v>24.44</c:v>
                </c:pt>
                <c:pt idx="35">
                  <c:v>24.44</c:v>
                </c:pt>
                <c:pt idx="36">
                  <c:v>24.44</c:v>
                </c:pt>
                <c:pt idx="37">
                  <c:v>24.44</c:v>
                </c:pt>
                <c:pt idx="38">
                  <c:v>24.44</c:v>
                </c:pt>
                <c:pt idx="39">
                  <c:v>24.44</c:v>
                </c:pt>
                <c:pt idx="40">
                  <c:v>24.44</c:v>
                </c:pt>
                <c:pt idx="41">
                  <c:v>24.44</c:v>
                </c:pt>
                <c:pt idx="42">
                  <c:v>24.44</c:v>
                </c:pt>
                <c:pt idx="43">
                  <c:v>24.44</c:v>
                </c:pt>
                <c:pt idx="44">
                  <c:v>24.44</c:v>
                </c:pt>
                <c:pt idx="45">
                  <c:v>24.44</c:v>
                </c:pt>
                <c:pt idx="46">
                  <c:v>24.44</c:v>
                </c:pt>
                <c:pt idx="47">
                  <c:v>24.44</c:v>
                </c:pt>
                <c:pt idx="48">
                  <c:v>24.44</c:v>
                </c:pt>
                <c:pt idx="49">
                  <c:v>24.44</c:v>
                </c:pt>
                <c:pt idx="50">
                  <c:v>24.44</c:v>
                </c:pt>
                <c:pt idx="51">
                  <c:v>24.44</c:v>
                </c:pt>
                <c:pt idx="52">
                  <c:v>24.44</c:v>
                </c:pt>
                <c:pt idx="53">
                  <c:v>24.44</c:v>
                </c:pt>
                <c:pt idx="54">
                  <c:v>24.44</c:v>
                </c:pt>
                <c:pt idx="55">
                  <c:v>24.44</c:v>
                </c:pt>
                <c:pt idx="56">
                  <c:v>24.44</c:v>
                </c:pt>
                <c:pt idx="57">
                  <c:v>24.44</c:v>
                </c:pt>
                <c:pt idx="58">
                  <c:v>24.44</c:v>
                </c:pt>
                <c:pt idx="59">
                  <c:v>24.44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termostato liga/desliga</c:v>
                </c:pt>
              </c:strCache>
            </c:strRef>
          </c:tx>
          <c:spPr>
            <a:solidFill>
              <a:srgbClr val="D6336C"/>
            </a:solidFill>
            <a:ln w="38100" cap="flat">
              <a:solidFill>
                <a:srgbClr val="D633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</c:lvl>
              </c:multiLvlStrCache>
            </c:multiLvl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30.92</c:v>
                </c:pt>
                <c:pt idx="1">
                  <c:v>29.88</c:v>
                </c:pt>
                <c:pt idx="2">
                  <c:v>28.89</c:v>
                </c:pt>
                <c:pt idx="3">
                  <c:v>27.93</c:v>
                </c:pt>
                <c:pt idx="4">
                  <c:v>27.02</c:v>
                </c:pt>
                <c:pt idx="5">
                  <c:v>26.13</c:v>
                </c:pt>
                <c:pt idx="6">
                  <c:v>25.29</c:v>
                </c:pt>
                <c:pt idx="7">
                  <c:v>24.48</c:v>
                </c:pt>
                <c:pt idx="8">
                  <c:v>23.7</c:v>
                </c:pt>
                <c:pt idx="9">
                  <c:v>22.95</c:v>
                </c:pt>
                <c:pt idx="10">
                  <c:v>23.43</c:v>
                </c:pt>
                <c:pt idx="11">
                  <c:v>23.9</c:v>
                </c:pt>
                <c:pt idx="12">
                  <c:v>24.34</c:v>
                </c:pt>
                <c:pt idx="13">
                  <c:v>24.77</c:v>
                </c:pt>
                <c:pt idx="14">
                  <c:v>23.98</c:v>
                </c:pt>
                <c:pt idx="15">
                  <c:v>23.22</c:v>
                </c:pt>
                <c:pt idx="16">
                  <c:v>23.69</c:v>
                </c:pt>
                <c:pt idx="17">
                  <c:v>24.14</c:v>
                </c:pt>
                <c:pt idx="18">
                  <c:v>24.57</c:v>
                </c:pt>
                <c:pt idx="19">
                  <c:v>23.79</c:v>
                </c:pt>
                <c:pt idx="20">
                  <c:v>23.04</c:v>
                </c:pt>
                <c:pt idx="21">
                  <c:v>23.52</c:v>
                </c:pt>
                <c:pt idx="22">
                  <c:v>23.98</c:v>
                </c:pt>
                <c:pt idx="23">
                  <c:v>24.42</c:v>
                </c:pt>
                <c:pt idx="24">
                  <c:v>24.84</c:v>
                </c:pt>
                <c:pt idx="25">
                  <c:v>24.05</c:v>
                </c:pt>
                <c:pt idx="26">
                  <c:v>23.29</c:v>
                </c:pt>
                <c:pt idx="27">
                  <c:v>23.75</c:v>
                </c:pt>
                <c:pt idx="28">
                  <c:v>24.2</c:v>
                </c:pt>
                <c:pt idx="29">
                  <c:v>24.64</c:v>
                </c:pt>
                <c:pt idx="30">
                  <c:v>23.85</c:v>
                </c:pt>
                <c:pt idx="31">
                  <c:v>23.1</c:v>
                </c:pt>
                <c:pt idx="32">
                  <c:v>23.57</c:v>
                </c:pt>
                <c:pt idx="33">
                  <c:v>24.03</c:v>
                </c:pt>
                <c:pt idx="34">
                  <c:v>24.47</c:v>
                </c:pt>
                <c:pt idx="35">
                  <c:v>24.89</c:v>
                </c:pt>
                <c:pt idx="36">
                  <c:v>24.09</c:v>
                </c:pt>
                <c:pt idx="37">
                  <c:v>23.33</c:v>
                </c:pt>
                <c:pt idx="38">
                  <c:v>23.8</c:v>
                </c:pt>
                <c:pt idx="39">
                  <c:v>24.25</c:v>
                </c:pt>
                <c:pt idx="40">
                  <c:v>24.68</c:v>
                </c:pt>
                <c:pt idx="41">
                  <c:v>23.89</c:v>
                </c:pt>
                <c:pt idx="42">
                  <c:v>23.13</c:v>
                </c:pt>
                <c:pt idx="43">
                  <c:v>23.61</c:v>
                </c:pt>
                <c:pt idx="44">
                  <c:v>24.06</c:v>
                </c:pt>
                <c:pt idx="45">
                  <c:v>24.5</c:v>
                </c:pt>
                <c:pt idx="46">
                  <c:v>23.72</c:v>
                </c:pt>
                <c:pt idx="47">
                  <c:v>22.97</c:v>
                </c:pt>
                <c:pt idx="48">
                  <c:v>23.45</c:v>
                </c:pt>
                <c:pt idx="49">
                  <c:v>23.92</c:v>
                </c:pt>
                <c:pt idx="50">
                  <c:v>24.36</c:v>
                </c:pt>
                <c:pt idx="51">
                  <c:v>24.78</c:v>
                </c:pt>
                <c:pt idx="52">
                  <c:v>23.99</c:v>
                </c:pt>
                <c:pt idx="53">
                  <c:v>23.23</c:v>
                </c:pt>
                <c:pt idx="54">
                  <c:v>23.7</c:v>
                </c:pt>
                <c:pt idx="55">
                  <c:v>24.16</c:v>
                </c:pt>
                <c:pt idx="56">
                  <c:v>24.59</c:v>
                </c:pt>
                <c:pt idx="57">
                  <c:v>23.81</c:v>
                </c:pt>
                <c:pt idx="58">
                  <c:v>23.05</c:v>
                </c:pt>
                <c:pt idx="59">
                  <c:v>23.53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22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A1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chart" Target="/ppt/charts/chart11.xml"/><Relationship Id="rId1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3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4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5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6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image" Target="../media/image-5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fuzzy: raciocinar com conceitos vagos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 0 e o 1: “um pouco quente”, “bem rápido”, “quase cheio”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Pertinência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651760" y="539496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51760" y="53949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linguísticas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760720" y="5394960"/>
            <a:ext cx="164592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53949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Mamdani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539496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89520" y="5394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scikit-fuzzy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784080" y="539496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784080" y="5394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PASSADA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(aula 06)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febre ENTÃO suspeita. Cada condição é verdadeira ou falsa: sem meio-termo.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538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Metaheurísticas (aula 07)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 boas soluções por tentativa guiada, quando não há regra exata.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6170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 linguagem humana?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“Está quente”, “o serviço foi bom”: conceitos graduais que não cabem em verdadeiro/falso.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Hoje: a lógica fuzzy dá graus de verdade entre 0 e 1 e transforma conhecimento vago em decisões numéricas.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da fronteira nítida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“quente” não é 0 ou 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Conjuntos e pertinência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triangular, trapezoidal e gaussiana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linguísticas e operadores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frio, agradável, quente; E, OU, NÃO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Inferência Mamdani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Fuzzificação, regras, agregação, defuzzificação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1: a gorjeta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em NumPy e com scikit-fuzzy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2: ar-condicionado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controlador fuzzy simulado, e Sugeno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mundo real é cheio de conceitos vagos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“Está quente.” A partir de quantos graus? 28? 30? Para uma pessoa em Manaus e outra em Curitiba, não é igual.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“Dirija devagar.” Quão devagar? Depende da via, da chuva, do trânsito.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422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Atendimento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serviço foi bom.” Bom em que medida? A gorjeta deveria mudar suavemente com isso.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422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“Alto”, “jovem”, “perto”. Termos que usamos todo dia sem número exato.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40080" y="5760720"/>
            <a:ext cx="10911535" cy="457200"/>
          </a:xfrm>
          <a:prstGeom prst="roundRect">
            <a:avLst>
              <a:gd name="adj" fmla="val 24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Humanos raciocinam bem com isso. Como ensinar um programa a fazer o mesmo?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lógica clássica: um degrau brusco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crisp.py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quente_crisp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29.9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quente_crisp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702552" y="1783080"/>
            <a:ext cx="484632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037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048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060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16952" y="1901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976872" y="22860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crisp.py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976872" y="25527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29.9 0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976872" y="28194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30 1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976872" y="30861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25 0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976872" y="33528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35 1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4076700"/>
            <a:ext cx="10911535" cy="2049780"/>
          </a:xfrm>
          <a:prstGeom prst="roundRect">
            <a:avLst>
              <a:gd name="adj" fmla="val 535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4076700"/>
            <a:ext cx="10362895" cy="2049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29,9 °C o programa diz “não está quente”; aos 30,0 diz “quente”. Uma diferença de 0,1 grau vira uma decisão oposta. Ninguém sente assim.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FUZZY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ideia: graus de pertinência entre 0 e 1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vez de “é ou não é quente”, medimos o quanto é: μ_quente(28) = 0,7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36918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Lotfi Zadeh, 1965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25196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engenheiro Lotfi Zadeh publicou o artigo “Fuzzy Sets”, que criou a teoria dos conjuntos fuzzy (nebulosos).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47972" y="33832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6572" y="35661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302" y="36918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62372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Pertinência μ(x)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576572" y="425196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de 0 (não pertence) a 1 (pertence totalmente). Valores intermediários: pertence em parte.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55864" y="33832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84464" y="35661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94" y="36918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70264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 o clássico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284464" y="425196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só permitirmos 0 e 1, voltamos à lógica de sempre. A fuzzy é o caso geral.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FUZZY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Pertinência não é probabilidade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3383280"/>
          </a:xfrm>
          <a:prstGeom prst="roundRect">
            <a:avLst>
              <a:gd name="adj" fmla="val 324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Probabilidade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51460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incerteza sobre um fato que será ou não verdadeiro. “70% de chance de chover”: vai chover ou não vai.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148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 água na garrafa tem 70% de chance de ser potável.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349240" cy="3383280"/>
          </a:xfrm>
          <a:prstGeom prst="roundRect">
            <a:avLst>
              <a:gd name="adj" fmla="val 324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73952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Pertinência fuzzy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73952" y="251460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grau em que algo se encaixa em um conceito vago. “O dia é 0,7 quente”: já está acontecendo, em parte.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73952" y="41148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 água é 70% “fria”: ela está fria em parte, sem sorteio nenhum.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5394960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53949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tipos diferentes de incerteza: acaso (probabilidade) e vagueza (fuzzy). Podem até aparecer juntos.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PERTINÊNCIA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formas comuns de função de pertinência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4343400"/>
          </a:xfrm>
          <a:prstGeom prst="roundRect">
            <a:avLst>
              <a:gd name="adj" fmla="val 314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Triangular</a:t>
            </a:r>
            <a:endParaRPr lang="en-US" sz="17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240280"/>
          <a:ext cx="340156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2296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tri(x, 10, 20, 30)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5349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em um ponto. A mais simples.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4343400"/>
          </a:xfrm>
          <a:prstGeom prst="roundRect">
            <a:avLst>
              <a:gd name="adj" fmla="val 314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30852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Trapezoidal</a:t>
            </a:r>
            <a:endParaRPr lang="en-US" sz="17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4393692" y="2240280"/>
          <a:ext cx="340156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530852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trap(x, 10, 15, 25, 30)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530852" y="5349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patamar de pertinência total.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4343400"/>
          </a:xfrm>
          <a:prstGeom prst="roundRect">
            <a:avLst>
              <a:gd name="adj" fmla="val 314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38744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Gaussiana</a:t>
            </a:r>
            <a:endParaRPr lang="en-US" sz="1700" dirty="0"/>
          </a:p>
        </p:txBody>
      </p:sp>
      <p:graphicFrame>
        <p:nvGraphicFramePr>
          <p:cNvPr id="18" name="Chart 2" descr=""/>
          <p:cNvGraphicFramePr/>
          <p:nvPr/>
        </p:nvGraphicFramePr>
        <p:xfrm>
          <a:off x="8101584" y="2240280"/>
          <a:ext cx="340156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Text 13"/>
          <p:cNvSpPr txBox="1"/>
          <p:nvPr/>
        </p:nvSpPr>
        <p:spPr>
          <a:xfrm>
            <a:off x="8238744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gauss(x, 20, 5)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8238744" y="5349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Suave, sem quinas. Média e desvio.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PERTINÊNCIA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Pertinência em Python (1/3): a triangular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86384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pertinencia.py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315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7315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7315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asarray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7315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7315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73152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esq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6868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178308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b, c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326880" y="214884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Início, pico e fim do triângulo.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686800" y="277063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326880" y="2679192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esq, dir_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326880" y="30449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retas: subida e descida.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686800" y="366674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8680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326880" y="3575304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np.minimum + clip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326880" y="3941064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com a menor e limita a [0, 1].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4610100"/>
            <a:ext cx="10911535" cy="1516380"/>
          </a:xfrm>
          <a:prstGeom prst="roundRect">
            <a:avLst>
              <a:gd name="adj" fmla="val 723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4610100"/>
            <a:ext cx="10362895" cy="151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ramos “if b &gt; a” tratam triângulos com um ombro vertical (a = b), como tri(x, 0, 0, 5): pertinência 1 já no início. Sem isso haveria divisão por zero.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PERTINÊNCIA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Pertinência em Python (2/3): trapézio e gaussiana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pertinencia.py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asarray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asarray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10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961120" y="178308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trap(a, b, c, d)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961120" y="214884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de a a b, patamar de b a c, desce de c a d.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321040" y="30632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210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961120" y="297180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gauss(media, sigma)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961120" y="3337560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centrado na média. sigma é a largura.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876800"/>
            <a:ext cx="10911535" cy="1249680"/>
          </a:xfrm>
          <a:prstGeom prst="roundRect">
            <a:avLst>
              <a:gd name="adj" fmla="val 878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968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escolher a forma?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" y="5379720"/>
            <a:ext cx="10362895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Triangulares e trapezoidais são simples de explicar, de ajustar com um especialista e baratas de calcular: a escolha mais comum. Gaussianas dão transições suaves, úteis quando se quer evitar quinas na saída.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PERTINÊNCIA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Pertinência em Python (3/3): testando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03504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pertinencia.py (final do arquivo)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85432" y="1783080"/>
            <a:ext cx="4663440" cy="1722120"/>
          </a:xfrm>
          <a:prstGeom prst="roundRect">
            <a:avLst>
              <a:gd name="adj" fmla="val 637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866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877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889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99832" y="19019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159752" y="2286000"/>
            <a:ext cx="4114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pertinencia.py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159752" y="2533650"/>
            <a:ext cx="4114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  0.5 1.  0.5 0. ]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159752" y="2781300"/>
            <a:ext cx="4114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 1. 1. 1. 0.]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159752" y="3028950"/>
            <a:ext cx="4114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[0.135 0.607 1.  0.607 0.135]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374904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2029968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493008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956048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601968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247888" y="374904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" y="427939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42793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2029968" y="42793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3493008" y="42793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956048" y="42793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0.135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601968" y="42793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247888" y="427939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Extremo: tri e trap zeram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0080" y="473659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49808" y="47365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2029968" y="47365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3493008" y="47365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4956048" y="47365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0.607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6601968" y="47365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8247888" y="473659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da subida do triângulo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640080" y="519379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49808" y="51937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2029968" y="51937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3493008" y="51937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4956048" y="51937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6601968" y="51937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8247888" y="519379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Centro: todos valem 1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gaussiana nunca zera de fato (0,135 em x = 10); as outras formas zeram fora do intervalo.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LINGUÍSTICAS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Variável linguística: palavras como valores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temperatura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pode valer  </a:t>
            </a:r>
            <a:pPr algn="ctr" indent="0" marL="0">
              <a:buNone/>
            </a:pPr>
            <a:r>
              <a:rPr lang="en-US" sz="2200" b="1" dirty="0">
                <a:solidFill>
                  <a:srgbClr val="5F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frio, agradável, quente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em vez de apenas um número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25196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valores numéricos possíveis: temperatura de 0 a 40 °C.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47972" y="33832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6572" y="35661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6572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262372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76572" y="425196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rótulos da variável: frio, agradável, quente.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55864" y="33832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84464" y="35661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84464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970264" y="3566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de pertinência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84464" y="425196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termo, uma curva que diz o quanto cada valor se encaixa nele.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LINGUÍSTICAS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termos da temperatura, sobrepostos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874520"/>
          <a:ext cx="6492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178308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2668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26680" y="22860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Pertinência 1 até 10 °C, cai a 0 em 20 °C.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498080" y="324612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2668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agradável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726680" y="37490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Triângulo de 15 a 29 °C, pico em 22 °C.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498080" y="470916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26680" y="4800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quente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726680" y="52120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em 25 °C e chega a 1 em 35 °C.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LINGUÍSTICAS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termos da temperatura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conjuntos_temp.py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pertinencia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agradavel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quente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953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99832" y="1783080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0956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64692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65276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quente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799832" y="231343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09560" y="2313432"/>
            <a:ext cx="640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732520" y="231343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646920" y="231343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0652760" y="231343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799832" y="281635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09560" y="2816352"/>
            <a:ext cx="640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732520" y="281635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646920" y="281635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0.43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0652760" y="281635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799832" y="331927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909560" y="3319272"/>
            <a:ext cx="640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8732520" y="331927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646920" y="331927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0652760" y="331927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799832" y="382219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909560" y="3822192"/>
            <a:ext cx="640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732520" y="382219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9646920" y="382219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0.29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652760" y="382219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7799832" y="432511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909560" y="4325112"/>
            <a:ext cx="640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8732520" y="4325112"/>
            <a:ext cx="731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9646920" y="432511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10652760" y="4325112"/>
            <a:ext cx="822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7799832" y="4892040"/>
            <a:ext cx="3749040" cy="1234440"/>
          </a:xfrm>
          <a:prstGeom prst="roundRect">
            <a:avLst>
              <a:gd name="adj" fmla="val 888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001000" y="489204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27 °C: agradável 0,29 e quente 0,2 ao mesmo tempo.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LINGUÍSTICAS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sobrepor os termos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200400"/>
          </a:xfrm>
          <a:prstGeom prst="roundRect">
            <a:avLst>
              <a:gd name="adj" fmla="val 3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Transição suave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74320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27 °C a sensação é mesmo um pouco agradável e um pouco quente. A sobreposição representa isso.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3200400"/>
          </a:xfrm>
          <a:prstGeom prst="roundRect">
            <a:avLst>
              <a:gd name="adj" fmla="val 3429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 com lacunas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74320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valor não pertencer a nenhum termo (pertinência 0 em todos), nenhuma regra dispara e o sistema fica cego.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3200400"/>
          </a:xfrm>
          <a:prstGeom prst="roundRect">
            <a:avLst>
              <a:gd name="adj" fmla="val 3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prática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74320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Sobreponha termos vizinhos em torno de 30 a 50%, de modo que cada valor ative um ou dois termos.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521208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os extremos do universo: temperaturas muito baixas e muito altas também devem ativar algum termo (frio e quente cobrem as pontas).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FUZZY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E, OU e NÃO com graus de verdade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578608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(Zadeh)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87568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clássica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13648" y="178308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(a = 0,7; b = 0,4)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(interseção)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578608" y="231343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min(a, b)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687568" y="2313432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∧ b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613648" y="2313432"/>
            <a:ext cx="2862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min(0,7; 0,4) = 0,4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04495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04495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(união)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578608" y="304495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max(a, b)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687568" y="3044952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∨ b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613648" y="3044952"/>
            <a:ext cx="2862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max(0,7; 0,4) = 0,7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77647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77647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(complemento)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578608" y="377647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a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687568" y="3776472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¬a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613648" y="3776472"/>
            <a:ext cx="2862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1 − 0,7 = 0,3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66344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09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min e max?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" y="5120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Reproduzem E e OU quando os valores são só 0 e 1, e fazem sentido para graus: “tão verdadeiro quanto o elo mais fraco”.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199632" y="466344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73952" y="4709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Outras escolhas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473952" y="5120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(a·b) para E e soma probabilística (a + b − a·b) para OU também são válidos. O resultado muda um pouco.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FUZZY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 fuzzy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126480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operadores.py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"quente" a 28 graus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"umido"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  (min):"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 (max):"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"NAO     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  (produto):"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 (soma prob.):"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76872" y="1783080"/>
            <a:ext cx="4572000" cy="1969770"/>
          </a:xfrm>
          <a:prstGeom prst="roundRect">
            <a:avLst>
              <a:gd name="adj" fmla="val 557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7804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7920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037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91272" y="190195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251192" y="2286000"/>
            <a:ext cx="40233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(min): 0.4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251192" y="2533650"/>
            <a:ext cx="40233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 (max): 0.7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251192" y="2781300"/>
            <a:ext cx="40233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NAO     : 0.3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251192" y="3028950"/>
            <a:ext cx="40233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(produto): 0.28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251192" y="3276600"/>
            <a:ext cx="40233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 (soma prob.): 0.82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4876800"/>
            <a:ext cx="10911535" cy="1249680"/>
          </a:xfrm>
          <a:prstGeom prst="roundRect">
            <a:avLst>
              <a:gd name="adj" fmla="val 878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4876800"/>
            <a:ext cx="10362895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“está quente E úmido” vale 0,4 (o menor dos dois), e “quente OU úmido” vale 0,7. Nesta aula usaremos min e max, os operadores clássicos de Zadeh.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FUZZY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Modificadores: “muito” e “mais ou menos”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modificadores.py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"quente" a 28 graus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"quente        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"muito quente  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"mais ou menos 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"nada quente   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02552" y="178308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1228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7260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46988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702552" y="2313432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12280" y="231343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quente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372600" y="231343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469880" y="231343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702552" y="2862072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12280" y="286207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quente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372600" y="286207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μ²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0469880" y="286207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0.49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702552" y="3410712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12280" y="341071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ou menos quente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372600" y="341071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√μ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469880" y="341071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702552" y="3959352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12280" y="395935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quente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9372600" y="395935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μ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0469880" y="395935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40080" y="4610100"/>
            <a:ext cx="10911535" cy="1516380"/>
          </a:xfrm>
          <a:prstGeom prst="roundRect">
            <a:avLst>
              <a:gd name="adj" fmla="val 723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4400" y="4610100"/>
            <a:ext cx="10362895" cy="151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ao quadrado diminui o grau (“muito” exige mais); a raiz aumenta (“mais ou menos” é mais permissivo). É a forma fuzzy de lidar com advérbios, e só vale para valores entre 0 e 1.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FUZZY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fuzzy: SE-ENTÃO com termos linguísticos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2011680"/>
          </a:xfrm>
          <a:prstGeom prst="roundRect">
            <a:avLst>
              <a:gd name="adj" fmla="val 5455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78308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serviço é ruim OU a comida é ruim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ENTÃO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gorjeta é baixa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402336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096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formato da aula 06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5720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SE-ENTÃO com premissas ligadas por E/OU. Só que as condições agora são graduais.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7972" y="402336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6572" y="4096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dispara em parte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6572" y="45720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serviço é “ruim” com grau 0,6, a regra é ativada com força 0,6, e não “tudo ou nada”.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55864" y="402336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84464" y="4096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Várias regras ao mesmo tempo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84464" y="45720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termos se sobrepõem, várias regras valem de uma vez, cada uma com sua força. As saídas são combinadas.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FUZZY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de inferência de Mamdani em quatro etapas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450592" cy="192024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Fuzzificação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→ graus de pertinência em cada termo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27248" y="278892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56432" y="1828800"/>
            <a:ext cx="2450592" cy="192024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39312" y="196596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2926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a força de cada regra (E = min, OU = max)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0" y="278892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72784" y="1828800"/>
            <a:ext cx="2450592" cy="192024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55664" y="196596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55664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Agregação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55664" y="2926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cada saída na força da regra e une tudo (max)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759952" y="278892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89136" y="1828800"/>
            <a:ext cx="2450592" cy="1920240"/>
          </a:xfrm>
          <a:prstGeom prst="roundRect">
            <a:avLst>
              <a:gd name="adj" fmla="val 5714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72016" y="1965960"/>
            <a:ext cx="411480" cy="411480"/>
          </a:xfrm>
          <a:prstGeom prst="ellipse">
            <a:avLst/>
          </a:prstGeom>
          <a:solidFill>
            <a:srgbClr val="0B1A12"/>
          </a:solidFill>
          <a:ln w="12700">
            <a:solidFill>
              <a:srgbClr val="0B1A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72016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272016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Defuzzificação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272016" y="2926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a forma resultante em um número (centroide)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4114800"/>
            <a:ext cx="2450592" cy="640080"/>
          </a:xfrm>
          <a:prstGeom prst="roundRect">
            <a:avLst>
              <a:gd name="adj" fmla="val 14286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411480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numéricas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089136" y="4114800"/>
            <a:ext cx="2450592" cy="640080"/>
          </a:xfrm>
          <a:prstGeom prst="roundRect">
            <a:avLst>
              <a:gd name="adj" fmla="val 14286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89136" y="411480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numérica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865376" y="3794760"/>
            <a:ext cx="0" cy="274320"/>
          </a:xfrm>
          <a:prstGeom prst="line">
            <a:avLst/>
          </a:prstGeom>
          <a:noFill/>
          <a:ln w="31750">
            <a:solidFill>
              <a:srgbClr val="0B8A5B"/>
            </a:solidFill>
            <a:prstDash val="solid"/>
            <a:headEnd type="triangle"/>
          </a:ln>
        </p:spPr>
      </p:sp>
      <p:sp>
        <p:nvSpPr>
          <p:cNvPr id="34" name="Shape 31"/>
          <p:cNvSpPr/>
          <p:nvPr/>
        </p:nvSpPr>
        <p:spPr>
          <a:xfrm>
            <a:off x="10314432" y="3794760"/>
            <a:ext cx="0" cy="274320"/>
          </a:xfrm>
          <a:prstGeom prst="line">
            <a:avLst/>
          </a:prstGeom>
          <a:noFill/>
          <a:ln w="31750">
            <a:solidFill>
              <a:srgbClr val="0B8A5B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640080" y="502920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Ebrahim Mamdani aplicou essa estrutura em 1974 para controlar uma máquina a vapor. O nome “Mamdani” ficou associado ao método.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1 · A GORJETA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clássico: quanto dar de gorjeta?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944368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681728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99248" y="178308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pertinência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(entrada)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944368" y="2313432"/>
            <a:ext cx="1554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10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681728" y="2313432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ruim, médio, bom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699248" y="2313432"/>
            <a:ext cx="3776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gaussianas com média 0, 5 e 10 e sigma 1,5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9992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2999232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 (entrada)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944368" y="2999232"/>
            <a:ext cx="1554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10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681728" y="2999232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ruim, boa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699248" y="2999232"/>
            <a:ext cx="3776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triângulos [0,0,5] e [5,10,10]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3685032"/>
            <a:ext cx="10908792" cy="630936"/>
          </a:xfrm>
          <a:prstGeom prst="roundRect">
            <a:avLst>
              <a:gd name="adj" fmla="val 1159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685032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gorjeta (saída)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944368" y="3685032"/>
            <a:ext cx="1554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25 %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681728" y="3685032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baixa, média, alta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699248" y="3685032"/>
            <a:ext cx="3776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triângulos [0,0,13], [0,13,25], [13,25,25]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4617720"/>
            <a:ext cx="10911535" cy="1508760"/>
          </a:xfrm>
          <a:prstGeom prst="roundRect">
            <a:avLst>
              <a:gd name="adj" fmla="val 727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muito usado em tutoriais de lógica fuzzy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" y="51206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Entradas: nota do serviço e da comida (0 a 10). Saída: percentual de gorjeta. Os números são ilustrativos. O objetivo é ver o mecanismo de inferência, não propor uma regra de etiqueta.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1 · A GORJETA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regras e a forma dos termos de saída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874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comida é ruim OU serviço é ruim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423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gorjeta baixa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15468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serviço é médio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gorjeta média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4617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comida é boa OU serviço é bom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5166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gorjeta alta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309360" y="1783080"/>
            <a:ext cx="5239512" cy="3977640"/>
          </a:xfrm>
          <a:prstGeom prst="roundRect">
            <a:avLst>
              <a:gd name="adj" fmla="val 27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22" name="Chart 0" descr=""/>
          <p:cNvGraphicFramePr/>
          <p:nvPr/>
        </p:nvGraphicFramePr>
        <p:xfrm>
          <a:off x="6400800" y="1874520"/>
          <a:ext cx="5056632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 as regras cobrem todos os casos de serviço (ruim, médio, bom).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GORJETA PASSO A PASSO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1: fuzzificar serviço = 6,5 e comida = 9,0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31012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Pertinência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87568" y="1783080"/>
            <a:ext cx="5788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ruim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310128" y="23134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87568" y="2313432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gauss(6,5; 0; 1,5) ≈ e^(−9,4) ≈ 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880360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88036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médio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310128" y="28803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687568" y="2880360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gauss(6,5; 5; 1,5) = e^(−0,5) = 0,607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447288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4472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bom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310128" y="34472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687568" y="3447288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gauss(6,5; 10; 1,5) = e^(−2,72) = 0,066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4014216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01421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 ruim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310128" y="40142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687568" y="4014216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tri(9; 0; 0; 5) = 0 (9 está fora)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4581144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5811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 boa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310128" y="458114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687568" y="4581144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tri(9; 5; 10; 10): subida, (9 − 5)/(10 − 5) = 0,8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5074920"/>
            <a:ext cx="10911535" cy="1051560"/>
          </a:xfrm>
          <a:prstGeom prst="roundRect">
            <a:avLst>
              <a:gd name="adj" fmla="val 1043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507492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Fuzzificar é só calcular as funções de pertinência para as entradas reais. Resultado: o serviço é “um pouco médio” e a comida é “bem boa”.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GORJETA PASSO A PASSO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2: calcular a força de cada regra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72768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327648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528048" y="178308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572768" y="231343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max(comida ruim = 0,00; serviço ruim = 0,00)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327648" y="23134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= max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528048" y="2313432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026664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0266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572768" y="30266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médio = 0,61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327648" y="30266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operador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528048" y="3026664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0.61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739896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73989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572768" y="373989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max(comida boa = 0,80; serviço bom = 0,07)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327648" y="373989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= max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528048" y="3739896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297680"/>
            <a:ext cx="10911535" cy="1828800"/>
          </a:xfrm>
          <a:prstGeom prst="roundRect">
            <a:avLst>
              <a:gd name="adj" fmla="val 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não dispara (força 0). R2 e R3 disparam juntas, uma com 0,61 e outra com 0,80: o sistema “pensa” que a gorjeta é meio média e bem alta. Não há contradição: vamos combinar as duas.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GORJETA PASSO A PASSO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3: cortar cada saída e unir (agregação)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85800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87452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680960" y="1783080"/>
            <a:ext cx="386791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863840" y="1856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Implicação (corte)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2240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termo de saída é cortado na altura da força da regra. Força baixa, corte baixo.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680960" y="3246120"/>
            <a:ext cx="386791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63840" y="33192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Agregação (união)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37033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as formas cortadas, ponto a ponto, com o máximo.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80960" y="4709160"/>
            <a:ext cx="386791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863840" y="47823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 não aparece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863840" y="5166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0: o corte é raso, a forma some.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GORJETA PASSO A PASSO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4: defuzzificar pelo centroide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 = Σ ( x · μ(x) ) / Σ μ(x)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34564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9776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“centro de massa” da forma agregada: onde ela se equilibraria se fosse recortada em papelão.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7972" y="33832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6572" y="34564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aqui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6572" y="39776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Centroide ≈ 14,79 %. Está entre média (13) e alta (25), mais perto da média: a alta foi cortada em 0,80 e a média em 0,61.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55864" y="33832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84464" y="34564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um número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84464" y="39776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reais precisam de um valor concreto (a gorjeta, a potência): a defuzzificação o fornece.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GORJETA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Gorjeta do zero (1/4): universos e termos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mamdani_manual.py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pertinencia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linspace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servico_ruim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servico_medio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servico_bom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comida_ruim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comida_boa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953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219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486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pontos de 0 a 25: o eixo da saída.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9552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955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595360" y="3154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s: gauss(...)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35204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Entradas: funções que calculam a pertinência de um valor.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9552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55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4526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baixa, media, alta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595360" y="48920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Saídas: vetores, para poder cortar e somar.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GORJETA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Gorjeta do zero (2/4): fuzzificar e disparar regras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mamdani_manual.py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detalhe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fuzzificacao + regras (OU = max)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comida_ruim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servico_ruim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servico_medio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comida_boa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servico_bom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1783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21488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da R1 (gorjeta baixa).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0" y="26517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256032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92608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da R2 (gorjeta média).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229600" y="34290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333756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370332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da R3 (gorjeta alta).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" y="4076700"/>
            <a:ext cx="10911535" cy="2049780"/>
          </a:xfrm>
          <a:prstGeom prst="roundRect">
            <a:avLst>
              <a:gd name="adj" fmla="val 535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4076700"/>
            <a:ext cx="10362895" cy="2049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regras viram três linhas: cada “OU” é um max(...) e a regra com uma só condição é só o valor da condição. Compare com a tabela de regras do slide 22.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GORJETA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Gorjeta do zero (3/4): agregar e defuzzificar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mamdani_manual.py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implicacao: corta cada saida na forca da regra (min)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agregacao: uniao das saidas (max)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defuzzificacao: centroide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detalhe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2296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869680" y="1783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np.minimum(f, saída)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21488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a curva na altura f.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229600" y="30632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297180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np.maximum.reduce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333756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as três curvas pelo máximo.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229600" y="4251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16052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0" y="452628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ponderada dividida pela área.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4876800"/>
            <a:ext cx="10911535" cy="1249680"/>
          </a:xfrm>
          <a:prstGeom prst="roundRect">
            <a:avLst>
              <a:gd name="adj" fmla="val 878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4876800"/>
            <a:ext cx="10362895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quatro etapas e menos de 20 linhas temos um sistema de inferência completo, sem biblioteca de lógica fuzzy.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GORJETA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Gorjeta do zero (4/4): executando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1474470"/>
          </a:xfrm>
          <a:prstGeom prst="roundRect">
            <a:avLst>
              <a:gd name="adj" fmla="val 744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9811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mamdani_manual.py (final do arquivo)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1036015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9.8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1036015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detalhe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1036015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"servico={s} comida={c}: f1={f1:.2f} f2={f2:.2f} f3={f3:.2f} -&gt; {g:.2f}%"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440430"/>
            <a:ext cx="10908792" cy="1722120"/>
          </a:xfrm>
          <a:prstGeom prst="roundRect">
            <a:avLst>
              <a:gd name="adj" fmla="val 637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" y="362331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42416" y="362331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43584" y="362331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554480" y="3559302"/>
            <a:ext cx="9811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943350"/>
            <a:ext cx="1036015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mamdani_manual.py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91000"/>
            <a:ext cx="1036015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servico=3 comida=2: f1=0.60 f2=0.41 f3=0.00 -&gt; 10.35%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438650"/>
            <a:ext cx="1036015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servico=6.5 comida=9.0: f1=0.00 f2=0.61 f3=0.80 -&gt; 14.79%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686300"/>
            <a:ext cx="1036015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servico=9.8 comida=9.5: f1=0.00 f2=0.01 f3=0.99 -&gt; 20.85%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5345430"/>
            <a:ext cx="3493008" cy="781050"/>
          </a:xfrm>
          <a:prstGeom prst="roundRect">
            <a:avLst>
              <a:gd name="adj" fmla="val 1404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39115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 3, comida 2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802630"/>
            <a:ext cx="31546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forte (0,60): gorjeta ≈ 10%.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347972" y="5345430"/>
            <a:ext cx="3493008" cy="781050"/>
          </a:xfrm>
          <a:prstGeom prst="roundRect">
            <a:avLst>
              <a:gd name="adj" fmla="val 1404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30852" y="539115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 6,5, comida 9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530852" y="5802630"/>
            <a:ext cx="31546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 com o passo a passo: ≈ 14,8%.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055864" y="5345430"/>
            <a:ext cx="3493008" cy="781050"/>
          </a:xfrm>
          <a:prstGeom prst="roundRect">
            <a:avLst>
              <a:gd name="adj" fmla="val 1404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38744" y="539115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 9,8, comida 9,5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238744" y="5802630"/>
            <a:ext cx="31546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quase 1: gorjeta ≈ 21%, perto do topo.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GORJETA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saída é suave, não um degrau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874520"/>
          <a:ext cx="62179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223760" y="1783080"/>
            <a:ext cx="432511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06640" y="1856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Contínua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406640" y="22402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mudanças de entrada geram pequenas mudanças de saída. Sem saltos como no degrau de 30 °C.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223760" y="3246120"/>
            <a:ext cx="432511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0" y="33192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“mágica”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37033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vem só de 3 regras e das formas dos termos. Mudando as formas, muda a curva.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223760" y="4709160"/>
            <a:ext cx="432511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06640" y="4782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 ter patamares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406640" y="51663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4 e 7 a saída varia pouco (12,4 a 13,8). É efeito de como os termos se encaixam.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SCIKIT-FUZZY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scikit-fuzzy: a biblioteca pronta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e código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terminal, com o venv ativo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(.venv) 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scikit-fuzzy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codigo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skfuzzy as fuzz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skfuzzy import control as ctrl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4980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Antecedent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21488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de entrada, com universo e termos.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49808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138160" y="2862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Consequent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322783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de saída.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49808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138160" y="3941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138160" y="430682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SE-ENTÃO. | é OU, &amp; é 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498080" y="5111496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50200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ControlSystem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138160" y="538581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as regras; a simulação calcula.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40080" y="4343400"/>
            <a:ext cx="6400800" cy="1783080"/>
          </a:xfrm>
          <a:prstGeom prst="roundRect">
            <a:avLst>
              <a:gd name="adj" fmla="val 615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4343400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biblioteca implementa Mamdani como fizemos. Se algum import falhar, confira a instalação (pip list) e o venv ativo.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SCIKIT-FUZZY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Gorjeta com scikit-fuzzy (1/3): variáveis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498080" cy="3703320"/>
          </a:xfrm>
          <a:prstGeom prst="roundRect">
            <a:avLst>
              <a:gd name="adj" fmla="val 296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mamdani_skfuzzy.py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Antecedent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"servico"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Antecedent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"comida"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Consequent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"gorjeta"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7660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"ruim"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fuzz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gaussmf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52425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fuzz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gaussmf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77190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"bom"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fuzz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gaussmf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01955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"ruim"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fuzz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26720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fuzz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51485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"baixa"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fuzz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76250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fuzz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01015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"alta"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fuzz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4124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124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052560" y="178308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np.arange(0, 10.1, 0.1)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052560" y="214884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universo, de 0 a 10 em passos de 0,1.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4124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124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052560" y="315468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gaussmf, trimf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052560" y="352044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funções que escrevemos: gaussiana e triangular.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SCIKIT-FUZZY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Gorjeta com scikit-fuzzy (2/3): as regras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498080" cy="2217420"/>
          </a:xfrm>
          <a:prstGeom prst="roundRect">
            <a:avLst>
              <a:gd name="adj" fmla="val 4948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mamdani_skfuzzy.py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"ruim"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"ruim"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"baixa"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comida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"bom"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"alta"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24250"/>
            <a:ext cx="69494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ControlSystemSimulation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ControlSystem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4124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78308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214884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entre condições (E seria &amp;).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412480" y="30632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12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297180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ControlSystem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052560" y="333756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as regras em um sistema.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412480" y="4251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124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052560" y="41605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052560" y="45262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o sistema para entradas dadas.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4229100"/>
            <a:ext cx="10911535" cy="1897380"/>
          </a:xfrm>
          <a:prstGeom prst="roundRect">
            <a:avLst>
              <a:gd name="adj" fmla="val 578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4229100"/>
            <a:ext cx="10362895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regras são exatamente as do slide 22. A biblioteca esconde a agregação e a defuzzificação (padrão: centroide) dentro de ControlSystemSimulation.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SCIKIT-FUZZY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Gorjeta com scikit-fuzzy (3/3): simular e comparar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217420"/>
          </a:xfrm>
          <a:prstGeom prst="roundRect">
            <a:avLst>
              <a:gd name="adj" fmla="val 4948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mamdani_skfuzzy.py (final do arquivo)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9.8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"servico"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"comida"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"gorjeta"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242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"servico={s} comida={c} -&gt; {g:.2f}%"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99832" y="1783080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0956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(serviço; comida)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189720" y="1783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424160" y="1783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skfuzzy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799832" y="2313432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09560" y="231343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(3; 2)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89720" y="231343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10.35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0424160" y="231343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10.38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799832" y="2880360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09560" y="288036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(6,5; 9)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189720" y="288036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14.79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424160" y="288036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14.76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799832" y="3447288"/>
            <a:ext cx="3749040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09560" y="344728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(9,8; 9,5)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189720" y="3447288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20.85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0424160" y="3447288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20.81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0080" y="4229100"/>
            <a:ext cx="10911535" cy="1897380"/>
          </a:xfrm>
          <a:prstGeom prst="roundRect">
            <a:avLst>
              <a:gd name="adj" fmla="val 578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4400" y="4229100"/>
            <a:ext cx="10362895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versões concordam até a segunda casa: ≈ 0,04 de diferença. Ela vem da discretização: a biblioteca arredonda as entradas para o passo do universo (0,1) e nós usamos o valor exato.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2 · AR-CONDICIONADO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Controle: regular a temperatura de uma sala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468880"/>
          </a:xfrm>
          <a:prstGeom prst="roundRect">
            <a:avLst>
              <a:gd name="adj" fmla="val 444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termostato clássico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2316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 100% quando passa de alvo + 0,5 e desliga abaixo de alvo − 0,5. Simples, mas tudo ou nada: a temperatura oscila.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349240" cy="2468880"/>
          </a:xfrm>
          <a:prstGeom prst="roundRect">
            <a:avLst>
              <a:gd name="adj" fmla="val 444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73952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controlador fuzzy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73952" y="242316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a potência de 0 a 100% conforme o erro (temperatura − alvo): quanto maior o erro, maior a potência. Mais suave.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480560"/>
            <a:ext cx="10908792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4480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da simulação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950208" y="4480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90688" y="4480560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496519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49651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950208" y="49651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°C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90688" y="4965192"/>
            <a:ext cx="3685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desejada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542239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54223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externa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950208" y="54223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°C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790688" y="5422392"/>
            <a:ext cx="3685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sala esquenta sozinha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5879592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58795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inicial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950208" y="58795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°C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790688" y="5879592"/>
            <a:ext cx="3685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resfriar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2 · AR-CONDICIONADO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e regras do controlador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944368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e formas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516368" y="17830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= T − alvo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1343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negativo, zero, pequeno, grande: triângulos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516368" y="2313432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 a +10 °C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2935224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9352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potência (saída)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944368" y="293522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desligar, baixa, média, alta: triângulos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516368" y="2935224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100 %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3794760"/>
            <a:ext cx="2542032" cy="1188720"/>
          </a:xfrm>
          <a:prstGeom prst="roundRect">
            <a:avLst>
              <a:gd name="adj" fmla="val 923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822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erro é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potência desligar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429000" y="3794760"/>
            <a:ext cx="2542032" cy="1188720"/>
          </a:xfrm>
          <a:prstGeom prst="roundRect">
            <a:avLst>
              <a:gd name="adj" fmla="val 923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611880" y="3822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erro é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61188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61188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potência baixa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17920" y="3794760"/>
            <a:ext cx="2542032" cy="1188720"/>
          </a:xfrm>
          <a:prstGeom prst="roundRect">
            <a:avLst>
              <a:gd name="adj" fmla="val 923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0" y="3822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erro é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pequeno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potência média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006840" y="3794760"/>
            <a:ext cx="2542032" cy="1188720"/>
          </a:xfrm>
          <a:prstGeom prst="roundRect">
            <a:avLst>
              <a:gd name="adj" fmla="val 923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89720" y="3822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erro é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1897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grande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18972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potência alta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" y="5166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4400" y="51663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regras, uma para cada termo do erro. É a ideia de um controlador proporcional escrita em palavras, e dá para o especialista conferir cada regra.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AR-CONDICIONADO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 fuzzy em Python (1/2): termos e regras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13232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ar_condicionado.py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583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583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pertinencia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583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pot_u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linspace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619500"/>
            <a:ext cx="6583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mu_erro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583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"negativo"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583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"zero"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6583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"pequeno"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6583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"grande"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13816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381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778240" y="178308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pot_u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778240" y="214884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eixo da saída: 0 a 100% da potência.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138160" y="31546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778240" y="306324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mu_erro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778240" y="342900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Fuzzifica o erro nos 4 termos de uma vez.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138160" y="443484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1381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778240" y="434340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tri(e, -6, -6, 0)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778240" y="470916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Ombro à esquerda: “negativo” vale 1 em −6.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AR-CONDICIONADO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 fuzzy em Python (2/2): inferência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ar_condicionado.py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"desligar"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pot_u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"baixa"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pot_u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pot_u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"alta"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pot_u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"negativo"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"desligar"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"zero"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"baixa"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2425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"pequeno"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"grande"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"alta"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01955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26720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graus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mu_erro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51485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agregada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76250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graus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01015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agregada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25780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505450"/>
            <a:ext cx="67665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pot_u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agregada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agregada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29600" y="1783080"/>
            <a:ext cx="3319272" cy="4343400"/>
          </a:xfrm>
          <a:prstGeom prst="roundRect">
            <a:avLst>
              <a:gd name="adj" fmla="val 33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58200" y="201168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14884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189720" y="201168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Dicionário de regras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8458200" y="2697480"/>
            <a:ext cx="28620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liga cada termo do erro ao termo da saída. Mudar o comportamento é mudar uma linha do dicionário, sem tocar na lógica. O min/max do erro mantém o valor dentro do universo.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AR-CONDICIONADO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potência para cada erro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ar_condicionado.py (final do arquivo)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"erro={e:+d}: {potencia(e):5.1f}%"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1783080"/>
            <a:ext cx="560527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53328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(°C)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156448" y="178308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 (%)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0" y="2313432"/>
            <a:ext cx="5605272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53328" y="23134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156448" y="2313432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5.8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0" y="2788920"/>
            <a:ext cx="5605272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53328" y="2788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156448" y="2788920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23.0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0" y="3264408"/>
            <a:ext cx="5605272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53328" y="32644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156448" y="3264408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943600" y="3739896"/>
            <a:ext cx="5605272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53328" y="37398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156448" y="3739896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44.4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943600" y="4215384"/>
            <a:ext cx="5605272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53328" y="42153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156448" y="4215384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55.0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943600" y="4690872"/>
            <a:ext cx="5605272" cy="420624"/>
          </a:xfrm>
          <a:prstGeom prst="roundRect">
            <a:avLst>
              <a:gd name="adj" fmla="val 1739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53328" y="46908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156448" y="4690872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84.5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943600" y="5166360"/>
            <a:ext cx="5605272" cy="420624"/>
          </a:xfrm>
          <a:prstGeom prst="roundRect">
            <a:avLst>
              <a:gd name="adj" fmla="val 1739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053328" y="51663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8156448" y="5166360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86.0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40080" y="3337560"/>
            <a:ext cx="5120640" cy="2788920"/>
          </a:xfrm>
          <a:prstGeom prst="roundRect">
            <a:avLst>
              <a:gd name="adj" fmla="val 393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4400" y="3337560"/>
            <a:ext cx="4572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 o erro, maior a potência, de modo gradual. Com o alvo atingido (erro 0) ainda fica 25%, para compensar o calor que entra pela parede.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AR-CONDICIONADO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Simulando a sala com os dois controladores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583680" cy="4446270"/>
          </a:xfrm>
          <a:prstGeom prst="roundRect">
            <a:avLst>
              <a:gd name="adj" fmla="val 2468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simulacao.py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T_EXT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2425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7190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01955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51485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termostato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76250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01015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termostato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ligado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25780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50545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termostato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ligado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753100"/>
            <a:ext cx="60350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termostato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ligado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58952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89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17830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+= ...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214884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sala ganha calor de fora (0,04 por passo) e perde pela potência (0,012 por ponto).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58952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89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31546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controle(T - ALVO)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0" y="352044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controlador: recebe o erro, devolve a potência.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58952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589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229600" y="45262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energia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0" y="489204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da potência usada, em “horas a 100%”.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AR-CONDICIONADO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o fuzzy não oscila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85800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87452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680960" y="1783080"/>
            <a:ext cx="386791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9068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9345168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0533888" y="1783080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Termostato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80960" y="2313432"/>
            <a:ext cx="386791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90688" y="23134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final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345168" y="231343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24.44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0533888" y="2313432"/>
            <a:ext cx="941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23.61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680960" y="2880360"/>
            <a:ext cx="386791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90688" y="288036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Oscilação*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345168" y="288036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0533888" y="2880360"/>
            <a:ext cx="941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1.92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680960" y="3447288"/>
            <a:ext cx="386791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90688" y="344728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Energia**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9345168" y="344728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47.0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10533888" y="3447288"/>
            <a:ext cx="941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50.0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680960" y="3840480"/>
            <a:ext cx="3867912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863840" y="384048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faixa (máx − mín) após o passo 60. ** soma de p/100 em 120 passos. Simulação simplificada, criada para a aula.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AR-CONDICIONADO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Lendo o resultado com honestidade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657600"/>
          </a:xfrm>
          <a:prstGeom prst="roundRect">
            <a:avLst>
              <a:gd name="adj" fmla="val 314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fuzzy ganhou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74320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oscilação: a temperatura estabiliza. Menos liga/desliga é menos desgaste no equipamento. Energia: 47 contra 50.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3657600"/>
          </a:xfrm>
          <a:prstGeom prst="roundRect">
            <a:avLst>
              <a:gd name="adj" fmla="val 314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ele não resolveu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74320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Parou em 24,44 °C, 0,44 acima do alvo (erro estacionário): a potência de equilíbrio exige algum erro. Um termostato com integrador corrigiria.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3657600"/>
          </a:xfrm>
          <a:prstGeom prst="roundRect">
            <a:avLst>
              <a:gd name="adj" fmla="val 314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 do ajuste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74320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formas de termos ou outro modelo de sala mudam o resultado. Por isso se simula e se afina antes de usar.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5623560"/>
            <a:ext cx="10911535" cy="54864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não é mágica: é uma forma legível de escrever o comportamento desejado.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DEFUZZIFICAÇÃO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centroide e os extremos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120640" cy="1226820"/>
          </a:xfrm>
          <a:prstGeom prst="roundRect">
            <a:avLst>
              <a:gd name="adj" fmla="val 894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tabela_regras.py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45720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45720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0" y="1783080"/>
            <a:ext cx="560527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53328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882128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985248" y="178308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0" y="2313432"/>
            <a:ext cx="560527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53328" y="23134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23134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985248" y="231343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43600" y="2770632"/>
            <a:ext cx="5605272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53328" y="27706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882128" y="27706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985248" y="277063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943600" y="3227832"/>
            <a:ext cx="5605272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53328" y="32278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82128" y="32278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25.0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9985248" y="322783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943600" y="3685032"/>
            <a:ext cx="5605272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053328" y="36850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882128" y="36850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55.0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985248" y="368503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943600" y="4142232"/>
            <a:ext cx="5605272" cy="402336"/>
          </a:xfrm>
          <a:prstGeom prst="roundRect">
            <a:avLst>
              <a:gd name="adj" fmla="val 181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053328" y="41422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882128" y="41422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84.5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985248" y="414223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943600" y="4599432"/>
            <a:ext cx="5605272" cy="402336"/>
          </a:xfrm>
          <a:prstGeom prst="roundRect">
            <a:avLst>
              <a:gd name="adj" fmla="val 181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053328" y="45994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882128" y="45994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86.7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9985248" y="459943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943600" y="5056632"/>
            <a:ext cx="5605272" cy="402336"/>
          </a:xfrm>
          <a:prstGeom prst="roundRect">
            <a:avLst>
              <a:gd name="adj" fmla="val 1818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053328" y="50566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7882128" y="50566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84.5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9985248" y="505663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desce!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40080" y="3238500"/>
            <a:ext cx="5120640" cy="2887980"/>
          </a:xfrm>
          <a:prstGeom prst="roundRect">
            <a:avLst>
              <a:gd name="adj" fmla="val 379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4400" y="3238500"/>
            <a:ext cx="4572000" cy="288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erro grande, o termo “alta” é um triângulo: o centroide dele é 86,7, nunca 100. E quando o erro passa de 6, a força cai e o centroide dá até uma leve queda (84,5 em +8).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SUGENO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Sugeno: a saída como média ponderada de constantes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703320"/>
          </a:xfrm>
          <a:prstGeom prst="roundRect">
            <a:avLst>
              <a:gd name="adj" fmla="val 296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sugeno.py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pertinencia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7813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potencia_sugeno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289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graus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766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5242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7719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0195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uma constante por regra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2672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graus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5148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76250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010150"/>
            <a:ext cx="6400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graus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799832" y="1783080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0956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09828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 (Sugeno)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99832" y="231343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09560" y="23134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098280" y="231343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799832" y="281635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09560" y="281635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098280" y="281635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25.0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799832" y="331927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09560" y="331927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098280" y="331927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43.0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799832" y="382219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909560" y="382219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098280" y="382219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55.0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799832" y="432511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909560" y="432511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9098280" y="432511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799832" y="4828032"/>
            <a:ext cx="374904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909560" y="48280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9098280" y="482803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799832" y="4846320"/>
            <a:ext cx="3749040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982712" y="48463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regra devolve um número fixo e a saída é a média ponderada pela força das regras. Chega a 100 e não decresce.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Mamdani × Sugeno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Mamdani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21728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Sugeno (ordem zero)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134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da regra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13432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conjunto fuzzy (forma)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21728" y="2313432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(ou função linear)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2880360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803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Defuzzificação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2880360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Centroide ou outros: mais custo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21728" y="2880360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ponderada: barata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447288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4472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Legibilidade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447288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Alta: tudo em linguagem natural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21728" y="3447288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Boa, mas as saídas são números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014216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0142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014216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Centroide não chega às pontas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21728" y="4014216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a 0 e 100 com facilidade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4581144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58114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154680" y="4581144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apoio e controle explicáveis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21728" y="4581144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em tempo real e ajuste automático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5330952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330952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Takagi e Sugeno propuseram esse modelo em 1985. Ambos são usados na prática.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PROJETAR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Projetando um sistema fuzzy em seis passos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Defina entradas e saídas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060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mede e o que se quer decidir. Universo e unidade de cada uma.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7972" y="1783080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6572" y="1965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657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170932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os termos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6572" y="26060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a 7 por variável: poucos para ficar legível, o bastante para dar sutileza.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55864" y="1783080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1965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446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878824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Desenhe as funções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84464" y="26060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Triângulos e trapézios, com sobreposição. Valide com o especialista.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4069080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Escreva as regras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8920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Cubra as combinações relevantes. Confira se há contradições ou lacunas.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347972" y="4069080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6572" y="4251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6572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170932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Simule e meça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576572" y="48920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Varra as entradas, faça gráficos da saída e compare com casos reais.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055864" y="4069080"/>
            <a:ext cx="3493008" cy="2148840"/>
          </a:xfrm>
          <a:prstGeom prst="roundRect">
            <a:avLst>
              <a:gd name="adj" fmla="val 51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84464" y="42519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84464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878824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284464" y="48920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 formas, regras e pesos até o comportamento ficar aceitável.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lógica fuzzy aparece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Eletrodomésticos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de lavar que ajustam o ciclo à carga e à sujeira; arroz e ar-condicionado.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metrô de Sendai (Japão, 1987) é um exemplo clássico de controle fuzzy de partida e frenagem.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422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Câmeras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automático e estabilização que ponderam várias medidas imprecisas.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776472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00507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422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005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Indústria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690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fornos, caldeiras e processos químicos, com regras de operadores experientes.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clássicos citados na literatura; as implementações atuais variam entre fabricantes.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Fuzzy, regras ou aprendizado de máquina?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fuzzy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21728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134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 conhecimento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13432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(regras e termos)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21728" y="2313432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históricos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2935224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93522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necessários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2935224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ou nenhum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21728" y="2935224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exemplos de qualidade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557016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55701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557016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Natural: regras em linguagem comum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21728" y="3557016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técnicas extras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178808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1788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178808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(e pode ser automatizado)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21728" y="4178808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automático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480060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800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154680" y="4800600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e decisão com conhecimento vago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21728" y="4800600"/>
            <a:ext cx="399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complexos em muitos dados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5605272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605272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sistemas neuro-fuzzy, que usam dados para ajustar as funções de pertinência, juntando o melhor dos dois mundos.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da lógica fuzzy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Conhecimento manual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termos, formas e regras depende de especialistas e de tentativa e erro.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Explosão de regras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várias entradas e muitos termos, o número de combinações cresce (3 entradas × 5 termos = 125 regras).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garantias formais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e otimalidade não vêm de graça: precisam de simulação e teste.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Muitas escolhas de projeto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Operadores, implicação, agregação e defuzzificação mudam o resultado e precisam ser documentados.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Termos sem sobreposição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entre dois termos ficam sem pertinência: nenhuma regra dispara e a saída vira 0 ou dá divisão por zero.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Esquecer o universo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fora do universo definido precisam ser limitadas (como fizemos com min e max), senão o resultado é inválido.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Confundir fuzzy com probabilidade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0,7 não é “70% de chance”. É o grau de pertencimento ao conceito.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Defuzzificar e esquecer o extremo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 saída nas pontas do universo: o centroide pode não chegar a 0 ou 100.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Pertinência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μ_agradável(25) com tri(25, 15, 22, 29). Confira com a função.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88036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27 °C, quente = 0,2. Se a umidade é 0,9, quanto vale “quente E úmido”? E “quente OU úmido”?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Gorjeta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397764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a gorjeta para serviço 5 e comida 10, e para serviço 2 e comida 2. Qual a menor?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507492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potência para erro = 3 °C? E para 0,5 °C e −2 °C?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1 e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226820"/>
          </a:xfrm>
          <a:prstGeom prst="roundRect">
            <a:avLst>
              <a:gd name="adj" fmla="val 894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0.5714285714285714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192780"/>
            <a:ext cx="5852160" cy="2933700"/>
          </a:xfrm>
          <a:prstGeom prst="roundRect">
            <a:avLst>
              <a:gd name="adj" fmla="val 374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3192780"/>
            <a:ext cx="5303520" cy="293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no lado de descida do triângulo: (29 − 25) / (29 − 22) = 4/7 ≈ 0,57.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11112" y="1783080"/>
            <a:ext cx="4937760" cy="1226820"/>
          </a:xfrm>
          <a:prstGeom prst="roundRect">
            <a:avLst>
              <a:gd name="adj" fmla="val 894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885432" y="228600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  -&gt; 0.2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885432" y="253365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 -&gt; 0.9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611112" y="3192780"/>
            <a:ext cx="4937760" cy="2933700"/>
          </a:xfrm>
          <a:prstGeom prst="roundRect">
            <a:avLst>
              <a:gd name="adj" fmla="val 374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0" y="3192780"/>
            <a:ext cx="4434840" cy="293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 fica com o elo mais fraco (0,2) e o OU com o mais forte (0,9).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3 e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474470"/>
          </a:xfrm>
          <a:prstGeom prst="roundRect">
            <a:avLst>
              <a:gd name="adj" fmla="val 744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mamdani_manual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14.7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gorjeta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7.86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440430"/>
            <a:ext cx="5852160" cy="2686050"/>
          </a:xfrm>
          <a:prstGeom prst="roundRect">
            <a:avLst>
              <a:gd name="adj" fmla="val 408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440430"/>
            <a:ext cx="5303520" cy="268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menor é a de serviço 2 e comida 2 (7,86%). Mesmo com serviço médio, a comida ótima puxa a gorjeta para 14,7%.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11112" y="1783080"/>
            <a:ext cx="4937760" cy="1722120"/>
          </a:xfrm>
          <a:prstGeom prst="roundRect">
            <a:avLst>
              <a:gd name="adj" fmla="val 637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85432" y="228600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ar_condicionado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253365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62.9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278130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36.3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302895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6.3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611112" y="3688080"/>
            <a:ext cx="4937760" cy="2438400"/>
          </a:xfrm>
          <a:prstGeom prst="roundRect">
            <a:avLst>
              <a:gd name="adj" fmla="val 4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0" y="3688080"/>
            <a:ext cx="443484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3: 62,9%. Erro 0,5: 36,3%. Erro −2 (sala fria): 6,3%, quase desligado.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08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fuzzy dão graus de pertinência entre 0 e 1 a conceitos vagos.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linguísticas, E = min, OU = max e NÃO = 1 − μ montam as regras.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8615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91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Mamdani: fuzzificar, disparar regras, agregar e defuzzificar (centroide).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6339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0690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fuzzy é suave, mas exige ajuste. Sugeno é mais simples e chega aos extremos.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2240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ML e fluxo de trabalho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589520" y="306324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de decisão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589520" y="38404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589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3794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artificiais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 e invente um sistema seu (por exemplo, a velocidade de um ventilador). Na aula 09 começa o aprendizado de máquina: o conhecimento vem dos dados.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08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08 - Lógica fuzzy</dc:title>
  <dc:subject>PptxGenJS Presentation</dc:subject>
  <dc:creator>Inteligência Artificial</dc:creator>
  <cp:lastModifiedBy>Inteligência Artificial</cp:lastModifiedBy>
  <cp:revision>1</cp:revision>
  <dcterms:created xsi:type="dcterms:W3CDTF">2026-10-08T11:38:54Z</dcterms:created>
  <dcterms:modified xsi:type="dcterms:W3CDTF">2026-10-08T11:38:54Z</dcterms:modified>
</cp:coreProperties>
</file>