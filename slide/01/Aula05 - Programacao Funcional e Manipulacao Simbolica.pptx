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</p:sldIdLst>
  <p:notesMasterIdLst>
    <p:notesMasterId r:id="rId4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notesMaster" Target="notesMasters/notesMaster1.xml"/><Relationship Id="rId45" Type="http://schemas.openxmlformats.org/officeDocument/2006/relationships/presProps" Target="presProps.xml"/><Relationship Id="rId46" Type="http://schemas.openxmlformats.org/officeDocument/2006/relationships/viewProps" Target="viewProps.xml"/><Relationship Id="rId47" Type="http://schemas.openxmlformats.org/officeDocument/2006/relationships/theme" Target="theme/theme1.xml"/><Relationship Id="rId4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image" Target="../media/image-3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image" Target="../media/image-38-2.png"/><Relationship Id="rId3" Type="http://schemas.openxmlformats.org/officeDocument/2006/relationships/image" Target="../media/image-38-3.png"/><Relationship Id="rId4" Type="http://schemas.openxmlformats.org/officeDocument/2006/relationships/image" Target="../media/image-38-4.png"/><Relationship Id="rId5" Type="http://schemas.openxmlformats.org/officeDocument/2006/relationships/image" Target="../media/image-3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image" Target="../media/image-42-2.png"/><Relationship Id="rId3" Type="http://schemas.openxmlformats.org/officeDocument/2006/relationships/image" Target="../media/image-42-3.png"/><Relationship Id="rId4" Type="http://schemas.openxmlformats.org/officeDocument/2006/relationships/image" Target="../media/image-42-4.png"/><Relationship Id="rId5" Type="http://schemas.openxmlformats.org/officeDocument/2006/relationships/image" Target="../media/image-42-5.png"/><Relationship Id="rId6" Type="http://schemas.openxmlformats.org/officeDocument/2006/relationships/image" Target="../media/image-4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5615" y="-1463040"/>
            <a:ext cx="4023360" cy="4023360"/>
          </a:xfrm>
          <a:prstGeom prst="ellipse">
            <a:avLst/>
          </a:prstGeom>
          <a:ln w="15875">
            <a:solidFill>
              <a:srgbClr val="1B43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180015" y="-822960"/>
            <a:ext cx="2743200" cy="2743200"/>
          </a:xfrm>
          <a:prstGeom prst="ellipse">
            <a:avLst/>
          </a:prstGeom>
          <a:ln w="15875">
            <a:solidFill>
              <a:srgbClr val="1B433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645920" y="4846320"/>
            <a:ext cx="3474720" cy="3474720"/>
          </a:xfrm>
          <a:prstGeom prst="ellipse">
            <a:avLst/>
          </a:prstGeom>
          <a:ln w="15875">
            <a:solidFill>
              <a:srgbClr val="1B433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914400" y="5486400"/>
            <a:ext cx="2194560" cy="2194560"/>
          </a:xfrm>
          <a:prstGeom prst="ellipse">
            <a:avLst/>
          </a:prstGeom>
          <a:ln w="15875">
            <a:solidFill>
              <a:srgbClr val="1B433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097280"/>
            <a:ext cx="1097280" cy="1097280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371600"/>
            <a:ext cx="548640" cy="54864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40080" y="2423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5FE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05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2834640"/>
            <a:ext cx="10241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Programação funcional e manipulação simbólica</a:t>
            </a:r>
            <a:endParaRPr lang="en-US" sz="460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45262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5D3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Funções, recursão, expressões como dados e unificação em Python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640080" y="5394960"/>
            <a:ext cx="2103120" cy="566928"/>
          </a:xfrm>
          <a:prstGeom prst="roundRect">
            <a:avLst>
              <a:gd name="adj" fmla="val 50000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40080" y="5394960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Funções puras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2926080" y="5394960"/>
            <a:ext cx="2743200" cy="566928"/>
          </a:xfrm>
          <a:prstGeom prst="roundRect">
            <a:avLst>
              <a:gd name="adj" fmla="val 50000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2926080" y="5394960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/ filter / reduce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5852160" y="5394960"/>
            <a:ext cx="1645920" cy="566928"/>
          </a:xfrm>
          <a:prstGeom prst="roundRect">
            <a:avLst>
              <a:gd name="adj" fmla="val 50000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852160" y="539496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Recursão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7680960" y="5394960"/>
            <a:ext cx="1645920" cy="566928"/>
          </a:xfrm>
          <a:prstGeom prst="roundRect">
            <a:avLst>
              <a:gd name="adj" fmla="val 50000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680960" y="539496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Símbolos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9509760" y="5394960"/>
            <a:ext cx="1920240" cy="566928"/>
          </a:xfrm>
          <a:prstGeom prst="roundRect">
            <a:avLst>
              <a:gd name="adj" fmla="val 50000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9509760" y="539496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Unificação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AULA PASSADA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onde viemos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3493008" cy="2651760"/>
          </a:xfrm>
          <a:prstGeom prst="roundRect">
            <a:avLst>
              <a:gd name="adj" fmla="val 4138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68680" y="2011680"/>
            <a:ext cx="594360" cy="59436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270" y="2160270"/>
            <a:ext cx="297180" cy="29718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645920" y="201168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Lógica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868680" y="2834640"/>
            <a:ext cx="30632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Tabelas-verdade, resolução e predicados com ∀ e ∃.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4347972" y="1783080"/>
            <a:ext cx="3493008" cy="2651760"/>
          </a:xfrm>
          <a:prstGeom prst="roundRect">
            <a:avLst>
              <a:gd name="adj" fmla="val 4138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4576572" y="2011680"/>
            <a:ext cx="594360" cy="59436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5162" y="2160270"/>
            <a:ext cx="297180" cy="29718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5353812" y="201168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Redes, frames e triplas</a:t>
            </a:r>
            <a:endParaRPr lang="en-US" sz="1600" dirty="0"/>
          </a:p>
        </p:txBody>
      </p:sp>
      <p:sp>
        <p:nvSpPr>
          <p:cNvPr id="15" name="Text 10"/>
          <p:cNvSpPr txBox="1"/>
          <p:nvPr/>
        </p:nvSpPr>
        <p:spPr>
          <a:xfrm>
            <a:off x="4576572" y="2834640"/>
            <a:ext cx="30632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Herança, valores padrão e consultas sobre fatos.</a:t>
            </a:r>
            <a:endParaRPr lang="en-US" sz="1500" dirty="0"/>
          </a:p>
        </p:txBody>
      </p:sp>
      <p:sp>
        <p:nvSpPr>
          <p:cNvPr id="16" name="Shape 11"/>
          <p:cNvSpPr/>
          <p:nvPr/>
        </p:nvSpPr>
        <p:spPr>
          <a:xfrm>
            <a:off x="8055864" y="1783080"/>
            <a:ext cx="3493008" cy="2651760"/>
          </a:xfrm>
          <a:prstGeom prst="roundRect">
            <a:avLst>
              <a:gd name="adj" fmla="val 4138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8284464" y="2011680"/>
            <a:ext cx="594360" cy="594360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33054" y="2160270"/>
            <a:ext cx="297180" cy="29718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9061704" y="201168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pergunta em aberto</a:t>
            </a:r>
            <a:endParaRPr lang="en-US" sz="1600" dirty="0"/>
          </a:p>
        </p:txBody>
      </p:sp>
      <p:sp>
        <p:nvSpPr>
          <p:cNvPr id="20" name="Text 14"/>
          <p:cNvSpPr txBox="1"/>
          <p:nvPr/>
        </p:nvSpPr>
        <p:spPr>
          <a:xfrm>
            <a:off x="8284464" y="2834640"/>
            <a:ext cx="30632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casar pai(X, maria) com pai(joao, maria)? Faltou a unificação.</a:t>
            </a:r>
            <a:endParaRPr lang="en-US" sz="1500" dirty="0"/>
          </a:p>
        </p:txBody>
      </p:sp>
      <p:sp>
        <p:nvSpPr>
          <p:cNvPr id="21" name="Shape 15"/>
          <p:cNvSpPr/>
          <p:nvPr/>
        </p:nvSpPr>
        <p:spPr>
          <a:xfrm>
            <a:off x="640080" y="4754880"/>
            <a:ext cx="10911535" cy="1280160"/>
          </a:xfrm>
          <a:prstGeom prst="roundRect">
            <a:avLst>
              <a:gd name="adj" fmla="val 8571"/>
            </a:avLst>
          </a:prstGeom>
          <a:solidFill>
            <a:srgbClr val="0F2A1D"/>
          </a:solidFill>
          <a:ln w="12700">
            <a:solidFill>
              <a:srgbClr val="0F2A1D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914400" y="5120640"/>
            <a:ext cx="548640" cy="548640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1560" y="5257800"/>
            <a:ext cx="274320" cy="274320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1737360" y="4754880"/>
            <a:ext cx="9509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Hoje: pensar em funções e tratar expressões como dados. Ao final, implementamos a unificação.</a:t>
            </a:r>
            <a:endParaRPr lang="en-US" sz="2000" dirty="0"/>
          </a:p>
        </p:txBody>
      </p:sp>
      <p:sp>
        <p:nvSpPr>
          <p:cNvPr id="25" name="Text 18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05</a:t>
            </a:r>
            <a:endParaRPr lang="en-US" sz="1000" dirty="0"/>
          </a:p>
        </p:txBody>
      </p:sp>
      <p:sp>
        <p:nvSpPr>
          <p:cNvPr id="26" name="Text 19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ROTEIRO DE HOJE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vamos fazer nesta aula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2057400"/>
            <a:ext cx="594360" cy="59436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40080" y="20574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1463040" y="192024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paradigma funcional</a:t>
            </a:r>
            <a:endParaRPr lang="en-US" sz="1900" dirty="0"/>
          </a:p>
        </p:txBody>
      </p:sp>
      <p:sp>
        <p:nvSpPr>
          <p:cNvPr id="9" name="Text 6"/>
          <p:cNvSpPr txBox="1"/>
          <p:nvPr/>
        </p:nvSpPr>
        <p:spPr>
          <a:xfrm>
            <a:off x="1463040" y="237744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Funções puras e imutabilidade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640080" y="3429000"/>
            <a:ext cx="594360" cy="59436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40080" y="34290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1463040" y="329184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map, filter e reduce</a:t>
            </a:r>
            <a:endParaRPr lang="en-US" sz="1900" dirty="0"/>
          </a:p>
        </p:txBody>
      </p:sp>
      <p:sp>
        <p:nvSpPr>
          <p:cNvPr id="13" name="Text 10"/>
          <p:cNvSpPr txBox="1"/>
          <p:nvPr/>
        </p:nvSpPr>
        <p:spPr>
          <a:xfrm>
            <a:off x="1463040" y="374904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Transformar listas sem laços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640080" y="4800600"/>
            <a:ext cx="594360" cy="59436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40080" y="48006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1463040" y="466344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Recursão</a:t>
            </a:r>
            <a:endParaRPr lang="en-US" sz="1900" dirty="0"/>
          </a:p>
        </p:txBody>
      </p:sp>
      <p:sp>
        <p:nvSpPr>
          <p:cNvPr id="17" name="Text 14"/>
          <p:cNvSpPr txBox="1"/>
          <p:nvPr/>
        </p:nvSpPr>
        <p:spPr>
          <a:xfrm>
            <a:off x="1463040" y="512064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Resolver problemas em termos de si mesmos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6217920" y="2057400"/>
            <a:ext cx="594360" cy="59436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217920" y="20574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7040880" y="192024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Expressões como dados</a:t>
            </a:r>
            <a:endParaRPr lang="en-US" sz="1900" dirty="0"/>
          </a:p>
        </p:txBody>
      </p:sp>
      <p:sp>
        <p:nvSpPr>
          <p:cNvPr id="21" name="Text 18"/>
          <p:cNvSpPr txBox="1"/>
          <p:nvPr/>
        </p:nvSpPr>
        <p:spPr>
          <a:xfrm>
            <a:off x="7040880" y="237744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Avaliar, simplificar e derivar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6217920" y="3429000"/>
            <a:ext cx="594360" cy="59436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217920" y="34290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4" name="Text 21"/>
          <p:cNvSpPr txBox="1"/>
          <p:nvPr/>
        </p:nvSpPr>
        <p:spPr>
          <a:xfrm>
            <a:off x="7040880" y="329184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SymPy</a:t>
            </a:r>
            <a:endParaRPr lang="en-US" sz="1900" dirty="0"/>
          </a:p>
        </p:txBody>
      </p:sp>
      <p:sp>
        <p:nvSpPr>
          <p:cNvPr id="25" name="Text 22"/>
          <p:cNvSpPr txBox="1"/>
          <p:nvPr/>
        </p:nvSpPr>
        <p:spPr>
          <a:xfrm>
            <a:off x="7040880" y="374904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Matemática simbólica pronta</a:t>
            </a:r>
            <a:endParaRPr lang="en-US" sz="1500" dirty="0"/>
          </a:p>
        </p:txBody>
      </p:sp>
      <p:sp>
        <p:nvSpPr>
          <p:cNvPr id="26" name="Shape 23"/>
          <p:cNvSpPr/>
          <p:nvPr/>
        </p:nvSpPr>
        <p:spPr>
          <a:xfrm>
            <a:off x="6217920" y="4800600"/>
            <a:ext cx="594360" cy="59436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217920" y="48006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800" dirty="0"/>
          </a:p>
        </p:txBody>
      </p:sp>
      <p:sp>
        <p:nvSpPr>
          <p:cNvPr id="28" name="Text 25"/>
          <p:cNvSpPr txBox="1"/>
          <p:nvPr/>
        </p:nvSpPr>
        <p:spPr>
          <a:xfrm>
            <a:off x="7040880" y="466344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Unificação</a:t>
            </a:r>
            <a:endParaRPr lang="en-US" sz="1900" dirty="0"/>
          </a:p>
        </p:txBody>
      </p:sp>
      <p:sp>
        <p:nvSpPr>
          <p:cNvPr id="29" name="Text 26"/>
          <p:cNvSpPr txBox="1"/>
          <p:nvPr/>
        </p:nvSpPr>
        <p:spPr>
          <a:xfrm>
            <a:off x="7040880" y="512064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Casar padrões com variáveis e consultar fatos</a:t>
            </a:r>
            <a:endParaRPr lang="en-US" sz="1500" dirty="0"/>
          </a:p>
        </p:txBody>
      </p:sp>
      <p:sp>
        <p:nvSpPr>
          <p:cNvPr id="30" name="Text 27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05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PROGRAMAÇÃO FUNCIONAL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Imperativo × funcional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10911535" cy="457200"/>
          </a:xfrm>
          <a:prstGeom prst="roundRect">
            <a:avLst>
              <a:gd name="adj" fmla="val 20000"/>
            </a:avLst>
          </a:prstGeom>
          <a:solidFill>
            <a:srgbClr val="0F2A1D"/>
          </a:solidFill>
          <a:ln w="12700">
            <a:solidFill>
              <a:srgbClr val="0F2A1D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3154680" y="1783080"/>
            <a:ext cx="3992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Imperativo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7421728" y="1783080"/>
            <a:ext cx="3992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40080" y="2313432"/>
            <a:ext cx="10911535" cy="658368"/>
          </a:xfrm>
          <a:prstGeom prst="roundRect">
            <a:avLst>
              <a:gd name="adj" fmla="val 11111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7240" y="2313432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Foco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3154680" y="2313432"/>
            <a:ext cx="39927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executar, passo a passo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7421728" y="2313432"/>
            <a:ext cx="39927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calcular, por transformações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640080" y="3026664"/>
            <a:ext cx="10911535" cy="658368"/>
          </a:xfrm>
          <a:prstGeom prst="roundRect">
            <a:avLst>
              <a:gd name="adj" fmla="val 11111"/>
            </a:avLst>
          </a:prstGeom>
          <a:solidFill>
            <a:srgbClr val="E6EEE9"/>
          </a:solidFill>
          <a:ln w="12700">
            <a:solidFill>
              <a:srgbClr val="E6EEE9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77240" y="3026664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3154680" y="3026664"/>
            <a:ext cx="39927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Variáveis que mudam ao longo do programa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7421728" y="3026664"/>
            <a:ext cx="39927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que não mudam: criam-se novos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640080" y="3739896"/>
            <a:ext cx="10911535" cy="658368"/>
          </a:xfrm>
          <a:prstGeom prst="roundRect">
            <a:avLst>
              <a:gd name="adj" fmla="val 11111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77240" y="3739896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Repetição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3154680" y="3739896"/>
            <a:ext cx="39927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Laços for e while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7421728" y="3739896"/>
            <a:ext cx="39927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Recursão e funções de ordem superior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640080" y="4453128"/>
            <a:ext cx="10911535" cy="658368"/>
          </a:xfrm>
          <a:prstGeom prst="roundRect">
            <a:avLst>
              <a:gd name="adj" fmla="val 11111"/>
            </a:avLst>
          </a:prstGeom>
          <a:solidFill>
            <a:srgbClr val="E6EEE9"/>
          </a:solidFill>
          <a:ln w="12700">
            <a:solidFill>
              <a:srgbClr val="E6EEE9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77240" y="4453128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Efeitos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3154680" y="4453128"/>
            <a:ext cx="39927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Comuns: alterar variáveis, imprimir, gravar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7421728" y="4453128"/>
            <a:ext cx="39927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Evitados: funções puras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640080" y="5349240"/>
            <a:ext cx="10911535" cy="822960"/>
          </a:xfrm>
          <a:prstGeom prst="roundRect">
            <a:avLst>
              <a:gd name="adj" fmla="val 13333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914400" y="5349240"/>
            <a:ext cx="103628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é multiparadigma: dá para misturar. Hoje exploramos o estilo funcional porque ele combina com símbolos, listas e árvores.</a:t>
            </a:r>
            <a:endParaRPr lang="en-US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05</a:t>
            </a:r>
            <a:endParaRPr lang="en-US" sz="1000" dirty="0"/>
          </a:p>
        </p:txBody>
      </p:sp>
      <p:sp>
        <p:nvSpPr>
          <p:cNvPr id="28" name="Text 25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PROGRAMAÇÃO FUNCIONAL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que o estilo funcional importa em IA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3493008" cy="3566160"/>
          </a:xfrm>
          <a:prstGeom prst="roundRect">
            <a:avLst>
              <a:gd name="adj" fmla="val 3141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68680" y="2011680"/>
            <a:ext cx="594360" cy="59436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270" y="2160270"/>
            <a:ext cx="297180" cy="29718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868680" y="278892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tradição da área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868680" y="3383280"/>
            <a:ext cx="306324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linguagem LISP, criada por John McCarthy em 1958, foi por décadas a preferida da IA simbólica, baseada em listas e funções.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4347972" y="1783080"/>
            <a:ext cx="3493008" cy="3566160"/>
          </a:xfrm>
          <a:prstGeom prst="roundRect">
            <a:avLst>
              <a:gd name="adj" fmla="val 3141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4576572" y="2011680"/>
            <a:ext cx="594360" cy="59436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5162" y="2160270"/>
            <a:ext cx="297180" cy="29718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4576572" y="278892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Símbolos e árvores</a:t>
            </a:r>
            <a:endParaRPr lang="en-US" sz="1800" dirty="0"/>
          </a:p>
        </p:txBody>
      </p:sp>
      <p:sp>
        <p:nvSpPr>
          <p:cNvPr id="15" name="Text 10"/>
          <p:cNvSpPr txBox="1"/>
          <p:nvPr/>
        </p:nvSpPr>
        <p:spPr>
          <a:xfrm>
            <a:off x="4576572" y="3383280"/>
            <a:ext cx="306324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Regras, expressões e conhecimento são listas e árvores aninhadas: funções recursivas as percorrem naturalmente.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8055864" y="1783080"/>
            <a:ext cx="3493008" cy="3566160"/>
          </a:xfrm>
          <a:prstGeom prst="roundRect">
            <a:avLst>
              <a:gd name="adj" fmla="val 3141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8284464" y="2011680"/>
            <a:ext cx="594360" cy="59436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33054" y="2160270"/>
            <a:ext cx="297180" cy="29718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8284464" y="278892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Código previsível</a:t>
            </a:r>
            <a:endParaRPr lang="en-US" sz="1800" dirty="0"/>
          </a:p>
        </p:txBody>
      </p:sp>
      <p:sp>
        <p:nvSpPr>
          <p:cNvPr id="20" name="Text 14"/>
          <p:cNvSpPr txBox="1"/>
          <p:nvPr/>
        </p:nvSpPr>
        <p:spPr>
          <a:xfrm>
            <a:off x="8284464" y="3383280"/>
            <a:ext cx="306324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efeitos colaterais, uma função é fácil de testar, de reaproveitar e de executar em paralelo.</a:t>
            </a:r>
            <a:endParaRPr lang="en-US" sz="1400" dirty="0"/>
          </a:p>
        </p:txBody>
      </p:sp>
      <p:sp>
        <p:nvSpPr>
          <p:cNvPr id="21" name="Shape 15"/>
          <p:cNvSpPr/>
          <p:nvPr/>
        </p:nvSpPr>
        <p:spPr>
          <a:xfrm>
            <a:off x="640080" y="5532120"/>
            <a:ext cx="10911535" cy="594360"/>
          </a:xfrm>
          <a:prstGeom prst="roundRect">
            <a:avLst>
              <a:gd name="adj" fmla="val 18462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22" name="Text 16"/>
          <p:cNvSpPr txBox="1"/>
          <p:nvPr/>
        </p:nvSpPr>
        <p:spPr>
          <a:xfrm>
            <a:off x="914400" y="5532120"/>
            <a:ext cx="103628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Hoje a IA usa muito aprendizado de máquina, mas as ideias simbólicas continuam vivas em consultas, regras e raciocínio.</a:t>
            </a:r>
            <a:endParaRPr lang="en-US" sz="1400" dirty="0"/>
          </a:p>
        </p:txBody>
      </p:sp>
      <p:sp>
        <p:nvSpPr>
          <p:cNvPr id="23" name="Text 17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05</a:t>
            </a:r>
            <a:endParaRPr lang="en-US" sz="1000" dirty="0"/>
          </a:p>
        </p:txBody>
      </p:sp>
      <p:sp>
        <p:nvSpPr>
          <p:cNvPr id="24" name="Text 18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PROGRAMAÇÃO FUNCIONAL · PRÁTICA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Funções puras × impuras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5852160" cy="3931920"/>
          </a:xfrm>
          <a:prstGeom prst="roundRect">
            <a:avLst>
              <a:gd name="adj" fmla="val 2791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41248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42416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43584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554480" y="1901952"/>
            <a:ext cx="4754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puras.py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2286000"/>
            <a:ext cx="530352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914400" y="2819400"/>
            <a:ext cx="530352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soma_impura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914400" y="3086100"/>
            <a:ext cx="530352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global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914400" y="3352800"/>
            <a:ext cx="530352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914400" y="3619500"/>
            <a:ext cx="530352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914400" y="4152900"/>
            <a:ext cx="530352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soma_pura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914400" y="4419600"/>
            <a:ext cx="530352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914400" y="4953000"/>
            <a:ext cx="530352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soma_impura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soma_impura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914400" y="5219700"/>
            <a:ext cx="530352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soma_pura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soma_pura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6702552" y="1783080"/>
            <a:ext cx="4846320" cy="1531620"/>
          </a:xfrm>
          <a:prstGeom prst="roundRect">
            <a:avLst>
              <a:gd name="adj" fmla="val 7164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903720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7104888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7306056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7616952" y="1901952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6976872" y="2286000"/>
            <a:ext cx="429768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PS&gt;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puras.py</a:t>
            </a:r>
            <a:endParaRPr lang="en-US" sz="1400" dirty="0"/>
          </a:p>
        </p:txBody>
      </p:sp>
      <p:sp>
        <p:nvSpPr>
          <p:cNvPr id="26" name="Text 23"/>
          <p:cNvSpPr txBox="1"/>
          <p:nvPr/>
        </p:nvSpPr>
        <p:spPr>
          <a:xfrm>
            <a:off x="6976872" y="2552700"/>
            <a:ext cx="429768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5D3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5 10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6976872" y="2819400"/>
            <a:ext cx="429768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5D3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10 10</a:t>
            </a:r>
            <a:endParaRPr lang="en-US" sz="1400" dirty="0"/>
          </a:p>
        </p:txBody>
      </p:sp>
      <p:sp>
        <p:nvSpPr>
          <p:cNvPr id="28" name="Shape 25"/>
          <p:cNvSpPr/>
          <p:nvPr/>
        </p:nvSpPr>
        <p:spPr>
          <a:xfrm>
            <a:off x="6702552" y="3383280"/>
            <a:ext cx="4846320" cy="1234440"/>
          </a:xfrm>
          <a:prstGeom prst="roundRect">
            <a:avLst>
              <a:gd name="adj" fmla="val 8889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949440" y="345643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6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Pura</a:t>
            </a:r>
            <a:endParaRPr lang="en-US" sz="1600" dirty="0"/>
          </a:p>
        </p:txBody>
      </p:sp>
      <p:sp>
        <p:nvSpPr>
          <p:cNvPr id="30" name="Text 27"/>
          <p:cNvSpPr txBox="1"/>
          <p:nvPr/>
        </p:nvSpPr>
        <p:spPr>
          <a:xfrm>
            <a:off x="6949440" y="384048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Mesma entrada, mesma saída. Não altera nada fora de si.</a:t>
            </a:r>
            <a:endParaRPr lang="en-US" sz="1400" dirty="0"/>
          </a:p>
        </p:txBody>
      </p:sp>
      <p:sp>
        <p:nvSpPr>
          <p:cNvPr id="31" name="Shape 28"/>
          <p:cNvSpPr/>
          <p:nvPr/>
        </p:nvSpPr>
        <p:spPr>
          <a:xfrm>
            <a:off x="6702552" y="4754880"/>
            <a:ext cx="4846320" cy="1234440"/>
          </a:xfrm>
          <a:prstGeom prst="roundRect">
            <a:avLst>
              <a:gd name="adj" fmla="val 8889"/>
            </a:avLst>
          </a:prstGeom>
          <a:solidFill>
            <a:srgbClr val="FBE3EC"/>
          </a:solidFill>
          <a:ln w="12700">
            <a:solidFill>
              <a:srgbClr val="FBE3EC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6949440" y="482803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315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Impura</a:t>
            </a:r>
            <a:endParaRPr lang="en-US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6949440" y="521208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Lê ou muda estado externo: o resultado depende de quando é chamada.</a:t>
            </a:r>
            <a:endParaRPr lang="en-US" sz="1400" dirty="0"/>
          </a:p>
        </p:txBody>
      </p:sp>
      <p:sp>
        <p:nvSpPr>
          <p:cNvPr id="34" name="Text 31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05</a:t>
            </a:r>
            <a:endParaRPr lang="en-US" sz="1000" dirty="0"/>
          </a:p>
        </p:txBody>
      </p:sp>
      <p:sp>
        <p:nvSpPr>
          <p:cNvPr id="35" name="Text 32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PROGRAMAÇÃO FUNCIONAL · PRÁTICA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Funções são valores como quaisquer outros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6309360" cy="4198620"/>
          </a:xfrm>
          <a:prstGeom prst="roundRect">
            <a:avLst>
              <a:gd name="adj" fmla="val 2613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41248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42416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43584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554480" y="1901952"/>
            <a:ext cx="5212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funcoes_valor.py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2286000"/>
            <a:ext cx="576072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dobro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914400" y="2552700"/>
            <a:ext cx="576072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914400" y="3086100"/>
            <a:ext cx="576072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aplicar_duas_vezes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914400" y="3352800"/>
            <a:ext cx="576072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914400" y="3886200"/>
            <a:ext cx="576072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criar_multiplicador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914400" y="4152900"/>
            <a:ext cx="576072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lambda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914400" y="4686300"/>
            <a:ext cx="576072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triplo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criar_multiplicador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914400" y="4953000"/>
            <a:ext cx="576072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aplicar_duas_vezes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dobro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914400" y="5219700"/>
            <a:ext cx="576072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triplo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914400" y="5486400"/>
            <a:ext cx="576072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aplicar_duas_vezes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triplo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7159752" y="1783080"/>
            <a:ext cx="4389120" cy="1798320"/>
          </a:xfrm>
          <a:prstGeom prst="roundRect">
            <a:avLst>
              <a:gd name="adj" fmla="val 6102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7360920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7562088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7763256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8074152" y="1901952"/>
            <a:ext cx="3291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</a:t>
            </a:r>
            <a:endParaRPr lang="en-US" sz="1100" dirty="0"/>
          </a:p>
        </p:txBody>
      </p:sp>
      <p:sp>
        <p:nvSpPr>
          <p:cNvPr id="26" name="Text 23"/>
          <p:cNvSpPr txBox="1"/>
          <p:nvPr/>
        </p:nvSpPr>
        <p:spPr>
          <a:xfrm>
            <a:off x="7434072" y="2286000"/>
            <a:ext cx="384048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PS&gt;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funcoes_valor.py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7434072" y="2552700"/>
            <a:ext cx="384048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5D3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endParaRPr lang="en-US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7434072" y="2819400"/>
            <a:ext cx="384048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5D3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</a:t>
            </a:r>
            <a:endParaRPr lang="en-US" sz="1400" dirty="0"/>
          </a:p>
        </p:txBody>
      </p:sp>
      <p:sp>
        <p:nvSpPr>
          <p:cNvPr id="29" name="Text 26"/>
          <p:cNvSpPr txBox="1"/>
          <p:nvPr/>
        </p:nvSpPr>
        <p:spPr>
          <a:xfrm>
            <a:off x="7434072" y="3086100"/>
            <a:ext cx="384048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5D3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</a:t>
            </a:r>
            <a:endParaRPr lang="en-US" sz="1400" dirty="0"/>
          </a:p>
        </p:txBody>
      </p:sp>
      <p:sp>
        <p:nvSpPr>
          <p:cNvPr id="30" name="Shape 27"/>
          <p:cNvSpPr/>
          <p:nvPr/>
        </p:nvSpPr>
        <p:spPr>
          <a:xfrm>
            <a:off x="7159752" y="4069080"/>
            <a:ext cx="4389120" cy="2057400"/>
          </a:xfrm>
          <a:prstGeom prst="roundRect">
            <a:avLst>
              <a:gd name="adj" fmla="val 5333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7406640" y="41605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Três coisas que funções podem ser</a:t>
            </a:r>
            <a:endParaRPr lang="en-US" sz="1600" dirty="0"/>
          </a:p>
        </p:txBody>
      </p:sp>
      <p:sp>
        <p:nvSpPr>
          <p:cNvPr id="32" name="Text 29"/>
          <p:cNvSpPr txBox="1"/>
          <p:nvPr/>
        </p:nvSpPr>
        <p:spPr>
          <a:xfrm>
            <a:off x="7406640" y="4572000"/>
            <a:ext cx="3931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Passadas como argumento (aplicar_duas_vezes).</a:t>
            </a:r>
            <a:endParaRPr lang="en-US" sz="14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Devolvidas por outras funções (criar_multiplicador).</a:t>
            </a:r>
            <a:endParaRPr lang="en-US" sz="14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Guardadas em variáveis (triplo).</a:t>
            </a:r>
            <a:endParaRPr lang="en-US" sz="1400" dirty="0"/>
          </a:p>
        </p:txBody>
      </p:sp>
      <p:sp>
        <p:nvSpPr>
          <p:cNvPr id="33" name="Text 30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05</a:t>
            </a:r>
            <a:endParaRPr lang="en-US" sz="1000" dirty="0"/>
          </a:p>
        </p:txBody>
      </p:sp>
      <p:sp>
        <p:nvSpPr>
          <p:cNvPr id="34" name="Text 31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PROGRAMAÇÃO FUNCIONAL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lambda: funções pequenas sem nome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10911535" cy="1097280"/>
          </a:xfrm>
          <a:prstGeom prst="roundRect">
            <a:avLst>
              <a:gd name="adj" fmla="val 10000"/>
            </a:avLst>
          </a:prstGeom>
          <a:solidFill>
            <a:srgbClr val="0F2A1D"/>
          </a:solidFill>
          <a:ln w="12700">
            <a:solidFill>
              <a:srgbClr val="0F2A1D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14400" y="1783080"/>
            <a:ext cx="1036289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lambda  argumentos :  expressão</a:t>
            </a:r>
            <a:endParaRPr lang="en-US" sz="2600" dirty="0"/>
          </a:p>
        </p:txBody>
      </p:sp>
      <p:sp>
        <p:nvSpPr>
          <p:cNvPr id="8" name="Shape 5"/>
          <p:cNvSpPr/>
          <p:nvPr/>
        </p:nvSpPr>
        <p:spPr>
          <a:xfrm>
            <a:off x="640080" y="3108960"/>
            <a:ext cx="6858000" cy="1531620"/>
          </a:xfrm>
          <a:prstGeom prst="roundRect">
            <a:avLst>
              <a:gd name="adj" fmla="val 7164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41248" y="329184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42416" y="329184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243584" y="329184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554480" y="3227832"/>
            <a:ext cx="5760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lambda_sorted.py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914400" y="3611880"/>
            <a:ext cx="630936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alunos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"Ana"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8.5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"Bruno"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6.0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"Carla"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9.2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914400" y="3878580"/>
            <a:ext cx="630936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por_nota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sorted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alunos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lambda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reverse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914400" y="4145280"/>
            <a:ext cx="630936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por_nota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640080" y="4754880"/>
            <a:ext cx="6858000" cy="998220"/>
          </a:xfrm>
          <a:prstGeom prst="roundRect">
            <a:avLst>
              <a:gd name="adj" fmla="val 10992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41248" y="49377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042416" y="49377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1243584" y="49377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1554480" y="4873752"/>
            <a:ext cx="5760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Resultado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914400" y="5257800"/>
            <a:ext cx="630936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[('Carla', 9.2), ('Ana', 8.5), ('Bruno', 6.0)]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7708392" y="3108960"/>
            <a:ext cx="3840480" cy="3017520"/>
          </a:xfrm>
          <a:prstGeom prst="roundRect">
            <a:avLst>
              <a:gd name="adj" fmla="val 3636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7955280" y="32004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Quando usar</a:t>
            </a:r>
            <a:endParaRPr lang="en-US" sz="1600" dirty="0"/>
          </a:p>
        </p:txBody>
      </p:sp>
      <p:sp>
        <p:nvSpPr>
          <p:cNvPr id="24" name="Text 21"/>
          <p:cNvSpPr txBox="1"/>
          <p:nvPr/>
        </p:nvSpPr>
        <p:spPr>
          <a:xfrm>
            <a:off x="7955280" y="3657600"/>
            <a:ext cx="33832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regras curtas passadas a outras funções (key, map, filter).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única expressão: sem blocos nem return.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ficar longa, use def e um nome claro.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05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· FILTER · REDUCE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map: aplicar uma função a cada elemento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914400" y="1828800"/>
            <a:ext cx="2377440" cy="822960"/>
          </a:xfrm>
          <a:prstGeom prst="roundRect">
            <a:avLst>
              <a:gd name="adj" fmla="val 11111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14400" y="182880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[1, 2, 3, 4]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337560" y="2240280"/>
            <a:ext cx="731520" cy="0"/>
          </a:xfrm>
          <a:prstGeom prst="line">
            <a:avLst/>
          </a:prstGeom>
          <a:noFill/>
          <a:ln w="31750">
            <a:solidFill>
              <a:srgbClr val="55645B"/>
            </a:solidFill>
            <a:prstDash val="solid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4114800" y="1828800"/>
            <a:ext cx="2194560" cy="822960"/>
          </a:xfrm>
          <a:prstGeom prst="roundRect">
            <a:avLst>
              <a:gd name="adj" fmla="val 11111"/>
            </a:avLst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114800" y="182880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→ x²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355080" y="2240280"/>
            <a:ext cx="731520" cy="0"/>
          </a:xfrm>
          <a:prstGeom prst="line">
            <a:avLst/>
          </a:prstGeom>
          <a:noFill/>
          <a:ln w="31750">
            <a:solidFill>
              <a:srgbClr val="55645B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7132320" y="1828800"/>
            <a:ext cx="2377440" cy="822960"/>
          </a:xfrm>
          <a:prstGeom prst="roundRect">
            <a:avLst>
              <a:gd name="adj" fmla="val 11111"/>
            </a:avLst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132320" y="182880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[1, 4, 9, 16]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640080" y="3200400"/>
            <a:ext cx="6858000" cy="1798320"/>
          </a:xfrm>
          <a:prstGeom prst="roundRect">
            <a:avLst>
              <a:gd name="adj" fmla="val 6102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41248" y="338328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1042416" y="338328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1243584" y="338328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1554480" y="3319272"/>
            <a:ext cx="5760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mfr.py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914400" y="3703320"/>
            <a:ext cx="630936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914400" y="3970020"/>
            <a:ext cx="630936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quadrados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map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lambda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914400" y="4236720"/>
            <a:ext cx="630936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quadrados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914400" y="4503420"/>
            <a:ext cx="630936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A6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[1, 4, 9, 16, 25, 36]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7708392" y="3200400"/>
            <a:ext cx="3840480" cy="2926080"/>
          </a:xfrm>
          <a:prstGeom prst="roundRect">
            <a:avLst>
              <a:gd name="adj" fmla="val 3750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7936992" y="3429000"/>
            <a:ext cx="548640" cy="548640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4152" y="3566160"/>
            <a:ext cx="274320" cy="274320"/>
          </a:xfrm>
          <a:prstGeom prst="rect">
            <a:avLst/>
          </a:prstGeom>
        </p:spPr>
      </p:pic>
      <p:sp>
        <p:nvSpPr>
          <p:cNvPr id="26" name="Text 22"/>
          <p:cNvSpPr txBox="1"/>
          <p:nvPr/>
        </p:nvSpPr>
        <p:spPr>
          <a:xfrm>
            <a:off x="8668512" y="342900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 para um</a:t>
            </a:r>
            <a:endParaRPr lang="en-US" sz="1700" dirty="0"/>
          </a:p>
        </p:txBody>
      </p:sp>
      <p:sp>
        <p:nvSpPr>
          <p:cNvPr id="27" name="Text 23"/>
          <p:cNvSpPr txBox="1"/>
          <p:nvPr/>
        </p:nvSpPr>
        <p:spPr>
          <a:xfrm>
            <a:off x="7936992" y="4114800"/>
            <a:ext cx="338328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saída tem o mesmo tamanho da entrada. map devolve um iterador: list(...) materializa o resultado.</a:t>
            </a:r>
            <a:endParaRPr lang="en-US" sz="1400" dirty="0"/>
          </a:p>
        </p:txBody>
      </p:sp>
      <p:sp>
        <p:nvSpPr>
          <p:cNvPr id="28" name="Text 24"/>
          <p:cNvSpPr txBox="1"/>
          <p:nvPr/>
        </p:nvSpPr>
        <p:spPr>
          <a:xfrm>
            <a:off x="640080" y="498348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laço for, sem lista auxiliar, sem alterar nums.</a:t>
            </a:r>
            <a:endParaRPr lang="en-US" sz="1400" dirty="0"/>
          </a:p>
        </p:txBody>
      </p:sp>
      <p:sp>
        <p:nvSpPr>
          <p:cNvPr id="29" name="Text 25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05</a:t>
            </a:r>
            <a:endParaRPr lang="en-US" sz="1000" dirty="0"/>
          </a:p>
        </p:txBody>
      </p:sp>
      <p:sp>
        <p:nvSpPr>
          <p:cNvPr id="30" name="Text 26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· FILTER · REDUCE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filter: manter só quem passa no teste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914400" y="1828800"/>
            <a:ext cx="2377440" cy="822960"/>
          </a:xfrm>
          <a:prstGeom prst="roundRect">
            <a:avLst>
              <a:gd name="adj" fmla="val 11111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14400" y="182880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[1, 2, 3, 4, 5, 6]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337560" y="2240280"/>
            <a:ext cx="731520" cy="0"/>
          </a:xfrm>
          <a:prstGeom prst="line">
            <a:avLst/>
          </a:prstGeom>
          <a:noFill/>
          <a:ln w="31750">
            <a:solidFill>
              <a:srgbClr val="55645B"/>
            </a:solidFill>
            <a:prstDash val="solid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4114800" y="1828800"/>
            <a:ext cx="2194560" cy="822960"/>
          </a:xfrm>
          <a:prstGeom prst="roundRect">
            <a:avLst>
              <a:gd name="adj" fmla="val 11111"/>
            </a:avLst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114800" y="182880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% 2 == 0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355080" y="2240280"/>
            <a:ext cx="731520" cy="0"/>
          </a:xfrm>
          <a:prstGeom prst="line">
            <a:avLst/>
          </a:prstGeom>
          <a:noFill/>
          <a:ln w="31750">
            <a:solidFill>
              <a:srgbClr val="55645B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7132320" y="1828800"/>
            <a:ext cx="2377440" cy="822960"/>
          </a:xfrm>
          <a:prstGeom prst="roundRect">
            <a:avLst>
              <a:gd name="adj" fmla="val 11111"/>
            </a:avLst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132320" y="182880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[2, 4, 6]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640080" y="3200400"/>
            <a:ext cx="6858000" cy="1531620"/>
          </a:xfrm>
          <a:prstGeom prst="roundRect">
            <a:avLst>
              <a:gd name="adj" fmla="val 7164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41248" y="338328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1042416" y="338328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1243584" y="338328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1554480" y="3319272"/>
            <a:ext cx="5760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mfr.py (continuação)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914400" y="3703320"/>
            <a:ext cx="630936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pares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filter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lambda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914400" y="3970020"/>
            <a:ext cx="630936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pares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914400" y="4236720"/>
            <a:ext cx="630936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A6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[2, 4, 6]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7708392" y="3200400"/>
            <a:ext cx="3840480" cy="2926080"/>
          </a:xfrm>
          <a:prstGeom prst="roundRect">
            <a:avLst>
              <a:gd name="adj" fmla="val 3750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7936992" y="3429000"/>
            <a:ext cx="548640" cy="548640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4152" y="3566160"/>
            <a:ext cx="274320" cy="274320"/>
          </a:xfrm>
          <a:prstGeom prst="rect">
            <a:avLst/>
          </a:prstGeom>
        </p:spPr>
      </p:pic>
      <p:sp>
        <p:nvSpPr>
          <p:cNvPr id="25" name="Text 21"/>
          <p:cNvSpPr txBox="1"/>
          <p:nvPr/>
        </p:nvSpPr>
        <p:spPr>
          <a:xfrm>
            <a:off x="8668512" y="342900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Muitos para poucos</a:t>
            </a:r>
            <a:endParaRPr lang="en-US" sz="1700" dirty="0"/>
          </a:p>
        </p:txBody>
      </p:sp>
      <p:sp>
        <p:nvSpPr>
          <p:cNvPr id="26" name="Text 22"/>
          <p:cNvSpPr txBox="1"/>
          <p:nvPr/>
        </p:nvSpPr>
        <p:spPr>
          <a:xfrm>
            <a:off x="7936992" y="4114800"/>
            <a:ext cx="338328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função devolve verdadeiro ou falso (um predicado). Só os elementos verdadeiros seguem. A saída pode ser menor.</a:t>
            </a:r>
            <a:endParaRPr lang="en-US" sz="1400" dirty="0"/>
          </a:p>
        </p:txBody>
      </p:sp>
      <p:sp>
        <p:nvSpPr>
          <p:cNvPr id="27" name="Text 23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05</a:t>
            </a:r>
            <a:endParaRPr lang="en-US" sz="1000" dirty="0"/>
          </a:p>
        </p:txBody>
      </p:sp>
      <p:sp>
        <p:nvSpPr>
          <p:cNvPr id="28" name="Text 24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· FILTER · REDUCE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reduce: dobrar a lista em um único valor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5852160" cy="2331720"/>
          </a:xfrm>
          <a:prstGeom prst="roundRect">
            <a:avLst>
              <a:gd name="adj" fmla="val 4706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41248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42416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43584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554480" y="1901952"/>
            <a:ext cx="4754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mfr.py (continuação)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2286000"/>
            <a:ext cx="530352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functools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reduce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914400" y="2819400"/>
            <a:ext cx="530352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914400" y="3086100"/>
            <a:ext cx="530352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soma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reduce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lambda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914400" y="3352800"/>
            <a:ext cx="530352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soma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914400" y="3619500"/>
            <a:ext cx="530352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A6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21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6702552" y="1783080"/>
            <a:ext cx="4846320" cy="457200"/>
          </a:xfrm>
          <a:prstGeom prst="roundRect">
            <a:avLst>
              <a:gd name="adj" fmla="val 20000"/>
            </a:avLst>
          </a:prstGeom>
          <a:solidFill>
            <a:srgbClr val="0F2A1D"/>
          </a:solidFill>
          <a:ln w="12700">
            <a:solidFill>
              <a:srgbClr val="0F2A1D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812280" y="178308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7726680" y="178308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9006840" y="178308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10287000" y="178308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novo acc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6702552" y="2313432"/>
            <a:ext cx="4846320" cy="402336"/>
          </a:xfrm>
          <a:prstGeom prst="roundRect">
            <a:avLst>
              <a:gd name="adj" fmla="val 18182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812280" y="2313432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7726680" y="2313432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9006840" y="2313432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300" dirty="0"/>
          </a:p>
        </p:txBody>
      </p:sp>
      <p:sp>
        <p:nvSpPr>
          <p:cNvPr id="25" name="Text 22"/>
          <p:cNvSpPr txBox="1"/>
          <p:nvPr/>
        </p:nvSpPr>
        <p:spPr>
          <a:xfrm>
            <a:off x="10287000" y="2313432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6702552" y="2770632"/>
            <a:ext cx="4846320" cy="402336"/>
          </a:xfrm>
          <a:prstGeom prst="roundRect">
            <a:avLst>
              <a:gd name="adj" fmla="val 18182"/>
            </a:avLst>
          </a:prstGeom>
          <a:solidFill>
            <a:srgbClr val="E6EEE9"/>
          </a:solidFill>
          <a:ln w="12700">
            <a:solidFill>
              <a:srgbClr val="E6EEE9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812280" y="2770632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300" dirty="0"/>
          </a:p>
        </p:txBody>
      </p:sp>
      <p:sp>
        <p:nvSpPr>
          <p:cNvPr id="28" name="Text 25"/>
          <p:cNvSpPr txBox="1"/>
          <p:nvPr/>
        </p:nvSpPr>
        <p:spPr>
          <a:xfrm>
            <a:off x="7726680" y="2770632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9006840" y="2770632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300" dirty="0"/>
          </a:p>
        </p:txBody>
      </p:sp>
      <p:sp>
        <p:nvSpPr>
          <p:cNvPr id="30" name="Text 27"/>
          <p:cNvSpPr txBox="1"/>
          <p:nvPr/>
        </p:nvSpPr>
        <p:spPr>
          <a:xfrm>
            <a:off x="10287000" y="2770632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300" dirty="0"/>
          </a:p>
        </p:txBody>
      </p:sp>
      <p:sp>
        <p:nvSpPr>
          <p:cNvPr id="31" name="Shape 28"/>
          <p:cNvSpPr/>
          <p:nvPr/>
        </p:nvSpPr>
        <p:spPr>
          <a:xfrm>
            <a:off x="6702552" y="3227832"/>
            <a:ext cx="4846320" cy="402336"/>
          </a:xfrm>
          <a:prstGeom prst="roundRect">
            <a:avLst>
              <a:gd name="adj" fmla="val 18182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6812280" y="3227832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300" dirty="0"/>
          </a:p>
        </p:txBody>
      </p:sp>
      <p:sp>
        <p:nvSpPr>
          <p:cNvPr id="33" name="Text 30"/>
          <p:cNvSpPr txBox="1"/>
          <p:nvPr/>
        </p:nvSpPr>
        <p:spPr>
          <a:xfrm>
            <a:off x="7726680" y="3227832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300" dirty="0"/>
          </a:p>
        </p:txBody>
      </p:sp>
      <p:sp>
        <p:nvSpPr>
          <p:cNvPr id="34" name="Text 31"/>
          <p:cNvSpPr txBox="1"/>
          <p:nvPr/>
        </p:nvSpPr>
        <p:spPr>
          <a:xfrm>
            <a:off x="9006840" y="3227832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300" dirty="0"/>
          </a:p>
        </p:txBody>
      </p:sp>
      <p:sp>
        <p:nvSpPr>
          <p:cNvPr id="35" name="Text 32"/>
          <p:cNvSpPr txBox="1"/>
          <p:nvPr/>
        </p:nvSpPr>
        <p:spPr>
          <a:xfrm>
            <a:off x="10287000" y="3227832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300" dirty="0"/>
          </a:p>
        </p:txBody>
      </p:sp>
      <p:sp>
        <p:nvSpPr>
          <p:cNvPr id="36" name="Shape 33"/>
          <p:cNvSpPr/>
          <p:nvPr/>
        </p:nvSpPr>
        <p:spPr>
          <a:xfrm>
            <a:off x="6702552" y="3685032"/>
            <a:ext cx="4846320" cy="402336"/>
          </a:xfrm>
          <a:prstGeom prst="roundRect">
            <a:avLst>
              <a:gd name="adj" fmla="val 18182"/>
            </a:avLst>
          </a:prstGeom>
          <a:solidFill>
            <a:srgbClr val="E6EEE9"/>
          </a:solidFill>
          <a:ln w="12700">
            <a:solidFill>
              <a:srgbClr val="E6EEE9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6812280" y="3685032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300" dirty="0"/>
          </a:p>
        </p:txBody>
      </p:sp>
      <p:sp>
        <p:nvSpPr>
          <p:cNvPr id="38" name="Text 35"/>
          <p:cNvSpPr txBox="1"/>
          <p:nvPr/>
        </p:nvSpPr>
        <p:spPr>
          <a:xfrm>
            <a:off x="7726680" y="3685032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300" dirty="0"/>
          </a:p>
        </p:txBody>
      </p:sp>
      <p:sp>
        <p:nvSpPr>
          <p:cNvPr id="39" name="Text 36"/>
          <p:cNvSpPr txBox="1"/>
          <p:nvPr/>
        </p:nvSpPr>
        <p:spPr>
          <a:xfrm>
            <a:off x="9006840" y="3685032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300" dirty="0"/>
          </a:p>
        </p:txBody>
      </p:sp>
      <p:sp>
        <p:nvSpPr>
          <p:cNvPr id="40" name="Text 37"/>
          <p:cNvSpPr txBox="1"/>
          <p:nvPr/>
        </p:nvSpPr>
        <p:spPr>
          <a:xfrm>
            <a:off x="10287000" y="3685032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300" dirty="0"/>
          </a:p>
        </p:txBody>
      </p:sp>
      <p:sp>
        <p:nvSpPr>
          <p:cNvPr id="41" name="Shape 38"/>
          <p:cNvSpPr/>
          <p:nvPr/>
        </p:nvSpPr>
        <p:spPr>
          <a:xfrm>
            <a:off x="6702552" y="4142232"/>
            <a:ext cx="4846320" cy="402336"/>
          </a:xfrm>
          <a:prstGeom prst="roundRect">
            <a:avLst>
              <a:gd name="adj" fmla="val 18182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6812280" y="4142232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300" dirty="0"/>
          </a:p>
        </p:txBody>
      </p:sp>
      <p:sp>
        <p:nvSpPr>
          <p:cNvPr id="43" name="Text 40"/>
          <p:cNvSpPr txBox="1"/>
          <p:nvPr/>
        </p:nvSpPr>
        <p:spPr>
          <a:xfrm>
            <a:off x="7726680" y="4142232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300" dirty="0"/>
          </a:p>
        </p:txBody>
      </p:sp>
      <p:sp>
        <p:nvSpPr>
          <p:cNvPr id="44" name="Text 41"/>
          <p:cNvSpPr txBox="1"/>
          <p:nvPr/>
        </p:nvSpPr>
        <p:spPr>
          <a:xfrm>
            <a:off x="9006840" y="4142232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300" dirty="0"/>
          </a:p>
        </p:txBody>
      </p:sp>
      <p:sp>
        <p:nvSpPr>
          <p:cNvPr id="45" name="Text 42"/>
          <p:cNvSpPr txBox="1"/>
          <p:nvPr/>
        </p:nvSpPr>
        <p:spPr>
          <a:xfrm>
            <a:off x="10287000" y="4142232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1300" dirty="0"/>
          </a:p>
        </p:txBody>
      </p:sp>
      <p:sp>
        <p:nvSpPr>
          <p:cNvPr id="46" name="Shape 43"/>
          <p:cNvSpPr/>
          <p:nvPr/>
        </p:nvSpPr>
        <p:spPr>
          <a:xfrm>
            <a:off x="6702552" y="4599432"/>
            <a:ext cx="4846320" cy="402336"/>
          </a:xfrm>
          <a:prstGeom prst="roundRect">
            <a:avLst>
              <a:gd name="adj" fmla="val 18182"/>
            </a:avLst>
          </a:prstGeom>
          <a:solidFill>
            <a:srgbClr val="E6EEE9"/>
          </a:solidFill>
          <a:ln w="12700">
            <a:solidFill>
              <a:srgbClr val="E6EEE9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6812280" y="4599432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300" dirty="0"/>
          </a:p>
        </p:txBody>
      </p:sp>
      <p:sp>
        <p:nvSpPr>
          <p:cNvPr id="48" name="Text 45"/>
          <p:cNvSpPr txBox="1"/>
          <p:nvPr/>
        </p:nvSpPr>
        <p:spPr>
          <a:xfrm>
            <a:off x="7726680" y="4599432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1300" dirty="0"/>
          </a:p>
        </p:txBody>
      </p:sp>
      <p:sp>
        <p:nvSpPr>
          <p:cNvPr id="49" name="Text 46"/>
          <p:cNvSpPr txBox="1"/>
          <p:nvPr/>
        </p:nvSpPr>
        <p:spPr>
          <a:xfrm>
            <a:off x="9006840" y="4599432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300" dirty="0"/>
          </a:p>
        </p:txBody>
      </p:sp>
      <p:sp>
        <p:nvSpPr>
          <p:cNvPr id="50" name="Text 47"/>
          <p:cNvSpPr txBox="1"/>
          <p:nvPr/>
        </p:nvSpPr>
        <p:spPr>
          <a:xfrm>
            <a:off x="10287000" y="4599432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</a:t>
            </a:r>
            <a:endParaRPr lang="en-US" sz="1300" dirty="0"/>
          </a:p>
        </p:txBody>
      </p:sp>
      <p:sp>
        <p:nvSpPr>
          <p:cNvPr id="51" name="Shape 48"/>
          <p:cNvSpPr/>
          <p:nvPr/>
        </p:nvSpPr>
        <p:spPr>
          <a:xfrm>
            <a:off x="640080" y="4343400"/>
            <a:ext cx="5852160" cy="1783080"/>
          </a:xfrm>
          <a:prstGeom prst="roundRect">
            <a:avLst>
              <a:gd name="adj" fmla="val 6154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914400" y="4407408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acumulador</a:t>
            </a:r>
            <a:endParaRPr lang="en-US" sz="1600" dirty="0"/>
          </a:p>
        </p:txBody>
      </p:sp>
      <p:sp>
        <p:nvSpPr>
          <p:cNvPr id="53" name="Text 50"/>
          <p:cNvSpPr txBox="1"/>
          <p:nvPr/>
        </p:nvSpPr>
        <p:spPr>
          <a:xfrm>
            <a:off x="914400" y="4800600"/>
            <a:ext cx="5303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 começa em 0 (o terceiro argumento). A cada passo, a função combina acc com o próximo elemento. Com outra função, reduce acha o máximo, concatena textos, e assim por diante.</a:t>
            </a:r>
            <a:endParaRPr lang="en-US" sz="1300" dirty="0"/>
          </a:p>
        </p:txBody>
      </p:sp>
      <p:sp>
        <p:nvSpPr>
          <p:cNvPr id="54" name="Text 51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05</a:t>
            </a:r>
            <a:endParaRPr lang="en-US" sz="1000" dirty="0"/>
          </a:p>
        </p:txBody>
      </p:sp>
      <p:sp>
        <p:nvSpPr>
          <p:cNvPr id="55" name="Text 52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· FILTER · REDUCE · PRÁTICA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três juntos, e a alternativa com compreensões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6766560" cy="3398520"/>
          </a:xfrm>
          <a:prstGeom prst="roundRect">
            <a:avLst>
              <a:gd name="adj" fmla="val 3229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41248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42416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43584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554480" y="1901952"/>
            <a:ext cx="5669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mfr.py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2286000"/>
            <a:ext cx="621792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functools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reduce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914400" y="2819400"/>
            <a:ext cx="621792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914400" y="3086100"/>
            <a:ext cx="621792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quadrados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map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lambda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914400" y="3352800"/>
            <a:ext cx="621792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pares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filter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lambda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914400" y="3619500"/>
            <a:ext cx="621792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soma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reduce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lambda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914400" y="3886200"/>
            <a:ext cx="621792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quadrados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914400" y="4152900"/>
            <a:ext cx="621792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pares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914400" y="4419600"/>
            <a:ext cx="621792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soma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914400" y="4686300"/>
            <a:ext cx="621792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quadrados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7616952" y="1783080"/>
            <a:ext cx="3931920" cy="2065020"/>
          </a:xfrm>
          <a:prstGeom prst="roundRect">
            <a:avLst>
              <a:gd name="adj" fmla="val 5314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818120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8019288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8220456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531352" y="1901952"/>
            <a:ext cx="2834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7891272" y="2286000"/>
            <a:ext cx="338328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PS&gt;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mfr.py</a:t>
            </a:r>
            <a:endParaRPr lang="en-US" sz="1400" dirty="0"/>
          </a:p>
        </p:txBody>
      </p:sp>
      <p:sp>
        <p:nvSpPr>
          <p:cNvPr id="26" name="Text 23"/>
          <p:cNvSpPr txBox="1"/>
          <p:nvPr/>
        </p:nvSpPr>
        <p:spPr>
          <a:xfrm>
            <a:off x="7891272" y="2552700"/>
            <a:ext cx="338328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5D3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[1, 4, 9, 16, 25, 36]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7891272" y="2819400"/>
            <a:ext cx="338328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5D3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[2, 4, 6]</a:t>
            </a:r>
            <a:endParaRPr lang="en-US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7891272" y="3086100"/>
            <a:ext cx="338328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5D3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</a:t>
            </a:r>
            <a:endParaRPr lang="en-US" sz="1400" dirty="0"/>
          </a:p>
        </p:txBody>
      </p:sp>
      <p:sp>
        <p:nvSpPr>
          <p:cNvPr id="29" name="Text 26"/>
          <p:cNvSpPr txBox="1"/>
          <p:nvPr/>
        </p:nvSpPr>
        <p:spPr>
          <a:xfrm>
            <a:off x="7891272" y="3352800"/>
            <a:ext cx="338328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5D3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endParaRPr lang="en-US" sz="1400" dirty="0"/>
          </a:p>
        </p:txBody>
      </p:sp>
      <p:sp>
        <p:nvSpPr>
          <p:cNvPr id="30" name="Shape 27"/>
          <p:cNvSpPr/>
          <p:nvPr/>
        </p:nvSpPr>
        <p:spPr>
          <a:xfrm>
            <a:off x="7616952" y="4069080"/>
            <a:ext cx="3931920" cy="2057400"/>
          </a:xfrm>
          <a:prstGeom prst="roundRect">
            <a:avLst>
              <a:gd name="adj" fmla="val 5333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7818120" y="4069080"/>
            <a:ext cx="356616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Python, as compreensões ([x**2 for x in nums]) costumam ser mais legíveis que map e filter com lambda. Use a que deixar a intenção mais clara.</a:t>
            </a:r>
            <a:endParaRPr lang="en-US" sz="1400" dirty="0"/>
          </a:p>
        </p:txBody>
      </p:sp>
      <p:sp>
        <p:nvSpPr>
          <p:cNvPr id="32" name="Text 29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05</a:t>
            </a:r>
            <a:endParaRPr lang="en-US" sz="1000" dirty="0"/>
          </a:p>
        </p:txBody>
      </p:sp>
      <p:sp>
        <p:nvSpPr>
          <p:cNvPr id="33" name="Text 30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PROGRAMAÇÃO FUNCIONAL · PRÁTICA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Compondo funções: pipelines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914400" y="1783080"/>
            <a:ext cx="2560320" cy="731520"/>
          </a:xfrm>
          <a:prstGeom prst="roundRect">
            <a:avLst>
              <a:gd name="adj" fmla="val 12500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14400" y="178308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3520440" y="2148840"/>
            <a:ext cx="822960" cy="0"/>
          </a:xfrm>
          <a:prstGeom prst="line">
            <a:avLst/>
          </a:prstGeom>
          <a:noFill/>
          <a:ln w="31750">
            <a:solidFill>
              <a:srgbClr val="55645B"/>
            </a:solidFill>
            <a:prstDash val="solid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4389120" y="1783080"/>
            <a:ext cx="2560320" cy="731520"/>
          </a:xfrm>
          <a:prstGeom prst="roundRect">
            <a:avLst>
              <a:gd name="adj" fmla="val 12500"/>
            </a:avLst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389120" y="178308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6995160" y="2148840"/>
            <a:ext cx="822960" cy="0"/>
          </a:xfrm>
          <a:prstGeom prst="line">
            <a:avLst/>
          </a:prstGeom>
          <a:noFill/>
          <a:ln w="31750">
            <a:solidFill>
              <a:srgbClr val="55645B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7863840" y="1783080"/>
            <a:ext cx="2560320" cy="731520"/>
          </a:xfrm>
          <a:prstGeom prst="roundRect">
            <a:avLst>
              <a:gd name="adj" fmla="val 12500"/>
            </a:avLst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863840" y="178308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trocar 2 espaços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640080" y="2788920"/>
            <a:ext cx="6858000" cy="2865120"/>
          </a:xfrm>
          <a:prstGeom prst="roundRect">
            <a:avLst>
              <a:gd name="adj" fmla="val 3830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41248" y="297180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1042416" y="297180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1243584" y="297180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1554480" y="2907792"/>
            <a:ext cx="5760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pipeline.py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914400" y="3291840"/>
            <a:ext cx="630936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functools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reduce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914400" y="3825240"/>
            <a:ext cx="630936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compor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914400" y="4091940"/>
            <a:ext cx="630936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reduce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lambda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lambda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914400" y="4625340"/>
            <a:ext cx="630936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limpar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compor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strip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lower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914400" y="4892040"/>
            <a:ext cx="630936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lambda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replace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 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914400" y="5158740"/>
            <a:ext cx="630936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limpar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 OLA  Mundo  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7708392" y="2788920"/>
            <a:ext cx="3840480" cy="1264920"/>
          </a:xfrm>
          <a:prstGeom prst="roundRect">
            <a:avLst>
              <a:gd name="adj" fmla="val 8675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7909560" y="297180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8110728" y="297180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8311896" y="297180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8622792" y="2907792"/>
            <a:ext cx="2743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7982712" y="3291840"/>
            <a:ext cx="329184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PS&gt;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pipeline.py</a:t>
            </a:r>
            <a:endParaRPr lang="en-US" sz="1400" dirty="0"/>
          </a:p>
        </p:txBody>
      </p:sp>
      <p:sp>
        <p:nvSpPr>
          <p:cNvPr id="31" name="Text 28"/>
          <p:cNvSpPr txBox="1"/>
          <p:nvPr/>
        </p:nvSpPr>
        <p:spPr>
          <a:xfrm>
            <a:off x="7982712" y="3558540"/>
            <a:ext cx="329184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5D3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ola mundo</a:t>
            </a:r>
            <a:endParaRPr lang="en-US" sz="1400" dirty="0"/>
          </a:p>
        </p:txBody>
      </p:sp>
      <p:sp>
        <p:nvSpPr>
          <p:cNvPr id="32" name="Shape 29"/>
          <p:cNvSpPr/>
          <p:nvPr/>
        </p:nvSpPr>
        <p:spPr>
          <a:xfrm>
            <a:off x="7708392" y="4434840"/>
            <a:ext cx="3840480" cy="1691640"/>
          </a:xfrm>
          <a:prstGeom prst="roundRect">
            <a:avLst>
              <a:gd name="adj" fmla="val 6486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7909560" y="4434840"/>
            <a:ext cx="34747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função faz uma coisa pequena. O pipeline as encadeia: a saída de uma é a entrada da próxima.</a:t>
            </a:r>
            <a:endParaRPr lang="en-US" sz="1400" dirty="0"/>
          </a:p>
        </p:txBody>
      </p:sp>
      <p:sp>
        <p:nvSpPr>
          <p:cNvPr id="34" name="Text 31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05</a:t>
            </a:r>
            <a:endParaRPr lang="en-US" sz="1000" dirty="0"/>
          </a:p>
        </p:txBody>
      </p:sp>
      <p:sp>
        <p:nvSpPr>
          <p:cNvPr id="35" name="Text 32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PROGRAMAÇÃO FUNCIONAL · PRÁTICA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Imutabilidade: o bug do apelido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5852160" cy="2865120"/>
          </a:xfrm>
          <a:prstGeom prst="roundRect">
            <a:avLst>
              <a:gd name="adj" fmla="val 3830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41248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42416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43584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554480" y="1901952"/>
            <a:ext cx="4754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imutab.py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2286000"/>
            <a:ext cx="530352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914400" y="2552700"/>
            <a:ext cx="530352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914400" y="2819400"/>
            <a:ext cx="530352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append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914400" y="3086100"/>
            <a:ext cx="530352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914400" y="3619500"/>
            <a:ext cx="530352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914400" y="3886200"/>
            <a:ext cx="530352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novo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914400" y="4152900"/>
            <a:ext cx="530352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novo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6702552" y="1783080"/>
            <a:ext cx="4846320" cy="1531620"/>
          </a:xfrm>
          <a:prstGeom prst="roundRect">
            <a:avLst>
              <a:gd name="adj" fmla="val 7164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903720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7104888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306056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616952" y="1901952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6976872" y="2286000"/>
            <a:ext cx="429768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PS&gt;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imutab.py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6976872" y="2552700"/>
            <a:ext cx="429768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5D3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[1, 2, 3, 4]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6976872" y="2819400"/>
            <a:ext cx="429768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5D3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(1, 2, 3) (1, 2, 3, 4)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6702552" y="3520440"/>
            <a:ext cx="4846320" cy="2606040"/>
          </a:xfrm>
          <a:prstGeom prst="roundRect">
            <a:avLst>
              <a:gd name="adj" fmla="val 4211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931152" y="3749040"/>
            <a:ext cx="548640" cy="548640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pic>
        <p:nvPicPr>
          <p:cNvPr id="2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8312" y="3886200"/>
            <a:ext cx="274320" cy="274320"/>
          </a:xfrm>
          <a:prstGeom prst="rect">
            <a:avLst/>
          </a:prstGeom>
        </p:spPr>
      </p:pic>
      <p:sp>
        <p:nvSpPr>
          <p:cNvPr id="29" name="Text 25"/>
          <p:cNvSpPr txBox="1"/>
          <p:nvPr/>
        </p:nvSpPr>
        <p:spPr>
          <a:xfrm>
            <a:off x="7662672" y="374904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mudou sem querermos</a:t>
            </a:r>
            <a:endParaRPr lang="en-US" sz="1700" dirty="0"/>
          </a:p>
        </p:txBody>
      </p:sp>
      <p:sp>
        <p:nvSpPr>
          <p:cNvPr id="30" name="Text 26"/>
          <p:cNvSpPr txBox="1"/>
          <p:nvPr/>
        </p:nvSpPr>
        <p:spPr>
          <a:xfrm>
            <a:off x="6931152" y="4434840"/>
            <a:ext cx="4389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= a não copia: os dois nomes apontam para a mesma lista. Com tuplas, o + cria uma tupla nova e a original fica intacta.</a:t>
            </a:r>
            <a:endParaRPr lang="en-US" sz="1400" dirty="0"/>
          </a:p>
        </p:txBody>
      </p:sp>
      <p:sp>
        <p:nvSpPr>
          <p:cNvPr id="31" name="Shape 27"/>
          <p:cNvSpPr/>
          <p:nvPr/>
        </p:nvSpPr>
        <p:spPr>
          <a:xfrm>
            <a:off x="640080" y="4892040"/>
            <a:ext cx="5852160" cy="1234440"/>
          </a:xfrm>
          <a:prstGeom prst="roundRect">
            <a:avLst>
              <a:gd name="adj" fmla="val 8889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32" name="Text 28"/>
          <p:cNvSpPr txBox="1"/>
          <p:nvPr/>
        </p:nvSpPr>
        <p:spPr>
          <a:xfrm>
            <a:off x="914400" y="4892040"/>
            <a:ext cx="5303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Prefira estruturas imutáveis (tuple, frozenset, dataclass(frozen=True)) para conhecimento e fatos: ninguém altera a base por acidente.</a:t>
            </a:r>
            <a:endParaRPr lang="en-US" sz="1400" dirty="0"/>
          </a:p>
        </p:txBody>
      </p:sp>
      <p:sp>
        <p:nvSpPr>
          <p:cNvPr id="33" name="Text 29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05</a:t>
            </a:r>
            <a:endParaRPr lang="en-US" sz="1000" dirty="0"/>
          </a:p>
        </p:txBody>
      </p:sp>
      <p:sp>
        <p:nvSpPr>
          <p:cNvPr id="34" name="Text 30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RECURSÃO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Recursão: um problema definido em termos de si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5349240" cy="1737360"/>
          </a:xfrm>
          <a:prstGeom prst="roundRect">
            <a:avLst>
              <a:gd name="adj" fmla="val 6316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68680" y="1965960"/>
            <a:ext cx="502920" cy="50292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6868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1554480" y="196596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Caso base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868680" y="2651760"/>
            <a:ext cx="4892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problema mais simples, resolvido direto. Sem ele, a recursão nunca para.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6199632" y="1783080"/>
            <a:ext cx="5349240" cy="1737360"/>
          </a:xfrm>
          <a:prstGeom prst="roundRect">
            <a:avLst>
              <a:gd name="adj" fmla="val 6316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428232" y="1965960"/>
            <a:ext cx="502920" cy="502920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28232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7114032" y="196596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Passo recursivo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6428232" y="2651760"/>
            <a:ext cx="4892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Reduz o problema a uma versão menor e usa a própria função nela.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640080" y="3749040"/>
            <a:ext cx="5852160" cy="1798320"/>
          </a:xfrm>
          <a:prstGeom prst="roundRect">
            <a:avLst>
              <a:gd name="adj" fmla="val 6102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41248" y="393192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042416" y="393192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1243584" y="393192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1554480" y="3867912"/>
            <a:ext cx="4754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recursao.py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914400" y="4251960"/>
            <a:ext cx="530352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fatorial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914400" y="4518660"/>
            <a:ext cx="530352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914400" y="4785360"/>
            <a:ext cx="530352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914400" y="5052060"/>
            <a:ext cx="530352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fatorial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6702552" y="3749040"/>
            <a:ext cx="4846320" cy="2377440"/>
          </a:xfrm>
          <a:prstGeom prst="roundRect">
            <a:avLst>
              <a:gd name="adj" fmla="val 4615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949440" y="384048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i="1" dirty="0">
                <a:solidFill>
                  <a:srgbClr val="066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n! = n × (n − 1)!</a:t>
            </a:r>
            <a:endParaRPr lang="en-US" sz="2400" dirty="0"/>
          </a:p>
        </p:txBody>
      </p:sp>
      <p:sp>
        <p:nvSpPr>
          <p:cNvPr id="27" name="Text 24"/>
          <p:cNvSpPr txBox="1"/>
          <p:nvPr/>
        </p:nvSpPr>
        <p:spPr>
          <a:xfrm>
            <a:off x="6949440" y="4480560"/>
            <a:ext cx="4389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definição matemática vira código quase palavra por palavra. 0! = 1 é o caso base.</a:t>
            </a:r>
            <a:endParaRPr lang="en-US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05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RECURSÃO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Rastreando fatorial(3)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10908792" cy="457200"/>
          </a:xfrm>
          <a:prstGeom prst="roundRect">
            <a:avLst>
              <a:gd name="adj" fmla="val 20000"/>
            </a:avLst>
          </a:prstGeom>
          <a:solidFill>
            <a:srgbClr val="0F2A1D"/>
          </a:solidFill>
          <a:ln w="12700">
            <a:solidFill>
              <a:srgbClr val="0F2A1D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49808" y="17830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Chamada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3127248" y="178308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Fica esperando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6693408" y="17830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Devolve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9070848" y="1783080"/>
            <a:ext cx="2404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40080" y="2313432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49808" y="2313432"/>
            <a:ext cx="2194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6B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fatorial(3)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3127248" y="2313432"/>
            <a:ext cx="3383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× fatorial(2)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6693408" y="2313432"/>
            <a:ext cx="2194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9070848" y="2313432"/>
            <a:ext cx="240487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Desce, depois sobe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640080" y="2953512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E6EEE9"/>
          </a:solidFill>
          <a:ln w="12700">
            <a:solidFill>
              <a:srgbClr val="E6EEE9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49808" y="2953512"/>
            <a:ext cx="2194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6B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fatorial(2)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3127248" y="2953512"/>
            <a:ext cx="3383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× fatorial(1)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6693408" y="2953512"/>
            <a:ext cx="2194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9070848" y="2953512"/>
            <a:ext cx="240487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Desce, depois sobe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640080" y="3593592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49808" y="3593592"/>
            <a:ext cx="2194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6B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fatorial(1)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3127248" y="3593592"/>
            <a:ext cx="3383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× fatorial(0)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6693408" y="3593592"/>
            <a:ext cx="2194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300" dirty="0"/>
          </a:p>
        </p:txBody>
      </p:sp>
      <p:sp>
        <p:nvSpPr>
          <p:cNvPr id="25" name="Text 22"/>
          <p:cNvSpPr txBox="1"/>
          <p:nvPr/>
        </p:nvSpPr>
        <p:spPr>
          <a:xfrm>
            <a:off x="9070848" y="3593592"/>
            <a:ext cx="240487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Desce, depois sobe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640080" y="4233672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749808" y="4233672"/>
            <a:ext cx="2194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6B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fatorial(0)</a:t>
            </a:r>
            <a:endParaRPr lang="en-US" sz="1300" dirty="0"/>
          </a:p>
        </p:txBody>
      </p:sp>
      <p:sp>
        <p:nvSpPr>
          <p:cNvPr id="28" name="Text 25"/>
          <p:cNvSpPr txBox="1"/>
          <p:nvPr/>
        </p:nvSpPr>
        <p:spPr>
          <a:xfrm>
            <a:off x="3127248" y="4233672"/>
            <a:ext cx="3383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nada: caso base</a:t>
            </a:r>
            <a:endParaRPr lang="en-US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6693408" y="4233672"/>
            <a:ext cx="2194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300" dirty="0"/>
          </a:p>
        </p:txBody>
      </p:sp>
      <p:sp>
        <p:nvSpPr>
          <p:cNvPr id="30" name="Text 27"/>
          <p:cNvSpPr txBox="1"/>
          <p:nvPr/>
        </p:nvSpPr>
        <p:spPr>
          <a:xfrm>
            <a:off x="9070848" y="4233672"/>
            <a:ext cx="240487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de descer</a:t>
            </a:r>
            <a:endParaRPr lang="en-US" sz="1400" dirty="0"/>
          </a:p>
        </p:txBody>
      </p:sp>
      <p:sp>
        <p:nvSpPr>
          <p:cNvPr id="31" name="Shape 28"/>
          <p:cNvSpPr/>
          <p:nvPr/>
        </p:nvSpPr>
        <p:spPr>
          <a:xfrm>
            <a:off x="640080" y="5029200"/>
            <a:ext cx="10911535" cy="1097280"/>
          </a:xfrm>
          <a:prstGeom prst="roundRect">
            <a:avLst>
              <a:gd name="adj" fmla="val 10000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914400" y="5029200"/>
            <a:ext cx="1036289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chamadas se empilham até o caso base. Depois, cada uma recebe o resultado da seguinte e devolve o seu: 1, 1, 2, 6. Essa pilha de chamadas é a mesma ideia da pilha da DFS.</a:t>
            </a:r>
            <a:endParaRPr lang="en-US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05</a:t>
            </a:r>
            <a:endParaRPr lang="en-US" sz="1000" dirty="0"/>
          </a:p>
        </p:txBody>
      </p:sp>
      <p:sp>
        <p:nvSpPr>
          <p:cNvPr id="34" name="Text 31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RECURSÃO · PRÁTICA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Recursão sobre listas e estruturas aninhadas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5852160" cy="2598420"/>
          </a:xfrm>
          <a:prstGeom prst="roundRect">
            <a:avLst>
              <a:gd name="adj" fmla="val 4223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41248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42416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43584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554480" y="1901952"/>
            <a:ext cx="4754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recursao.py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2286000"/>
            <a:ext cx="530352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soma_lista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914400" y="2552700"/>
            <a:ext cx="530352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914400" y="2819400"/>
            <a:ext cx="530352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914400" y="3086100"/>
            <a:ext cx="530352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soma_lista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914400" y="3619500"/>
            <a:ext cx="530352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soma_lista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914400" y="3886200"/>
            <a:ext cx="530352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A6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14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6702552" y="1783080"/>
            <a:ext cx="4846320" cy="2331720"/>
          </a:xfrm>
          <a:prstGeom prst="roundRect">
            <a:avLst>
              <a:gd name="adj" fmla="val 4706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903720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7104888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7306056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616952" y="1901952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aninhada.py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6976872" y="2286000"/>
            <a:ext cx="429768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soma_profunda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6976872" y="2514600"/>
            <a:ext cx="429768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2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isinstance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6976872" y="2743200"/>
            <a:ext cx="429768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2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soma_profunda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6976872" y="2971800"/>
            <a:ext cx="429768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2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6976872" y="3429000"/>
            <a:ext cx="429768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soma_profunda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2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2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2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2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</p:txBody>
      </p:sp>
      <p:sp>
        <p:nvSpPr>
          <p:cNvPr id="27" name="Text 24"/>
          <p:cNvSpPr txBox="1"/>
          <p:nvPr/>
        </p:nvSpPr>
        <p:spPr>
          <a:xfrm>
            <a:off x="6976872" y="3657600"/>
            <a:ext cx="429768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6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21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640080" y="4617720"/>
            <a:ext cx="5349240" cy="1508760"/>
          </a:xfrm>
          <a:prstGeom prst="roundRect">
            <a:avLst>
              <a:gd name="adj" fmla="val 7273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914400" y="4681728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66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Lista</a:t>
            </a:r>
            <a:endParaRPr lang="en-US" sz="1700" dirty="0"/>
          </a:p>
        </p:txBody>
      </p:sp>
      <p:sp>
        <p:nvSpPr>
          <p:cNvPr id="30" name="Text 27"/>
          <p:cNvSpPr txBox="1"/>
          <p:nvPr/>
        </p:nvSpPr>
        <p:spPr>
          <a:xfrm>
            <a:off x="914400" y="5120640"/>
            <a:ext cx="4800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base: lista vazia. Passo: primeiro elemento + o resto.</a:t>
            </a:r>
            <a:endParaRPr lang="en-US" sz="1400" dirty="0"/>
          </a:p>
        </p:txBody>
      </p:sp>
      <p:sp>
        <p:nvSpPr>
          <p:cNvPr id="31" name="Shape 28"/>
          <p:cNvSpPr/>
          <p:nvPr/>
        </p:nvSpPr>
        <p:spPr>
          <a:xfrm>
            <a:off x="6199632" y="4617720"/>
            <a:ext cx="5349240" cy="1508760"/>
          </a:xfrm>
          <a:prstGeom prst="roundRect">
            <a:avLst>
              <a:gd name="adj" fmla="val 7273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6473952" y="4681728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66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Árvore de listas</a:t>
            </a:r>
            <a:endParaRPr lang="en-US" sz="1700" dirty="0"/>
          </a:p>
        </p:txBody>
      </p:sp>
      <p:sp>
        <p:nvSpPr>
          <p:cNvPr id="33" name="Text 30"/>
          <p:cNvSpPr txBox="1"/>
          <p:nvPr/>
        </p:nvSpPr>
        <p:spPr>
          <a:xfrm>
            <a:off x="6473952" y="5120640"/>
            <a:ext cx="4800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for lista, soma cada item; se for número, devolve o número.</a:t>
            </a:r>
            <a:endParaRPr lang="en-US" sz="1400" dirty="0"/>
          </a:p>
        </p:txBody>
      </p:sp>
      <p:sp>
        <p:nvSpPr>
          <p:cNvPr id="34" name="Text 31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05</a:t>
            </a:r>
            <a:endParaRPr lang="en-US" sz="1000" dirty="0"/>
          </a:p>
        </p:txBody>
      </p:sp>
      <p:sp>
        <p:nvSpPr>
          <p:cNvPr id="35" name="Text 32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RECURSÃO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Cuidados: limite e memoização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6126480" cy="4198620"/>
          </a:xfrm>
          <a:prstGeom prst="roundRect">
            <a:avLst>
              <a:gd name="adj" fmla="val 2613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41248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42416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43584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554480" y="1901952"/>
            <a:ext cx="5029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memo.py (resumido)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2286000"/>
            <a:ext cx="557784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functools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lru_cache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914400" y="2552700"/>
            <a:ext cx="557784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chamadas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914400" y="3086100"/>
            <a:ext cx="557784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fib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914400" y="3352800"/>
            <a:ext cx="557784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global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chamadas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914400" y="3619500"/>
            <a:ext cx="557784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chamadas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914400" y="3886200"/>
            <a:ext cx="557784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fib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fib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914400" y="4419600"/>
            <a:ext cx="557784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lru_cache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maxsize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None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914400" y="4686300"/>
            <a:ext cx="557784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fibm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914400" y="4953000"/>
            <a:ext cx="557784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global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chamadas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914400" y="5219700"/>
            <a:ext cx="557784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chamadas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914400" y="5486400"/>
            <a:ext cx="557784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fibm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fibm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6885432" y="1783080"/>
            <a:ext cx="2240280" cy="1828800"/>
          </a:xfrm>
          <a:prstGeom prst="roundRect">
            <a:avLst>
              <a:gd name="adj" fmla="val 6000"/>
            </a:avLst>
          </a:prstGeom>
          <a:solidFill>
            <a:srgbClr val="FBE3EC"/>
          </a:solidFill>
          <a:ln w="12700">
            <a:solidFill>
              <a:srgbClr val="FBE3EC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885432" y="1892808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A315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242 785</a:t>
            </a:r>
            <a:endParaRPr lang="en-US" sz="4000" dirty="0"/>
          </a:p>
        </p:txBody>
      </p:sp>
      <p:sp>
        <p:nvSpPr>
          <p:cNvPr id="24" name="Text 21"/>
          <p:cNvSpPr txBox="1"/>
          <p:nvPr/>
        </p:nvSpPr>
        <p:spPr>
          <a:xfrm>
            <a:off x="7022592" y="2880360"/>
            <a:ext cx="1965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chamadas de fib(25)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9308592" y="1783080"/>
            <a:ext cx="2240280" cy="1828800"/>
          </a:xfrm>
          <a:prstGeom prst="roundRect">
            <a:avLst>
              <a:gd name="adj" fmla="val 6000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9308592" y="1892808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66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</a:t>
            </a:r>
            <a:endParaRPr lang="en-US" sz="4000" dirty="0"/>
          </a:p>
        </p:txBody>
      </p:sp>
      <p:sp>
        <p:nvSpPr>
          <p:cNvPr id="27" name="Text 24"/>
          <p:cNvSpPr txBox="1"/>
          <p:nvPr/>
        </p:nvSpPr>
        <p:spPr>
          <a:xfrm>
            <a:off x="9445752" y="2880360"/>
            <a:ext cx="1965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lru_cache</a:t>
            </a:r>
            <a:endParaRPr lang="en-US" sz="1400" dirty="0"/>
          </a:p>
        </p:txBody>
      </p:sp>
      <p:sp>
        <p:nvSpPr>
          <p:cNvPr id="28" name="Shape 25"/>
          <p:cNvSpPr/>
          <p:nvPr/>
        </p:nvSpPr>
        <p:spPr>
          <a:xfrm>
            <a:off x="6885432" y="3794760"/>
            <a:ext cx="4663440" cy="2331720"/>
          </a:xfrm>
          <a:prstGeom prst="roundRect">
            <a:avLst>
              <a:gd name="adj" fmla="val 4706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7086600" y="3931920"/>
            <a:ext cx="42976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limita a profundidade a cerca de 1000 chamadas (sys.getrecursionlimit()).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não otimiza a recursão de cauda.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Memoização guarda resultados já calculados e evita repetir trabalho.</a:t>
            </a:r>
            <a:endParaRPr lang="en-US" sz="1400" dirty="0"/>
          </a:p>
        </p:txBody>
      </p:sp>
      <p:sp>
        <p:nvSpPr>
          <p:cNvPr id="30" name="Text 27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05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 EM IA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Regras como funções de ordem superior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7315200" cy="3398520"/>
          </a:xfrm>
          <a:prstGeom prst="roundRect">
            <a:avLst>
              <a:gd name="adj" fmla="val 3229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41248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42416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43584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554480" y="1901952"/>
            <a:ext cx="6217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regras_fn.py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2286000"/>
            <a:ext cx="676656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regras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914400" y="2552700"/>
            <a:ext cx="676656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lambda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"molhado"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"chuva"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914400" y="2819400"/>
            <a:ext cx="676656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lambda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"escorregadio"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"molhado"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914400" y="3086100"/>
            <a:ext cx="676656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914400" y="3619500"/>
            <a:ext cx="676656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fatos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frozenset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"chuva"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914400" y="3886200"/>
            <a:ext cx="676656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regra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regras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914400" y="4152900"/>
            <a:ext cx="676656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fatos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regra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fatos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914400" y="4419600"/>
            <a:ext cx="676656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sorted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fatos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914400" y="4686300"/>
            <a:ext cx="676656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A6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['chuva', 'escorregadio', 'molhado']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8412480" y="1783080"/>
            <a:ext cx="3136392" cy="1325880"/>
          </a:xfrm>
          <a:prstGeom prst="roundRect">
            <a:avLst>
              <a:gd name="adj" fmla="val 8276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595360" y="185623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6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Regra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8595360" y="2240280"/>
            <a:ext cx="2788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uma função: recebe o conjunto de fatos e devolve um conjunto novo.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8412480" y="3246120"/>
            <a:ext cx="3136392" cy="1325880"/>
          </a:xfrm>
          <a:prstGeom prst="roundRect">
            <a:avLst>
              <a:gd name="adj" fmla="val 8276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595360" y="331927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6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Imutável</a:t>
            </a:r>
            <a:endParaRPr lang="en-US" sz="1500" dirty="0"/>
          </a:p>
        </p:txBody>
      </p:sp>
      <p:sp>
        <p:nvSpPr>
          <p:cNvPr id="25" name="Text 22"/>
          <p:cNvSpPr txBox="1"/>
          <p:nvPr/>
        </p:nvSpPr>
        <p:spPr>
          <a:xfrm>
            <a:off x="8595360" y="3703320"/>
            <a:ext cx="2788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frozenset: a regra não altera o original, cria outro.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8412480" y="4709160"/>
            <a:ext cx="3136392" cy="1325880"/>
          </a:xfrm>
          <a:prstGeom prst="roundRect">
            <a:avLst>
              <a:gd name="adj" fmla="val 8276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8595360" y="478231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6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Encadeamento</a:t>
            </a:r>
            <a:endParaRPr lang="en-US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8595360" y="5166360"/>
            <a:ext cx="2788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saída de uma regra alimenta a próxima. Veremos isso na aula 06.</a:t>
            </a:r>
            <a:endParaRPr lang="en-US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05</a:t>
            </a:r>
            <a:endParaRPr lang="en-US" sz="1000" dirty="0"/>
          </a:p>
        </p:txBody>
      </p:sp>
      <p:sp>
        <p:nvSpPr>
          <p:cNvPr id="30" name="Text 27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MANIPULAÇÃO SIMBÓLICA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Computação numérica × simbólica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5349240" cy="2926080"/>
          </a:xfrm>
          <a:prstGeom prst="roundRect">
            <a:avLst>
              <a:gd name="adj" fmla="val 3750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14400" y="18745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66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Numérica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2468880"/>
            <a:ext cx="4800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 com números. Derivar x² em x = 3 dá 6.000001 (aproximado, aula 03).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3657600"/>
            <a:ext cx="4800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66B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6.000001</a:t>
            </a:r>
            <a:endParaRPr lang="en-US" sz="3000" dirty="0"/>
          </a:p>
        </p:txBody>
      </p:sp>
      <p:sp>
        <p:nvSpPr>
          <p:cNvPr id="10" name="Shape 7"/>
          <p:cNvSpPr/>
          <p:nvPr/>
        </p:nvSpPr>
        <p:spPr>
          <a:xfrm>
            <a:off x="6199632" y="1783080"/>
            <a:ext cx="5349240" cy="2926080"/>
          </a:xfrm>
          <a:prstGeom prst="roundRect">
            <a:avLst>
              <a:gd name="adj" fmla="val 3750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473952" y="18745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347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Simbólica</a:t>
            </a:r>
            <a:endParaRPr lang="en-US" sz="2000" dirty="0"/>
          </a:p>
        </p:txBody>
      </p:sp>
      <p:sp>
        <p:nvSpPr>
          <p:cNvPr id="12" name="Text 9"/>
          <p:cNvSpPr txBox="1"/>
          <p:nvPr/>
        </p:nvSpPr>
        <p:spPr>
          <a:xfrm>
            <a:off x="6473952" y="2468880"/>
            <a:ext cx="4800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 com símbolos e expressões. Derivar x² devolve a expressão 2x, exata.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6473952" y="3657600"/>
            <a:ext cx="4800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B34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2x</a:t>
            </a:r>
            <a:endParaRPr lang="en-US" sz="3000" dirty="0"/>
          </a:p>
        </p:txBody>
      </p:sp>
      <p:sp>
        <p:nvSpPr>
          <p:cNvPr id="14" name="Shape 11"/>
          <p:cNvSpPr/>
          <p:nvPr/>
        </p:nvSpPr>
        <p:spPr>
          <a:xfrm>
            <a:off x="640080" y="4937760"/>
            <a:ext cx="10911535" cy="1188720"/>
          </a:xfrm>
          <a:prstGeom prst="roundRect">
            <a:avLst>
              <a:gd name="adj" fmla="val 9231"/>
            </a:avLst>
          </a:prstGeom>
          <a:solidFill>
            <a:srgbClr val="0F2A1D"/>
          </a:solidFill>
          <a:ln w="12700">
            <a:solidFill>
              <a:srgbClr val="0F2A1D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914400" y="4937760"/>
            <a:ext cx="1036289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IA simbólica trata expressões como dados: guarda-as em estruturas, compara, simplifica e transforma por regras. Para isso, precisamos representá-las.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05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MANIPULAÇÃO SIMBÓLICA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expressão é uma árvore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3108960" y="2660904"/>
            <a:ext cx="0" cy="402336"/>
          </a:xfrm>
          <a:prstGeom prst="line">
            <a:avLst/>
          </a:prstGeom>
          <a:noFill/>
          <a:ln w="25400">
            <a:solidFill>
              <a:srgbClr val="55645B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828800" y="3063240"/>
            <a:ext cx="2560320" cy="0"/>
          </a:xfrm>
          <a:prstGeom prst="line">
            <a:avLst/>
          </a:prstGeom>
          <a:noFill/>
          <a:ln w="25400">
            <a:solidFill>
              <a:srgbClr val="55645B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828800" y="3063240"/>
            <a:ext cx="0" cy="411480"/>
          </a:xfrm>
          <a:prstGeom prst="line">
            <a:avLst/>
          </a:prstGeom>
          <a:noFill/>
          <a:ln w="25400">
            <a:solidFill>
              <a:srgbClr val="55645B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389120" y="3063240"/>
            <a:ext cx="0" cy="411480"/>
          </a:xfrm>
          <a:prstGeom prst="line">
            <a:avLst/>
          </a:prstGeom>
          <a:noFill/>
          <a:ln w="25400">
            <a:solidFill>
              <a:srgbClr val="55645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828800" y="4041648"/>
            <a:ext cx="0" cy="402336"/>
          </a:xfrm>
          <a:prstGeom prst="line">
            <a:avLst/>
          </a:prstGeom>
          <a:noFill/>
          <a:ln w="25400">
            <a:solidFill>
              <a:srgbClr val="55645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14400" y="4443984"/>
            <a:ext cx="1828800" cy="0"/>
          </a:xfrm>
          <a:prstGeom prst="line">
            <a:avLst/>
          </a:prstGeom>
          <a:noFill/>
          <a:ln w="25400">
            <a:solidFill>
              <a:srgbClr val="55645B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914400" y="4443984"/>
            <a:ext cx="0" cy="411480"/>
          </a:xfrm>
          <a:prstGeom prst="line">
            <a:avLst/>
          </a:prstGeom>
          <a:noFill/>
          <a:ln w="25400">
            <a:solidFill>
              <a:srgbClr val="55645B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743200" y="4443984"/>
            <a:ext cx="0" cy="411480"/>
          </a:xfrm>
          <a:prstGeom prst="line">
            <a:avLst/>
          </a:prstGeom>
          <a:noFill/>
          <a:ln w="25400">
            <a:solidFill>
              <a:srgbClr val="55645B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825496" y="2093976"/>
            <a:ext cx="566928" cy="566928"/>
          </a:xfrm>
          <a:prstGeom prst="ellipse">
            <a:avLst/>
          </a:prstGeom>
          <a:solidFill>
            <a:srgbClr val="0B8A5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2825496" y="209397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</a:t>
            </a:r>
            <a:endParaRPr lang="en-US" sz="1700" dirty="0"/>
          </a:p>
        </p:txBody>
      </p:sp>
      <p:sp>
        <p:nvSpPr>
          <p:cNvPr id="16" name="Shape 13"/>
          <p:cNvSpPr/>
          <p:nvPr/>
        </p:nvSpPr>
        <p:spPr>
          <a:xfrm>
            <a:off x="1545336" y="3474720"/>
            <a:ext cx="566928" cy="566928"/>
          </a:xfrm>
          <a:prstGeom prst="ellipse">
            <a:avLst/>
          </a:prstGeom>
          <a:solidFill>
            <a:srgbClr val="0B8A5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1545336" y="34747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700" dirty="0"/>
          </a:p>
        </p:txBody>
      </p:sp>
      <p:sp>
        <p:nvSpPr>
          <p:cNvPr id="18" name="Shape 15"/>
          <p:cNvSpPr/>
          <p:nvPr/>
        </p:nvSpPr>
        <p:spPr>
          <a:xfrm>
            <a:off x="4105656" y="3474720"/>
            <a:ext cx="566928" cy="566928"/>
          </a:xfrm>
          <a:prstGeom prst="ellipse">
            <a:avLst/>
          </a:prstGeom>
          <a:solidFill>
            <a:srgbClr val="FF7A2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4105656" y="34747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20" name="Shape 17"/>
          <p:cNvSpPr/>
          <p:nvPr/>
        </p:nvSpPr>
        <p:spPr>
          <a:xfrm>
            <a:off x="630936" y="4855464"/>
            <a:ext cx="566928" cy="566928"/>
          </a:xfrm>
          <a:prstGeom prst="ellipse">
            <a:avLst/>
          </a:prstGeom>
          <a:solidFill>
            <a:srgbClr val="1B433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30936" y="485546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700" dirty="0"/>
          </a:p>
        </p:txBody>
      </p:sp>
      <p:sp>
        <p:nvSpPr>
          <p:cNvPr id="22" name="Shape 19"/>
          <p:cNvSpPr/>
          <p:nvPr/>
        </p:nvSpPr>
        <p:spPr>
          <a:xfrm>
            <a:off x="2459736" y="4855464"/>
            <a:ext cx="566928" cy="566928"/>
          </a:xfrm>
          <a:prstGeom prst="ellipse">
            <a:avLst/>
          </a:prstGeom>
          <a:solidFill>
            <a:srgbClr val="FF7A2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2459736" y="485546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640080" y="566928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(x + 2) * 3</a:t>
            </a:r>
            <a:endParaRPr lang="en-US" sz="1800" dirty="0"/>
          </a:p>
        </p:txBody>
      </p:sp>
      <p:sp>
        <p:nvSpPr>
          <p:cNvPr id="25" name="Shape 22"/>
          <p:cNvSpPr/>
          <p:nvPr/>
        </p:nvSpPr>
        <p:spPr>
          <a:xfrm>
            <a:off x="6217920" y="1783080"/>
            <a:ext cx="5330952" cy="4343400"/>
          </a:xfrm>
          <a:prstGeom prst="roundRect">
            <a:avLst>
              <a:gd name="adj" fmla="val 2526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492240" y="187452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 Python: tuplas aninhadas</a:t>
            </a:r>
            <a:endParaRPr lang="en-US" sz="1800" dirty="0"/>
          </a:p>
        </p:txBody>
      </p:sp>
      <p:sp>
        <p:nvSpPr>
          <p:cNvPr id="27" name="Shape 24"/>
          <p:cNvSpPr/>
          <p:nvPr/>
        </p:nvSpPr>
        <p:spPr>
          <a:xfrm>
            <a:off x="6492240" y="2423160"/>
            <a:ext cx="4800600" cy="960120"/>
          </a:xfrm>
          <a:prstGeom prst="roundRect">
            <a:avLst>
              <a:gd name="adj" fmla="val 11429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6693408" y="260604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6894576" y="260604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7095744" y="260604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7406640" y="2542032"/>
            <a:ext cx="3703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expr.py</a:t>
            </a:r>
            <a:endParaRPr lang="en-US" sz="1100" dirty="0"/>
          </a:p>
        </p:txBody>
      </p:sp>
      <p:sp>
        <p:nvSpPr>
          <p:cNvPr id="32" name="Text 29"/>
          <p:cNvSpPr txBox="1"/>
          <p:nvPr/>
        </p:nvSpPr>
        <p:spPr>
          <a:xfrm>
            <a:off x="6766560" y="2926080"/>
            <a:ext cx="425196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expr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"*"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"+"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"x"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</p:txBody>
      </p:sp>
      <p:sp>
        <p:nvSpPr>
          <p:cNvPr id="33" name="Text 30"/>
          <p:cNvSpPr txBox="1"/>
          <p:nvPr/>
        </p:nvSpPr>
        <p:spPr>
          <a:xfrm>
            <a:off x="6492240" y="3703320"/>
            <a:ext cx="480060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nó é uma tupla (operador, esquerda, direita).</a:t>
            </a:r>
            <a:endParaRPr lang="en-US" sz="14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folhas são números ou nomes de variáveis (texto).</a:t>
            </a:r>
            <a:endParaRPr lang="en-US" sz="14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estrutura guarda a ordem das operações: sem parênteses.</a:t>
            </a:r>
            <a:endParaRPr lang="en-US" sz="1400" dirty="0"/>
          </a:p>
        </p:txBody>
      </p:sp>
      <p:sp>
        <p:nvSpPr>
          <p:cNvPr id="34" name="Text 31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05</a:t>
            </a:r>
            <a:endParaRPr lang="en-US" sz="1000" dirty="0"/>
          </a:p>
        </p:txBody>
      </p:sp>
      <p:sp>
        <p:nvSpPr>
          <p:cNvPr id="35" name="Text 32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MANIPULAÇÃO SIMBÓLICA · PRÁTICA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Avaliando uma expressão recursivamente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7498080" cy="3665220"/>
          </a:xfrm>
          <a:prstGeom prst="roundRect">
            <a:avLst>
              <a:gd name="adj" fmla="val 2994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41248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42416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43584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554480" y="1901952"/>
            <a:ext cx="6400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expr.py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2286000"/>
            <a:ext cx="694944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avaliar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env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914400" y="2552700"/>
            <a:ext cx="694944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isinstance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float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914400" y="2819400"/>
            <a:ext cx="694944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914400" y="3086100"/>
            <a:ext cx="694944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isinstance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914400" y="3352800"/>
            <a:ext cx="694944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env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914400" y="3619500"/>
            <a:ext cx="694944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914400" y="3886200"/>
            <a:ext cx="694944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vb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avaliar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env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avaliar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env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914400" y="4152900"/>
            <a:ext cx="694944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"+"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vb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"-"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vb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914400" y="4419600"/>
            <a:ext cx="694944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"*"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vb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"^"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vb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914400" y="4953000"/>
            <a:ext cx="694944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avaliar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expr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"x"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pPr indent="0" marL="0">
              <a:buNone/>
            </a:pPr>
            <a:r>
              <a:rPr lang="en-US" sz="1400" dirty="0">
                <a:solidFill>
                  <a:srgbClr val="8FA6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18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8229600" y="1783080"/>
            <a:ext cx="3319272" cy="1234440"/>
          </a:xfrm>
          <a:prstGeom prst="roundRect">
            <a:avLst>
              <a:gd name="adj" fmla="val 8889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8412480" y="185623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6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Número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8412480" y="224028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base: devolve o próprio valor.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8229600" y="3154680"/>
            <a:ext cx="3319272" cy="1234440"/>
          </a:xfrm>
          <a:prstGeom prst="roundRect">
            <a:avLst>
              <a:gd name="adj" fmla="val 8889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8412480" y="322783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6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Variável</a:t>
            </a:r>
            <a:endParaRPr lang="en-US" sz="1500" dirty="0"/>
          </a:p>
        </p:txBody>
      </p:sp>
      <p:sp>
        <p:nvSpPr>
          <p:cNvPr id="26" name="Text 23"/>
          <p:cNvSpPr txBox="1"/>
          <p:nvPr/>
        </p:nvSpPr>
        <p:spPr>
          <a:xfrm>
            <a:off x="8412480" y="361188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base: procura o valor no ambiente env.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8229600" y="4526280"/>
            <a:ext cx="3319272" cy="1234440"/>
          </a:xfrm>
          <a:prstGeom prst="roundRect">
            <a:avLst>
              <a:gd name="adj" fmla="val 8889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412480" y="459943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6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Operação</a:t>
            </a:r>
            <a:endParaRPr lang="en-US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8412480" y="498348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recursivo: avalia os dois lados e aplica o operador.</a:t>
            </a:r>
            <a:endParaRPr lang="en-US" sz="1300" dirty="0"/>
          </a:p>
        </p:txBody>
      </p:sp>
      <p:sp>
        <p:nvSpPr>
          <p:cNvPr id="30" name="Text 27"/>
          <p:cNvSpPr txBox="1"/>
          <p:nvPr/>
        </p:nvSpPr>
        <p:spPr>
          <a:xfrm>
            <a:off x="640080" y="566928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x = 4: (4 + 2) * 3 = 18.</a:t>
            </a:r>
            <a:endParaRPr lang="en-US" sz="1400" dirty="0"/>
          </a:p>
        </p:txBody>
      </p:sp>
      <p:sp>
        <p:nvSpPr>
          <p:cNvPr id="31" name="Text 28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05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MANIPULAÇÃO SIMBÓLICA · PRÁTICA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Simplificação (1/2): regras algébricas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6675120" cy="3665220"/>
          </a:xfrm>
          <a:prstGeom prst="roundRect">
            <a:avLst>
              <a:gd name="adj" fmla="val 2994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41248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42416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43584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554480" y="1901952"/>
            <a:ext cx="5577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simbolico.py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2286000"/>
            <a:ext cx="612648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914400" y="2552700"/>
            <a:ext cx="612648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isinstance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float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914400" y="3086100"/>
            <a:ext cx="612648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simplificar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914400" y="3352800"/>
            <a:ext cx="612648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isinstance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tuple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914400" y="3619500"/>
            <a:ext cx="612648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914400" y="3886200"/>
            <a:ext cx="612648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simplificar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simplificar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914400" y="4152900"/>
            <a:ext cx="612648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"+"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914400" y="4419600"/>
            <a:ext cx="612648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914400" y="4686300"/>
            <a:ext cx="612648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"+"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914400" y="4953000"/>
            <a:ext cx="612648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7616952" y="1783080"/>
            <a:ext cx="3931920" cy="457200"/>
          </a:xfrm>
          <a:prstGeom prst="roundRect">
            <a:avLst>
              <a:gd name="adj" fmla="val 20000"/>
            </a:avLst>
          </a:prstGeom>
          <a:solidFill>
            <a:srgbClr val="0F2A1D"/>
          </a:solidFill>
          <a:ln w="12700">
            <a:solidFill>
              <a:srgbClr val="0F2A1D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726680" y="17830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9555480" y="17830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7616952" y="2313432"/>
            <a:ext cx="3931920" cy="512064"/>
          </a:xfrm>
          <a:prstGeom prst="roundRect">
            <a:avLst>
              <a:gd name="adj" fmla="val 14286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7726680" y="2313432"/>
            <a:ext cx="1645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 + b</a:t>
            </a:r>
            <a:endParaRPr lang="en-US" sz="1300" dirty="0"/>
          </a:p>
        </p:txBody>
      </p:sp>
      <p:sp>
        <p:nvSpPr>
          <p:cNvPr id="26" name="Text 23"/>
          <p:cNvSpPr txBox="1"/>
          <p:nvPr/>
        </p:nvSpPr>
        <p:spPr>
          <a:xfrm>
            <a:off x="9555480" y="2313432"/>
            <a:ext cx="1920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7616952" y="2880360"/>
            <a:ext cx="3931920" cy="512064"/>
          </a:xfrm>
          <a:prstGeom prst="roundRect">
            <a:avLst>
              <a:gd name="adj" fmla="val 14286"/>
            </a:avLst>
          </a:prstGeom>
          <a:solidFill>
            <a:srgbClr val="E6EEE9"/>
          </a:solidFill>
          <a:ln w="12700">
            <a:solidFill>
              <a:srgbClr val="E6EEE9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7726680" y="2880360"/>
            <a:ext cx="1645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+ 0</a:t>
            </a:r>
            <a:endParaRPr lang="en-US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9555480" y="2880360"/>
            <a:ext cx="1920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7616952" y="3447288"/>
            <a:ext cx="3931920" cy="512064"/>
          </a:xfrm>
          <a:prstGeom prst="roundRect">
            <a:avLst>
              <a:gd name="adj" fmla="val 14286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7726680" y="3447288"/>
            <a:ext cx="1645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 * b</a:t>
            </a:r>
            <a:endParaRPr lang="en-US" sz="1300" dirty="0"/>
          </a:p>
        </p:txBody>
      </p:sp>
      <p:sp>
        <p:nvSpPr>
          <p:cNvPr id="32" name="Text 29"/>
          <p:cNvSpPr txBox="1"/>
          <p:nvPr/>
        </p:nvSpPr>
        <p:spPr>
          <a:xfrm>
            <a:off x="9555480" y="3447288"/>
            <a:ext cx="1920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300" dirty="0"/>
          </a:p>
        </p:txBody>
      </p:sp>
      <p:sp>
        <p:nvSpPr>
          <p:cNvPr id="33" name="Shape 30"/>
          <p:cNvSpPr/>
          <p:nvPr/>
        </p:nvSpPr>
        <p:spPr>
          <a:xfrm>
            <a:off x="7616952" y="4014216"/>
            <a:ext cx="3931920" cy="512064"/>
          </a:xfrm>
          <a:prstGeom prst="roundRect">
            <a:avLst>
              <a:gd name="adj" fmla="val 14286"/>
            </a:avLst>
          </a:prstGeom>
          <a:solidFill>
            <a:srgbClr val="E6EEE9"/>
          </a:solidFill>
          <a:ln w="12700">
            <a:solidFill>
              <a:srgbClr val="E6EEE9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7726680" y="4014216"/>
            <a:ext cx="1645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* b</a:t>
            </a:r>
            <a:endParaRPr lang="en-US" sz="1300" dirty="0"/>
          </a:p>
        </p:txBody>
      </p:sp>
      <p:sp>
        <p:nvSpPr>
          <p:cNvPr id="35" name="Text 32"/>
          <p:cNvSpPr txBox="1"/>
          <p:nvPr/>
        </p:nvSpPr>
        <p:spPr>
          <a:xfrm>
            <a:off x="9555480" y="4014216"/>
            <a:ext cx="1920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endParaRPr lang="en-US" sz="1300" dirty="0"/>
          </a:p>
        </p:txBody>
      </p:sp>
      <p:sp>
        <p:nvSpPr>
          <p:cNvPr id="36" name="Shape 33"/>
          <p:cNvSpPr/>
          <p:nvPr/>
        </p:nvSpPr>
        <p:spPr>
          <a:xfrm>
            <a:off x="7616952" y="4581144"/>
            <a:ext cx="3931920" cy="512064"/>
          </a:xfrm>
          <a:prstGeom prst="roundRect">
            <a:avLst>
              <a:gd name="adj" fmla="val 14286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7726680" y="4581144"/>
            <a:ext cx="1645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* 1</a:t>
            </a:r>
            <a:endParaRPr lang="en-US" sz="1300" dirty="0"/>
          </a:p>
        </p:txBody>
      </p:sp>
      <p:sp>
        <p:nvSpPr>
          <p:cNvPr id="38" name="Text 35"/>
          <p:cNvSpPr txBox="1"/>
          <p:nvPr/>
        </p:nvSpPr>
        <p:spPr>
          <a:xfrm>
            <a:off x="9555480" y="4581144"/>
            <a:ext cx="1920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1300" dirty="0"/>
          </a:p>
        </p:txBody>
      </p:sp>
      <p:sp>
        <p:nvSpPr>
          <p:cNvPr id="39" name="Shape 36"/>
          <p:cNvSpPr/>
          <p:nvPr/>
        </p:nvSpPr>
        <p:spPr>
          <a:xfrm>
            <a:off x="7616952" y="5148072"/>
            <a:ext cx="3931920" cy="512064"/>
          </a:xfrm>
          <a:prstGeom prst="roundRect">
            <a:avLst>
              <a:gd name="adj" fmla="val 14286"/>
            </a:avLst>
          </a:prstGeom>
          <a:solidFill>
            <a:srgbClr val="E6EEE9"/>
          </a:solidFill>
          <a:ln w="12700">
            <a:solidFill>
              <a:srgbClr val="E6EEE9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7726680" y="5148072"/>
            <a:ext cx="1645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^ 1</a:t>
            </a:r>
            <a:endParaRPr lang="en-US" sz="1300" dirty="0"/>
          </a:p>
        </p:txBody>
      </p:sp>
      <p:sp>
        <p:nvSpPr>
          <p:cNvPr id="41" name="Text 38"/>
          <p:cNvSpPr txBox="1"/>
          <p:nvPr/>
        </p:nvSpPr>
        <p:spPr>
          <a:xfrm>
            <a:off x="9555480" y="5148072"/>
            <a:ext cx="1920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1300" dirty="0"/>
          </a:p>
        </p:txBody>
      </p:sp>
      <p:sp>
        <p:nvSpPr>
          <p:cNvPr id="42" name="Shape 39"/>
          <p:cNvSpPr/>
          <p:nvPr/>
        </p:nvSpPr>
        <p:spPr>
          <a:xfrm>
            <a:off x="640080" y="5577840"/>
            <a:ext cx="6675120" cy="640080"/>
          </a:xfrm>
          <a:prstGeom prst="roundRect">
            <a:avLst>
              <a:gd name="adj" fmla="val 17143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914400" y="5577840"/>
            <a:ext cx="6126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Simplificamos primeiro os filhos (recursão) e só depois aplicamos as regras ao nó atual: de baixo para cima.</a:t>
            </a:r>
            <a:endParaRPr lang="en-US" sz="1300" dirty="0"/>
          </a:p>
        </p:txBody>
      </p:sp>
      <p:sp>
        <p:nvSpPr>
          <p:cNvPr id="44" name="Text 41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05</a:t>
            </a:r>
            <a:endParaRPr lang="en-US" sz="1000" dirty="0"/>
          </a:p>
        </p:txBody>
      </p:sp>
      <p:sp>
        <p:nvSpPr>
          <p:cNvPr id="45" name="Text 42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MANIPULAÇÃO SIMBÓLICA · PRÁTICA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Simplificação (2/2): o resto das regras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6949440" cy="3665220"/>
          </a:xfrm>
          <a:prstGeom prst="roundRect">
            <a:avLst>
              <a:gd name="adj" fmla="val 2994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41248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42416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43584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554480" y="1901952"/>
            <a:ext cx="5852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simbolico.py (continuação)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2286000"/>
            <a:ext cx="64008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"*"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914400" y="2552700"/>
            <a:ext cx="64008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914400" y="2819400"/>
            <a:ext cx="64008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"*"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914400" y="3086100"/>
            <a:ext cx="64008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914400" y="3352800"/>
            <a:ext cx="64008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"*"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914400" y="3619500"/>
            <a:ext cx="64008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914400" y="3886200"/>
            <a:ext cx="64008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"^"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914400" y="4152900"/>
            <a:ext cx="64008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914400" y="4419600"/>
            <a:ext cx="64008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"+"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"*"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914400" y="4686300"/>
            <a:ext cx="64008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"+"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"*"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914400" y="4953000"/>
            <a:ext cx="64008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7799832" y="1783080"/>
            <a:ext cx="3749040" cy="1874520"/>
          </a:xfrm>
          <a:prstGeom prst="roundRect">
            <a:avLst>
              <a:gd name="adj" fmla="val 5854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8001000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8202168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8403336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714232" y="1901952"/>
            <a:ext cx="2651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Testes</a:t>
            </a:r>
            <a:endParaRPr 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8074152" y="2286000"/>
            <a:ext cx="32004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simplificar(("+",("*",1,"x"),0))</a:t>
            </a:r>
            <a:endParaRPr lang="en-US" sz="1200" dirty="0"/>
          </a:p>
        </p:txBody>
      </p:sp>
      <p:sp>
        <p:nvSpPr>
          <p:cNvPr id="28" name="Text 25"/>
          <p:cNvSpPr txBox="1"/>
          <p:nvPr/>
        </p:nvSpPr>
        <p:spPr>
          <a:xfrm>
            <a:off x="8074152" y="2514600"/>
            <a:ext cx="32004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x</a:t>
            </a:r>
            <a:endParaRPr lang="en-US" sz="1200" dirty="0"/>
          </a:p>
        </p:txBody>
      </p:sp>
      <p:sp>
        <p:nvSpPr>
          <p:cNvPr id="29" name="Text 26"/>
          <p:cNvSpPr txBox="1"/>
          <p:nvPr/>
        </p:nvSpPr>
        <p:spPr>
          <a:xfrm>
            <a:off x="8074152" y="2971800"/>
            <a:ext cx="32004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simplificar(("*",("+",2,3),"x"))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8074152" y="3200400"/>
            <a:ext cx="32004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(5 * x)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7799832" y="3931920"/>
            <a:ext cx="3749040" cy="2194560"/>
          </a:xfrm>
          <a:prstGeom prst="roundRect">
            <a:avLst>
              <a:gd name="adj" fmla="val 5000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8028432" y="4160520"/>
            <a:ext cx="548640" cy="548640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pic>
        <p:nvPicPr>
          <p:cNvPr id="3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5592" y="4297680"/>
            <a:ext cx="274320" cy="274320"/>
          </a:xfrm>
          <a:prstGeom prst="rect">
            <a:avLst/>
          </a:prstGeom>
        </p:spPr>
      </p:pic>
      <p:sp>
        <p:nvSpPr>
          <p:cNvPr id="34" name="Text 30"/>
          <p:cNvSpPr txBox="1"/>
          <p:nvPr/>
        </p:nvSpPr>
        <p:spPr>
          <a:xfrm>
            <a:off x="8759952" y="416052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Dobramento de constantes</a:t>
            </a:r>
            <a:endParaRPr lang="en-US" sz="1600" dirty="0"/>
          </a:p>
        </p:txBody>
      </p:sp>
      <p:sp>
        <p:nvSpPr>
          <p:cNvPr id="35" name="Text 31"/>
          <p:cNvSpPr txBox="1"/>
          <p:nvPr/>
        </p:nvSpPr>
        <p:spPr>
          <a:xfrm>
            <a:off x="8028432" y="4846320"/>
            <a:ext cx="3291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+ 3 vira 5 quando os dois lados são números: a expressão encolhe.</a:t>
            </a:r>
            <a:endParaRPr lang="en-US" sz="1400" dirty="0"/>
          </a:p>
        </p:txBody>
      </p:sp>
      <p:sp>
        <p:nvSpPr>
          <p:cNvPr id="36" name="Text 32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05</a:t>
            </a:r>
            <a:endParaRPr lang="en-US" sz="1000" dirty="0"/>
          </a:p>
        </p:txBody>
      </p:sp>
      <p:sp>
        <p:nvSpPr>
          <p:cNvPr id="37" name="Text 33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MANIPULAÇÃO SIMBÓLICA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Derivação simbólica: as regras da aula 03 viram código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10908792" cy="457200"/>
          </a:xfrm>
          <a:prstGeom prst="roundRect">
            <a:avLst>
              <a:gd name="adj" fmla="val 20000"/>
            </a:avLst>
          </a:prstGeom>
          <a:solidFill>
            <a:srgbClr val="0F2A1D"/>
          </a:solidFill>
          <a:ln w="12700">
            <a:solidFill>
              <a:srgbClr val="0F2A1D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49808" y="17830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Expressão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3858768" y="178308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Derivada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7790688" y="1783080"/>
            <a:ext cx="3685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40080" y="2313432"/>
            <a:ext cx="10908792" cy="603504"/>
          </a:xfrm>
          <a:prstGeom prst="roundRect">
            <a:avLst>
              <a:gd name="adj" fmla="val 12121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49808" y="2313432"/>
            <a:ext cx="2926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6B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constante c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3858768" y="2313432"/>
            <a:ext cx="3749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7790688" y="2313432"/>
            <a:ext cx="36850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Constante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40080" y="2971800"/>
            <a:ext cx="10908792" cy="603504"/>
          </a:xfrm>
          <a:prstGeom prst="roundRect">
            <a:avLst>
              <a:gd name="adj" fmla="val 12121"/>
            </a:avLst>
          </a:prstGeom>
          <a:solidFill>
            <a:srgbClr val="E6EEE9"/>
          </a:solidFill>
          <a:ln w="12700">
            <a:solidFill>
              <a:srgbClr val="E6EEE9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49808" y="2971800"/>
            <a:ext cx="2926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6B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(a variável)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3858768" y="2971800"/>
            <a:ext cx="3749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7790688" y="2971800"/>
            <a:ext cx="36850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Identidade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640080" y="3630168"/>
            <a:ext cx="10908792" cy="603504"/>
          </a:xfrm>
          <a:prstGeom prst="roundRect">
            <a:avLst>
              <a:gd name="adj" fmla="val 12121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49808" y="3630168"/>
            <a:ext cx="2926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6B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+ b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3858768" y="3630168"/>
            <a:ext cx="3749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a′ + b′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7790688" y="3630168"/>
            <a:ext cx="36850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Soma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640080" y="4288536"/>
            <a:ext cx="10908792" cy="603504"/>
          </a:xfrm>
          <a:prstGeom prst="roundRect">
            <a:avLst>
              <a:gd name="adj" fmla="val 12121"/>
            </a:avLst>
          </a:prstGeom>
          <a:solidFill>
            <a:srgbClr val="E6EEE9"/>
          </a:solidFill>
          <a:ln w="12700">
            <a:solidFill>
              <a:srgbClr val="E6EEE9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749808" y="4288536"/>
            <a:ext cx="2926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6B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* b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3858768" y="4288536"/>
            <a:ext cx="3749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a′·b + a·b′</a:t>
            </a:r>
            <a:endParaRPr lang="en-US" sz="1300" dirty="0"/>
          </a:p>
        </p:txBody>
      </p:sp>
      <p:sp>
        <p:nvSpPr>
          <p:cNvPr id="25" name="Text 22"/>
          <p:cNvSpPr txBox="1"/>
          <p:nvPr/>
        </p:nvSpPr>
        <p:spPr>
          <a:xfrm>
            <a:off x="7790688" y="4288536"/>
            <a:ext cx="36850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Produto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640080" y="4946904"/>
            <a:ext cx="10908792" cy="603504"/>
          </a:xfrm>
          <a:prstGeom prst="roundRect">
            <a:avLst>
              <a:gd name="adj" fmla="val 12121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749808" y="4946904"/>
            <a:ext cx="2926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6B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^ n</a:t>
            </a:r>
            <a:endParaRPr lang="en-US" sz="1300" dirty="0"/>
          </a:p>
        </p:txBody>
      </p:sp>
      <p:sp>
        <p:nvSpPr>
          <p:cNvPr id="28" name="Text 25"/>
          <p:cNvSpPr txBox="1"/>
          <p:nvPr/>
        </p:nvSpPr>
        <p:spPr>
          <a:xfrm>
            <a:off x="3858768" y="4946904"/>
            <a:ext cx="3749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 · a^(n−1) · a′</a:t>
            </a:r>
            <a:endParaRPr lang="en-US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7790688" y="4946904"/>
            <a:ext cx="36850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Potência com cadeia</a:t>
            </a:r>
            <a:endParaRPr lang="en-US" sz="1400" dirty="0"/>
          </a:p>
        </p:txBody>
      </p:sp>
      <p:sp>
        <p:nvSpPr>
          <p:cNvPr id="30" name="Text 27"/>
          <p:cNvSpPr txBox="1"/>
          <p:nvPr/>
        </p:nvSpPr>
        <p:spPr>
          <a:xfrm>
            <a:off x="640080" y="5760720"/>
            <a:ext cx="10911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linha da tabela vira um if na função derivar: o programa “sabe” cálculo porque as regras são dados e código.</a:t>
            </a:r>
            <a:endParaRPr lang="en-US" sz="1400" dirty="0"/>
          </a:p>
        </p:txBody>
      </p:sp>
      <p:sp>
        <p:nvSpPr>
          <p:cNvPr id="31" name="Text 28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05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MANIPULAÇÃO SIMBÓLICA · PRÁTICA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Derivar expressões em Python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8229600" cy="3931920"/>
          </a:xfrm>
          <a:prstGeom prst="roundRect">
            <a:avLst>
              <a:gd name="adj" fmla="val 2791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41248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42416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43584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554480" y="1901952"/>
            <a:ext cx="7132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simbolico.py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2286000"/>
            <a:ext cx="768096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derivar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"x"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914400" y="2552700"/>
            <a:ext cx="768096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isinstance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float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914400" y="2819400"/>
            <a:ext cx="768096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914400" y="3086100"/>
            <a:ext cx="768096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isinstance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914400" y="3352800"/>
            <a:ext cx="768096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914400" y="3619500"/>
            <a:ext cx="768096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914400" y="3886200"/>
            <a:ext cx="768096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"+"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914400" y="4152900"/>
            <a:ext cx="768096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"+"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derivar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derivar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914400" y="4419600"/>
            <a:ext cx="768096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"*"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914400" y="4686300"/>
            <a:ext cx="768096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"+"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"*"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derivar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"*"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derivar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914400" y="4953000"/>
            <a:ext cx="768096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"^"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914400" y="5219700"/>
            <a:ext cx="768096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"*"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"*"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"^"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derivar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9052560" y="1783080"/>
            <a:ext cx="2496312" cy="4343400"/>
          </a:xfrm>
          <a:prstGeom prst="roundRect">
            <a:avLst>
              <a:gd name="adj" fmla="val 4396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9281160" y="2011680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8320" y="2148840"/>
            <a:ext cx="274320" cy="274320"/>
          </a:xfrm>
          <a:prstGeom prst="rect">
            <a:avLst/>
          </a:prstGeom>
        </p:spPr>
      </p:pic>
      <p:sp>
        <p:nvSpPr>
          <p:cNvPr id="26" name="Text 22"/>
          <p:cNvSpPr txBox="1"/>
          <p:nvPr/>
        </p:nvSpPr>
        <p:spPr>
          <a:xfrm>
            <a:off x="10012680" y="2011680"/>
            <a:ext cx="1307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Recursão</a:t>
            </a:r>
            <a:endParaRPr lang="en-US" sz="1600" dirty="0"/>
          </a:p>
        </p:txBody>
      </p:sp>
      <p:sp>
        <p:nvSpPr>
          <p:cNvPr id="27" name="Text 23"/>
          <p:cNvSpPr txBox="1"/>
          <p:nvPr/>
        </p:nvSpPr>
        <p:spPr>
          <a:xfrm>
            <a:off x="9281160" y="2697480"/>
            <a:ext cx="2039112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base: constante e variável. Casos recursivos: derivar os filhos e combinar pela regra.</a:t>
            </a:r>
            <a:endParaRPr lang="en-US" sz="1400" dirty="0"/>
          </a:p>
        </p:txBody>
      </p:sp>
      <p:sp>
        <p:nvSpPr>
          <p:cNvPr id="28" name="Text 24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05</a:t>
            </a:r>
            <a:endParaRPr lang="en-US" sz="1000" dirty="0"/>
          </a:p>
        </p:txBody>
      </p:sp>
      <p:sp>
        <p:nvSpPr>
          <p:cNvPr id="29" name="Text 25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MANIPULAÇÃO SIMBÓLICA · PRÁTICA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Derivando x³ + 5x e simplificando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5852160" cy="3665220"/>
          </a:xfrm>
          <a:prstGeom prst="roundRect">
            <a:avLst>
              <a:gd name="adj" fmla="val 2994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41248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42416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43584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554480" y="1901952"/>
            <a:ext cx="4754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simbolico.py (continuação)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2286000"/>
            <a:ext cx="530352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mostrar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914400" y="2552700"/>
            <a:ext cx="530352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isinstance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tuple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914400" y="2819400"/>
            <a:ext cx="530352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914400" y="3086100"/>
            <a:ext cx="530352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914400" y="3352800"/>
            <a:ext cx="530352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"({mostrar(a)} {op} {mostrar(b)})"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914400" y="3886200"/>
            <a:ext cx="530352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"+"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"^"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"x"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"*"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"x"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914400" y="4152900"/>
            <a:ext cx="530352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derivar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914400" y="4419600"/>
            <a:ext cx="530352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mostrar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914400" y="4686300"/>
            <a:ext cx="530352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mostrar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simplificar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914400" y="4953000"/>
            <a:ext cx="530352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avaliar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simplificar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"x"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6702552" y="1783080"/>
            <a:ext cx="4846320" cy="2065020"/>
          </a:xfrm>
          <a:prstGeom prst="roundRect">
            <a:avLst>
              <a:gd name="adj" fmla="val 5314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903720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7104888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7306056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7616952" y="1901952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Resultados (1ª saída quebrada em 2 linhas)</a:t>
            </a:r>
            <a:endParaRPr lang="en-US" sz="1100" dirty="0"/>
          </a:p>
        </p:txBody>
      </p:sp>
      <p:sp>
        <p:nvSpPr>
          <p:cNvPr id="26" name="Text 23"/>
          <p:cNvSpPr txBox="1"/>
          <p:nvPr/>
        </p:nvSpPr>
        <p:spPr>
          <a:xfrm>
            <a:off x="6976872" y="2286000"/>
            <a:ext cx="429768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(((3 * (x ^ 2)) * 1) +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6976872" y="2552700"/>
            <a:ext cx="429768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((0 * x) + (5 * 1)))</a:t>
            </a:r>
            <a:endParaRPr lang="en-US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6976872" y="3086100"/>
            <a:ext cx="429768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((3 * (x ^ 2)) + 5)</a:t>
            </a:r>
            <a:endParaRPr lang="en-US" sz="1400" dirty="0"/>
          </a:p>
        </p:txBody>
      </p:sp>
      <p:sp>
        <p:nvSpPr>
          <p:cNvPr id="29" name="Text 26"/>
          <p:cNvSpPr txBox="1"/>
          <p:nvPr/>
        </p:nvSpPr>
        <p:spPr>
          <a:xfrm>
            <a:off x="6976872" y="3352800"/>
            <a:ext cx="429768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</a:t>
            </a:r>
            <a:endParaRPr lang="en-US" sz="1400" dirty="0"/>
          </a:p>
        </p:txBody>
      </p:sp>
      <p:sp>
        <p:nvSpPr>
          <p:cNvPr id="30" name="Shape 27"/>
          <p:cNvSpPr/>
          <p:nvPr/>
        </p:nvSpPr>
        <p:spPr>
          <a:xfrm>
            <a:off x="6702552" y="4023360"/>
            <a:ext cx="4846320" cy="2103120"/>
          </a:xfrm>
          <a:prstGeom prst="roundRect">
            <a:avLst>
              <a:gd name="adj" fmla="val 5217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903720" y="4023360"/>
            <a:ext cx="44805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derivada crua cheia de “* 1” e “0 *” é correta, só não está enxuta. simplificar a reduz a 3x² + 5. Em x = 2 vale 17, igual ao valor numérico que obtivemos na aula 03 (17,00000000006).</a:t>
            </a:r>
            <a:endParaRPr lang="en-US" sz="1400" dirty="0"/>
          </a:p>
        </p:txBody>
      </p:sp>
      <p:sp>
        <p:nvSpPr>
          <p:cNvPr id="32" name="Text 29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05</a:t>
            </a:r>
            <a:endParaRPr lang="en-US" sz="1000" dirty="0"/>
          </a:p>
        </p:txBody>
      </p:sp>
      <p:sp>
        <p:nvSpPr>
          <p:cNvPr id="33" name="Text 30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MANIPULAÇÃO SIMBÓLICA · PRÁTICA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SymPy: matemática simbólica profissional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5852160" cy="2560320"/>
          </a:xfrm>
          <a:prstGeom prst="roundRect">
            <a:avLst>
              <a:gd name="adj" fmla="val 4286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41248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42416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43584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554480" y="1901952"/>
            <a:ext cx="4754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sympy_demo.py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2286000"/>
            <a:ext cx="530352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sympy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symbols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diff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simplify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expand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solve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914400" y="2743200"/>
            <a:ext cx="530352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symbols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"x"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914400" y="2971800"/>
            <a:ext cx="530352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buNone/>
            </a:pPr>
            <a:r>
              <a:rPr lang="en-US" sz="12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914400" y="3200400"/>
            <a:ext cx="530352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diff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914400" y="3429000"/>
            <a:ext cx="530352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expand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914400" y="3657600"/>
            <a:ext cx="530352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simplify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buNone/>
            </a:pPr>
            <a:r>
              <a:rPr lang="en-US" sz="12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914400" y="3886200"/>
            <a:ext cx="530352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solve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buNone/>
            </a:pPr>
            <a:r>
              <a:rPr lang="en-US" sz="12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6702552" y="1783080"/>
            <a:ext cx="4846320" cy="2065020"/>
          </a:xfrm>
          <a:prstGeom prst="roundRect">
            <a:avLst>
              <a:gd name="adj" fmla="val 5314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903720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7104888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306056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616952" y="1901952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 (pip install sympy)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6976872" y="2286000"/>
            <a:ext cx="429768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PS&gt;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sympy_demo.py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6976872" y="2552700"/>
            <a:ext cx="429768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5D3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3*x**2 + 5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6976872" y="2819400"/>
            <a:ext cx="429768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5D3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3*x + 6</a:t>
            </a:r>
            <a:endParaRPr lang="en-US" sz="1400" dirty="0"/>
          </a:p>
        </p:txBody>
      </p:sp>
      <p:sp>
        <p:nvSpPr>
          <p:cNvPr id="26" name="Text 23"/>
          <p:cNvSpPr txBox="1"/>
          <p:nvPr/>
        </p:nvSpPr>
        <p:spPr>
          <a:xfrm>
            <a:off x="6976872" y="3086100"/>
            <a:ext cx="429768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5D3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+ 1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6976872" y="3352800"/>
            <a:ext cx="429768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5D3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[-2, 2]</a:t>
            </a:r>
            <a:endParaRPr lang="en-US" sz="1400" dirty="0"/>
          </a:p>
        </p:txBody>
      </p:sp>
      <p:sp>
        <p:nvSpPr>
          <p:cNvPr id="28" name="Shape 25"/>
          <p:cNvSpPr/>
          <p:nvPr/>
        </p:nvSpPr>
        <p:spPr>
          <a:xfrm>
            <a:off x="640080" y="4434840"/>
            <a:ext cx="3493008" cy="1691640"/>
          </a:xfrm>
          <a:prstGeom prst="roundRect">
            <a:avLst>
              <a:gd name="adj" fmla="val 6486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868680" y="45262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6B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diff</a:t>
            </a:r>
            <a:endParaRPr lang="en-US" sz="1500" dirty="0"/>
          </a:p>
        </p:txBody>
      </p:sp>
      <p:sp>
        <p:nvSpPr>
          <p:cNvPr id="30" name="Text 27"/>
          <p:cNvSpPr txBox="1"/>
          <p:nvPr/>
        </p:nvSpPr>
        <p:spPr>
          <a:xfrm>
            <a:off x="868680" y="4937760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Derivada simbólica: a mesma 3x² + 5 que deduzimos à mão.</a:t>
            </a:r>
            <a:endParaRPr lang="en-US" sz="1400" dirty="0"/>
          </a:p>
        </p:txBody>
      </p:sp>
      <p:sp>
        <p:nvSpPr>
          <p:cNvPr id="31" name="Shape 28"/>
          <p:cNvSpPr/>
          <p:nvPr/>
        </p:nvSpPr>
        <p:spPr>
          <a:xfrm>
            <a:off x="4347972" y="4434840"/>
            <a:ext cx="3493008" cy="1691640"/>
          </a:xfrm>
          <a:prstGeom prst="roundRect">
            <a:avLst>
              <a:gd name="adj" fmla="val 6486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4576572" y="45262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6B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simplify</a:t>
            </a:r>
            <a:endParaRPr lang="en-US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4576572" y="4937760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 o limite da aula 03: (x²−1)/(x−1) = x + 1.</a:t>
            </a:r>
            <a:endParaRPr lang="en-US" sz="1400" dirty="0"/>
          </a:p>
        </p:txBody>
      </p:sp>
      <p:sp>
        <p:nvSpPr>
          <p:cNvPr id="34" name="Shape 31"/>
          <p:cNvSpPr/>
          <p:nvPr/>
        </p:nvSpPr>
        <p:spPr>
          <a:xfrm>
            <a:off x="8055864" y="4434840"/>
            <a:ext cx="3493008" cy="1691640"/>
          </a:xfrm>
          <a:prstGeom prst="roundRect">
            <a:avLst>
              <a:gd name="adj" fmla="val 6486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284464" y="45262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6B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solve</a:t>
            </a:r>
            <a:endParaRPr lang="en-US" sz="1500" dirty="0"/>
          </a:p>
        </p:txBody>
      </p:sp>
      <p:sp>
        <p:nvSpPr>
          <p:cNvPr id="36" name="Text 33"/>
          <p:cNvSpPr txBox="1"/>
          <p:nvPr/>
        </p:nvSpPr>
        <p:spPr>
          <a:xfrm>
            <a:off x="8284464" y="4937760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 equações: x² = 4 tem raízes −2 e 2.</a:t>
            </a:r>
            <a:endParaRPr lang="en-US" sz="1400" dirty="0"/>
          </a:p>
        </p:txBody>
      </p:sp>
      <p:sp>
        <p:nvSpPr>
          <p:cNvPr id="37" name="Text 34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05</a:t>
            </a:r>
            <a:endParaRPr lang="en-US" sz="1000" dirty="0"/>
          </a:p>
        </p:txBody>
      </p:sp>
      <p:sp>
        <p:nvSpPr>
          <p:cNvPr id="38" name="Text 35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UNIFICAÇÃO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Unificação: tornar dois termos iguais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10911535" cy="1188720"/>
          </a:xfrm>
          <a:prstGeom prst="roundRect">
            <a:avLst>
              <a:gd name="adj" fmla="val 9231"/>
            </a:avLst>
          </a:prstGeom>
          <a:solidFill>
            <a:srgbClr val="0F2A1D"/>
          </a:solidFill>
          <a:ln w="12700">
            <a:solidFill>
              <a:srgbClr val="0F2A1D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14400" y="1783080"/>
            <a:ext cx="1036289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Unificar = achar uma substituição das variáveis que deixa os dois termos idênticos.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640080" y="3200400"/>
            <a:ext cx="10908792" cy="457200"/>
          </a:xfrm>
          <a:prstGeom prst="roundRect">
            <a:avLst>
              <a:gd name="adj" fmla="val 20000"/>
            </a:avLst>
          </a:prstGeom>
          <a:solidFill>
            <a:srgbClr val="0F2A1D"/>
          </a:solidFill>
          <a:ln w="12700">
            <a:solidFill>
              <a:srgbClr val="0F2A1D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49808" y="32004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Termo 1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3950208" y="32004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Termo 2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7150608" y="32004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Substituição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10168128" y="3200400"/>
            <a:ext cx="1307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Casa?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40080" y="3730752"/>
            <a:ext cx="10908792" cy="475488"/>
          </a:xfrm>
          <a:prstGeom prst="roundRect">
            <a:avLst>
              <a:gd name="adj" fmla="val 15385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49808" y="3730752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pai(X, maria)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3950208" y="3730752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pai(joao, maria)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7150608" y="3730752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joao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10168128" y="3730752"/>
            <a:ext cx="13075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640080" y="4261104"/>
            <a:ext cx="10908792" cy="475488"/>
          </a:xfrm>
          <a:prstGeom prst="roundRect">
            <a:avLst>
              <a:gd name="adj" fmla="val 15385"/>
            </a:avLst>
          </a:prstGeom>
          <a:solidFill>
            <a:srgbClr val="E6EEE9"/>
          </a:solidFill>
          <a:ln w="12700">
            <a:solidFill>
              <a:srgbClr val="E6EEE9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49808" y="4261104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pai(X, Y)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3950208" y="4261104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pai(joao, maria)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7150608" y="4261104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joao, Y = maria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10168128" y="4261104"/>
            <a:ext cx="13075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40080" y="4791456"/>
            <a:ext cx="10908792" cy="475488"/>
          </a:xfrm>
          <a:prstGeom prst="roundRect">
            <a:avLst>
              <a:gd name="adj" fmla="val 15385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749808" y="4791456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pai(joao, maria)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3950208" y="4791456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pai(pedro, maria)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7150608" y="4791456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endParaRPr lang="en-US" sz="1200" dirty="0"/>
          </a:p>
        </p:txBody>
      </p:sp>
      <p:sp>
        <p:nvSpPr>
          <p:cNvPr id="27" name="Text 24"/>
          <p:cNvSpPr txBox="1"/>
          <p:nvPr/>
        </p:nvSpPr>
        <p:spPr>
          <a:xfrm>
            <a:off x="10168128" y="4791456"/>
            <a:ext cx="13075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640080" y="5321808"/>
            <a:ext cx="10908792" cy="475488"/>
          </a:xfrm>
          <a:prstGeom prst="roundRect">
            <a:avLst>
              <a:gd name="adj" fmla="val 15385"/>
            </a:avLst>
          </a:prstGeom>
          <a:solidFill>
            <a:srgbClr val="E6EEE9"/>
          </a:solidFill>
          <a:ln w="12700">
            <a:solidFill>
              <a:srgbClr val="E6EEE9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749808" y="5321808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pai(X, X)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3950208" y="5321808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pai(joao, maria)</a:t>
            </a:r>
            <a:endParaRPr lang="en-US" sz="1200" dirty="0"/>
          </a:p>
        </p:txBody>
      </p:sp>
      <p:sp>
        <p:nvSpPr>
          <p:cNvPr id="31" name="Text 28"/>
          <p:cNvSpPr txBox="1"/>
          <p:nvPr/>
        </p:nvSpPr>
        <p:spPr>
          <a:xfrm>
            <a:off x="7150608" y="5321808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endParaRPr lang="en-US" sz="1200" dirty="0"/>
          </a:p>
        </p:txBody>
      </p:sp>
      <p:sp>
        <p:nvSpPr>
          <p:cNvPr id="32" name="Text 29"/>
          <p:cNvSpPr txBox="1"/>
          <p:nvPr/>
        </p:nvSpPr>
        <p:spPr>
          <a:xfrm>
            <a:off x="10168128" y="5321808"/>
            <a:ext cx="13075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</a:t>
            </a:r>
            <a:endParaRPr lang="en-US" sz="1300" dirty="0"/>
          </a:p>
        </p:txBody>
      </p:sp>
      <p:sp>
        <p:nvSpPr>
          <p:cNvPr id="33" name="Text 30"/>
          <p:cNvSpPr txBox="1"/>
          <p:nvPr/>
        </p:nvSpPr>
        <p:spPr>
          <a:xfrm>
            <a:off x="640080" y="585216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Convenção (como em Prolog): nomes que começam com maiúscula são variáveis; minúsculas são constantes.</a:t>
            </a:r>
            <a:endParaRPr lang="en-US" sz="1300" dirty="0"/>
          </a:p>
        </p:txBody>
      </p:sp>
      <p:sp>
        <p:nvSpPr>
          <p:cNvPr id="34" name="Text 31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05</a:t>
            </a:r>
            <a:endParaRPr lang="en-US" sz="1000" dirty="0"/>
          </a:p>
        </p:txBody>
      </p:sp>
      <p:sp>
        <p:nvSpPr>
          <p:cNvPr id="35" name="Text 32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UNIFICAÇÃO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algoritmo de unificação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5349240" cy="1920240"/>
          </a:xfrm>
          <a:prstGeom prst="roundRect">
            <a:avLst>
              <a:gd name="adj" fmla="val 5714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68680" y="2011680"/>
            <a:ext cx="502920" cy="50292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68680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1554480" y="201168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Aplicar o que já sabemos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868680" y="2697480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Troque cada variável pelo valor já ligado a ela na substituição atual.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6199632" y="1783080"/>
            <a:ext cx="5349240" cy="1920240"/>
          </a:xfrm>
          <a:prstGeom prst="roundRect">
            <a:avLst>
              <a:gd name="adj" fmla="val 5714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428232" y="2011680"/>
            <a:ext cx="502920" cy="50292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28232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7114032" y="201168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Iguais? Pronto</a:t>
            </a:r>
            <a:endParaRPr lang="en-US" sz="1700" dirty="0"/>
          </a:p>
        </p:txBody>
      </p:sp>
      <p:sp>
        <p:nvSpPr>
          <p:cNvPr id="15" name="Text 12"/>
          <p:cNvSpPr txBox="1"/>
          <p:nvPr/>
        </p:nvSpPr>
        <p:spPr>
          <a:xfrm>
            <a:off x="6428232" y="2697480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os dois termos já são idênticos, a substituição atual serve.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640080" y="3867912"/>
            <a:ext cx="5349240" cy="1920240"/>
          </a:xfrm>
          <a:prstGeom prst="roundRect">
            <a:avLst>
              <a:gd name="adj" fmla="val 5714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68680" y="4096512"/>
            <a:ext cx="502920" cy="50292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68680" y="40965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1554480" y="4096512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Variável? Ligue</a:t>
            </a:r>
            <a:endParaRPr lang="en-US" sz="1700" dirty="0"/>
          </a:p>
        </p:txBody>
      </p:sp>
      <p:sp>
        <p:nvSpPr>
          <p:cNvPr id="20" name="Text 17"/>
          <p:cNvSpPr txBox="1"/>
          <p:nvPr/>
        </p:nvSpPr>
        <p:spPr>
          <a:xfrm>
            <a:off x="868680" y="4782312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um lado é variável, ligue-a ao outro lado e siga.</a:t>
            </a:r>
            <a:endParaRPr lang="en-US" sz="1500" dirty="0"/>
          </a:p>
        </p:txBody>
      </p:sp>
      <p:sp>
        <p:nvSpPr>
          <p:cNvPr id="21" name="Shape 18"/>
          <p:cNvSpPr/>
          <p:nvPr/>
        </p:nvSpPr>
        <p:spPr>
          <a:xfrm>
            <a:off x="6199632" y="3867912"/>
            <a:ext cx="5349240" cy="1920240"/>
          </a:xfrm>
          <a:prstGeom prst="roundRect">
            <a:avLst>
              <a:gd name="adj" fmla="val 5714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428232" y="4096512"/>
            <a:ext cx="502920" cy="502920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428232" y="40965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Text 21"/>
          <p:cNvSpPr txBox="1"/>
          <p:nvPr/>
        </p:nvSpPr>
        <p:spPr>
          <a:xfrm>
            <a:off x="7114032" y="4096512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Estrutura? Compare partes</a:t>
            </a:r>
            <a:endParaRPr lang="en-US" sz="1700" dirty="0"/>
          </a:p>
        </p:txBody>
      </p:sp>
      <p:sp>
        <p:nvSpPr>
          <p:cNvPr id="25" name="Text 22"/>
          <p:cNvSpPr txBox="1"/>
          <p:nvPr/>
        </p:nvSpPr>
        <p:spPr>
          <a:xfrm>
            <a:off x="6428232" y="4782312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ambos são tuplas do mesmo tamanho, unifique elemento a elemento. Senão, falha.</a:t>
            </a:r>
            <a:endParaRPr lang="en-US" sz="1500" dirty="0"/>
          </a:p>
        </p:txBody>
      </p:sp>
      <p:sp>
        <p:nvSpPr>
          <p:cNvPr id="26" name="Text 23"/>
          <p:cNvSpPr txBox="1"/>
          <p:nvPr/>
        </p:nvSpPr>
        <p:spPr>
          <a:xfrm>
            <a:off x="640080" y="580644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Versões completas incluem a “verificação de ocorrência” (occurs check), que evita X = f(X). Nossa versão a omite para ficar curta.</a:t>
            </a:r>
            <a:endParaRPr lang="en-US" sz="1300" dirty="0"/>
          </a:p>
        </p:txBody>
      </p:sp>
      <p:sp>
        <p:nvSpPr>
          <p:cNvPr id="27" name="Text 24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05</a:t>
            </a:r>
            <a:endParaRPr lang="en-US" sz="1000" dirty="0"/>
          </a:p>
        </p:txBody>
      </p:sp>
      <p:sp>
        <p:nvSpPr>
          <p:cNvPr id="28" name="Text 25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UNIFICAÇÃO · PRÁTICA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Unificação em Python (1/3): variáveis e substituição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5852160" cy="2598420"/>
          </a:xfrm>
          <a:prstGeom prst="roundRect">
            <a:avLst>
              <a:gd name="adj" fmla="val 4223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41248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42416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43584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554480" y="1901952"/>
            <a:ext cx="4754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unify.py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2286000"/>
            <a:ext cx="530352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eh_var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914400" y="2552700"/>
            <a:ext cx="530352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isinstance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isupper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914400" y="3086100"/>
            <a:ext cx="530352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walk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914400" y="3352800"/>
            <a:ext cx="530352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eh_var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914400" y="3619500"/>
            <a:ext cx="530352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914400" y="3886200"/>
            <a:ext cx="530352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7040880" y="1874520"/>
            <a:ext cx="457200" cy="45720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04088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7680960" y="17830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eh_var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7680960" y="214884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Variável é texto que começa com maiúscula: X, Y, Pai.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7040880" y="2953512"/>
            <a:ext cx="457200" cy="45720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040880" y="2953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7680960" y="286207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7680960" y="3227832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substituição: um dicionário {variável: valor}.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7040880" y="4032504"/>
            <a:ext cx="457200" cy="45720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7040880" y="40325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7" name="Text 24"/>
          <p:cNvSpPr txBox="1"/>
          <p:nvPr/>
        </p:nvSpPr>
        <p:spPr>
          <a:xfrm>
            <a:off x="7680960" y="3941064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walk</a:t>
            </a:r>
            <a:endParaRPr lang="en-US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7680960" y="4306824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Segue as ligações: se X → Y e Y → maria, walk(X) = maria.</a:t>
            </a:r>
            <a:endParaRPr lang="en-US" sz="1400" dirty="0"/>
          </a:p>
        </p:txBody>
      </p:sp>
      <p:sp>
        <p:nvSpPr>
          <p:cNvPr id="29" name="Text 26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05</a:t>
            </a:r>
            <a:endParaRPr lang="en-US" sz="1000" dirty="0"/>
          </a:p>
        </p:txBody>
      </p:sp>
      <p:sp>
        <p:nvSpPr>
          <p:cNvPr id="30" name="Text 27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UNIFICAÇÃO · PRÁTICA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Unificação em Python (2/3): os casos simples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5852160" cy="3398520"/>
          </a:xfrm>
          <a:prstGeom prst="roundRect">
            <a:avLst>
              <a:gd name="adj" fmla="val 3229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41248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42416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43584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554480" y="1901952"/>
            <a:ext cx="4754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unify.py (continuação)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2286000"/>
            <a:ext cx="530352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unificar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914400" y="2552700"/>
            <a:ext cx="530352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None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914400" y="2819400"/>
            <a:ext cx="530352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None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914400" y="3086100"/>
            <a:ext cx="530352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walk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walk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914400" y="3352800"/>
            <a:ext cx="530352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914400" y="3619500"/>
            <a:ext cx="530352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914400" y="3886200"/>
            <a:ext cx="530352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eh_var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914400" y="4152900"/>
            <a:ext cx="530352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914400" y="4419600"/>
            <a:ext cx="530352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eh_var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914400" y="4686300"/>
            <a:ext cx="530352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7040880" y="1874520"/>
            <a:ext cx="457200" cy="45720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04088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7680960" y="17830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 is None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7680960" y="214884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falha anterior: propaga a falha (None).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7040880" y="2953512"/>
            <a:ext cx="457200" cy="45720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7040880" y="2953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27" name="Text 24"/>
          <p:cNvSpPr txBox="1"/>
          <p:nvPr/>
        </p:nvSpPr>
        <p:spPr>
          <a:xfrm>
            <a:off x="7680960" y="286207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== b</a:t>
            </a:r>
            <a:endParaRPr lang="en-US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7680960" y="3227832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Já são iguais: nada a fazer, devolve s.</a:t>
            </a:r>
            <a:endParaRPr lang="en-US" sz="1400" dirty="0"/>
          </a:p>
        </p:txBody>
      </p:sp>
      <p:sp>
        <p:nvSpPr>
          <p:cNvPr id="29" name="Shape 26"/>
          <p:cNvSpPr/>
          <p:nvPr/>
        </p:nvSpPr>
        <p:spPr>
          <a:xfrm>
            <a:off x="7040880" y="4032504"/>
            <a:ext cx="457200" cy="45720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7040880" y="40325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31" name="Text 28"/>
          <p:cNvSpPr txBox="1"/>
          <p:nvPr/>
        </p:nvSpPr>
        <p:spPr>
          <a:xfrm>
            <a:off x="7680960" y="3941064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{**s, a: b}</a:t>
            </a:r>
            <a:endParaRPr lang="en-US" sz="1400" dirty="0"/>
          </a:p>
        </p:txBody>
      </p:sp>
      <p:sp>
        <p:nvSpPr>
          <p:cNvPr id="32" name="Text 29"/>
          <p:cNvSpPr txBox="1"/>
          <p:nvPr/>
        </p:nvSpPr>
        <p:spPr>
          <a:xfrm>
            <a:off x="7680960" y="4306824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 uma substituição nova com a ligação extra (imutável).</a:t>
            </a:r>
            <a:endParaRPr lang="en-US" sz="1400" dirty="0"/>
          </a:p>
        </p:txBody>
      </p:sp>
      <p:sp>
        <p:nvSpPr>
          <p:cNvPr id="33" name="Text 30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05</a:t>
            </a:r>
            <a:endParaRPr lang="en-US" sz="1000" dirty="0"/>
          </a:p>
        </p:txBody>
      </p:sp>
      <p:sp>
        <p:nvSpPr>
          <p:cNvPr id="34" name="Text 31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UNIFICAÇÃO · PRÁTICA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Unificação em Python (3/3): estruturas e testes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6675120" cy="2331720"/>
          </a:xfrm>
          <a:prstGeom prst="roundRect">
            <a:avLst>
              <a:gd name="adj" fmla="val 4706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41248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42416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43584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554480" y="1901952"/>
            <a:ext cx="5577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unify.py (continuação)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2286000"/>
            <a:ext cx="612648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isinstance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tuple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isinstance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tuple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\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914400" y="2552700"/>
            <a:ext cx="612648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914400" y="2819400"/>
            <a:ext cx="612648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zip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914400" y="3086100"/>
            <a:ext cx="612648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unificar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914400" y="3352800"/>
            <a:ext cx="612648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914400" y="3619500"/>
            <a:ext cx="612648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None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640080" y="4389120"/>
            <a:ext cx="6675120" cy="1188720"/>
          </a:xfrm>
          <a:prstGeom prst="roundRect">
            <a:avLst>
              <a:gd name="adj" fmla="val 9231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41248" y="457200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1042416" y="457200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1243584" y="457200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554480" y="4507992"/>
            <a:ext cx="5577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Teste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914400" y="4892040"/>
            <a:ext cx="612648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unificar(("pai", "X", "maria"), ("pai", "joao", "maria"), {})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914400" y="5120640"/>
            <a:ext cx="612648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{'X': 'joao'}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7498080" y="1783080"/>
            <a:ext cx="4050792" cy="457200"/>
          </a:xfrm>
          <a:prstGeom prst="roundRect">
            <a:avLst>
              <a:gd name="adj" fmla="val 20000"/>
            </a:avLst>
          </a:prstGeom>
          <a:solidFill>
            <a:srgbClr val="0F2A1D"/>
          </a:solidFill>
          <a:ln w="12700">
            <a:solidFill>
              <a:srgbClr val="0F2A1D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7607808" y="17830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10259568" y="1783080"/>
            <a:ext cx="1216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7498080" y="2313432"/>
            <a:ext cx="4050792" cy="512064"/>
          </a:xfrm>
          <a:prstGeom prst="roundRect">
            <a:avLst>
              <a:gd name="adj" fmla="val 14286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7607808" y="2313432"/>
            <a:ext cx="2468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pai(X, maria) e pai(joao, maria)</a:t>
            </a:r>
            <a:endParaRPr lang="en-US" sz="1200" dirty="0"/>
          </a:p>
        </p:txBody>
      </p:sp>
      <p:sp>
        <p:nvSpPr>
          <p:cNvPr id="29" name="Text 26"/>
          <p:cNvSpPr txBox="1"/>
          <p:nvPr/>
        </p:nvSpPr>
        <p:spPr>
          <a:xfrm>
            <a:off x="10259568" y="2313432"/>
            <a:ext cx="12161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= joao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7498080" y="2880360"/>
            <a:ext cx="4050792" cy="512064"/>
          </a:xfrm>
          <a:prstGeom prst="roundRect">
            <a:avLst>
              <a:gd name="adj" fmla="val 14286"/>
            </a:avLst>
          </a:prstGeom>
          <a:solidFill>
            <a:srgbClr val="E6EEE9"/>
          </a:solidFill>
          <a:ln w="12700">
            <a:solidFill>
              <a:srgbClr val="E6EEE9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7607808" y="2880360"/>
            <a:ext cx="2468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pai(X, Y) e pai(joao, maria)</a:t>
            </a:r>
            <a:endParaRPr lang="en-US" sz="1200" dirty="0"/>
          </a:p>
        </p:txBody>
      </p:sp>
      <p:sp>
        <p:nvSpPr>
          <p:cNvPr id="32" name="Text 29"/>
          <p:cNvSpPr txBox="1"/>
          <p:nvPr/>
        </p:nvSpPr>
        <p:spPr>
          <a:xfrm>
            <a:off x="10259568" y="2880360"/>
            <a:ext cx="12161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X, Y</a:t>
            </a:r>
            <a:endParaRPr lang="en-US" sz="1200" dirty="0"/>
          </a:p>
        </p:txBody>
      </p:sp>
      <p:sp>
        <p:nvSpPr>
          <p:cNvPr id="33" name="Shape 30"/>
          <p:cNvSpPr/>
          <p:nvPr/>
        </p:nvSpPr>
        <p:spPr>
          <a:xfrm>
            <a:off x="7498080" y="3447288"/>
            <a:ext cx="4050792" cy="512064"/>
          </a:xfrm>
          <a:prstGeom prst="roundRect">
            <a:avLst>
              <a:gd name="adj" fmla="val 14286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7607808" y="3447288"/>
            <a:ext cx="2468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joao e pedro</a:t>
            </a:r>
            <a:endParaRPr lang="en-US" sz="1200" dirty="0"/>
          </a:p>
        </p:txBody>
      </p:sp>
      <p:sp>
        <p:nvSpPr>
          <p:cNvPr id="35" name="Text 32"/>
          <p:cNvSpPr txBox="1"/>
          <p:nvPr/>
        </p:nvSpPr>
        <p:spPr>
          <a:xfrm>
            <a:off x="10259568" y="3447288"/>
            <a:ext cx="12161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1200" dirty="0"/>
          </a:p>
        </p:txBody>
      </p:sp>
      <p:sp>
        <p:nvSpPr>
          <p:cNvPr id="36" name="Shape 33"/>
          <p:cNvSpPr/>
          <p:nvPr/>
        </p:nvSpPr>
        <p:spPr>
          <a:xfrm>
            <a:off x="7498080" y="4014216"/>
            <a:ext cx="4050792" cy="512064"/>
          </a:xfrm>
          <a:prstGeom prst="roundRect">
            <a:avLst>
              <a:gd name="adj" fmla="val 14286"/>
            </a:avLst>
          </a:prstGeom>
          <a:solidFill>
            <a:srgbClr val="E6EEE9"/>
          </a:solidFill>
          <a:ln w="12700">
            <a:solidFill>
              <a:srgbClr val="E6EEE9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7607808" y="4014216"/>
            <a:ext cx="2468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pai(X, X) e pai(joao, maria)</a:t>
            </a:r>
            <a:endParaRPr lang="en-US" sz="1200" dirty="0"/>
          </a:p>
        </p:txBody>
      </p:sp>
      <p:sp>
        <p:nvSpPr>
          <p:cNvPr id="38" name="Text 35"/>
          <p:cNvSpPr txBox="1"/>
          <p:nvPr/>
        </p:nvSpPr>
        <p:spPr>
          <a:xfrm>
            <a:off x="10259568" y="4014216"/>
            <a:ext cx="12161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1200" dirty="0"/>
          </a:p>
        </p:txBody>
      </p:sp>
      <p:sp>
        <p:nvSpPr>
          <p:cNvPr id="39" name="Text 36"/>
          <p:cNvSpPr txBox="1"/>
          <p:nvPr/>
        </p:nvSpPr>
        <p:spPr>
          <a:xfrm>
            <a:off x="7498080" y="4754880"/>
            <a:ext cx="4050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significa que os termos não unificam.</a:t>
            </a:r>
            <a:endParaRPr lang="en-US" sz="1300" dirty="0"/>
          </a:p>
        </p:txBody>
      </p:sp>
      <p:sp>
        <p:nvSpPr>
          <p:cNvPr id="40" name="Text 37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05</a:t>
            </a:r>
            <a:endParaRPr lang="en-US" sz="1000" dirty="0"/>
          </a:p>
        </p:txBody>
      </p:sp>
      <p:sp>
        <p:nvSpPr>
          <p:cNvPr id="41" name="Text 38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1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UNIFICAÇÃO · PRÁTICA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Consultando fatos com variáveis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7315200" cy="3665220"/>
          </a:xfrm>
          <a:prstGeom prst="roundRect">
            <a:avLst>
              <a:gd name="adj" fmla="val 2994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41248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42416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43584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554480" y="1901952"/>
            <a:ext cx="6217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consultar.py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2286000"/>
            <a:ext cx="676656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unify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unificar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914400" y="2819400"/>
            <a:ext cx="676656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fatos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"pai"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"joao"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"maria"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"pai"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"joao"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"pedro"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914400" y="3086100"/>
            <a:ext cx="676656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"pai"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"maria"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"ana"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"pai"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"pedro"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"lucas"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914400" y="3619500"/>
            <a:ext cx="676656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consultar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padrao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fatos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None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914400" y="3886200"/>
            <a:ext cx="676656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None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914400" y="4152900"/>
            <a:ext cx="676656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fatos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914400" y="4419600"/>
            <a:ext cx="676656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unificar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padrao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914400" y="4686300"/>
            <a:ext cx="676656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None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914400" y="4953000"/>
            <a:ext cx="676656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yield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8257032" y="1783080"/>
            <a:ext cx="3291840" cy="2560320"/>
          </a:xfrm>
          <a:prstGeom prst="roundRect">
            <a:avLst>
              <a:gd name="adj" fmla="val 4286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8458200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8659368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8860536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9171432" y="1901952"/>
            <a:ext cx="2194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Resultados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8531352" y="2286000"/>
            <a:ext cx="27432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consultar(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8531352" y="2514600"/>
            <a:ext cx="27432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("pai","joao","Filho"))</a:t>
            </a:r>
            <a:endParaRPr lang="en-US" sz="1200" dirty="0"/>
          </a:p>
        </p:txBody>
      </p:sp>
      <p:sp>
        <p:nvSpPr>
          <p:cNvPr id="27" name="Text 24"/>
          <p:cNvSpPr txBox="1"/>
          <p:nvPr/>
        </p:nvSpPr>
        <p:spPr>
          <a:xfrm>
            <a:off x="8531352" y="2743200"/>
            <a:ext cx="27432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[{'Filho': 'maria'},</a:t>
            </a:r>
            <a:endParaRPr lang="en-US" sz="1200" dirty="0"/>
          </a:p>
        </p:txBody>
      </p:sp>
      <p:sp>
        <p:nvSpPr>
          <p:cNvPr id="28" name="Text 25"/>
          <p:cNvSpPr txBox="1"/>
          <p:nvPr/>
        </p:nvSpPr>
        <p:spPr>
          <a:xfrm>
            <a:off x="8531352" y="2971800"/>
            <a:ext cx="27432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{'Filho': 'pedro'}]</a:t>
            </a:r>
            <a:endParaRPr lang="en-US" sz="1200" dirty="0"/>
          </a:p>
        </p:txBody>
      </p:sp>
      <p:sp>
        <p:nvSpPr>
          <p:cNvPr id="29" name="Text 26"/>
          <p:cNvSpPr txBox="1"/>
          <p:nvPr/>
        </p:nvSpPr>
        <p:spPr>
          <a:xfrm>
            <a:off x="8531352" y="3429000"/>
            <a:ext cx="27432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consultar(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8531352" y="3657600"/>
            <a:ext cx="27432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("pai","Pai","ana"))</a:t>
            </a:r>
            <a:endParaRPr lang="en-US" sz="1200" dirty="0"/>
          </a:p>
        </p:txBody>
      </p:sp>
      <p:sp>
        <p:nvSpPr>
          <p:cNvPr id="31" name="Text 28"/>
          <p:cNvSpPr txBox="1"/>
          <p:nvPr/>
        </p:nvSpPr>
        <p:spPr>
          <a:xfrm>
            <a:off x="8531352" y="3886200"/>
            <a:ext cx="27432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[{'Pai': 'maria'}]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8257032" y="4526280"/>
            <a:ext cx="3291840" cy="1600200"/>
          </a:xfrm>
          <a:prstGeom prst="roundRect">
            <a:avLst>
              <a:gd name="adj" fmla="val 6857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8485632" y="4754880"/>
            <a:ext cx="548640" cy="548640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pic>
        <p:nvPicPr>
          <p:cNvPr id="3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22792" y="4892040"/>
            <a:ext cx="274320" cy="274320"/>
          </a:xfrm>
          <a:prstGeom prst="rect">
            <a:avLst/>
          </a:prstGeom>
        </p:spPr>
      </p:pic>
      <p:sp>
        <p:nvSpPr>
          <p:cNvPr id="35" name="Text 31"/>
          <p:cNvSpPr txBox="1"/>
          <p:nvPr/>
        </p:nvSpPr>
        <p:spPr>
          <a:xfrm>
            <a:off x="9217152" y="47548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variável pergunta</a:t>
            </a:r>
            <a:endParaRPr lang="en-US" sz="1500" dirty="0"/>
          </a:p>
        </p:txBody>
      </p:sp>
      <p:sp>
        <p:nvSpPr>
          <p:cNvPr id="36" name="Text 32"/>
          <p:cNvSpPr txBox="1"/>
          <p:nvPr/>
        </p:nvSpPr>
        <p:spPr>
          <a:xfrm>
            <a:off x="8485632" y="544068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Filho e Pai são “buracos” que a unificação preenche.</a:t>
            </a:r>
            <a:endParaRPr lang="en-US" sz="1300" dirty="0"/>
          </a:p>
        </p:txBody>
      </p:sp>
      <p:sp>
        <p:nvSpPr>
          <p:cNvPr id="37" name="Text 33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05</a:t>
            </a:r>
            <a:endParaRPr lang="en-US" sz="1000" dirty="0"/>
          </a:p>
        </p:txBody>
      </p:sp>
      <p:sp>
        <p:nvSpPr>
          <p:cNvPr id="38" name="Text 34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1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UNIFICAÇÃO · PRÁTICA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Várias metas: a regra do avô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6675120" cy="3665220"/>
          </a:xfrm>
          <a:prstGeom prst="roundRect">
            <a:avLst>
              <a:gd name="adj" fmla="val 2994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41248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42416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43584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554480" y="1901952"/>
            <a:ext cx="5577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consultar.py (continuação)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2286000"/>
            <a:ext cx="612648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consultar_todas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metas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fatos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None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914400" y="2552700"/>
            <a:ext cx="612648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None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914400" y="2819400"/>
            <a:ext cx="612648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metas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914400" y="3086100"/>
            <a:ext cx="612648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yield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914400" y="3352800"/>
            <a:ext cx="612648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914400" y="3619500"/>
            <a:ext cx="612648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consultar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metas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fatos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914400" y="3886200"/>
            <a:ext cx="612648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yield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consultar_todas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metas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fatos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914400" y="4419600"/>
            <a:ext cx="612648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metas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"pai"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"X"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"Y"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"pai"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"Y"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"Z"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914400" y="4686300"/>
            <a:ext cx="612648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consultar_todas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metas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fatos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914400" y="4953000"/>
            <a:ext cx="612648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"X"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 avo de"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"Z"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7708392" y="1783080"/>
            <a:ext cx="3840480" cy="1264920"/>
          </a:xfrm>
          <a:prstGeom prst="roundRect">
            <a:avLst>
              <a:gd name="adj" fmla="val 8675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7909560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8110728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8311896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8622792" y="1901952"/>
            <a:ext cx="2743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Saída</a:t>
            </a:r>
            <a:endParaRPr lang="en-US" sz="1100" dirty="0"/>
          </a:p>
        </p:txBody>
      </p:sp>
      <p:sp>
        <p:nvSpPr>
          <p:cNvPr id="26" name="Text 23"/>
          <p:cNvSpPr txBox="1"/>
          <p:nvPr/>
        </p:nvSpPr>
        <p:spPr>
          <a:xfrm>
            <a:off x="7982712" y="2286000"/>
            <a:ext cx="329184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joao e avo de ana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7982712" y="2552700"/>
            <a:ext cx="329184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joao e avo de lucas</a:t>
            </a:r>
            <a:endParaRPr lang="en-US" sz="1400" dirty="0"/>
          </a:p>
        </p:txBody>
      </p:sp>
      <p:sp>
        <p:nvSpPr>
          <p:cNvPr id="28" name="Shape 25"/>
          <p:cNvSpPr/>
          <p:nvPr/>
        </p:nvSpPr>
        <p:spPr>
          <a:xfrm>
            <a:off x="7708392" y="3246120"/>
            <a:ext cx="3840480" cy="2880360"/>
          </a:xfrm>
          <a:prstGeom prst="roundRect">
            <a:avLst>
              <a:gd name="adj" fmla="val 3810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7909560" y="33375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funciona</a:t>
            </a:r>
            <a:endParaRPr lang="en-US" sz="1600" dirty="0"/>
          </a:p>
        </p:txBody>
      </p:sp>
      <p:sp>
        <p:nvSpPr>
          <p:cNvPr id="30" name="Text 27"/>
          <p:cNvSpPr txBox="1"/>
          <p:nvPr/>
        </p:nvSpPr>
        <p:spPr>
          <a:xfrm>
            <a:off x="7909560" y="3749040"/>
            <a:ext cx="3474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1ª meta liga X e Y.</a:t>
            </a:r>
            <a:endParaRPr lang="en-US" sz="13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substituição passa adiante: a 2ª meta já tem Y definido.</a:t>
            </a:r>
            <a:endParaRPr lang="en-US" sz="13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Mesma regra avô(X,Z) ← pai(X,Y) ∧ pai(Y,Z) da aula 04, agora com variáveis.</a:t>
            </a:r>
            <a:endParaRPr lang="en-US" sz="1300" dirty="0"/>
          </a:p>
        </p:txBody>
      </p:sp>
      <p:sp>
        <p:nvSpPr>
          <p:cNvPr id="31" name="Text 28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05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1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UNIFICAÇÃO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 assim que o Prolog pensa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6035040" cy="2598420"/>
          </a:xfrm>
          <a:prstGeom prst="roundRect">
            <a:avLst>
              <a:gd name="adj" fmla="val 4223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41248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42416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43584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554480" y="1901952"/>
            <a:ext cx="4937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Prolog (ilustrativo, não executado aqui)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2286000"/>
            <a:ext cx="54864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pai(joao, maria).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914400" y="2552700"/>
            <a:ext cx="54864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pai(maria, ana).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914400" y="3086100"/>
            <a:ext cx="54864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avo(X, Z) :- pai(X, Y), pai(Y, Z).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914400" y="3619500"/>
            <a:ext cx="54864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?- avo(joao, Z).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914400" y="3886200"/>
            <a:ext cx="54864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 = ana.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6858000" y="1783080"/>
            <a:ext cx="4690872" cy="1325880"/>
          </a:xfrm>
          <a:prstGeom prst="roundRect">
            <a:avLst>
              <a:gd name="adj" fmla="val 8276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086600" y="185623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6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o Prolog faz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7086600" y="2240280"/>
            <a:ext cx="4251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 fatos e regras, e responde consultas por unificação e busca (aula 06).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6858000" y="3246120"/>
            <a:ext cx="4690872" cy="1325880"/>
          </a:xfrm>
          <a:prstGeom prst="roundRect">
            <a:avLst>
              <a:gd name="adj" fmla="val 8276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086600" y="331927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6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fizemos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7086600" y="3703320"/>
            <a:ext cx="4251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poucas linhas de Python reproduzimos o núcleo: unificar, consultar e encadear metas.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6858000" y="4709160"/>
            <a:ext cx="4690872" cy="1325880"/>
          </a:xfrm>
          <a:prstGeom prst="roundRect">
            <a:avLst>
              <a:gd name="adj" fmla="val 8276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7086600" y="478231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6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Diferença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7086600" y="5166360"/>
            <a:ext cx="4251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Prolog acrescenta backtracking completo e muitas otimizações.</a:t>
            </a:r>
            <a:endParaRPr lang="en-US" sz="1300" dirty="0"/>
          </a:p>
        </p:txBody>
      </p:sp>
      <p:sp>
        <p:nvSpPr>
          <p:cNvPr id="25" name="Text 22"/>
          <p:cNvSpPr txBox="1"/>
          <p:nvPr/>
        </p:nvSpPr>
        <p:spPr>
          <a:xfrm>
            <a:off x="640080" y="4892040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variáveis em maiúscula (X, Y, Z) seguem a mesma convenção que usamos em Python.</a:t>
            </a:r>
            <a:endParaRPr lang="en-US" sz="1400" dirty="0"/>
          </a:p>
        </p:txBody>
      </p:sp>
      <p:sp>
        <p:nvSpPr>
          <p:cNvPr id="26" name="Text 23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05</a:t>
            </a:r>
            <a:endParaRPr lang="en-US" sz="1000" dirty="0"/>
          </a:p>
        </p:txBody>
      </p:sp>
      <p:sp>
        <p:nvSpPr>
          <p:cNvPr id="27" name="Text 24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1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COMPARAÇÃO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 ferramenta usar?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10908792" cy="457200"/>
          </a:xfrm>
          <a:prstGeom prst="roundRect">
            <a:avLst>
              <a:gd name="adj" fmla="val 20000"/>
            </a:avLst>
          </a:prstGeom>
          <a:solidFill>
            <a:srgbClr val="0F2A1D"/>
          </a:solidFill>
          <a:ln w="12700">
            <a:solidFill>
              <a:srgbClr val="0F2A1D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49808" y="17830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Ferramenta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3493008" y="178308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quando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7699248" y="1783080"/>
            <a:ext cx="3776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Evite quando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40080" y="2313432"/>
            <a:ext cx="10908792" cy="658368"/>
          </a:xfrm>
          <a:prstGeom prst="roundRect">
            <a:avLst>
              <a:gd name="adj" fmla="val 11111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49808" y="2313432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Laço for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3493008" y="2313432"/>
            <a:ext cx="4023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Passos simples, efeitos (imprimir, gravar)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7699248" y="2313432"/>
            <a:ext cx="37764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Transformar listas inteiras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40080" y="3026664"/>
            <a:ext cx="10908792" cy="658368"/>
          </a:xfrm>
          <a:prstGeom prst="roundRect">
            <a:avLst>
              <a:gd name="adj" fmla="val 11111"/>
            </a:avLst>
          </a:prstGeom>
          <a:solidFill>
            <a:srgbClr val="E6EEE9"/>
          </a:solidFill>
          <a:ln w="12700">
            <a:solidFill>
              <a:srgbClr val="E6EEE9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49808" y="3026664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Compreensão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3493008" y="3026664"/>
            <a:ext cx="4023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 ou filtrar listas de forma legível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7699248" y="3026664"/>
            <a:ext cx="37764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lógica fica complicada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640080" y="3739896"/>
            <a:ext cx="10908792" cy="658368"/>
          </a:xfrm>
          <a:prstGeom prst="roundRect">
            <a:avLst>
              <a:gd name="adj" fmla="val 11111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49808" y="3739896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/ filter / reduce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3493008" y="3739896"/>
            <a:ext cx="4023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 funções já existentes ou pipelines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7699248" y="3739896"/>
            <a:ext cx="37764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lambda longo prejudica a leitura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640080" y="4453128"/>
            <a:ext cx="10908792" cy="658368"/>
          </a:xfrm>
          <a:prstGeom prst="roundRect">
            <a:avLst>
              <a:gd name="adj" fmla="val 11111"/>
            </a:avLst>
          </a:prstGeom>
          <a:solidFill>
            <a:srgbClr val="E6EEE9"/>
          </a:solidFill>
          <a:ln w="12700">
            <a:solidFill>
              <a:srgbClr val="E6EEE9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749808" y="4453128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Recursão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3493008" y="4453128"/>
            <a:ext cx="4023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Árvores, listas aninhadas, símbolos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7699248" y="4453128"/>
            <a:ext cx="37764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Profundidade acima de ~1000</a:t>
            </a:r>
            <a:endParaRPr lang="en-US" sz="1400" dirty="0"/>
          </a:p>
        </p:txBody>
      </p:sp>
      <p:sp>
        <p:nvSpPr>
          <p:cNvPr id="26" name="Text 23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05</a:t>
            </a:r>
            <a:endParaRPr lang="en-US" sz="1000" dirty="0"/>
          </a:p>
        </p:txBody>
      </p:sp>
      <p:sp>
        <p:nvSpPr>
          <p:cNvPr id="27" name="Text 24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1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BOAS PRÁTICAS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Erros comuns nesta aula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5349240" cy="2011680"/>
          </a:xfrm>
          <a:prstGeom prst="roundRect">
            <a:avLst>
              <a:gd name="adj" fmla="val 5455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68680" y="2011680"/>
            <a:ext cx="548640" cy="548640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2148840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600200" y="2011680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Recursão sem caso base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868680" y="2697480"/>
            <a:ext cx="4892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função chama a si mesma para sempre e estoura o limite (RecursionError).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6199632" y="1783080"/>
            <a:ext cx="5349240" cy="2011680"/>
          </a:xfrm>
          <a:prstGeom prst="roundRect">
            <a:avLst>
              <a:gd name="adj" fmla="val 5455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428232" y="2011680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5392" y="2148840"/>
            <a:ext cx="274320" cy="27432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7159752" y="2011680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Mutar sem querer</a:t>
            </a:r>
            <a:endParaRPr lang="en-US" sz="1800" dirty="0"/>
          </a:p>
        </p:txBody>
      </p:sp>
      <p:sp>
        <p:nvSpPr>
          <p:cNvPr id="15" name="Text 10"/>
          <p:cNvSpPr txBox="1"/>
          <p:nvPr/>
        </p:nvSpPr>
        <p:spPr>
          <a:xfrm>
            <a:off x="6428232" y="2697480"/>
            <a:ext cx="4892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= a não copia a lista. Use cópia explícita ou estruturas imutáveis.</a:t>
            </a:r>
            <a:endParaRPr lang="en-US" sz="1500" dirty="0"/>
          </a:p>
        </p:txBody>
      </p:sp>
      <p:sp>
        <p:nvSpPr>
          <p:cNvPr id="16" name="Shape 11"/>
          <p:cNvSpPr/>
          <p:nvPr/>
        </p:nvSpPr>
        <p:spPr>
          <a:xfrm>
            <a:off x="640080" y="3959352"/>
            <a:ext cx="5349240" cy="2011680"/>
          </a:xfrm>
          <a:prstGeom prst="roundRect">
            <a:avLst>
              <a:gd name="adj" fmla="val 5455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868680" y="4187952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4325112"/>
            <a:ext cx="274320" cy="27432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600200" y="4187952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Esquecer o env</a:t>
            </a:r>
            <a:endParaRPr lang="en-US" sz="1800" dirty="0"/>
          </a:p>
        </p:txBody>
      </p:sp>
      <p:sp>
        <p:nvSpPr>
          <p:cNvPr id="20" name="Text 14"/>
          <p:cNvSpPr txBox="1"/>
          <p:nvPr/>
        </p:nvSpPr>
        <p:spPr>
          <a:xfrm>
            <a:off x="868680" y="4873752"/>
            <a:ext cx="4892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avaliar precisa dos valores das variáveis: sem env[...] dá KeyError.</a:t>
            </a:r>
            <a:endParaRPr lang="en-US" sz="1500" dirty="0"/>
          </a:p>
        </p:txBody>
      </p:sp>
      <p:sp>
        <p:nvSpPr>
          <p:cNvPr id="21" name="Shape 15"/>
          <p:cNvSpPr/>
          <p:nvPr/>
        </p:nvSpPr>
        <p:spPr>
          <a:xfrm>
            <a:off x="6199632" y="3959352"/>
            <a:ext cx="5349240" cy="2011680"/>
          </a:xfrm>
          <a:prstGeom prst="roundRect">
            <a:avLst>
              <a:gd name="adj" fmla="val 5455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6428232" y="4187952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65392" y="4325112"/>
            <a:ext cx="274320" cy="274320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7159752" y="4187952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Variáveis em minúsculas</a:t>
            </a:r>
            <a:endParaRPr lang="en-US" sz="1800" dirty="0"/>
          </a:p>
        </p:txBody>
      </p:sp>
      <p:sp>
        <p:nvSpPr>
          <p:cNvPr id="25" name="Text 18"/>
          <p:cNvSpPr txBox="1"/>
          <p:nvPr/>
        </p:nvSpPr>
        <p:spPr>
          <a:xfrm>
            <a:off x="6428232" y="4873752"/>
            <a:ext cx="4892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nossa unificação, só nomes com maiúscula são variáveis: pai(x, maria) trata x como constante.</a:t>
            </a:r>
            <a:endParaRPr lang="en-US" sz="1500" dirty="0"/>
          </a:p>
        </p:txBody>
      </p:sp>
      <p:sp>
        <p:nvSpPr>
          <p:cNvPr id="26" name="Text 19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05</a:t>
            </a:r>
            <a:endParaRPr lang="en-US" sz="1000" dirty="0"/>
          </a:p>
        </p:txBody>
      </p:sp>
      <p:sp>
        <p:nvSpPr>
          <p:cNvPr id="27" name="Text 20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1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EXERCÍCIOS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Mão na massa: quatro exercícios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10911535" cy="960120"/>
          </a:xfrm>
          <a:prstGeom prst="roundRect">
            <a:avLst>
              <a:gd name="adj" fmla="val 11429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68680" y="2029968"/>
            <a:ext cx="457200" cy="45720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68680" y="2029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1645920" y="1783080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map, filter, reduce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4023360" y="1783080"/>
            <a:ext cx="7315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os quadrados dos números ímpares de 1 a 9 usando filter, map e reduce.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40080" y="2880360"/>
            <a:ext cx="10911535" cy="960120"/>
          </a:xfrm>
          <a:prstGeom prst="roundRect">
            <a:avLst>
              <a:gd name="adj" fmla="val 11429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68680" y="3127248"/>
            <a:ext cx="457200" cy="45720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68680" y="31272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1645920" y="2880360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Recursão</a:t>
            </a:r>
            <a:endParaRPr lang="en-US" sz="1700" dirty="0"/>
          </a:p>
        </p:txBody>
      </p:sp>
      <p:sp>
        <p:nvSpPr>
          <p:cNvPr id="15" name="Text 12"/>
          <p:cNvSpPr txBox="1"/>
          <p:nvPr/>
        </p:nvSpPr>
        <p:spPr>
          <a:xfrm>
            <a:off x="4023360" y="2880360"/>
            <a:ext cx="7315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Escreva potencia(b, n) recursiva e calcule potencia(2, 10).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640080" y="3977640"/>
            <a:ext cx="10911535" cy="960120"/>
          </a:xfrm>
          <a:prstGeom prst="roundRect">
            <a:avLst>
              <a:gd name="adj" fmla="val 11429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68680" y="4224528"/>
            <a:ext cx="457200" cy="45720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68680" y="4224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1645920" y="3977640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Derivação</a:t>
            </a:r>
            <a:endParaRPr lang="en-US" sz="1700" dirty="0"/>
          </a:p>
        </p:txBody>
      </p:sp>
      <p:sp>
        <p:nvSpPr>
          <p:cNvPr id="20" name="Text 17"/>
          <p:cNvSpPr txBox="1"/>
          <p:nvPr/>
        </p:nvSpPr>
        <p:spPr>
          <a:xfrm>
            <a:off x="4023360" y="3977640"/>
            <a:ext cx="7315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 3x² + 2x com derivar e simplificar. Avalie o resultado em x = 2.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640080" y="5074920"/>
            <a:ext cx="10911535" cy="960120"/>
          </a:xfrm>
          <a:prstGeom prst="roundRect">
            <a:avLst>
              <a:gd name="adj" fmla="val 11429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868680" y="5321808"/>
            <a:ext cx="457200" cy="45720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868680" y="5321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1"/>
          <p:cNvSpPr txBox="1"/>
          <p:nvPr/>
        </p:nvSpPr>
        <p:spPr>
          <a:xfrm>
            <a:off x="1645920" y="5074920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Unificação</a:t>
            </a:r>
            <a:endParaRPr lang="en-US" sz="1700" dirty="0"/>
          </a:p>
        </p:txBody>
      </p:sp>
      <p:sp>
        <p:nvSpPr>
          <p:cNvPr id="25" name="Text 22"/>
          <p:cNvSpPr txBox="1"/>
          <p:nvPr/>
        </p:nvSpPr>
        <p:spPr>
          <a:xfrm>
            <a:off x="4023360" y="5074920"/>
            <a:ext cx="7315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Unifique pai(X, Y) com pai(Y, maria). Qual é o valor final de X?</a:t>
            </a:r>
            <a:endParaRPr lang="en-US" sz="1400" dirty="0"/>
          </a:p>
        </p:txBody>
      </p:sp>
      <p:sp>
        <p:nvSpPr>
          <p:cNvPr id="26" name="Text 23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05</a:t>
            </a:r>
            <a:endParaRPr lang="en-US" sz="1000" dirty="0"/>
          </a:p>
        </p:txBody>
      </p:sp>
      <p:sp>
        <p:nvSpPr>
          <p:cNvPr id="27" name="Text 24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10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GABARITO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Gabarito: exercícios 1 e 2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5852160" cy="1417320"/>
          </a:xfrm>
          <a:prstGeom prst="roundRect">
            <a:avLst>
              <a:gd name="adj" fmla="val 7742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41248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42416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43584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554480" y="1901952"/>
            <a:ext cx="4754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Exercício 1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2286000"/>
            <a:ext cx="530352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impares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filter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lambda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range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914400" y="2514600"/>
            <a:ext cx="530352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quad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map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lambda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impares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914400" y="2743200"/>
            <a:ext cx="530352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reduce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lambda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quad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pPr indent="0" marL="0">
              <a:buNone/>
            </a:pPr>
            <a:r>
              <a:rPr lang="en-US" sz="1200" dirty="0">
                <a:solidFill>
                  <a:srgbClr val="8FA6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165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40080" y="3383280"/>
            <a:ext cx="5852160" cy="2743200"/>
          </a:xfrm>
          <a:prstGeom prst="roundRect">
            <a:avLst>
              <a:gd name="adj" fmla="val 4000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914400" y="3383280"/>
            <a:ext cx="53035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Ímpares: 1, 3, 5, 7, 9. Quadrados: 1, 9, 25, 49, 81. Soma: 165.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6611112" y="1783080"/>
            <a:ext cx="4937760" cy="2065020"/>
          </a:xfrm>
          <a:prstGeom prst="roundRect">
            <a:avLst>
              <a:gd name="adj" fmla="val 5314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812280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013448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7214616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525512" y="1901952"/>
            <a:ext cx="3840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Exercício 2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6885432" y="2286000"/>
            <a:ext cx="438912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potencia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6885432" y="2552700"/>
            <a:ext cx="438912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6885432" y="2819400"/>
            <a:ext cx="438912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6885432" y="3086100"/>
            <a:ext cx="438912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potencia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6885432" y="3352800"/>
            <a:ext cx="438912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potencia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pPr indent="0" marL="0">
              <a:buNone/>
            </a:pPr>
            <a:r>
              <a:rPr lang="en-US" sz="1400" dirty="0">
                <a:solidFill>
                  <a:srgbClr val="8FA6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1024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6611112" y="4030980"/>
            <a:ext cx="4937760" cy="2095500"/>
          </a:xfrm>
          <a:prstGeom prst="roundRect">
            <a:avLst>
              <a:gd name="adj" fmla="val 5236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858000" y="4030980"/>
            <a:ext cx="4434840" cy="209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base: b⁰ = 1. Passo: bⁿ = b · bⁿ⁻¹.</a:t>
            </a:r>
            <a:endParaRPr lang="en-US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05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0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GABARITO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Gabarito: exercícios 3 e 4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5852160" cy="1874520"/>
          </a:xfrm>
          <a:prstGeom prst="roundRect">
            <a:avLst>
              <a:gd name="adj" fmla="val 5854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41248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42416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43584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554480" y="1901952"/>
            <a:ext cx="4754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Exercício 3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2286000"/>
            <a:ext cx="530352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"+"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"*"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"^"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"x"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"*"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"x"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914400" y="2514600"/>
            <a:ext cx="530352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simplificar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derivar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914400" y="2743200"/>
            <a:ext cx="530352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mostrar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914400" y="2971800"/>
            <a:ext cx="530352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6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((3 * (2 * x)) + 2)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914400" y="3200400"/>
            <a:ext cx="530352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avaliar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buNone/>
            </a:pPr>
            <a:r>
              <a:rPr lang="en-US" sz="12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"x"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pPr indent="0" marL="0">
              <a:buNone/>
            </a:pPr>
            <a:r>
              <a:rPr lang="en-US" sz="1200" dirty="0">
                <a:solidFill>
                  <a:srgbClr val="8FA6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14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40080" y="3840480"/>
            <a:ext cx="5852160" cy="2286000"/>
          </a:xfrm>
          <a:prstGeom prst="roundRect">
            <a:avLst>
              <a:gd name="adj" fmla="val 4800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914400" y="3840480"/>
            <a:ext cx="53035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6x + 2 (a simplificação não reorganiza 3·(2·x)). Em x = 2: 14.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6611112" y="1783080"/>
            <a:ext cx="4937760" cy="1417320"/>
          </a:xfrm>
          <a:prstGeom prst="roundRect">
            <a:avLst>
              <a:gd name="adj" fmla="val 7742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812280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7013448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214616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525512" y="1901952"/>
            <a:ext cx="3840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Exercício 4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6885432" y="2286000"/>
            <a:ext cx="438912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unificar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"pai"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"X"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"Y"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6885432" y="2514600"/>
            <a:ext cx="438912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"pai"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"Y"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"maria"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6885432" y="2743200"/>
            <a:ext cx="438912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6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{'X': 'Y', 'Y': 'maria'}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6611112" y="3383280"/>
            <a:ext cx="4937760" cy="2743200"/>
          </a:xfrm>
          <a:prstGeom prst="roundRect">
            <a:avLst>
              <a:gd name="adj" fmla="val 4000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858000" y="3383280"/>
            <a:ext cx="44348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está ligado a Y e Y a maria. Seguindo as ligações (walk), X = maria.</a:t>
            </a:r>
            <a:endParaRPr lang="en-US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05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10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0F2A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5615" y="-1463040"/>
            <a:ext cx="4023360" cy="4023360"/>
          </a:xfrm>
          <a:prstGeom prst="ellipse">
            <a:avLst/>
          </a:prstGeom>
          <a:ln w="15875">
            <a:solidFill>
              <a:srgbClr val="1B43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180015" y="-822960"/>
            <a:ext cx="2743200" cy="2743200"/>
          </a:xfrm>
          <a:prstGeom prst="ellipse">
            <a:avLst/>
          </a:prstGeom>
          <a:ln w="15875">
            <a:solidFill>
              <a:srgbClr val="1B433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645920" y="4846320"/>
            <a:ext cx="3474720" cy="3474720"/>
          </a:xfrm>
          <a:prstGeom prst="ellipse">
            <a:avLst/>
          </a:prstGeom>
          <a:ln w="15875">
            <a:solidFill>
              <a:srgbClr val="1B433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914400" y="5486400"/>
            <a:ext cx="2194560" cy="2194560"/>
          </a:xfrm>
          <a:prstGeom prst="ellipse">
            <a:avLst/>
          </a:prstGeom>
          <a:ln w="15875">
            <a:solidFill>
              <a:srgbClr val="1B433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FE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RESUMO E PRÓXIMOS PASSOS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levamos da aula 05</a:t>
            </a:r>
            <a:endParaRPr lang="en-US" sz="3000" dirty="0"/>
          </a:p>
        </p:txBody>
      </p:sp>
      <p:sp>
        <p:nvSpPr>
          <p:cNvPr id="10" name="Shape 7"/>
          <p:cNvSpPr/>
          <p:nvPr/>
        </p:nvSpPr>
        <p:spPr>
          <a:xfrm>
            <a:off x="640080" y="1828800"/>
            <a:ext cx="411480" cy="411480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950" y="1931670"/>
            <a:ext cx="205740" cy="20574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280160" y="1737360"/>
            <a:ext cx="5760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Funções puras e dados imutáveis tornam o código previsível; map, filter e reduce transformam listas.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640080" y="2606040"/>
            <a:ext cx="411480" cy="411480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950" y="2708910"/>
            <a:ext cx="205740" cy="20574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280160" y="2514600"/>
            <a:ext cx="5760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recursão resolve problemas em árvores e listas aninhadas, com caso base e passo recursivo.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640080" y="3383280"/>
            <a:ext cx="411480" cy="411480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950" y="3486150"/>
            <a:ext cx="205740" cy="20574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280160" y="3291840"/>
            <a:ext cx="5760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Expressões viram árvores de tuplas: avaliamos, simplificamos e derivamos por regras.</a:t>
            </a:r>
            <a:endParaRPr lang="en-US" sz="1400" dirty="0"/>
          </a:p>
        </p:txBody>
      </p:sp>
      <p:sp>
        <p:nvSpPr>
          <p:cNvPr id="19" name="Shape 13"/>
          <p:cNvSpPr/>
          <p:nvPr/>
        </p:nvSpPr>
        <p:spPr>
          <a:xfrm>
            <a:off x="640080" y="4160520"/>
            <a:ext cx="411480" cy="411480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2950" y="4263390"/>
            <a:ext cx="205740" cy="205740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1280160" y="4069080"/>
            <a:ext cx="5760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unificação casa padrões com variáveis e permite consultar fatos e encadear metas.</a:t>
            </a:r>
            <a:endParaRPr lang="en-US" sz="1400" dirty="0"/>
          </a:p>
        </p:txBody>
      </p:sp>
      <p:sp>
        <p:nvSpPr>
          <p:cNvPr id="22" name="Shape 15"/>
          <p:cNvSpPr/>
          <p:nvPr/>
        </p:nvSpPr>
        <p:spPr>
          <a:xfrm>
            <a:off x="7315200" y="1691640"/>
            <a:ext cx="4233672" cy="3017520"/>
          </a:xfrm>
          <a:prstGeom prst="roundRect">
            <a:avLst>
              <a:gd name="adj" fmla="val 3636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23" name="Text 16"/>
          <p:cNvSpPr txBox="1"/>
          <p:nvPr/>
        </p:nvSpPr>
        <p:spPr>
          <a:xfrm>
            <a:off x="7589520" y="1828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FE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PRÓXIMAS AULAS</a:t>
            </a:r>
            <a:endParaRPr lang="en-US" sz="1200" dirty="0"/>
          </a:p>
        </p:txBody>
      </p:sp>
      <p:sp>
        <p:nvSpPr>
          <p:cNvPr id="24" name="Shape 17"/>
          <p:cNvSpPr/>
          <p:nvPr/>
        </p:nvSpPr>
        <p:spPr>
          <a:xfrm>
            <a:off x="7589520" y="2286000"/>
            <a:ext cx="502920" cy="502920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25" name="Text 18"/>
          <p:cNvSpPr txBox="1"/>
          <p:nvPr/>
        </p:nvSpPr>
        <p:spPr>
          <a:xfrm>
            <a:off x="7589520" y="2286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400" dirty="0"/>
          </a:p>
        </p:txBody>
      </p:sp>
      <p:sp>
        <p:nvSpPr>
          <p:cNvPr id="26" name="Text 19"/>
          <p:cNvSpPr txBox="1"/>
          <p:nvPr/>
        </p:nvSpPr>
        <p:spPr>
          <a:xfrm>
            <a:off x="8229600" y="2240280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baseados em conhecimento</a:t>
            </a:r>
            <a:endParaRPr lang="en-US" sz="1400" dirty="0"/>
          </a:p>
        </p:txBody>
      </p:sp>
      <p:sp>
        <p:nvSpPr>
          <p:cNvPr id="27" name="Shape 20"/>
          <p:cNvSpPr/>
          <p:nvPr/>
        </p:nvSpPr>
        <p:spPr>
          <a:xfrm>
            <a:off x="7589520" y="3063240"/>
            <a:ext cx="502920" cy="50292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28" name="Text 21"/>
          <p:cNvSpPr txBox="1"/>
          <p:nvPr/>
        </p:nvSpPr>
        <p:spPr>
          <a:xfrm>
            <a:off x="7589520" y="3063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1400" dirty="0"/>
          </a:p>
        </p:txBody>
      </p:sp>
      <p:sp>
        <p:nvSpPr>
          <p:cNvPr id="29" name="Text 22"/>
          <p:cNvSpPr txBox="1"/>
          <p:nvPr/>
        </p:nvSpPr>
        <p:spPr>
          <a:xfrm>
            <a:off x="8229600" y="3017520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Heurísticas evolutivas e enxame</a:t>
            </a:r>
            <a:endParaRPr lang="en-US" sz="1400" dirty="0"/>
          </a:p>
        </p:txBody>
      </p:sp>
      <p:sp>
        <p:nvSpPr>
          <p:cNvPr id="30" name="Shape 23"/>
          <p:cNvSpPr/>
          <p:nvPr/>
        </p:nvSpPr>
        <p:spPr>
          <a:xfrm>
            <a:off x="7589520" y="3840480"/>
            <a:ext cx="502920" cy="50292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31" name="Text 24"/>
          <p:cNvSpPr txBox="1"/>
          <p:nvPr/>
        </p:nvSpPr>
        <p:spPr>
          <a:xfrm>
            <a:off x="7589520" y="3840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1400" dirty="0"/>
          </a:p>
        </p:txBody>
      </p:sp>
      <p:sp>
        <p:nvSpPr>
          <p:cNvPr id="32" name="Text 25"/>
          <p:cNvSpPr txBox="1"/>
          <p:nvPr/>
        </p:nvSpPr>
        <p:spPr>
          <a:xfrm>
            <a:off x="8229600" y="3794760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Lógica fuzzy</a:t>
            </a:r>
            <a:endParaRPr lang="en-US" sz="1400" dirty="0"/>
          </a:p>
        </p:txBody>
      </p:sp>
      <p:sp>
        <p:nvSpPr>
          <p:cNvPr id="33" name="Shape 26"/>
          <p:cNvSpPr/>
          <p:nvPr/>
        </p:nvSpPr>
        <p:spPr>
          <a:xfrm>
            <a:off x="640080" y="4983480"/>
            <a:ext cx="10911535" cy="1097280"/>
          </a:xfrm>
          <a:prstGeom prst="roundRect">
            <a:avLst>
              <a:gd name="adj" fmla="val 10000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4" name="Shape 27"/>
          <p:cNvSpPr/>
          <p:nvPr/>
        </p:nvSpPr>
        <p:spPr>
          <a:xfrm>
            <a:off x="914400" y="5257800"/>
            <a:ext cx="548640" cy="548640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pic>
        <p:nvPicPr>
          <p:cNvPr id="3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1560" y="5394960"/>
            <a:ext cx="274320" cy="274320"/>
          </a:xfrm>
          <a:prstGeom prst="rect">
            <a:avLst/>
          </a:prstGeom>
        </p:spPr>
      </p:pic>
      <p:sp>
        <p:nvSpPr>
          <p:cNvPr id="36" name="Text 28"/>
          <p:cNvSpPr txBox="1"/>
          <p:nvPr/>
        </p:nvSpPr>
        <p:spPr>
          <a:xfrm>
            <a:off x="1737360" y="50749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a próxima aula</a:t>
            </a:r>
            <a:endParaRPr lang="en-US" sz="1600" dirty="0"/>
          </a:p>
        </p:txBody>
      </p:sp>
      <p:sp>
        <p:nvSpPr>
          <p:cNvPr id="37" name="Text 29"/>
          <p:cNvSpPr txBox="1"/>
          <p:nvPr/>
        </p:nvSpPr>
        <p:spPr>
          <a:xfrm>
            <a:off x="1737360" y="5468112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5D3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Refaça os exercícios. Na aula 06, fatos, regras e unificação viram um sistema especialista com encadeamento para frente e para trás.</a:t>
            </a:r>
            <a:endParaRPr lang="en-US" sz="1400" dirty="0"/>
          </a:p>
        </p:txBody>
      </p:sp>
      <p:sp>
        <p:nvSpPr>
          <p:cNvPr id="38" name="Text 30"/>
          <p:cNvSpPr txBox="1"/>
          <p:nvPr/>
        </p:nvSpPr>
        <p:spPr>
          <a:xfrm>
            <a:off x="640080" y="6126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C5D3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Planejamento sujeito a ajustes.</a:t>
            </a:r>
            <a:endParaRPr lang="en-US" sz="1100" dirty="0"/>
          </a:p>
        </p:txBody>
      </p:sp>
      <p:sp>
        <p:nvSpPr>
          <p:cNvPr id="39" name="Text 31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5D3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05</a:t>
            </a:r>
            <a:endParaRPr lang="en-US" sz="1000" dirty="0"/>
          </a:p>
        </p:txBody>
      </p:sp>
      <p:sp>
        <p:nvSpPr>
          <p:cNvPr id="40" name="Text 32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5D3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42</Slides>
  <Notes>42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IA - Aula 05 - Programação funcional e manipulação simbólica</dc:title>
  <dc:subject>PptxGenJS Presentation</dc:subject>
  <dc:creator>Inteligência Artificial</dc:creator>
  <cp:lastModifiedBy>Inteligência Artificial</cp:lastModifiedBy>
  <cp:revision>1</cp:revision>
  <dcterms:created xsi:type="dcterms:W3CDTF">2026-10-07T19:40:37Z</dcterms:created>
  <dcterms:modified xsi:type="dcterms:W3CDTF">2026-10-07T19:40:37Z</dcterms:modified>
</cp:coreProperties>
</file>