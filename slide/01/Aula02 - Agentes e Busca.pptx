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inteligentes e resolução de problemas por busca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GPS ao quebra-cabeça: como um agente encontra o caminho até o objetivo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5176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5176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uniforme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7512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68680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IA, ML e DL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é parte da IA, e Deep Learning é parte do ML. Adotamos a visão do agir racionalmente.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primeiro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Viés, privacidade e responsabilidade fazem parte de qualquer projeto de IA.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pronto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venv, NumPy, Pandas e Matplotlib funcionando, e um chatbot de regras como primeiro projeto.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Hoje, o agente racional ganha um método para decidir o que fazer: a busca.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GPS escolhe a rota?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e logística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caminho leva da origem ao destino com menos tempo ou custo?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personagem desvia de obstáculos até chegar ao jogador?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391363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507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9136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5994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robô aspirador planeja o percurso pela casa?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391363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0507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39136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Quebra-cabeças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5994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sequência de movimentos que resolve o 8-puzzle?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têm um estado inicial, um objetivo e ações que levam de um ao outro. Isso é um problema de busca.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e ambientes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agente racional e onde ele atua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 busca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ações, transição, objetivo e custo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cega: BFS e DFS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sem saber onde está o objetivo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diferentes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custo uniforme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informada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Heurísticas, busca gulosa e A*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em Python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um labirinto e comparar algoritmos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agente inteligente?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214884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22974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do agente decide qual ação executar.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86384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38160" y="214884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974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6968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onde o agente atua: um labirinto, uma casa, uma rua.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343400" y="2606040"/>
            <a:ext cx="3474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17" name="Text 12"/>
          <p:cNvSpPr txBox="1"/>
          <p:nvPr/>
        </p:nvSpPr>
        <p:spPr>
          <a:xfrm>
            <a:off x="4343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Percepções (sensores)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343400" y="3337560"/>
            <a:ext cx="3474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434340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(atuadores)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50876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Percebe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informações do ambiente por sensores: câmera, toque, texto digitado.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347972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6572" y="4389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57657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5216652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4576572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 que percebeu para uma ação. Essa é a função do agente.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8055864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284464" y="4389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284464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8924544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284464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 ação por atuadores: rodas, tela, resposta em texto. O ambiente muda.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primeiro agente: o aspirador reflexo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agente_aspirador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percepcao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percepcao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"sujo"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"aspirar"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"ir_para_B"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"ir_para_A"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agente_aspirador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"sujo"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agente_aspirador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"limpo"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agente_aspirador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"limpo"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59752" y="1783080"/>
            <a:ext cx="438912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609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620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632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74152" y="19019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434072" y="22860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agente.py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34072" y="25527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aspirar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34072" y="28194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ir_para_B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34072" y="30861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ir_para_A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159752" y="3977640"/>
            <a:ext cx="4389120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88352" y="420624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434340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119872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reflexo simples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7388352" y="4892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só pela percepção atual, com regras condição → ação. Sem memória e sem planejamento.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" y="5623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percepção é um par (local, estado). A resposta depende só dele.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PEAS: descrevendo o problema do agente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761488" y="1783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0176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9632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Atuadores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390888" y="17830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1042416"/>
          </a:xfrm>
          <a:prstGeom prst="roundRect">
            <a:avLst>
              <a:gd name="adj" fmla="val 70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aspirador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761488" y="2313432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Chão limpo, pouca energia gasta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01768" y="231343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Casa, móveis, pessoas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196328" y="231343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Rodas, escova, sucção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390888" y="2313432"/>
            <a:ext cx="2084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sujeira, choque e câmera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410712"/>
            <a:ext cx="10908792" cy="1042416"/>
          </a:xfrm>
          <a:prstGeom prst="roundRect">
            <a:avLst>
              <a:gd name="adj" fmla="val 7018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10712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autônomo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761488" y="3410712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tempo e conforto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01768" y="341071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Ruas, pedestres, clima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196328" y="341071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Direção, freio, acelerador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390888" y="3410712"/>
            <a:ext cx="2084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Câmeras, radar e GPS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507992"/>
            <a:ext cx="10908792" cy="1042416"/>
          </a:xfrm>
          <a:prstGeom prst="roundRect">
            <a:avLst>
              <a:gd name="adj" fmla="val 70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507992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atendimento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761488" y="4507992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resolvido, cliente satisfeito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450799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com o cliente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196328" y="450799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em texto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90888" y="4507992"/>
            <a:ext cx="2084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do usuário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78815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= Performance, Environment, Actuators, Sensors. Definir os quatro é o primeiro passo ao projetar um agente.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tipos de agente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Reflexo simples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condição → ação. Ex.: termostato que liga o ar acima de 26 °C.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Baseado em modelo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 estado interno do que não vê. Ex.: robô que lembra onde já limpou.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Baseado em objetivos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ações que levam a um objetivo, planejando. É o foco da aula de hoje.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Baseado em utilidade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estados por “quão bons” são. Ex.: rota que equilibra tempo, custo e segurança.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ainda o agente que aprende, com ajuste do próprio comportamento a partir da experiência: assunto das aulas de aprendizado de máquina.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Propriedades do ambiente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178308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783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observável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vê o estado completo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69480" y="1783080"/>
            <a:ext cx="4279392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observável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parte do estado (ex.: pôquer)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706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26080" y="2770632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08960" y="27706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sempre tem o mesmo efeito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69480" y="2770632"/>
            <a:ext cx="4279392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277063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Estocástico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incerteza (ex.: jogar um dado)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75818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Dinâmica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26080" y="3758184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8960" y="375818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só muda quando o agente age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69480" y="3758184"/>
            <a:ext cx="4279392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2360" y="375818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sozinho (ex.: trânsito)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74573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926080" y="4745736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08960" y="474573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finito de estados e ações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4745736"/>
            <a:ext cx="4279392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474573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reais (ex.: ângulo do volante)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trabalhamos com o caso mais simples (coluna laranja): é o ambiente de um labirinto.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que resolve problemas por busca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45059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 o objetivo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a 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27248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920240"/>
            <a:ext cx="245059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 o problema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ações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43600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920240"/>
            <a:ext cx="2450592" cy="1554480"/>
          </a:xfrm>
          <a:prstGeom prst="roundRect">
            <a:avLst>
              <a:gd name="adj" fmla="val 7059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205740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a sequência de ações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759952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920240"/>
            <a:ext cx="245059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o plano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3840480"/>
            <a:ext cx="10911535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20624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73736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antes de agir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1005840" y="475488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acontece “na cabeça” do agente: ele simula as ações antes de executá-las.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bem porque o ambiente é observável, determinístico e discreto: o agente prevê o resultado de cada ação.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da busca é um plano: a lista de ações do estado inicial até o objetivo.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componentes de um problema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218688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24928" y="1783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labirinto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18688" y="2313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agente começa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24928" y="2313432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de S: linha 1, coluna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02666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026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218688" y="30266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pode fazer em cada estado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24928" y="3026664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Subir, descer, ir à esquerda ou à direita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7398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7398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transição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18688" y="37398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que resulta de cada ação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24928" y="3739896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uma célula; paredes bloqueiam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453128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4531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objetivo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218688" y="4453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que chegou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24928" y="4453128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atual é a de G?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16636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5166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caminho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218688" y="5166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o plano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24928" y="516636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passo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o problema assim é metade do trabalho: depois disso, qualquer algoritmo de busca serve.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labirinto como estrutura de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LABIRINTO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"###############"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"#S............#"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"#.............#"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"#.....#.......#"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"#.....#.......#"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"#.....#.......#"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"#.....#.......#"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"#.....#####...#"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"#.............#"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"#............G#"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"###############"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5975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5236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4496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3757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3018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2279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1540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0800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50061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9322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08583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37844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7104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96365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25626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59752" y="212140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52360" y="2121408"/>
            <a:ext cx="269748" cy="26974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52360" y="2121408"/>
            <a:ext cx="2697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4496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3757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30184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622792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15400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0800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50061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793224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085832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378440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67104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96365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256264" y="212140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59752" y="241401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5236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4496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3757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330184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622792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91540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20800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50061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93224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085832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37844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67104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96365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1256264" y="241401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59752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52360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74496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03757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330184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622792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15400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20800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50061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793224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0085832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378440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67104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96365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1256264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159752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452360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74496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03757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330184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8622792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915400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20800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50061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793224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085832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378440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67104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96365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1256264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159752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452360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74496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03757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330184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622792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915400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20800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950061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9793224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085832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378440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67104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96365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1256264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159752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452360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74496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03757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330184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622792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8915400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920800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50061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9793224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0085832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378440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067104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96365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1256264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159752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452360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744968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037576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330184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622792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915400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9208008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9500616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9793224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0085832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0378440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0671048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963656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1256264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159752" y="416966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745236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774496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03757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330184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622792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91540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20800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50061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793224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085832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37844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67104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096365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1256264" y="416966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7159752" y="446227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745236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774496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037576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330184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622792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891540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20800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9500616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793224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085832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37844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067104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0963656" y="4462272"/>
            <a:ext cx="269748" cy="26974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10963656" y="4462272"/>
            <a:ext cx="2697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75" name="Shape 172"/>
          <p:cNvSpPr/>
          <p:nvPr/>
        </p:nvSpPr>
        <p:spPr>
          <a:xfrm>
            <a:off x="11256264" y="446227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15975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45236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74496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03757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833018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862279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891540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920800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950061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979322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008583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037844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1067104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096365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1125626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7159752" y="5266944"/>
            <a:ext cx="201168" cy="2011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2" name="Text 189"/>
          <p:cNvSpPr txBox="1"/>
          <p:nvPr/>
        </p:nvSpPr>
        <p:spPr>
          <a:xfrm>
            <a:off x="7434072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parede</a:t>
            </a:r>
            <a:endParaRPr lang="en-US" sz="1200" dirty="0"/>
          </a:p>
        </p:txBody>
      </p:sp>
      <p:sp>
        <p:nvSpPr>
          <p:cNvPr id="193" name="Shape 190"/>
          <p:cNvSpPr/>
          <p:nvPr/>
        </p:nvSpPr>
        <p:spPr>
          <a:xfrm>
            <a:off x="8257032" y="5266944"/>
            <a:ext cx="201168" cy="20116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4" name="Text 191"/>
          <p:cNvSpPr txBox="1"/>
          <p:nvPr/>
        </p:nvSpPr>
        <p:spPr>
          <a:xfrm>
            <a:off x="8531352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livre</a:t>
            </a:r>
            <a:endParaRPr lang="en-US" sz="1200" dirty="0"/>
          </a:p>
        </p:txBody>
      </p:sp>
      <p:sp>
        <p:nvSpPr>
          <p:cNvPr id="195" name="Shape 192"/>
          <p:cNvSpPr/>
          <p:nvPr/>
        </p:nvSpPr>
        <p:spPr>
          <a:xfrm>
            <a:off x="9262872" y="5266944"/>
            <a:ext cx="201168" cy="20116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6" name="Text 193"/>
          <p:cNvSpPr txBox="1"/>
          <p:nvPr/>
        </p:nvSpPr>
        <p:spPr>
          <a:xfrm>
            <a:off x="9537192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início</a:t>
            </a:r>
            <a:endParaRPr lang="en-US" sz="1200" dirty="0"/>
          </a:p>
        </p:txBody>
      </p:sp>
      <p:sp>
        <p:nvSpPr>
          <p:cNvPr id="197" name="Shape 194"/>
          <p:cNvSpPr/>
          <p:nvPr/>
        </p:nvSpPr>
        <p:spPr>
          <a:xfrm>
            <a:off x="10268712" y="5266944"/>
            <a:ext cx="201168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8" name="Text 195"/>
          <p:cNvSpPr txBox="1"/>
          <p:nvPr/>
        </p:nvSpPr>
        <p:spPr>
          <a:xfrm>
            <a:off x="10543032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objetivo</a:t>
            </a:r>
            <a:endParaRPr lang="en-US" sz="1200" dirty="0"/>
          </a:p>
        </p:txBody>
      </p:sp>
      <p:sp>
        <p:nvSpPr>
          <p:cNvPr id="199" name="Text 196"/>
          <p:cNvSpPr txBox="1"/>
          <p:nvPr/>
        </p:nvSpPr>
        <p:spPr>
          <a:xfrm>
            <a:off x="7159752" y="5486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livre é um estado; a posição (linha, coluna) o identifica.</a:t>
            </a:r>
            <a:endParaRPr lang="en-US" sz="1400" dirty="0"/>
          </a:p>
        </p:txBody>
      </p:sp>
      <p:sp>
        <p:nvSpPr>
          <p:cNvPr id="200" name="Text 19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01" name="Text 19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inicial e modelo de transição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42632" y="17830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71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148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302752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7571232" y="2697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a posição (linha, coluna) de “S” ou de “G”: o estado inicial e o objetivo.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342632" y="39776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571232" y="420624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434340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02752" y="4206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vizinhos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7571232" y="4892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modelo de transição: tenta os 4 movimentos e descarta as paredes. O yield entrega um vizinho por vez.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" y="5669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a borda de “#” evita sair da grade, então não precisamos checar limites.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Lembrando de onde viemos: o dicionário pais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66928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076700"/>
            <a:ext cx="5669280" cy="2049780"/>
          </a:xfrm>
          <a:prstGeom prst="roundRect">
            <a:avLst>
              <a:gd name="adj" fmla="val 535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2138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guardar “pais”?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710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lembra de qual estado veio.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chegar em G, seguimos os pais de volta até 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marca o estado como já visitado.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0" y="1783080"/>
            <a:ext cx="496519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com 4 estados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995160" y="26974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6096" y="2994660"/>
            <a:ext cx="42976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8092440" y="2697480"/>
            <a:ext cx="594360" cy="594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9244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723376" y="2994660"/>
            <a:ext cx="42976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7" name="Shape 24"/>
          <p:cNvSpPr/>
          <p:nvPr/>
        </p:nvSpPr>
        <p:spPr>
          <a:xfrm>
            <a:off x="9189720" y="2697480"/>
            <a:ext cx="594360" cy="594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897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820656" y="2994660"/>
            <a:ext cx="42976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30" name="Shape 27"/>
          <p:cNvSpPr/>
          <p:nvPr/>
        </p:nvSpPr>
        <p:spPr>
          <a:xfrm>
            <a:off x="10287000" y="2697480"/>
            <a:ext cx="594360" cy="5943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8700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pais[D] = C   pais[C] = B   pais[B] = A   pais[A] = None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Seguindo os pais a partir de D: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= [D, C, B, A]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Invertida (rota[::-1]):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= [A, B, C, D]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de busca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76422" y="261518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33372" y="2862072"/>
            <a:ext cx="308610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3337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503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947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3337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16152" y="3959352"/>
            <a:ext cx="123444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1615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8503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8503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1947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1947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148840" y="420624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4884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83280" y="420624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8328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17720" y="420624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1772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531620" y="310896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3162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83280" y="310896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8328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617720" y="310896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1772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074670" y="2011680"/>
            <a:ext cx="603504" cy="603504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7467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669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 o estado inicial. Cada nó leva a novos nós.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0" y="1783080"/>
            <a:ext cx="514807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estado alcançado por um caminho. Guarda o pai, a ação e o custo até ele.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00800" y="3264408"/>
            <a:ext cx="514807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75120" y="3355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nós já gerados e ainda não expandidos. É a “lista de tarefas” da busca.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00800" y="4745736"/>
            <a:ext cx="514807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67512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6675120" y="524865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um nó da fronteira e gerar seus vizinhos, que entram na fronteira.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lembrar o que já foi visitado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154680"/>
          </a:xfrm>
          <a:prstGeom prst="roundRect">
            <a:avLst>
              <a:gd name="adj" fmla="val 34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registro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840" y="25603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91056" y="2834640"/>
            <a:ext cx="33832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965960" y="256032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65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51176" y="2834640"/>
            <a:ext cx="33832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26080" y="25603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511296" y="2834640"/>
            <a:ext cx="33832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886200" y="256032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86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471416" y="2834640"/>
            <a:ext cx="33832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846320" y="25603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3474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vai e volta entre A e B para sempre: um laço infinito, mesmo havendo solução.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199632" y="1783080"/>
            <a:ext cx="5349240" cy="3154680"/>
          </a:xfrm>
          <a:prstGeom prst="roundRect">
            <a:avLst>
              <a:gd name="adj" fmla="val 34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73952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registro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565392" y="25603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6539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50608" y="2834640"/>
            <a:ext cx="38404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571232" y="256032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7123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56448" y="2834640"/>
            <a:ext cx="38404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577072" y="256032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770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162288" y="2834640"/>
            <a:ext cx="38404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582912" y="256032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8291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3474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entra uma só vez. A busca termina e nunca repete trabalho.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0080" y="5120640"/>
            <a:ext cx="5349240" cy="998220"/>
          </a:xfrm>
          <a:prstGeom prst="roundRect">
            <a:avLst>
              <a:gd name="adj" fmla="val 109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1248" y="5303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42416" y="5303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243584" y="5303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554480" y="5239512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" y="5623560"/>
            <a:ext cx="4800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199632" y="51206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linha cuida de tudo: só gera o vizinho se ele ainda não tem pai.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de busca, em um desenho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450592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gerados e ainda não explorados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27248" y="260604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56432" y="1920240"/>
            <a:ext cx="2450592" cy="1371600"/>
          </a:xfrm>
          <a:prstGeom prst="roundRect">
            <a:avLst>
              <a:gd name="adj" fmla="val 8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3592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um nó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93592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sai primeiro? Aí está a escolha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260604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72784" y="1920240"/>
            <a:ext cx="2450592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9944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objetivo?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9944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devolve o caminho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759952" y="260604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89136" y="1920240"/>
            <a:ext cx="2450592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26296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26296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os vizinhos novos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314432" y="3291840"/>
            <a:ext cx="0" cy="5029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74520" y="3794760"/>
            <a:ext cx="843991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74520" y="3328416"/>
            <a:ext cx="0" cy="466344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38328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até a fronteira esvaziar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4434840"/>
            <a:ext cx="10911535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526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algoritmos de hoje seguem este desenho. Só muda quem sai primeiro da fronteira: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14400" y="521208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515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(FIFO)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480560" y="521208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772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(LIFO)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46720" y="521208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8388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uniforme, Gulosa e A*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comparar algoritmos de busca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542032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Completude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existe solução, o algoritmo sempre a encontra?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29000" y="1783080"/>
            <a:ext cx="2542032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76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Otimalidade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encontrada é a de menor custo?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17920" y="1783080"/>
            <a:ext cx="2542032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44652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nós são gerados até terminar?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006840" y="1783080"/>
            <a:ext cx="2542032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1031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354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923544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nós ficam na memória ao mesmo tempo?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40080" y="4251960"/>
            <a:ext cx="10911535" cy="1874520"/>
          </a:xfrm>
          <a:prstGeom prst="roundRect">
            <a:avLst>
              <a:gd name="adj" fmla="val 5854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letras para medir a dificuldade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4846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29" name="Text 22"/>
          <p:cNvSpPr txBox="1"/>
          <p:nvPr/>
        </p:nvSpPr>
        <p:spPr>
          <a:xfrm>
            <a:off x="164592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ramificação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filhos cada nó tem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480560" y="4846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31" name="Text 24"/>
          <p:cNvSpPr txBox="1"/>
          <p:nvPr/>
        </p:nvSpPr>
        <p:spPr>
          <a:xfrm>
            <a:off x="521208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da solução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até o objetivo mais raso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046720" y="4846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77824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máxima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mais longo possível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largura (BFS): nível por nível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uma pedra caindo na água: a onda se espalha em círculos.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BFS explora todos os nós a 1 passo, depois a 2 passos, e assim por diante.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é uma fila (FIFO): o primeiro a entrar é o primeiro a sair.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caminho encontrado até o objetivo é o de menos passos.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057132" y="261518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2862072"/>
            <a:ext cx="297180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5431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4303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7123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76872" y="3959352"/>
            <a:ext cx="1188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7687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6559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5431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5431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4303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4303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7512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6384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5256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5256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24128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4128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26948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6948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05256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5256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24128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4128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755380" y="201168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5538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= ordem de visita: A, B, C, D, E, F, G, H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passo a passo: a fronteira como fila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58368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fila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401568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depois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64208" y="2313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01568" y="23134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[B, C, D]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7706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770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64208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01568" y="27706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[C, D, E, F]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2278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2278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227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01568" y="3227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E, F, G]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6850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685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3685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401568" y="36850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[E, F, G, H]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1422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1422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64208" y="4142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401568" y="41422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[F, G, H]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" y="45994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599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4599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401568" y="45994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[G, H]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0566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5056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664208" y="5056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401568" y="50566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[H]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55138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9808" y="55138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664208" y="5513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3401568" y="5513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498080" y="1783080"/>
            <a:ext cx="405079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48840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845820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 no fim, sai no começo</a:t>
            </a:r>
            <a:endParaRPr lang="en-US" sz="1700" dirty="0"/>
          </a:p>
        </p:txBody>
      </p:sp>
      <p:sp>
        <p:nvSpPr>
          <p:cNvPr id="46" name="Text 42"/>
          <p:cNvSpPr txBox="1"/>
          <p:nvPr/>
        </p:nvSpPr>
        <p:spPr>
          <a:xfrm>
            <a:off x="7726680" y="2697480"/>
            <a:ext cx="3593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filhos de B entram depois de C e D. Por isso o nível 1 inteiro sai antes do nível 2.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7498080" y="4069080"/>
            <a:ext cx="4050792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726680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34840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458200" y="4297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com a árvore</a:t>
            </a:r>
            <a:endParaRPr lang="en-US" sz="1700" dirty="0"/>
          </a:p>
        </p:txBody>
      </p:sp>
      <p:sp>
        <p:nvSpPr>
          <p:cNvPr id="51" name="Text 46"/>
          <p:cNvSpPr txBox="1"/>
          <p:nvPr/>
        </p:nvSpPr>
        <p:spPr>
          <a:xfrm>
            <a:off x="7726680" y="4983480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de saída (A, B, C, D, E, F, G, H) é a ordem dos números na árvore anterior.</a:t>
            </a:r>
            <a:endParaRPr lang="en-US" sz="1400" dirty="0"/>
          </a:p>
        </p:txBody>
      </p:sp>
      <p:sp>
        <p:nvSpPr>
          <p:cNvPr id="52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em Python (1/2): preparação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2084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172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895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eficiente nas duas pontas: tira do começo sem custo.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589520" y="2971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89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só com o estado inicial.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589520" y="40690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89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cada estado veio. Também marca os visitados.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89520" y="51663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para comparar os algoritmos depois.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em Python (2/2): o laço principal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 (continuação de bfs)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popleft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181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18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popleft()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primeiro da fila: o mais antigo.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1812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181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 == meta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32278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Chegou: reconstrói o caminho pelos pais.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81812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181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458200" y="3941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viz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43068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cada vizinho possível do estado atual.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81812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181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458200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pais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53858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entra na fila se for novo; registra o pai.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5074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à indentação: este trecho continua dentro da função bfs.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no labirinto: o que ela explorou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37160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3736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0312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3464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6616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3192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768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94960" y="21488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6072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05840" y="25146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7160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3736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0312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46888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83464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0040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6616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93192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768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6344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2920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394960" y="25146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6072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008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584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37160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73736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0312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46888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83464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20040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56616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93192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29768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6344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02920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39496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76072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4008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05840" y="32461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37160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73736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10312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46888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83464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56616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93192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29768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66344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02920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39496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76072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4008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0584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37160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73736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10312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46888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83464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20040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6616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93192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29768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66344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02920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39496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76072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05840" y="39776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37160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73736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10312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46888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83464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0040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56616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93192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29768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66344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2920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39496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76072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400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05840" y="43434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37160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73736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10312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46888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283464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320040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6616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39319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2976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66344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02920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39496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7607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008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05840" y="47091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37160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73736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10312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246888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83464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20040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356616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393192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29768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66344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2920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76072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4008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0584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37160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73736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10312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46888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83464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320040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356616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393192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429768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466344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02920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76072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400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058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3716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7373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1031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4688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8346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32004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5661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39319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2976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46634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0292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53949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57607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40080" y="5980176"/>
            <a:ext cx="201168" cy="201168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9144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2103120" y="5980176"/>
            <a:ext cx="201168" cy="20116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237744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</a:t>
            </a:r>
            <a:endParaRPr lang="en-US" sz="1200" dirty="0"/>
          </a:p>
        </p:txBody>
      </p:sp>
      <p:sp>
        <p:nvSpPr>
          <p:cNvPr id="177" name="Shape 174"/>
          <p:cNvSpPr/>
          <p:nvPr/>
        </p:nvSpPr>
        <p:spPr>
          <a:xfrm>
            <a:off x="3383280" y="5980176"/>
            <a:ext cx="201168" cy="20116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36576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179" name="Shape 176"/>
          <p:cNvSpPr/>
          <p:nvPr/>
        </p:nvSpPr>
        <p:spPr>
          <a:xfrm>
            <a:off x="4572000" y="5980176"/>
            <a:ext cx="201168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0" name="Text 177"/>
          <p:cNvSpPr txBox="1"/>
          <p:nvPr/>
        </p:nvSpPr>
        <p:spPr>
          <a:xfrm>
            <a:off x="484632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81" name="Shape 178"/>
          <p:cNvSpPr/>
          <p:nvPr/>
        </p:nvSpPr>
        <p:spPr>
          <a:xfrm>
            <a:off x="6903720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2" name="Text 179"/>
          <p:cNvSpPr txBox="1"/>
          <p:nvPr/>
        </p:nvSpPr>
        <p:spPr>
          <a:xfrm>
            <a:off x="6903720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000" dirty="0"/>
          </a:p>
        </p:txBody>
      </p:sp>
      <p:sp>
        <p:nvSpPr>
          <p:cNvPr id="183" name="Text 180"/>
          <p:cNvSpPr txBox="1"/>
          <p:nvPr/>
        </p:nvSpPr>
        <p:spPr>
          <a:xfrm>
            <a:off x="7040880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expandidos</a:t>
            </a:r>
            <a:endParaRPr lang="en-US" sz="1400" dirty="0"/>
          </a:p>
        </p:txBody>
      </p:sp>
      <p:sp>
        <p:nvSpPr>
          <p:cNvPr id="184" name="Shape 181"/>
          <p:cNvSpPr/>
          <p:nvPr/>
        </p:nvSpPr>
        <p:spPr>
          <a:xfrm>
            <a:off x="9308592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9308592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86" name="Text 183"/>
          <p:cNvSpPr txBox="1"/>
          <p:nvPr/>
        </p:nvSpPr>
        <p:spPr>
          <a:xfrm>
            <a:off x="9445752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no caminho</a:t>
            </a:r>
            <a:endParaRPr lang="en-US" sz="1400" dirty="0"/>
          </a:p>
        </p:txBody>
      </p:sp>
      <p:sp>
        <p:nvSpPr>
          <p:cNvPr id="187" name="Shape 184"/>
          <p:cNvSpPr/>
          <p:nvPr/>
        </p:nvSpPr>
        <p:spPr>
          <a:xfrm>
            <a:off x="6903720" y="3703320"/>
            <a:ext cx="4645152" cy="2423160"/>
          </a:xfrm>
          <a:prstGeom prst="roundRect">
            <a:avLst>
              <a:gd name="adj" fmla="val 452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8" name="Text 185"/>
          <p:cNvSpPr txBox="1"/>
          <p:nvPr/>
        </p:nvSpPr>
        <p:spPr>
          <a:xfrm>
            <a:off x="71780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imagem mostra</a:t>
            </a:r>
            <a:endParaRPr lang="en-US" sz="1700" dirty="0"/>
          </a:p>
        </p:txBody>
      </p:sp>
      <p:sp>
        <p:nvSpPr>
          <p:cNvPr id="189" name="Text 186"/>
          <p:cNvSpPr txBox="1"/>
          <p:nvPr/>
        </p:nvSpPr>
        <p:spPr>
          <a:xfrm>
            <a:off x="7178040" y="42519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onda se espalha em todas as direções, inclusive para longe do objetivo.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encontrado é o mais curto possível.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preço: quase todo o labirinto foi visitado.</a:t>
            </a:r>
            <a:endParaRPr lang="en-US" sz="1400" dirty="0"/>
          </a:p>
        </p:txBody>
      </p:sp>
      <p:sp>
        <p:nvSpPr>
          <p:cNvPr id="190" name="Text 18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191" name="Text 18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BFS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BFS: pontos fortes e o calcanhar de Aquiles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Completa: acha a solução se ela existir e b for finito.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Sim*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Ótima: *quando todos os passos custam o mesmo.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O(bᵈ)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cresce exponencialmente com a profundidade.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0684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684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O(bᵈ)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Espaço: guarda toda a fronteira na memória.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4805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73736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memória acaba antes do tempo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737360" y="480060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 = 10 e d = 6, a BFS chega a cerca de um milhão de nós (10⁶) guardados ao mesmo tempo. Em problemas grandes, o gargalo da BFS costuma ser a memória, não o processador.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DFS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profundidade (DFS): até o fim do corredor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um labirinto a pé: siga um corredor até o fim.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um beco sem saída, volte (backtracking) e tente o próximo.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é uma pilha (LIFO): o último a entrar é o primeiro a sair.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pouca memória, mas pode achar um caminho longo demais.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057132" y="261518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2862072"/>
            <a:ext cx="297180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5431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43032" y="286207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7123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76872" y="3959352"/>
            <a:ext cx="1188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7687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6559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5431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5431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43032" y="3712464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43032" y="3959352"/>
            <a:ext cx="0" cy="246888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7512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6384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5256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5256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241280" y="420624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41280" y="4206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26948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6948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05256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5256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241280" y="310896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41280" y="3108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755380" y="2011680"/>
            <a:ext cx="603504" cy="603504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5538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= ordem de visita: A, B, E, F, C, G, D, H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DFS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passo a passo: a fronteira como pilha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58368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pilha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401568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depois (topo à direita)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64208" y="2313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01568" y="23134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C, B]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7706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770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64208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01568" y="27706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C, F, E]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2278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2278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227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01568" y="3227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C, F]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6850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685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3685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401568" y="36850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C]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1422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1422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64208" y="4142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401568" y="41422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[D, G]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" y="45994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599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4599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401568" y="45994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[D]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0566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5056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664208" y="5056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401568" y="50566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[H]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5513832"/>
            <a:ext cx="658368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9808" y="55138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664208" y="5513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3401568" y="5513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498080" y="1783080"/>
            <a:ext cx="405079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48840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845820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 e sai pelo topo</a:t>
            </a:r>
            <a:endParaRPr lang="en-US" sz="1700" dirty="0"/>
          </a:p>
        </p:txBody>
      </p:sp>
      <p:sp>
        <p:nvSpPr>
          <p:cNvPr id="46" name="Text 42"/>
          <p:cNvSpPr txBox="1"/>
          <p:nvPr/>
        </p:nvSpPr>
        <p:spPr>
          <a:xfrm>
            <a:off x="7726680" y="2697480"/>
            <a:ext cx="3593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filhos de A entram invertidos (D, C, B). O topo da pilha é B, então B sai primeiro.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7498080" y="4069080"/>
            <a:ext cx="4050792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726680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34840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458200" y="4297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inverter?</a:t>
            </a:r>
            <a:endParaRPr lang="en-US" sz="1700" dirty="0"/>
          </a:p>
        </p:txBody>
      </p:sp>
      <p:sp>
        <p:nvSpPr>
          <p:cNvPr id="51" name="Text 46"/>
          <p:cNvSpPr txBox="1"/>
          <p:nvPr/>
        </p:nvSpPr>
        <p:spPr>
          <a:xfrm>
            <a:off x="7726680" y="4983480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extend(reversed(filhos)) coloca o primeiro filho no topo, e a DFS visita da esquerda para a direita.</a:t>
            </a:r>
            <a:endParaRPr lang="en-US" sz="1400" dirty="0"/>
          </a:p>
        </p:txBody>
      </p:sp>
      <p:sp>
        <p:nvSpPr>
          <p:cNvPr id="52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DFS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em Python: duas linhas diferentes da BFS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popleft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53912" y="1783080"/>
            <a:ext cx="539496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50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562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574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68312" y="19019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28232" y="22860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28232" y="25527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28232" y="28194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pilha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5890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38176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9547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737360" y="38176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de banco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" y="45034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chegou primeiro é atendido primeiro.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153912" y="35890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28232" y="38176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95478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251192" y="38176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 de pratos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6428232" y="45034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prato colocado é o primeiro a ser usado.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· DFS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no labirinto: achou, mas não o melhor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3716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373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0312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3464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661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3192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768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949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6072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058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716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3736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0312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46888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8346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004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6616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93192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768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634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292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394960" y="25146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6072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008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584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37160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73736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0312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468880" y="28803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83464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20040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56616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93192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29768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6344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02920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39496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76072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4008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0584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37160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73736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10312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468880" y="32461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83464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32461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56616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93192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29768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66344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02920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39496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76072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4008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0584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37160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73736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10312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468880" y="361188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83464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20040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6616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93192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29768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66344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02920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39496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76072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0584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37160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73736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10312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468880" y="397764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83464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0040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56616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93192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29768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66344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2920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394960" y="39776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76072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400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0584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37160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73736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10312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468880" y="434340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283464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320040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6616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39319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2976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663440" y="43434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029200" y="43434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394960" y="43434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7607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008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0584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37160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73736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10312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246888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83464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20040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356616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393192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297680" y="470916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663440" y="47091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2920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76072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4008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0584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37160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73736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10312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46888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83464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320040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356616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393192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4297680" y="5074920"/>
            <a:ext cx="342900" cy="34290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466344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029200" y="50749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76072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400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058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3716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7373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1031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4688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8346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32004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5661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39319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2976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46634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0292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53949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57607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40080" y="5980176"/>
            <a:ext cx="201168" cy="201168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9144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2103120" y="5980176"/>
            <a:ext cx="201168" cy="20116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237744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</a:t>
            </a:r>
            <a:endParaRPr lang="en-US" sz="1200" dirty="0"/>
          </a:p>
        </p:txBody>
      </p:sp>
      <p:sp>
        <p:nvSpPr>
          <p:cNvPr id="177" name="Shape 174"/>
          <p:cNvSpPr/>
          <p:nvPr/>
        </p:nvSpPr>
        <p:spPr>
          <a:xfrm>
            <a:off x="3383280" y="5980176"/>
            <a:ext cx="201168" cy="20116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36576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179" name="Shape 176"/>
          <p:cNvSpPr/>
          <p:nvPr/>
        </p:nvSpPr>
        <p:spPr>
          <a:xfrm>
            <a:off x="4572000" y="5980176"/>
            <a:ext cx="201168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0" name="Text 177"/>
          <p:cNvSpPr txBox="1"/>
          <p:nvPr/>
        </p:nvSpPr>
        <p:spPr>
          <a:xfrm>
            <a:off x="484632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81" name="Shape 178"/>
          <p:cNvSpPr/>
          <p:nvPr/>
        </p:nvSpPr>
        <p:spPr>
          <a:xfrm>
            <a:off x="6903720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2" name="Text 179"/>
          <p:cNvSpPr txBox="1"/>
          <p:nvPr/>
        </p:nvSpPr>
        <p:spPr>
          <a:xfrm>
            <a:off x="6903720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000" dirty="0"/>
          </a:p>
        </p:txBody>
      </p:sp>
      <p:sp>
        <p:nvSpPr>
          <p:cNvPr id="183" name="Text 180"/>
          <p:cNvSpPr txBox="1"/>
          <p:nvPr/>
        </p:nvSpPr>
        <p:spPr>
          <a:xfrm>
            <a:off x="7040880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expandidos</a:t>
            </a:r>
            <a:endParaRPr lang="en-US" sz="1400" dirty="0"/>
          </a:p>
        </p:txBody>
      </p:sp>
      <p:sp>
        <p:nvSpPr>
          <p:cNvPr id="184" name="Shape 181"/>
          <p:cNvSpPr/>
          <p:nvPr/>
        </p:nvSpPr>
        <p:spPr>
          <a:xfrm>
            <a:off x="9308592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9308592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000" dirty="0"/>
          </a:p>
        </p:txBody>
      </p:sp>
      <p:sp>
        <p:nvSpPr>
          <p:cNvPr id="186" name="Text 183"/>
          <p:cNvSpPr txBox="1"/>
          <p:nvPr/>
        </p:nvSpPr>
        <p:spPr>
          <a:xfrm>
            <a:off x="9445752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no caminho</a:t>
            </a:r>
            <a:endParaRPr lang="en-US" sz="1400" dirty="0"/>
          </a:p>
        </p:txBody>
      </p:sp>
      <p:sp>
        <p:nvSpPr>
          <p:cNvPr id="187" name="Shape 184"/>
          <p:cNvSpPr/>
          <p:nvPr/>
        </p:nvSpPr>
        <p:spPr>
          <a:xfrm>
            <a:off x="6903720" y="3703320"/>
            <a:ext cx="4645152" cy="2423160"/>
          </a:xfrm>
          <a:prstGeom prst="roundRect">
            <a:avLst>
              <a:gd name="adj" fmla="val 452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8" name="Text 185"/>
          <p:cNvSpPr txBox="1"/>
          <p:nvPr/>
        </p:nvSpPr>
        <p:spPr>
          <a:xfrm>
            <a:off x="71780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imagem mostra</a:t>
            </a:r>
            <a:endParaRPr lang="en-US" sz="1700" dirty="0"/>
          </a:p>
        </p:txBody>
      </p:sp>
      <p:sp>
        <p:nvSpPr>
          <p:cNvPr id="189" name="Text 186"/>
          <p:cNvSpPr txBox="1"/>
          <p:nvPr/>
        </p:nvSpPr>
        <p:spPr>
          <a:xfrm>
            <a:off x="7178040" y="42519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DFS mergulhou por um lado e deu a volta pelo outro.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 o objetivo, mas com 36 passos: 80% mais longo que os 20 da BFS.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Expandiu menos nós que a BFS, porém sem garantia de caminho curto.</a:t>
            </a:r>
            <a:endParaRPr lang="en-US" sz="1400" dirty="0"/>
          </a:p>
        </p:txBody>
      </p:sp>
      <p:sp>
        <p:nvSpPr>
          <p:cNvPr id="190" name="Text 18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191" name="Text 18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× DFS: qual escolher?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(largura)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(profundidade)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(FIFO)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(LIFO)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026664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026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026664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3026664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em espaços finitos que registram os visitados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739896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Ótima?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739896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se cada passo custa o mesmo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739896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pode achar um caminho longo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453128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453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453128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O(bᵈ)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453128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Baixa: O(b·m)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16636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166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5166360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o menor número de passos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5166360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é curta ou qualquer solução serve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06247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ignoram o custo real dos passos e “enxergam” o objetivo só ao chegar nele: por isso se chamam busca cega.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os passos não custam o mesmo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45920" y="3520440"/>
            <a:ext cx="6400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9164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88920" y="242316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242316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461772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2724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2423160"/>
            <a:ext cx="26974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242316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990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4617720"/>
            <a:ext cx="6400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4617720"/>
            <a:ext cx="105156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2668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2200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28600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8600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023360" y="212140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3360" y="212140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02336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2336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22376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595360" y="1828800"/>
            <a:ext cx="2953512" cy="4023360"/>
          </a:xfrm>
          <a:prstGeom prst="roundRect">
            <a:avLst>
              <a:gd name="adj" fmla="val 37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clássico de Russell &amp; Norvig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é a distância em km entre duas cidades.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778240" y="35661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rota mais barata de Arad a Bucareste?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778240" y="4846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BFS contaria cidades, não quilômetros.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CUSTO UNIFORME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 custo uniforme: sempre o mais barato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“quem chegou primeiro”, expande o nó com o menor custo acumulado g(n).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vira uma fila de prioridade, ordenada pelo custo.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só é aceito quando sai da fronteira: aí o caminho é ótimo.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custos iguais, comporta-se como a BFS.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1783080"/>
            <a:ext cx="5605272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476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4593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4710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1901952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heapq_demo.py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286000"/>
            <a:ext cx="5056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552700"/>
            <a:ext cx="5056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819400"/>
            <a:ext cx="5056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086100"/>
            <a:ext cx="5056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"Rimnicu"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3352800"/>
            <a:ext cx="5056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(80, 'Rimnicu')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0" y="4160520"/>
            <a:ext cx="5605272" cy="1965960"/>
          </a:xfrm>
          <a:prstGeom prst="roundRect">
            <a:avLst>
              <a:gd name="adj" fmla="val 558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43891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5262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03720" y="438912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heapq: a fila de prioridade do Python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172200" y="5074920"/>
            <a:ext cx="5148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heappop sempre devolve a tupla de menor valor (aqui, o menor custo). É a base de UCS, gulosa e A*.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CUSTO UNIFORME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uniforme passo a passo: Arad → Bucareste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(g)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90288" y="1783080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custos na fronteira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64208" y="23134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 (0)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31343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Sibiu: 140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1635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64208" y="281635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 (140)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90288" y="281635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Rimnicu: 220 · Fagaras: 239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31927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31927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31927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 (220)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90288" y="331927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Pitesti: 317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82219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82219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382219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 (239)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90288" y="382219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Bucareste: 450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32511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2511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64208" y="432511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 (317)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90288" y="432511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Bucareste: 418, melhor que os 450 anteriores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48280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82803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48280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 (418)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590288" y="482803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Objetivo! Custo total 418 km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0080" y="551383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51383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já havia um caminho até Bucareste (450), mas a busca só o aceitaria ao tirá-lo da fronteira. Antes disso apareceu um mais barato.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em Python (1/2):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58952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romenia.py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"Arad"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"Arad"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"Fagaras"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"Rimnicu"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"Fagaras"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"Bucareste"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"Rimnicu"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"Pitesti"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"Pitesti"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"Rimnicu"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"Bucareste"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"Bucareste"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"Fagaras"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"Pitesti"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distância em linha reta até Bucareste (heurística)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"Arad"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"Sibiu"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"Fagaras"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"Rimnicu"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"Pitesti"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"Bucareste"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12480" y="1783080"/>
            <a:ext cx="3136392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410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1488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372600" y="2011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8641080" y="2697480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de dicionários: cada cidade guarda seus vizinhos e o custo da estrada.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412480" y="4206240"/>
            <a:ext cx="3136392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41080" y="44348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5720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372600" y="443484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641080" y="512064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quanto falta. Só entra na busca informada.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em Python (2/2): uma busca para todas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321040" cy="4465320"/>
          </a:xfrm>
          <a:prstGeom prst="roundRect">
            <a:avLst>
              <a:gd name="adj" fmla="val 24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romenia.py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753100"/>
            <a:ext cx="7772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44000" y="1783080"/>
            <a:ext cx="2404872" cy="4343400"/>
          </a:xfrm>
          <a:prstGeom prst="roundRect">
            <a:avLst>
              <a:gd name="adj" fmla="val 456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7260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1488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104120" y="201168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9372600" y="2697480"/>
            <a:ext cx="19476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que dá a “nota” de cada nó: quanto menor, antes sai. Trocar a função troca o algoritmo.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algoritmos, uma linha de diferença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uniforme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560320"/>
            <a:ext cx="3035808" cy="914400"/>
          </a:xfrm>
          <a:prstGeom prst="roundRect">
            <a:avLst>
              <a:gd name="adj" fmla="val 1000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560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g, cidade: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custo já gasto.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47972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2292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Gulosa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6572" y="2560320"/>
            <a:ext cx="3035808" cy="914400"/>
          </a:xfrm>
          <a:prstGeom prst="roundRect">
            <a:avLst>
              <a:gd name="adj" fmla="val 1000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13732" y="2560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g, cidade: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H[cidade]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22292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estimativa do que falta.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55864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30184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284464" y="2560320"/>
            <a:ext cx="3035808" cy="914400"/>
          </a:xfrm>
          <a:prstGeom prst="roundRect">
            <a:avLst>
              <a:gd name="adj" fmla="val 1000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21624" y="2560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g, cidade: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+ H[cidade]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30184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mais estimativa.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custo do caminho até agora · H = estimativa do que falta. A estrutura da busca é a mesma.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os três algoritmos no mapa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98142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romenia.py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custo_uniforme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a_estrela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 uniforme"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custo_uniforme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"Gulosa"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a_estrela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"Arad"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"Bucareste"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"{nome:15} custo={custo}  {' &gt; '.join(rota)}"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297680"/>
            <a:ext cx="10911535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" y="44805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" y="44805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43584" y="44805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54480" y="4416552"/>
            <a:ext cx="98142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de python romenia.py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8006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uniforme  custo=418  Arad &gt; Sibiu &gt; Rimnicu &gt; Pitesti &gt; Bucareste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0673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Gulosa          custo=450  Arad &gt; Sibiu &gt; Fagaras &gt; Bucareste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3340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             custo=418  Arad &gt; Sibiu &gt; Rimnicu &gt; Pitesti &gt; Bucareste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9664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gulosa chegou mais rápido, mas escolheu a rota 32 km mais longa. Veremos por quê.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Heurística: um palpite sobre o que falta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45920" y="3520440"/>
            <a:ext cx="6400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9164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88920" y="242316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242316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461772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2724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2423160"/>
            <a:ext cx="26974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242316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990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4617720"/>
            <a:ext cx="6400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4617720"/>
            <a:ext cx="105156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2668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2200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366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28600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8600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253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023360" y="212140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3360" y="212140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176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02336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2336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193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100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22376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595360" y="1828800"/>
            <a:ext cx="2953512" cy="4297680"/>
          </a:xfrm>
          <a:prstGeom prst="roundRect">
            <a:avLst>
              <a:gd name="adj" fmla="val 37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0" y="1874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</a:t>
            </a:r>
            <a:endParaRPr lang="en-US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do custo de n até o objetivo.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77824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Aqui: a distância em linha reta até Bucareste.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778240" y="4251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 de calcular e usa conhecimento do problema.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GULOSA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gulosa: confiar só no palpite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45920" y="3520440"/>
            <a:ext cx="64008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9164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88920" y="2423160"/>
            <a:ext cx="0" cy="795528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2423160"/>
            <a:ext cx="123444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461772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2724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2423160"/>
            <a:ext cx="269748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2423160"/>
            <a:ext cx="0" cy="795528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99048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4617720"/>
            <a:ext cx="6400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4617720"/>
            <a:ext cx="105156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26680" y="3822192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22008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366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28600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8600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253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023360" y="212140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3360" y="212140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176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02336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2336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193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0" y="4315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0" y="4315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100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223760" y="321868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595360" y="1828800"/>
            <a:ext cx="2953512" cy="4297680"/>
          </a:xfrm>
          <a:prstGeom prst="roundRect">
            <a:avLst>
              <a:gd name="adj" fmla="val 37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= h(n)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2423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Sibiu, Fagaras (h = 176) parece mais perto que Rimnicu (h = 193). A gulosa vai por ele.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778240" y="3886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final: 450 km, contra 418 da rota ótima.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778240" y="4800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o custo já pago a deixa rápida, mas não ótima.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A*: custo pago mais custo estimado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8745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gastei até 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2219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estimo gastar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5694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do caminho todo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4572000"/>
            <a:ext cx="64008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347472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3474720"/>
            <a:ext cx="123444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168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4873752"/>
            <a:ext cx="0" cy="795528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4840" y="5669280"/>
            <a:ext cx="123444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73168" y="5349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3474720"/>
            <a:ext cx="2697480" cy="0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72600" y="3474720"/>
            <a:ext cx="0" cy="795528"/>
          </a:xfrm>
          <a:prstGeom prst="line">
            <a:avLst/>
          </a:prstGeom>
          <a:noFill/>
          <a:ln w="25400">
            <a:solidFill>
              <a:srgbClr val="9DB0A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44968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75120" y="5669280"/>
            <a:ext cx="64008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20840" y="5349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321040" y="5669280"/>
            <a:ext cx="1051560" cy="0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72600" y="4873752"/>
            <a:ext cx="0" cy="795528"/>
          </a:xfrm>
          <a:prstGeom prst="line">
            <a:avLst/>
          </a:prstGeom>
          <a:noFill/>
          <a:ln w="50800">
            <a:solidFill>
              <a:srgbClr val="FF7A2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67928" y="5349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286000" y="427024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86000" y="42702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931920" y="427024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31920" y="42702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669280" y="317296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9280" y="31729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669280" y="536752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69280" y="5367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0" y="536752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0" y="5367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869680" y="4270248"/>
            <a:ext cx="1005840" cy="603504"/>
          </a:xfrm>
          <a:prstGeom prst="roundRect">
            <a:avLst>
              <a:gd name="adj" fmla="val 1515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869680" y="42702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ótima: 140 + 80 + 97 + 101 = 418 km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passo a passo no mapa da Romênia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(f)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90288" y="1783080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f = g + h na fronteira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64208" y="23134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 (366)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31343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Sibiu: 140 + 253 = 393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1635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64208" y="281635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 (393)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90288" y="281635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Fagaras: 239 + 176 = 415 · Rimnicu: 220 + 193 = 413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31927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31927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31927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Rimnicu (413)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90288" y="331927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Pitesti: 317 + 100 = 417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82219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82219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382219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 (415)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90288" y="382219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Bucareste: 450 + 0 = 450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32511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2511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64208" y="432511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 (417)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90288" y="432511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Bucareste: 418 + 0 = 418, melhor que 450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48280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82803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48280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Bucareste (418)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590288" y="4828032"/>
            <a:ext cx="6885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Objetivo! Custo total 418 km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0080" y="551383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51383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A* e o custo uniforme expandem as mesmas cidades. No labirinto, o ganho do A* vai aparecer.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boas: admissível e informada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Admissível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superestima o custo real até o objetivo: h(n) ≤ custo real. Garante que o A* seja ótimo.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informada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duas heurísticas admissíveis, a de maior valor guia melhor e expande menos nós.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h(objetivo) = 0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objetivo, a estimativa é zero. Heurística zero vira custo uniforme.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389120"/>
            <a:ext cx="10911535" cy="1737360"/>
          </a:xfrm>
          <a:prstGeom prst="roundRect">
            <a:avLst>
              <a:gd name="adj" fmla="val 631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8-puzzle (7 2 4 / 5 _ 6 / 8 3 1)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005840" y="493776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fora do lugar: 6. Cada peça precisa de pelo menos 1 movimento.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Manhattan: 14. Soma quantas casas cada peça está do lugar certo.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são admissíveis; a de Manhattan é mais informada (14 ≥ 6).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Calculando a heurística do 8-puzzle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66160" cy="2788920"/>
          </a:xfrm>
          <a:prstGeom prst="roundRect">
            <a:avLst>
              <a:gd name="adj" fmla="val 39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17320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17320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75688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75688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34056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34056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417320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17320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075688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34056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34056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417320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17320" y="3694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2075688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75688" y="3694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734056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34056" y="3694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343400" y="1783080"/>
            <a:ext cx="3566160" cy="2788920"/>
          </a:xfrm>
          <a:prstGeom prst="roundRect">
            <a:avLst>
              <a:gd name="adj" fmla="val 39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1772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20640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20640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779008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79008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437376" y="2377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37376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120640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120640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779008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79008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437376" y="303580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37376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5120640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120640" y="3694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5779008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779008" y="3694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6437376" y="3694176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0080" y="466344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as 6 peças fora do lugar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peça a peça: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→ 2 · 2 → 0 · 4 → 3 · 5 → 1 · 6 → 0 · 8 → 1 · 3 → 3 · 1 → 4  =  14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8092440" y="1783080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92440" y="1892808"/>
            <a:ext cx="345643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49" name="Text 46"/>
          <p:cNvSpPr txBox="1"/>
          <p:nvPr/>
        </p:nvSpPr>
        <p:spPr>
          <a:xfrm>
            <a:off x="8229600" y="2633472"/>
            <a:ext cx="318211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fora do lugar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8092440" y="3383280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092440" y="3493008"/>
            <a:ext cx="345643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52" name="Text 49"/>
          <p:cNvSpPr txBox="1"/>
          <p:nvPr/>
        </p:nvSpPr>
        <p:spPr>
          <a:xfrm>
            <a:off x="8229600" y="4233672"/>
            <a:ext cx="318211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Manhattan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de Manhattan no 8-puzzle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58952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manhattan_puzzle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manhattan_puzzle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412480" y="1783080"/>
            <a:ext cx="3136392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// 3, i % 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a posição 0 a 8 em (linha, coluna).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412480" y="3200400"/>
            <a:ext cx="3136392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9536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OBJETIVO.index(v)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peça v deveria estar.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412480" y="4617720"/>
            <a:ext cx="3136392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abs(...) + abs(...)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5120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de distância em linhas e colunas.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heurística do labirinto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15975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4496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3757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3018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2279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1540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0800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061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79322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85832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78440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71048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63656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256264" y="182880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9752" y="212140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2121408"/>
            <a:ext cx="269748" cy="26974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52360" y="2121408"/>
            <a:ext cx="2697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4496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3757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30184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22792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15400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0800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0061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93224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85832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78440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71048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963656" y="212140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256264" y="212140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59752" y="241401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5236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4496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3757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30184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22792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91540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0800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50061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793224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085832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378440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671048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963656" y="241401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256264" y="241401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59752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452360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74496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03757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330184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622792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915400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20800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50061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793224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85832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378440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671048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963656" y="270662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1256264" y="270662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159752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452360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74496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03757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330184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622792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15400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20800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50061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793224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085832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0378440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0671048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0963656" y="299923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256264" y="299923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59752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452360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74496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03757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330184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622792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915400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20800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50061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793224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0085832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378440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671048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963656" y="3291840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1256264" y="329184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159752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452360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74496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03757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8330184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622792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915400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20800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50061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793224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0085832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378440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671048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963656" y="3584448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1256264" y="3584448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159752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452360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744968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037576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8330184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8622792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915400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208008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9500616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9793224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085832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378440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671048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0963656" y="3877056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1256264" y="3877056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159752" y="416966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45236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74496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803757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8330184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8622792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91540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920800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950061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9793224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0085832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0378440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10671048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0963656" y="4169664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1256264" y="4169664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159752" y="446227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45236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74496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8037576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330184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622792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91540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920800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9500616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9793224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0085832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10378440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0671048" y="4462272"/>
            <a:ext cx="269748" cy="269748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963656" y="4462272"/>
            <a:ext cx="269748" cy="26974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10963656" y="4462272"/>
            <a:ext cx="2697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57" name="Shape 154"/>
          <p:cNvSpPr/>
          <p:nvPr/>
        </p:nvSpPr>
        <p:spPr>
          <a:xfrm>
            <a:off x="11256264" y="4462272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715975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745236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774496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03757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33018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62279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91540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20800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50061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79322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085832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378440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671048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963656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1256264" y="4754880"/>
            <a:ext cx="269748" cy="2697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40080" y="1783080"/>
            <a:ext cx="58521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78" name="Text 175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9" name="Text 176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0" name="Text 177"/>
          <p:cNvSpPr txBox="1"/>
          <p:nvPr/>
        </p:nvSpPr>
        <p:spPr>
          <a:xfrm>
            <a:off x="640080" y="374904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Manhattan: linhas de diferença + colunas de diferença.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Admissível: as paredes só podem aumentar o caminho, nunca encurtá-lo.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Barata: uma conta simples por célula.</a:t>
            </a:r>
            <a:endParaRPr lang="en-US" sz="1600" dirty="0"/>
          </a:p>
        </p:txBody>
      </p:sp>
      <p:sp>
        <p:nvSpPr>
          <p:cNvPr id="181" name="Text 178"/>
          <p:cNvSpPr txBox="1"/>
          <p:nvPr/>
        </p:nvSpPr>
        <p:spPr>
          <a:xfrm>
            <a:off x="7159752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paredes, o caminho ótimo teria exatamente |Δlinha| + |Δcoluna| passos.</a:t>
            </a:r>
            <a:endParaRPr lang="en-US" sz="1400" dirty="0"/>
          </a:p>
        </p:txBody>
      </p:sp>
      <p:sp>
        <p:nvSpPr>
          <p:cNvPr id="182" name="Text 17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183" name="Text 18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em Python (1/2): preparação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a_estrela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1488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 no lugar da deque.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4124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(f, h, g, estado)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tupla ordena por f; empates saem pelo menor h.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4124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052560" y="4526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4892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g conhecido de cada estado.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em Python (2/2): o laço principal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50392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 (continuação de a_estrela)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7955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novo_g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326880" y="1783080"/>
            <a:ext cx="2221992" cy="4343400"/>
          </a:xfrm>
          <a:prstGeom prst="roundRect">
            <a:avLst>
              <a:gd name="adj" fmla="val 49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55480" y="2011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14884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287000" y="201168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Novidade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9555480" y="2697480"/>
            <a:ext cx="1764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vizinho também entra se achamos um caminho mais barato até ele (novo_g &lt; custo[viz]).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5852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da BFS: muda a fronteira (heap) e a nota de cada nó (g + h).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· A*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no labirinto: foco no objetivo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17830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3716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373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0312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3464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661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3192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768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94960" y="21488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60720" y="21488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058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716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3736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0312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46888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8346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004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6616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93192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768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6344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29200" y="25146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394960" y="25146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60720" y="25146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008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584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37160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73736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0312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46888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83464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20040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56616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93192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29768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6344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029200" y="28803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394960" y="28803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760720" y="28803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4008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0584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37160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73736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10312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46888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83464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56616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93192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29768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66344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029200" y="32461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394960" y="324612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760720" y="32461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4008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0584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37160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73736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10312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46888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83464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20040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6616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93192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29768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66344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029200" y="361188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394960" y="361188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760720" y="36118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0584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37160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73736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10312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46888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83464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0040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56616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93192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29768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66344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29200" y="397764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394960" y="397764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760720" y="397764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400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0584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37160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73736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10312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46888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283464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320040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6616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39319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29768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66344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029200" y="434340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394960" y="434340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760720" y="434340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008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0584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37160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73736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10312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246888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83464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20040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356616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393192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29768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66344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29200" y="470916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4709160"/>
            <a:ext cx="342900" cy="34290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760720" y="470916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4008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0584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37160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73736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10312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46888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83464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320040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356616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393192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429768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466344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029200" y="5074920"/>
            <a:ext cx="342900" cy="342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5394960" y="50749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760720" y="507492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400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058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3716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7373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1031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4688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8346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32004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5661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39319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29768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466344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02920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539496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5760720" y="5440680"/>
            <a:ext cx="3429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40080" y="5980176"/>
            <a:ext cx="201168" cy="201168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9144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2103120" y="5980176"/>
            <a:ext cx="201168" cy="20116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237744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</a:t>
            </a:r>
            <a:endParaRPr lang="en-US" sz="1200" dirty="0"/>
          </a:p>
        </p:txBody>
      </p:sp>
      <p:sp>
        <p:nvSpPr>
          <p:cNvPr id="177" name="Shape 174"/>
          <p:cNvSpPr/>
          <p:nvPr/>
        </p:nvSpPr>
        <p:spPr>
          <a:xfrm>
            <a:off x="3383280" y="5980176"/>
            <a:ext cx="201168" cy="20116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365760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179" name="Shape 176"/>
          <p:cNvSpPr/>
          <p:nvPr/>
        </p:nvSpPr>
        <p:spPr>
          <a:xfrm>
            <a:off x="4572000" y="5980176"/>
            <a:ext cx="201168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0" name="Text 177"/>
          <p:cNvSpPr txBox="1"/>
          <p:nvPr/>
        </p:nvSpPr>
        <p:spPr>
          <a:xfrm>
            <a:off x="4846320" y="5943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81" name="Shape 178"/>
          <p:cNvSpPr/>
          <p:nvPr/>
        </p:nvSpPr>
        <p:spPr>
          <a:xfrm>
            <a:off x="6903720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2" name="Text 179"/>
          <p:cNvSpPr txBox="1"/>
          <p:nvPr/>
        </p:nvSpPr>
        <p:spPr>
          <a:xfrm>
            <a:off x="6903720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83" name="Text 180"/>
          <p:cNvSpPr txBox="1"/>
          <p:nvPr/>
        </p:nvSpPr>
        <p:spPr>
          <a:xfrm>
            <a:off x="7040880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expandidos</a:t>
            </a:r>
            <a:endParaRPr lang="en-US" sz="1400" dirty="0"/>
          </a:p>
        </p:txBody>
      </p:sp>
      <p:sp>
        <p:nvSpPr>
          <p:cNvPr id="184" name="Shape 181"/>
          <p:cNvSpPr/>
          <p:nvPr/>
        </p:nvSpPr>
        <p:spPr>
          <a:xfrm>
            <a:off x="9308592" y="178308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9308592" y="1892808"/>
            <a:ext cx="2240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86" name="Text 183"/>
          <p:cNvSpPr txBox="1"/>
          <p:nvPr/>
        </p:nvSpPr>
        <p:spPr>
          <a:xfrm>
            <a:off x="9445752" y="2825496"/>
            <a:ext cx="19659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(ótimo)</a:t>
            </a:r>
            <a:endParaRPr lang="en-US" sz="1400" dirty="0"/>
          </a:p>
        </p:txBody>
      </p:sp>
      <p:sp>
        <p:nvSpPr>
          <p:cNvPr id="187" name="Shape 184"/>
          <p:cNvSpPr/>
          <p:nvPr/>
        </p:nvSpPr>
        <p:spPr>
          <a:xfrm>
            <a:off x="6903720" y="3703320"/>
            <a:ext cx="4645152" cy="2423160"/>
          </a:xfrm>
          <a:prstGeom prst="roundRect">
            <a:avLst>
              <a:gd name="adj" fmla="val 452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8" name="Text 185"/>
          <p:cNvSpPr txBox="1"/>
          <p:nvPr/>
        </p:nvSpPr>
        <p:spPr>
          <a:xfrm>
            <a:off x="71780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imagem mostra</a:t>
            </a:r>
            <a:endParaRPr lang="en-US" sz="1700" dirty="0"/>
          </a:p>
        </p:txBody>
      </p:sp>
      <p:sp>
        <p:nvSpPr>
          <p:cNvPr id="189" name="Text 186"/>
          <p:cNvSpPr txBox="1"/>
          <p:nvPr/>
        </p:nvSpPr>
        <p:spPr>
          <a:xfrm>
            <a:off x="7178040" y="42519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as células do caminho foram expandidas: a heurística aponta para G.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caminho mínimo da BFS, com 21 expansões em vez de 108.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busca cega, nada disso é possível.</a:t>
            </a:r>
            <a:endParaRPr lang="en-US" sz="1400" dirty="0"/>
          </a:p>
        </p:txBody>
      </p:sp>
      <p:sp>
        <p:nvSpPr>
          <p:cNvPr id="190" name="Text 18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191" name="Text 18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algoritmos no mesmo labirinto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58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830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402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546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832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118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0480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2514600"/>
            <a:ext cx="205740" cy="20574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972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258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5544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7830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402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688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6974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260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546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832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11880" y="2514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840480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" y="2743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972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258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544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830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116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402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4688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974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9260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1546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3832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611880" y="2743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840480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0080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8680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972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3258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5544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7830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011680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2402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4688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6974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9260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1546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3832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611880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840480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40080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68680" y="3200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972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3258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5544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7830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011680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2402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4688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6974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9260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546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3832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11880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840480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40080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68680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972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3258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5544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7830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011680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22402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4688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6974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29260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1546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3832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611880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840480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868680" y="3657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972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3258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5544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7830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011680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22402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24688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6974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29260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1546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33832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3611880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3840480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400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68680" y="3886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972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3258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5544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7830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20116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22402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24688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6974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9260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1546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33832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3611880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3840480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0080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868680" y="4114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0972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3258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5544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7830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0116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2402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24688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26974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29260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1546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33832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3611880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3840480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40080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686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972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3258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5544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7830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0116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22402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24688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26974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260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1546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3383280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3611880" y="4343400"/>
            <a:ext cx="205740" cy="2057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3840480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6400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8686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972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3258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5544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17830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0116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2402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24688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26974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29260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31546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33832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36118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3840480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2" name="Text 169"/>
          <p:cNvSpPr txBox="1"/>
          <p:nvPr/>
        </p:nvSpPr>
        <p:spPr>
          <a:xfrm>
            <a:off x="640080" y="4937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expandidos · 20 passos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ótimo, mas explora quase tudo</a:t>
            </a:r>
            <a:endParaRPr lang="en-US" sz="1400" dirty="0"/>
          </a:p>
        </p:txBody>
      </p:sp>
      <p:sp>
        <p:nvSpPr>
          <p:cNvPr id="173" name="Text 170"/>
          <p:cNvSpPr txBox="1"/>
          <p:nvPr/>
        </p:nvSpPr>
        <p:spPr>
          <a:xfrm>
            <a:off x="4379976" y="1783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</a:t>
            </a:r>
            <a:endParaRPr lang="en-US" sz="2000" dirty="0"/>
          </a:p>
        </p:txBody>
      </p:sp>
      <p:sp>
        <p:nvSpPr>
          <p:cNvPr id="174" name="Shape 171"/>
          <p:cNvSpPr/>
          <p:nvPr/>
        </p:nvSpPr>
        <p:spPr>
          <a:xfrm>
            <a:off x="43799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46085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48371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50657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52943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55229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7515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59801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087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4373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6659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8945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71231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3517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7580376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4379976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4608576" y="2514600"/>
            <a:ext cx="205740" cy="20574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48371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50657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52943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55229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7515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59801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2087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4373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66659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68945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231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351776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580376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4379976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46085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48371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50657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52943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55229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7515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59801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62087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64373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66659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68945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123176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351776" y="2743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0376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4379976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608576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4837176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5065776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5294376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5522976" y="2971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751576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59801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62087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64373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66659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68945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71231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7351776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7580376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4379976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4608576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4837176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5065776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5294376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5522976" y="3200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5751576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5980176" y="3200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62087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64373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66659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68945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71231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7351776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7580376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4379976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4608576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4837176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5065776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5294376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5522976" y="34290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5751576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59801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62087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64373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66659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68945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71231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7351776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7580376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4379976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4608576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837176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5065776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5294376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5522976" y="36576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5751576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59801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62087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64373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66659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68945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7123176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7351776" y="3657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7580376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43799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4608576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4837176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5065776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5294376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5522976" y="38862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57515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59801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62087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64373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66659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6894576" y="3886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7123176" y="3886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7351776" y="3886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7580376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4379976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46085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48371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50657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52943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55229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57515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59801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62087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64373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6665976" y="41148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6894576" y="4114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7123176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7351776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7580376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4379976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46085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48371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50657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52943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55229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57515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59801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62087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64373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6665976" y="4343400"/>
            <a:ext cx="205740" cy="205740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6894576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7123176" y="4343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7351776" y="4343400"/>
            <a:ext cx="205740" cy="2057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7580376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43799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46085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48371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50657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52943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55229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57515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59801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62087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64373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66659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68945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71231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73517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7580376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9" name="Text 336"/>
          <p:cNvSpPr txBox="1"/>
          <p:nvPr/>
        </p:nvSpPr>
        <p:spPr>
          <a:xfrm>
            <a:off x="4379976" y="4937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expandidos · 36 passos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80% mais longo</a:t>
            </a:r>
            <a:endParaRPr lang="en-US" sz="1400" dirty="0"/>
          </a:p>
        </p:txBody>
      </p:sp>
      <p:sp>
        <p:nvSpPr>
          <p:cNvPr id="340" name="Text 337"/>
          <p:cNvSpPr txBox="1"/>
          <p:nvPr/>
        </p:nvSpPr>
        <p:spPr>
          <a:xfrm>
            <a:off x="8119872" y="1783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000" dirty="0"/>
          </a:p>
        </p:txBody>
      </p:sp>
      <p:sp>
        <p:nvSpPr>
          <p:cNvPr id="341" name="Shape 338"/>
          <p:cNvSpPr/>
          <p:nvPr/>
        </p:nvSpPr>
        <p:spPr>
          <a:xfrm>
            <a:off x="81198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83484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85770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88056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90342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92628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94914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97200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99486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01772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04058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06344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08630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0916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320272" y="2286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8119872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8348472" y="2514600"/>
            <a:ext cx="205740" cy="20574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85770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88056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90342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92628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94914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97200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99486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01772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04058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06344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08630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091672" y="2514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320272" y="2514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8119872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83484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85770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88056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90342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92628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94914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97200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99486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0" name="Shape 377"/>
          <p:cNvSpPr/>
          <p:nvPr/>
        </p:nvSpPr>
        <p:spPr>
          <a:xfrm>
            <a:off x="101772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1" name="Shape 378"/>
          <p:cNvSpPr/>
          <p:nvPr/>
        </p:nvSpPr>
        <p:spPr>
          <a:xfrm>
            <a:off x="104058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106344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3" name="Shape 380"/>
          <p:cNvSpPr/>
          <p:nvPr/>
        </p:nvSpPr>
        <p:spPr>
          <a:xfrm>
            <a:off x="10863072" y="2743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4" name="Shape 381"/>
          <p:cNvSpPr/>
          <p:nvPr/>
        </p:nvSpPr>
        <p:spPr>
          <a:xfrm>
            <a:off x="11091672" y="2743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11320272" y="2743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6" name="Shape 383"/>
          <p:cNvSpPr/>
          <p:nvPr/>
        </p:nvSpPr>
        <p:spPr>
          <a:xfrm>
            <a:off x="8119872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7" name="Shape 384"/>
          <p:cNvSpPr/>
          <p:nvPr/>
        </p:nvSpPr>
        <p:spPr>
          <a:xfrm>
            <a:off x="83484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8" name="Shape 385"/>
          <p:cNvSpPr/>
          <p:nvPr/>
        </p:nvSpPr>
        <p:spPr>
          <a:xfrm>
            <a:off x="85770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9" name="Shape 386"/>
          <p:cNvSpPr/>
          <p:nvPr/>
        </p:nvSpPr>
        <p:spPr>
          <a:xfrm>
            <a:off x="88056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0" name="Shape 387"/>
          <p:cNvSpPr/>
          <p:nvPr/>
        </p:nvSpPr>
        <p:spPr>
          <a:xfrm>
            <a:off x="90342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92628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2" name="Shape 389"/>
          <p:cNvSpPr/>
          <p:nvPr/>
        </p:nvSpPr>
        <p:spPr>
          <a:xfrm>
            <a:off x="9491472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3" name="Shape 390"/>
          <p:cNvSpPr/>
          <p:nvPr/>
        </p:nvSpPr>
        <p:spPr>
          <a:xfrm>
            <a:off x="97200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4" name="Shape 391"/>
          <p:cNvSpPr/>
          <p:nvPr/>
        </p:nvSpPr>
        <p:spPr>
          <a:xfrm>
            <a:off x="99486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5" name="Shape 392"/>
          <p:cNvSpPr/>
          <p:nvPr/>
        </p:nvSpPr>
        <p:spPr>
          <a:xfrm>
            <a:off x="101772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6" name="Shape 393"/>
          <p:cNvSpPr/>
          <p:nvPr/>
        </p:nvSpPr>
        <p:spPr>
          <a:xfrm>
            <a:off x="104058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06344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10863072" y="2971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9" name="Shape 396"/>
          <p:cNvSpPr/>
          <p:nvPr/>
        </p:nvSpPr>
        <p:spPr>
          <a:xfrm>
            <a:off x="11091672" y="2971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11320272" y="2971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8119872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83484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85770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88056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90342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6" name="Shape 403"/>
          <p:cNvSpPr/>
          <p:nvPr/>
        </p:nvSpPr>
        <p:spPr>
          <a:xfrm>
            <a:off x="92628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7" name="Shape 404"/>
          <p:cNvSpPr/>
          <p:nvPr/>
        </p:nvSpPr>
        <p:spPr>
          <a:xfrm>
            <a:off x="9491472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97200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99486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0" name="Shape 407"/>
          <p:cNvSpPr/>
          <p:nvPr/>
        </p:nvSpPr>
        <p:spPr>
          <a:xfrm>
            <a:off x="101772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1" name="Shape 408"/>
          <p:cNvSpPr/>
          <p:nvPr/>
        </p:nvSpPr>
        <p:spPr>
          <a:xfrm>
            <a:off x="104058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106344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10863072" y="3200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11091672" y="32004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11320272" y="3200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8119872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83484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85770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88056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90342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92628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9491472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97200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99486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101772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104058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106344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10863072" y="34290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11091672" y="34290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11320272" y="3429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8119872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83484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85770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88056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90342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92628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9491472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97200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9" name="Shape 436"/>
          <p:cNvSpPr/>
          <p:nvPr/>
        </p:nvSpPr>
        <p:spPr>
          <a:xfrm>
            <a:off x="99486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0" name="Shape 437"/>
          <p:cNvSpPr/>
          <p:nvPr/>
        </p:nvSpPr>
        <p:spPr>
          <a:xfrm>
            <a:off x="101772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1" name="Shape 438"/>
          <p:cNvSpPr/>
          <p:nvPr/>
        </p:nvSpPr>
        <p:spPr>
          <a:xfrm>
            <a:off x="104058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2" name="Shape 439"/>
          <p:cNvSpPr/>
          <p:nvPr/>
        </p:nvSpPr>
        <p:spPr>
          <a:xfrm>
            <a:off x="106344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3" name="Shape 440"/>
          <p:cNvSpPr/>
          <p:nvPr/>
        </p:nvSpPr>
        <p:spPr>
          <a:xfrm>
            <a:off x="10863072" y="36576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4" name="Shape 441"/>
          <p:cNvSpPr/>
          <p:nvPr/>
        </p:nvSpPr>
        <p:spPr>
          <a:xfrm>
            <a:off x="11091672" y="36576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45" name="Shape 442"/>
          <p:cNvSpPr/>
          <p:nvPr/>
        </p:nvSpPr>
        <p:spPr>
          <a:xfrm>
            <a:off x="11320272" y="36576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46" name="Shape 443"/>
          <p:cNvSpPr/>
          <p:nvPr/>
        </p:nvSpPr>
        <p:spPr>
          <a:xfrm>
            <a:off x="81198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47" name="Shape 444"/>
          <p:cNvSpPr/>
          <p:nvPr/>
        </p:nvSpPr>
        <p:spPr>
          <a:xfrm>
            <a:off x="83484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8" name="Shape 445"/>
          <p:cNvSpPr/>
          <p:nvPr/>
        </p:nvSpPr>
        <p:spPr>
          <a:xfrm>
            <a:off x="85770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9" name="Shape 446"/>
          <p:cNvSpPr/>
          <p:nvPr/>
        </p:nvSpPr>
        <p:spPr>
          <a:xfrm>
            <a:off x="88056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0" name="Shape 447"/>
          <p:cNvSpPr/>
          <p:nvPr/>
        </p:nvSpPr>
        <p:spPr>
          <a:xfrm>
            <a:off x="90342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1" name="Shape 448"/>
          <p:cNvSpPr/>
          <p:nvPr/>
        </p:nvSpPr>
        <p:spPr>
          <a:xfrm>
            <a:off x="92628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2" name="Shape 449"/>
          <p:cNvSpPr/>
          <p:nvPr/>
        </p:nvSpPr>
        <p:spPr>
          <a:xfrm>
            <a:off x="94914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3" name="Shape 450"/>
          <p:cNvSpPr/>
          <p:nvPr/>
        </p:nvSpPr>
        <p:spPr>
          <a:xfrm>
            <a:off x="97200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4" name="Shape 451"/>
          <p:cNvSpPr/>
          <p:nvPr/>
        </p:nvSpPr>
        <p:spPr>
          <a:xfrm>
            <a:off x="99486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5" name="Shape 452"/>
          <p:cNvSpPr/>
          <p:nvPr/>
        </p:nvSpPr>
        <p:spPr>
          <a:xfrm>
            <a:off x="101772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6" name="Shape 453"/>
          <p:cNvSpPr/>
          <p:nvPr/>
        </p:nvSpPr>
        <p:spPr>
          <a:xfrm>
            <a:off x="104058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7" name="Shape 454"/>
          <p:cNvSpPr/>
          <p:nvPr/>
        </p:nvSpPr>
        <p:spPr>
          <a:xfrm>
            <a:off x="106344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8" name="Shape 455"/>
          <p:cNvSpPr/>
          <p:nvPr/>
        </p:nvSpPr>
        <p:spPr>
          <a:xfrm>
            <a:off x="10863072" y="38862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9" name="Shape 456"/>
          <p:cNvSpPr/>
          <p:nvPr/>
        </p:nvSpPr>
        <p:spPr>
          <a:xfrm>
            <a:off x="11091672" y="38862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60" name="Shape 457"/>
          <p:cNvSpPr/>
          <p:nvPr/>
        </p:nvSpPr>
        <p:spPr>
          <a:xfrm>
            <a:off x="11320272" y="38862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61" name="Shape 458"/>
          <p:cNvSpPr/>
          <p:nvPr/>
        </p:nvSpPr>
        <p:spPr>
          <a:xfrm>
            <a:off x="8119872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62" name="Shape 459"/>
          <p:cNvSpPr/>
          <p:nvPr/>
        </p:nvSpPr>
        <p:spPr>
          <a:xfrm>
            <a:off x="83484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3" name="Shape 460"/>
          <p:cNvSpPr/>
          <p:nvPr/>
        </p:nvSpPr>
        <p:spPr>
          <a:xfrm>
            <a:off x="85770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4" name="Shape 461"/>
          <p:cNvSpPr/>
          <p:nvPr/>
        </p:nvSpPr>
        <p:spPr>
          <a:xfrm>
            <a:off x="88056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5" name="Shape 462"/>
          <p:cNvSpPr/>
          <p:nvPr/>
        </p:nvSpPr>
        <p:spPr>
          <a:xfrm>
            <a:off x="90342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6" name="Shape 463"/>
          <p:cNvSpPr/>
          <p:nvPr/>
        </p:nvSpPr>
        <p:spPr>
          <a:xfrm>
            <a:off x="92628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7" name="Shape 464"/>
          <p:cNvSpPr/>
          <p:nvPr/>
        </p:nvSpPr>
        <p:spPr>
          <a:xfrm>
            <a:off x="94914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8" name="Shape 465"/>
          <p:cNvSpPr/>
          <p:nvPr/>
        </p:nvSpPr>
        <p:spPr>
          <a:xfrm>
            <a:off x="97200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9" name="Shape 466"/>
          <p:cNvSpPr/>
          <p:nvPr/>
        </p:nvSpPr>
        <p:spPr>
          <a:xfrm>
            <a:off x="99486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0" name="Shape 467"/>
          <p:cNvSpPr/>
          <p:nvPr/>
        </p:nvSpPr>
        <p:spPr>
          <a:xfrm>
            <a:off x="101772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1" name="Shape 468"/>
          <p:cNvSpPr/>
          <p:nvPr/>
        </p:nvSpPr>
        <p:spPr>
          <a:xfrm>
            <a:off x="104058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2" name="Shape 469"/>
          <p:cNvSpPr/>
          <p:nvPr/>
        </p:nvSpPr>
        <p:spPr>
          <a:xfrm>
            <a:off x="106344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3" name="Shape 470"/>
          <p:cNvSpPr/>
          <p:nvPr/>
        </p:nvSpPr>
        <p:spPr>
          <a:xfrm>
            <a:off x="10863072" y="41148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4" name="Shape 471"/>
          <p:cNvSpPr/>
          <p:nvPr/>
        </p:nvSpPr>
        <p:spPr>
          <a:xfrm>
            <a:off x="11091672" y="4114800"/>
            <a:ext cx="205740" cy="20574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75" name="Shape 472"/>
          <p:cNvSpPr/>
          <p:nvPr/>
        </p:nvSpPr>
        <p:spPr>
          <a:xfrm>
            <a:off x="11320272" y="41148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76" name="Shape 473"/>
          <p:cNvSpPr/>
          <p:nvPr/>
        </p:nvSpPr>
        <p:spPr>
          <a:xfrm>
            <a:off x="8119872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77" name="Shape 474"/>
          <p:cNvSpPr/>
          <p:nvPr/>
        </p:nvSpPr>
        <p:spPr>
          <a:xfrm>
            <a:off x="83484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8" name="Shape 475"/>
          <p:cNvSpPr/>
          <p:nvPr/>
        </p:nvSpPr>
        <p:spPr>
          <a:xfrm>
            <a:off x="85770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9" name="Shape 476"/>
          <p:cNvSpPr/>
          <p:nvPr/>
        </p:nvSpPr>
        <p:spPr>
          <a:xfrm>
            <a:off x="88056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0" name="Shape 477"/>
          <p:cNvSpPr/>
          <p:nvPr/>
        </p:nvSpPr>
        <p:spPr>
          <a:xfrm>
            <a:off x="90342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1" name="Shape 478"/>
          <p:cNvSpPr/>
          <p:nvPr/>
        </p:nvSpPr>
        <p:spPr>
          <a:xfrm>
            <a:off x="92628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2" name="Shape 479"/>
          <p:cNvSpPr/>
          <p:nvPr/>
        </p:nvSpPr>
        <p:spPr>
          <a:xfrm>
            <a:off x="94914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3" name="Shape 480"/>
          <p:cNvSpPr/>
          <p:nvPr/>
        </p:nvSpPr>
        <p:spPr>
          <a:xfrm>
            <a:off x="97200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4" name="Shape 481"/>
          <p:cNvSpPr/>
          <p:nvPr/>
        </p:nvSpPr>
        <p:spPr>
          <a:xfrm>
            <a:off x="99486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5" name="Shape 482"/>
          <p:cNvSpPr/>
          <p:nvPr/>
        </p:nvSpPr>
        <p:spPr>
          <a:xfrm>
            <a:off x="101772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6" name="Shape 483"/>
          <p:cNvSpPr/>
          <p:nvPr/>
        </p:nvSpPr>
        <p:spPr>
          <a:xfrm>
            <a:off x="104058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7" name="Shape 484"/>
          <p:cNvSpPr/>
          <p:nvPr/>
        </p:nvSpPr>
        <p:spPr>
          <a:xfrm>
            <a:off x="106344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8" name="Shape 485"/>
          <p:cNvSpPr/>
          <p:nvPr/>
        </p:nvSpPr>
        <p:spPr>
          <a:xfrm>
            <a:off x="10863072" y="4343400"/>
            <a:ext cx="205740" cy="20574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9" name="Shape 486"/>
          <p:cNvSpPr/>
          <p:nvPr/>
        </p:nvSpPr>
        <p:spPr>
          <a:xfrm>
            <a:off x="11091672" y="4343400"/>
            <a:ext cx="205740" cy="2057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90" name="Shape 487"/>
          <p:cNvSpPr/>
          <p:nvPr/>
        </p:nvSpPr>
        <p:spPr>
          <a:xfrm>
            <a:off x="11320272" y="43434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1" name="Shape 488"/>
          <p:cNvSpPr/>
          <p:nvPr/>
        </p:nvSpPr>
        <p:spPr>
          <a:xfrm>
            <a:off x="81198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2" name="Shape 489"/>
          <p:cNvSpPr/>
          <p:nvPr/>
        </p:nvSpPr>
        <p:spPr>
          <a:xfrm>
            <a:off x="83484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3" name="Shape 490"/>
          <p:cNvSpPr/>
          <p:nvPr/>
        </p:nvSpPr>
        <p:spPr>
          <a:xfrm>
            <a:off x="85770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4" name="Shape 491"/>
          <p:cNvSpPr/>
          <p:nvPr/>
        </p:nvSpPr>
        <p:spPr>
          <a:xfrm>
            <a:off x="88056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5" name="Shape 492"/>
          <p:cNvSpPr/>
          <p:nvPr/>
        </p:nvSpPr>
        <p:spPr>
          <a:xfrm>
            <a:off x="90342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6" name="Shape 493"/>
          <p:cNvSpPr/>
          <p:nvPr/>
        </p:nvSpPr>
        <p:spPr>
          <a:xfrm>
            <a:off x="92628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7" name="Shape 494"/>
          <p:cNvSpPr/>
          <p:nvPr/>
        </p:nvSpPr>
        <p:spPr>
          <a:xfrm>
            <a:off x="94914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8" name="Shape 495"/>
          <p:cNvSpPr/>
          <p:nvPr/>
        </p:nvSpPr>
        <p:spPr>
          <a:xfrm>
            <a:off x="97200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9" name="Shape 496"/>
          <p:cNvSpPr/>
          <p:nvPr/>
        </p:nvSpPr>
        <p:spPr>
          <a:xfrm>
            <a:off x="99486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0" name="Shape 497"/>
          <p:cNvSpPr/>
          <p:nvPr/>
        </p:nvSpPr>
        <p:spPr>
          <a:xfrm>
            <a:off x="101772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1" name="Shape 498"/>
          <p:cNvSpPr/>
          <p:nvPr/>
        </p:nvSpPr>
        <p:spPr>
          <a:xfrm>
            <a:off x="104058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2" name="Shape 499"/>
          <p:cNvSpPr/>
          <p:nvPr/>
        </p:nvSpPr>
        <p:spPr>
          <a:xfrm>
            <a:off x="106344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3" name="Shape 500"/>
          <p:cNvSpPr/>
          <p:nvPr/>
        </p:nvSpPr>
        <p:spPr>
          <a:xfrm>
            <a:off x="108630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4" name="Shape 501"/>
          <p:cNvSpPr/>
          <p:nvPr/>
        </p:nvSpPr>
        <p:spPr>
          <a:xfrm>
            <a:off x="110916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5" name="Shape 502"/>
          <p:cNvSpPr/>
          <p:nvPr/>
        </p:nvSpPr>
        <p:spPr>
          <a:xfrm>
            <a:off x="11320272" y="4572000"/>
            <a:ext cx="205740" cy="2057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6" name="Text 503"/>
          <p:cNvSpPr txBox="1"/>
          <p:nvPr/>
        </p:nvSpPr>
        <p:spPr>
          <a:xfrm>
            <a:off x="8119872" y="4937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expandidos · 20 passos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e focado</a:t>
            </a:r>
            <a:endParaRPr lang="en-US" sz="1400" dirty="0"/>
          </a:p>
        </p:txBody>
      </p:sp>
      <p:sp>
        <p:nvSpPr>
          <p:cNvPr id="507" name="Shape 504"/>
          <p:cNvSpPr/>
          <p:nvPr/>
        </p:nvSpPr>
        <p:spPr>
          <a:xfrm>
            <a:off x="3840480" y="5934456"/>
            <a:ext cx="201168" cy="201168"/>
          </a:xfrm>
          <a:prstGeom prst="rect">
            <a:avLst/>
          </a:prstGeom>
          <a:solidFill>
            <a:srgbClr val="A8E8C8"/>
          </a:solidFill>
          <a:ln w="12700">
            <a:solidFill>
              <a:srgbClr val="A8E8C8"/>
            </a:solidFill>
            <a:prstDash val="solid"/>
          </a:ln>
        </p:spPr>
      </p:sp>
      <p:sp>
        <p:nvSpPr>
          <p:cNvPr id="508" name="Text 505"/>
          <p:cNvSpPr txBox="1"/>
          <p:nvPr/>
        </p:nvSpPr>
        <p:spPr>
          <a:xfrm>
            <a:off x="41148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</a:t>
            </a:r>
            <a:endParaRPr lang="en-US" sz="1200" dirty="0"/>
          </a:p>
        </p:txBody>
      </p:sp>
      <p:sp>
        <p:nvSpPr>
          <p:cNvPr id="509" name="Shape 506"/>
          <p:cNvSpPr/>
          <p:nvPr/>
        </p:nvSpPr>
        <p:spPr>
          <a:xfrm>
            <a:off x="5303520" y="5934456"/>
            <a:ext cx="201168" cy="20116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10" name="Text 507"/>
          <p:cNvSpPr txBox="1"/>
          <p:nvPr/>
        </p:nvSpPr>
        <p:spPr>
          <a:xfrm>
            <a:off x="557784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</a:t>
            </a:r>
            <a:endParaRPr lang="en-US" sz="1200" dirty="0"/>
          </a:p>
        </p:txBody>
      </p:sp>
      <p:sp>
        <p:nvSpPr>
          <p:cNvPr id="511" name="Shape 508"/>
          <p:cNvSpPr/>
          <p:nvPr/>
        </p:nvSpPr>
        <p:spPr>
          <a:xfrm>
            <a:off x="6583680" y="5934456"/>
            <a:ext cx="201168" cy="20116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12" name="Text 509"/>
          <p:cNvSpPr txBox="1"/>
          <p:nvPr/>
        </p:nvSpPr>
        <p:spPr>
          <a:xfrm>
            <a:off x="68580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513" name="Shape 510"/>
          <p:cNvSpPr/>
          <p:nvPr/>
        </p:nvSpPr>
        <p:spPr>
          <a:xfrm>
            <a:off x="7772400" y="5934456"/>
            <a:ext cx="201168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14" name="Text 511"/>
          <p:cNvSpPr txBox="1"/>
          <p:nvPr/>
        </p:nvSpPr>
        <p:spPr>
          <a:xfrm>
            <a:off x="804672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515" name="Text 51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516" name="Text 51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dos cinco algoritmos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67004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3892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178308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heurística?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694944"/>
          </a:xfrm>
          <a:prstGeom prst="roundRect">
            <a:avLst>
              <a:gd name="adj" fmla="val 10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23134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23134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231343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se passos iguais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87968" y="2313432"/>
            <a:ext cx="2587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063240"/>
            <a:ext cx="10908792" cy="694944"/>
          </a:xfrm>
          <a:prstGeom prst="roundRect">
            <a:avLst>
              <a:gd name="adj" fmla="val 1052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06324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670048" y="306324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38928" y="3063240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espaços finitos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10528" y="306324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887968" y="3063240"/>
            <a:ext cx="2587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3813048"/>
            <a:ext cx="10908792" cy="694944"/>
          </a:xfrm>
          <a:prstGeom prst="roundRect">
            <a:avLst>
              <a:gd name="adj" fmla="val 10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81304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uniforme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670048" y="381304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 (g)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138928" y="38130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510528" y="381304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887968" y="3813048"/>
            <a:ext cx="2587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4562856"/>
            <a:ext cx="10908792" cy="694944"/>
          </a:xfrm>
          <a:prstGeom prst="roundRect">
            <a:avLst>
              <a:gd name="adj" fmla="val 1052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562856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Gulosa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670048" y="456285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 (h)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138928" y="4562856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garantido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10528" y="456285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887968" y="4562856"/>
            <a:ext cx="2587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" y="5312664"/>
            <a:ext cx="10908792" cy="694944"/>
          </a:xfrm>
          <a:prstGeom prst="roundRect">
            <a:avLst>
              <a:gd name="adj" fmla="val 1052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531266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2670048" y="53126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 (g + h)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138928" y="5312664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510528" y="53126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se h admissível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887968" y="5312664"/>
            <a:ext cx="2587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técnica usar em cada problema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Rotas e logística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com distância em linha reta como heurística: entregas, mapas, navegação.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Jogos e simulação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para o personagem achar caminhos em mapas com obstáculos.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ou A* quando o objetivo é a menor sequência de passos.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Grafos e redes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 DFS para explorar links, redes sociais e dependências.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 pelo problema (custo, memória, garantia de otimalidade) é uma das metas da disciplina.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busca não basta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Explosão combinatória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2918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estados cresce exponencialmente. Shannon estimou cerca de 10¹²⁰ partidas possíveis de xadrez.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6572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 difícil de criar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32918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estimativa exige conhecer o problema a fundo, e nem sempre isso é possível.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84464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Ótimo é caro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32918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uma solução boa e rápida vale mais que a melhor. Veremos heurísticas evolutivas na aula 07.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dá para listar nem avaliar todos os estados, entram o aprendizado de máquina e a otimização.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labirinto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7830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 o LABIRINTO (mude as paredes e a posição de G) e rode BFS, DFS e A*. Compare expandidos e passos.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sem heurística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8803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a_estrela, troque a heurística por 0 (nas duas linhas que usam manhattan). O que acontece com os nós expandidos?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Gulosa no labirinto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3977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busca gulosa (prioridade só h) e compare com o A* no labirinto.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Desafio: diagonais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50749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 8 movimentos, todos de custo 1. Qual heurística continua admissível? Teste Manhattan e outra.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2 e 3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138160" cy="4465320"/>
          </a:xfrm>
          <a:prstGeom prst="roundRect">
            <a:avLst>
              <a:gd name="adj" fmla="val 24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expandidos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753100"/>
            <a:ext cx="7589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manhattan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61120" y="1783080"/>
            <a:ext cx="258775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8972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1488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921240" y="2011680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9189720" y="269748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 = 0: 20 passos e 108 expandidos, igual à BFS.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961120" y="4069080"/>
            <a:ext cx="2587752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189720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4348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921240" y="4297680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3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9189720" y="498348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Gulosa: 20 passos, 21 expandidos. Aqui acertou; no mapa da Romênia, não.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 4 (diagonais)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chebyshev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097780"/>
            <a:ext cx="7223760" cy="1028700"/>
          </a:xfrm>
          <a:prstGeom prst="roundRect">
            <a:avLst>
              <a:gd name="adj" fmla="val 10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1892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a_estrela, troque vizinhos por vizinhos8 e manhattan por chebyshev. Exercício 1: não há resposta única; compare expandidos e passos nos três algoritmos.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0" y="178308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0" y="1892808"/>
            <a:ext cx="350215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passos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2935224"/>
            <a:ext cx="32278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Chebyshev: ótimo, 13 expandidos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46720" y="388620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0" y="3995928"/>
            <a:ext cx="3502152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passos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5230368"/>
            <a:ext cx="3227832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com diagonais: superestima h, perde a otimalidade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02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racional: percebe, decide e age em um ambiente.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busca: estado, ações, transição, objetivo e custo.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(BFS, DFS) e de custo uniforme usam só a estrutura do problema.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informada (gulosa, A*) usa heurística; A* é ótimo com h admissível.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para IA: derivadas e gradiente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conhecimento e lógica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e manipulação simbólica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experimente outros labirintos. A aula 03 traz a matemática que faz as máquinas aprenderem.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02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02 - Agentes inteligentes e busca</dc:title>
  <dc:subject>PptxGenJS Presentation</dc:subject>
  <dc:creator>Inteligência Artificial</dc:creator>
  <cp:lastModifiedBy>Inteligência Artificial</cp:lastModifiedBy>
  <cp:revision>1</cp:revision>
  <dcterms:created xsi:type="dcterms:W3CDTF">2026-10-07T19:22:34Z</dcterms:created>
  <dcterms:modified xsi:type="dcterms:W3CDTF">2026-10-07T19:22:34Z</dcterms:modified>
</cp:coreProperties>
</file>