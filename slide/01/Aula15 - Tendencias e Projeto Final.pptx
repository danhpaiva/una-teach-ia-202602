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 · ÚLTIMA AULA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Tendências, escolha de técnicas e projeto final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 o que vimos, olhando para frente e planejando o seu projeto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técnicas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291840" y="5394960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53949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212080" y="5394960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53949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132320" y="539496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53949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responsável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418320" y="5394960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418320" y="5394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TRILHA ATÉ AQUI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Quatorze aulas em quatro blocos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01 a 04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86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175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IA, ética, agentes e busca, a matemática (derivadas e gradiente), conhecimento e lógica.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07969" y="17830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90849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05 a 08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590849" y="2286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Conhecimento e heurísticas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590849" y="30175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simbólica, sistemas especialistas, algoritmos genéticos e enxame, lógica fuzzy.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5858" y="17830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58738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09 a 12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358738" y="2286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de máquina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58738" y="30175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ML, árvores, redes neurais e aprendizado sem rótulo (K-means, SOM, PCA).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43746" y="17830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6626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13 e 14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126626" y="2286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Reforço e deep learning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126626" y="30175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com Gymnasium e redes convolucionais com Keras.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521208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comparar, escolher e decidir. Saber muitas técnicas só vale se você souber qual usar em cada problema, e como mostrar o resultado.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a técnica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fluxograma e tabela de decisão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e explicação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modelos, importância e subgrupos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Tendências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generativa, modelos de linguagem e MLOps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responsável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Deriva, regulação e checklist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final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Etapas, temas, relatório e rubrica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Código-modelo, exercícios e encerramento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DA DISCIPLINA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técnica resolve um tipo de problema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304288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596128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tipo de problema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705088" y="178308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necessários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02, 07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304288" y="231343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algoritmos genéticos, enxame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596128" y="231343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caminhos e otimizar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705088" y="2313432"/>
            <a:ext cx="2770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do problema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880360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288036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a 06, 08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304288" y="28803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Lógica, regras, fuzzy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596128" y="28803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Raciocinar com conhecimento explícito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705088" y="2880360"/>
            <a:ext cx="2770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de especialistas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3447288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44728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09, 10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304288" y="344728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Regressão, k-NN, árvores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596128" y="34472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partir de exemplos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705088" y="3447288"/>
            <a:ext cx="2770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rotulados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4014216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01421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11, 14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2304288" y="401421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neurais, CNN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596128" y="401421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complexos (imagens)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705088" y="4014216"/>
            <a:ext cx="2770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exemplos rotulados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" y="4581144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458114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2304288" y="45811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DBSCAN, SOM, PCA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596128" y="45811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estrutura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705088" y="4581144"/>
            <a:ext cx="2770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sem rótulo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" y="514807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9808" y="51480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304288" y="514807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(reforço)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596128" y="51480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por tentativa e erro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8705088" y="5148072"/>
            <a:ext cx="2770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ambiente (real ou simulado)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TÉCNICA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perguntas antes de escolher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1109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11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7830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decisão?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178308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Preveja um número? uma categoria? uma ação? Sem a pergunta clara, qualquer técnica serve e nenhuma resolve.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65176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77977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779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6517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 dados e rótulos?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65176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exemplos, com qual qualidade? Há resposta conhecida (supervisionado) ou não?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52044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364845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5204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Precisa explicar?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352044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Crédito, saúde e direito pedem modelos legíveis ou explicações auditáveis.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438912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451713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438912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custa errar?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438912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erro de recomendação e um de diagnóstico não têm o mesmo peso: isso define a métrica e a margem.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525780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538581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525780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for mais simples?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0" y="525780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regra, uma planilha ou uma regressão resolve? Se sim, use e meça o ganho de qualquer coisa mais complexa.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TÉCNICA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fluxograma para começar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023360" y="173736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023360" y="17373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exemplos com a resposta certa (rótulo)?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280160" y="292608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80160" y="2926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SIM: a resposta é número ou categoria?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0" y="292608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0" y="2926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NÃO: o que você quer?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 flipV="1">
            <a:off x="3108960" y="2423160"/>
            <a:ext cx="2971800" cy="5029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0760" y="2423160"/>
            <a:ext cx="3063240" cy="5029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4297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2976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Número: regressão, árvore ou floresta (aulas 03, 09, 10)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83280" y="4297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83280" y="42976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Categoria: logística, árvore, k-NN, rede, CNN (aulas 09 a 11, 14)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 flipV="1">
            <a:off x="1965960" y="3611880"/>
            <a:ext cx="1143000" cy="685800"/>
          </a:xfrm>
          <a:prstGeom prst="line">
            <a:avLst/>
          </a:prstGeom>
          <a:noFill/>
          <a:ln w="19050">
            <a:solidFill>
              <a:srgbClr val="55645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08960" y="3611880"/>
            <a:ext cx="1600200" cy="685800"/>
          </a:xfrm>
          <a:prstGeom prst="line">
            <a:avLst/>
          </a:prstGeom>
          <a:noFill/>
          <a:ln w="19050">
            <a:solidFill>
              <a:srgbClr val="5564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72200" y="429768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72200" y="42976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ou reduzir dimensões: K-means, DBSCAN, PCA, SOM (aula 12)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01000" y="429768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01000" y="42976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por tentativa e erro: reforço (aula 13)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829800" y="429768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829800" y="42976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incerteza ou otimizar: aulas 06, 07, 08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 flipV="1">
            <a:off x="7040880" y="3611880"/>
            <a:ext cx="2103120" cy="685800"/>
          </a:xfrm>
          <a:prstGeom prst="line">
            <a:avLst/>
          </a:prstGeom>
          <a:noFill/>
          <a:ln w="19050">
            <a:solidFill>
              <a:srgbClr val="55645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8869680" y="3611880"/>
            <a:ext cx="274320" cy="685800"/>
          </a:xfrm>
          <a:prstGeom prst="line">
            <a:avLst/>
          </a:prstGeom>
          <a:noFill/>
          <a:ln w="19050">
            <a:solidFill>
              <a:srgbClr val="55645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44000" y="3611880"/>
            <a:ext cx="1554480" cy="685800"/>
          </a:xfrm>
          <a:prstGeom prst="line">
            <a:avLst/>
          </a:prstGeom>
          <a:noFill/>
          <a:ln w="19050">
            <a:solidFill>
              <a:srgbClr val="5564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TÉCNICA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→ técnica → onde revisar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73168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a testar primeiro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070848" y="178308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o preço de um imóvel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773168" y="23134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linear, depois floresta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070848" y="231343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03, 09, 10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825496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8254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clientes em “vão cancelar / ficam”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773168" y="28254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logística, árvore, floresta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070848" y="2825496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09, 10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337560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337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dígitos ou objetos em imagens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773168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(ou modelo pré-treinado)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070848" y="333756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3849624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8496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clientes em perfis, sem categorias prévias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73168" y="38496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(e PCA para ver)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070848" y="3849624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361688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361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Roteirizar entregas ou montar escalas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773168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algoritmo genético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070848" y="43616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02, 07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4873752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873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com regras de especialistas e incerteza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773168" y="48737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baseado em regras ou fuzzy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070848" y="487375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06, 08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" y="5385816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9808" y="53858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uma estratégia num simulador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773168" y="53858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070848" y="5385816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de ouro: comece simples e meça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Linha de base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trivial (sempre a classe mais comum, a média, uma regra simples). Todo modelo precisa vencer isso, com folga.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Modelo simples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ou uma árvore rasa: rápidos, fáceis de explicar. Muitas vezes bastam.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Só então complexidade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Floresta, redes neurais: use se o ganho medido (com validação cruzada) justificar o custo e a perda de clareza.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comparar seis modelos num mesmo problema, o câncer de mama das aulas 09 a 11, com a mesma validação cruzada de 5 dobras, e olhar não só a acurácia, mas também o desvio e o tempo.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seis modelos (1/2): os candidatos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8229600" cy="3208020"/>
          </a:xfrm>
          <a:prstGeom prst="roundRect">
            <a:avLst>
              <a:gd name="adj" fmla="val 342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benchmark.py (parte 1; 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load_breast_cancer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return_X_y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StratifiedKFold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n_splits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MLPClassifier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"Sempre a classe mais comum"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DummyClassifier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"most_frequent"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"Arvore (profundidade 3)"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100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"k-NN (k = 5)"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"Regressao logistica"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1910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"Floresta aleatoria"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3815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"Rede neural (16)"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572000"/>
            <a:ext cx="76809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1440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784080" y="178308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784080" y="214884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de base.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914400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784080" y="315468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784080" y="352044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dentro, sem vazamento (aula 09).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seis modelos (2/2): rodando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92240" cy="1684020"/>
          </a:xfrm>
          <a:prstGeom prst="roundRect">
            <a:avLst>
              <a:gd name="adj" fmla="val 651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943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5943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perf_counter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5943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5943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perf_counter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5943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"{nome:27s} {acc.mean():.3f} +- {acc.std():.3f}   ({seg:.2f} s)"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16952" y="178308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181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192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04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31352" y="19019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891272" y="2286000"/>
            <a:ext cx="33832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Sempre a classe mais comum  0.627 +- 0.004   (0.01 s)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891272" y="2438400"/>
            <a:ext cx="33832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 (profundidade 3)     0.917 +- 0.018   (0.02 s)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7891272" y="2590800"/>
            <a:ext cx="33832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k-NN (k = 5)                0.963 +- 0.018   (0.07 s)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7891272" y="2743200"/>
            <a:ext cx="33832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Regressao logistica         0.974 +- 0.017   (0.03 s)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891272" y="2895600"/>
            <a:ext cx="33832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Floresta aleatoria          0.954 +- 0.014   (1.18 s)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7891272" y="3048000"/>
            <a:ext cx="33832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 neural (16)            0.975 +- 0.010   (3.42 s)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40080" y="4023360"/>
            <a:ext cx="10911535" cy="2103120"/>
          </a:xfrm>
          <a:prstGeom prst="roundRect">
            <a:avLst>
              <a:gd name="adj" fmla="val 521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4023360"/>
            <a:ext cx="103628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linha: acurácia média ± desvio entre as 5 dobras, e o tempo. Os tempos são deste computador e mudam a cada execução; as acurácias são as mesmas sempre.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quem vence?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9028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(5 dobras)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78484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979408" y="178308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(ordem de grandeza)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3657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a classe mais comum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231343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0.627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784848" y="231343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0.004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979408" y="231343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0,1 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281635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2816352"/>
            <a:ext cx="3657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(profundidade 3)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90288" y="281635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0.917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281635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0.018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979408" y="281635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0,1 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31927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319272"/>
            <a:ext cx="3657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(k = 5)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90288" y="331927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784848" y="331927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0.018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979408" y="331927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0,1 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382219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3822192"/>
            <a:ext cx="3657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90288" y="382219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382219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0.017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979408" y="382219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0,1 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" y="432511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4325112"/>
            <a:ext cx="3657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Floresta aleatória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90288" y="432511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0.954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784848" y="432511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0.014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979408" y="432511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s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40080" y="482803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9808" y="4828032"/>
            <a:ext cx="3657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(16)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4590288" y="482803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0.975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784848" y="482803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0.010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8979408" y="482803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s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40080" y="5394960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14400" y="53949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(0,974) e rede neural (0,975) empatam; a rede custa mais de 100 vezes o tempo.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a comparação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Diferenças dentro do ruído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0,974 e 0,975 estão a menos de um desvio um do outro (0,017). Com esses dados, não dá para dizer que a rede é melhor que a regressão logística.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e a floresta levam bem mais tempo para treinar. Com muitos dados, essa diferença cresce e vira dinheiro.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Clareza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logística tem um coeficiente por atributo; a árvore rasa cabe numa figura; a rede e a floresta não se leem diretamente.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o problema é quase linear (aula 11). Em dados mais complexos (imagens, texto), a conta muda: a CNN da aula 14 venceu o MLP. Escolha com base em dados, não em fama.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TÉCNICA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além da acurácia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40156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7900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15644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Floresta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533888" y="1783080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31343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31343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uma decisão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401568" y="231343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779008" y="231343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(rasa)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231343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533888" y="2313432"/>
            <a:ext cx="941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295351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295351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necessários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401568" y="295351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779008" y="295351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156448" y="295351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533888" y="2953512"/>
            <a:ext cx="941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359359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359359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401568" y="359359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779008" y="359359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nenhum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156448" y="359359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nenhum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533888" y="3593592"/>
            <a:ext cx="941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423367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23367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treino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401568" y="423367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curto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779008" y="423367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curto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156448" y="423367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0533888" y="4233672"/>
            <a:ext cx="941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visão geral típica, não uma regra: depende dos dados e da implementação. Pense no conjunto: um modelo 1% melhor, mas impossível de auditar, pode ser pior para o negócio.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UM MODELO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Importância por permutação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Embaralhe os valores de um atributo no conjunto de teste. Se a acurácia cair muito, o modelo dependia dele.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Vantagem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 qualquer modelo (floresta, rede), incluindo as caixas-pretas.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correlacionados dividem a importância entre si e parecem menos importantes do que são. É uma pista, não uma explicação causal.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testar a técnica, usamos dados sintéticos em que sabemos a resposta: 8 atributos, dos quais só os 3 primeiros carregam informação e os 5 últimos são ruído.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UM MODELO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Permutação em código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788920"/>
          </a:xfrm>
          <a:prstGeom prst="roundRect">
            <a:avLst>
              <a:gd name="adj" fmla="val 393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permutacao.py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 atributos: os 3 primeiros carregam informacao; os 5 ultimos sao ruido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make_classification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n_samples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n_features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n_informative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n_redundant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n_repeated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718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1432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floresta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3147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"acuracia no teste:"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floresta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576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permutation_importance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floresta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n_repeats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290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importances_mean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argsort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"informativo"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"ruido"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1719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"atributo {i} ({tipo:11s}) queda media: {r.importances_mean[i]:.3f}"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708392" y="178308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0956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1072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1189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22792" y="19019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982712" y="22860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acuracia no teste: 0.91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7982712" y="24384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 1 (informativo) queda media: 0.270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7982712" y="25908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 2 (informativo) queda media: 0.196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7982712" y="27432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 0 (informativo) queda media: 0.186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7982712" y="28956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 7 (ruido      ) queda media: 0.006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7982712" y="30480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 5 (ruido      ) queda media: 0.003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7982712" y="32004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 6 (ruido      ) queda media: 0.002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7982712" y="33528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 4 (ruido      ) queda media: -0.002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7982712" y="35052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 3 (ruido      ) queda media: -0.002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técnica acertou: os três atributos informativos têm quedas de 0,19 a 0,27; os cinco de ruído, perto de zero (até ligeiramente negativas, por acaso).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POR SUBGRUPO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média pode esconder um grupo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grupo tem poucos exemplos ou outro comportamento, o modelo aprende o padrão do grupo maior e erra mais no menor, sem que a média mostre.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aparece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região, tipo de cliente, tom de pele, sotaque, dispositivo. Aula 01: viés. Aula 14: reconhecimento facial.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fazer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por subgrupo, coletar mais dados do grupo mal atendido, ou separar modelos quando as regras realmente diferem.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com dados sintéticos: o grupo A tem 90% dos exemplos e o grupo B, 10%, com uma regra de decisão diferente.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POR SUBGRUPO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Medindo por grupo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498080" cy="3989070"/>
          </a:xfrm>
          <a:prstGeom prst="roundRect">
            <a:avLst>
              <a:gd name="adj" fmla="val 275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grupos.py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deslocamento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deslocamento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regra muda com o grupo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432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grupo A: 90% dos dados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147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grupo B: 10% dos dados, outra regra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861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vstack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concatenate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576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719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434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148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6863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"acuracia geral:"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8577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0292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52006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"grupo"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exemplos no teste:"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53721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acuracia:"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348472" y="1783080"/>
            <a:ext cx="3200400" cy="1684020"/>
          </a:xfrm>
          <a:prstGeom prst="roundRect">
            <a:avLst>
              <a:gd name="adj" fmla="val 651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54964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75080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95197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262872" y="19019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622792" y="2286000"/>
            <a:ext cx="26517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acuracia geral: 0.94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622792" y="2476500"/>
            <a:ext cx="26517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 A | exemplos no teste: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622792" y="2667000"/>
            <a:ext cx="26517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540 | acuracia: 0.972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622792" y="2857500"/>
            <a:ext cx="26517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 B | exemplos no teste: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8622792" y="3048000"/>
            <a:ext cx="26517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60 | acuracia: 0.65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348472" y="393192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622792" y="393192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de 94% parece ótima. Mas o grupo B, com 60 exemplos no teste, acerta só 65%: quase um erro a cada três.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POR SUBGRUPO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média escondia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92808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94,0%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geral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47972" y="1892808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97,2%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485132" y="288036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 (540 no teste)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55864" y="1892808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65,0%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193024" y="288036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(60 no teste)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840480"/>
            <a:ext cx="3493008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quê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7091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único foi dominado pelo grupo A. A regra do grupo B é diferente, e há poucos exemplos dele.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347972" y="3840480"/>
            <a:ext cx="3493008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6572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saída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576572" y="47091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um modelo só para o grupo B: no exercício 4, a acurácia no grupo B sobe de 0,65 para 1,0 (nesse problema sintético).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55864" y="3840480"/>
            <a:ext cx="3493008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84464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284464" y="47091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por grupo exige dados suficientes e cuidado legal e ético: não use atributos sensíveis sem base e finalidade claras.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a IA está indo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generativa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criam texto, imagens, áudio e código. Os modelos de linguagem grandes (LLMs) são a face mais conhecida.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base e multimodais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treinado em muito dado, depois adaptado a várias tarefas; e modelos que combinam texto, imagem e som.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82219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05079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8795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0507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na borda e modelos menores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73659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no celular ou em dispositivos pequenos (TinyML), com modelos menores, mais baratos e que protegem a privacidade.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199632" y="382219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05079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8795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0507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Regulação e IA responsável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73659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 e normas sobre uso de dados e decisões automatizadas (LGPD, AI Act da União Europeia).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40080" y="5852160"/>
            <a:ext cx="10911535" cy="365760"/>
          </a:xfrm>
          <a:prstGeom prst="roundRect">
            <a:avLst>
              <a:gd name="adj" fmla="val 3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área muda rápido: consulte fontes atuais antes de decidir com base em tendências.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linguagem: prever a próxima palavra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central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um texto, o modelo calcula a probabilidade de cada palavra (ou pedaço de palavra, o “token”) vir a seguir, escolhe uma e repete.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escala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LLMs fazem isso com redes neurais com bilhões de parâmetros, treinadas em quantidades enormes de texto, e depois ajustadas para seguir instruções.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explica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Fluência impressionante, mas sem garantia de verdade: o modelo produz o que é provável, não o que foi verificado.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sentir a ideia, vamos construir o menor modelo de linguagem possível: contar quais palavras seguem quais (bigramas), em Python puro.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modelo de linguagem de bigramas (1/2)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498080" cy="3131820"/>
          </a:xfrm>
          <a:prstGeom prst="roundRect">
            <a:avLst>
              <a:gd name="adj" fmla="val 350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bigramas.py (parte 1; 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 gato dorme no sofa . o gato come o peixe . o cao dorme no tapete . "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 cao come a carne . a menina le o livro . a menina come o peixe . "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 cao le o jornal . o gato dorme no tapete ."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432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defaultdict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147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861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8290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"palavras diferentes:"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"gato"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"come"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719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4340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most_common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14850"/>
            <a:ext cx="6949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257032" y="1783080"/>
            <a:ext cx="3291840" cy="1931670"/>
          </a:xfrm>
          <a:prstGeom prst="roundRect">
            <a:avLst>
              <a:gd name="adj" fmla="val 568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582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593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605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71432" y="190195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531352" y="228600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palavras diferentes: 16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531352" y="245745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-&gt; [('gato', 0.3),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531352" y="262890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('cao', 0.3), ('peixe', 0.2)]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531352" y="280035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gato -&gt; [('dorme', 0.67),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531352" y="297180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('come', 0.33)]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531352" y="314325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 -&gt; [('o', 0.67),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8531352" y="331470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('a', 0.33)]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57032" y="411480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531352" y="41148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“o”, 30% das vezes veio “gato”. Depois de “gato”, “dorme” em 67%. O modelo é só uma tabela de contagens.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modelo de linguagem de bigramas (2/2): gerando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2407920"/>
          </a:xfrm>
          <a:prstGeom prst="roundRect">
            <a:avLst>
              <a:gd name="adj" fmla="val 455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bigramas.py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frase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frase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54330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frase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75285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"frase gerada:"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frase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616952" y="1783080"/>
            <a:ext cx="3931920" cy="941070"/>
          </a:xfrm>
          <a:prstGeom prst="roundRect">
            <a:avLst>
              <a:gd name="adj" fmla="val 1166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181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192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04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31352" y="19019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891272" y="228600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frase gerada: o gato come a carne 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4297680"/>
            <a:ext cx="10911535" cy="1828800"/>
          </a:xfrm>
          <a:prstGeom prst="roundRect">
            <a:avLst>
              <a:gd name="adj" fmla="val 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frase “o gato come a carne” nunca apareceu no texto de treino. Ela foi montada combinando pares que apareceram. É gramatical e plausível, mas ninguém verificou se “gato come carne” é verdade: o modelo só conhece frequências.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bigramas aos modelos de linguagem grandes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493008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Bigramas (nosso exemplo)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33488" y="178308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(modelos grandes)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olha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493008" y="2313432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 palavra anterior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33488" y="2313432"/>
            <a:ext cx="4142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ou milhares de tokens anteriores (contexto)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95351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95351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493008" y="2953512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Contagens numa tabela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33488" y="2953512"/>
            <a:ext cx="4142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numéricos (embeddings), aprendidos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59359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5935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493008" y="3593592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e sortear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333488" y="3593592"/>
            <a:ext cx="4142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do tipo Transformer, com atenção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423367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23367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493008" y="4233672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palavras, 15 pares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333488" y="4233672"/>
            <a:ext cx="4142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Bilhões de parâmetros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Transformer foi apresentada em 2017 no artigo “Attention Is All You Need”. A atenção permite que cada palavra “olhe” para as outras do contexto, não só para a anterior.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Usando modelos de linguagem com responsabilidade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Alucinações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pode afirmar com segurança coisas falsas ou inventar fontes. Verifique fatos, números e citações.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cole dados pessoais ou confidenciais em serviços sem saber como são tratados (LGPD).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 padrões dos textos de treino, inclusive estereótipos. Avalie por grupo e por contexto.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Autoria e transparência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quando usou IA, respeite direitos autorais e as regras da sua instituição.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NOTEBOOK À PRODUÇÃO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modelo não termina no treino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Reprodutibilidade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código, dados e modelo; fixar sementes e versões das bibliotecas; guardar o pipeline completo (como o joblib da aula 09).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o modelo para uso: uma API, um aplicativo ou um processamento agendado, com testes.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Monitoramento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o desempenho depois da entrega. Os dados do mundo mudam (deriva), e o modelo envelhece.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84632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é o conjunto de práticas para manter modelos de ML funcionando de forma confiável ao longo do tempo. Em projetos reais, essa parte costuma dar mais trabalho do que o treino.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NOTEBOOK À PRODUÇÃO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 dos dados: quando o mundo muda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132320" cy="2960370"/>
          </a:xfrm>
          <a:prstGeom prst="roundRect">
            <a:avLst>
              <a:gd name="adj" fmla="val 370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583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583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583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583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43250"/>
            <a:ext cx="6583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X_ant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dados da epoca do treino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14700"/>
            <a:ext cx="6583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X_novo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y_novo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dados de hoje: o mundo mudou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86150"/>
            <a:ext cx="6583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X_ant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57600"/>
            <a:ext cx="6583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"acuracia nos dados antigos:"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X_ant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29050"/>
            <a:ext cx="6583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"acuracia nos dados novos  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X_novo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y_novo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6583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171950"/>
            <a:ext cx="6583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ks_2samp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X_ant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X_novo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343400"/>
            <a:ext cx="6583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"atributo {j}: estatistica KS = {ks.statistic:.3f}, p = {ks.pvalue:.1e}"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982712" y="17830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838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850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862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897112" y="190195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257032" y="228600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acuracia nos dados antigos: 0.828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257032" y="245745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acuracia nos dados novos  : 0.579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257032" y="262890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 0: estatistica KS = 0.322,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257032" y="280035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= 8.5e-92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257032" y="297180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 1: estatistica KS = 0.321,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257032" y="314325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= 1.7e-91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8257032" y="331470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 2: estatistica KS = 0.323,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257032" y="348615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= 2.2e-92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acurácia caiu de 0,828 para 0,579. O teste de Kolmogorov-Smirnov (ks_2samp) compara duas distribuições: aqui, p muito pequeno em todos os atributos sinaliza que os dados mudaram. Esse tipo de alerta, automático, é a base do monitoramento.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RESPONSÁVEL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e regras que acompanham a 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017520"/>
          </a:xfrm>
          <a:prstGeom prst="roundRect">
            <a:avLst>
              <a:gd name="adj" fmla="val 363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comuns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Justiça (sem discriminação), transparência (explicar), privacidade, segurança, responsabilidade (alguém responde pelas decisões) e supervisão humana.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3017520"/>
          </a:xfrm>
          <a:prstGeom prst="roundRect">
            <a:avLst>
              <a:gd name="adj" fmla="val 363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Brasil, a LGPD (Lei 13.709/2018) trata dos dados pessoais e prevê direitos sobre decisões automatizadas. Na União Europeia, o AI Act (2024) classifica os sistemas de IA por nível de risco.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3017520"/>
          </a:xfrm>
          <a:prstGeom prst="roundRect">
            <a:avLst>
              <a:gd name="adj" fmla="val 363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prática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dados e modelo, medir por grupo, ter um responsável, permitir contestação e revisar com humanos as decisões de alto impacto.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502920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e leis mudam. Para um projeto real, consulte o jurídico e as regras vigentes na sua área e país.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RESPONSÁVEL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antes de entregar um projeto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1109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11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78308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vêm? Há autorização? Há dados pessoais ou sensíveis? Quem pode estar sub-representado?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65176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77977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779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6517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65176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linha de base? A validação foi correta, sem vazamento? Qual é a incerteza (desvio)?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52044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364845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5204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352044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 por classe e por grupo? Olhei os erros? A métrica reflete o custo real do erro?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438912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451713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43891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438912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 o resultado e como? Há supervisão humana e como contestar uma decisão?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525780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538581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52578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Manutenção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840480" y="525780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detecto deriva? Quando o modelo será reavaliado ou desligado?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DEPOIS DA DISCIPLINA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continuar estudando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Livros de referência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“Artificial Intelligence: A Modern Approach” (Russell e Norvig), “Reinforcement Learning: An Introduction” (Sutton e Barto), “Deep Learning” (Goodfellow, Bengio e Courville).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com código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“Hands-On Machine Learning with Scikit-Learn, Keras and TensorFlow” (Géron) e a documentação oficial do scikit-learn e do Keras, que trazem tutoriais.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para treinar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 públicos de dados (por exemplo, UCI e Kaggle) e dados abertos do governo, sempre com atenção à licença e à privacidade.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Próximas áreas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linguagem natural, visão computacional avançada, séries temporais, sistemas de recomendação e MLOps.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final: visão geral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um problema real (ou realista), use pelo menos uma técnica da disciplina, avalie com honestidade e comunique o resultado, as limitações e os cuidados éticos.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0690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executável (Python), relatório curto e apresentação. Formato, prazo e tamanho das equipes: combine com o professor.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7972" y="320040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6572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6572" y="40690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bem definido, linha de base, avaliação correta, análise de erros e discussão de limites e ética.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55864" y="320040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84464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não vale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84464" y="40690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alta sem validação adequada, dados sem origem clara ou código que ninguém consegue reproduzir.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5349240"/>
            <a:ext cx="10911535" cy="777240"/>
          </a:xfrm>
          <a:prstGeom prst="roundRect">
            <a:avLst>
              <a:gd name="adj" fmla="val 1411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53492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próximos slides são uma sugestão de roteiro, relatório e critérios; ajuste conforme as regras definidas pelo professor.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Oito etapas do projeto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76672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problema e a pergunta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834640"/>
            <a:ext cx="5376672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301752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28346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 e descrever os dados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3886200"/>
            <a:ext cx="5376672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38862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treino e teste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4937760"/>
            <a:ext cx="5376672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512064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554480" y="4937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linha de base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172200" y="1783080"/>
            <a:ext cx="5376672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550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55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08660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 comparar modelos (validação cruzada)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172200" y="2834640"/>
            <a:ext cx="5376672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55080" y="301752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550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086600" y="28346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no teste, por classe e por grupo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172200" y="3886200"/>
            <a:ext cx="5376672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55080" y="40690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550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086600" y="38862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erros e limites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172200" y="4937760"/>
            <a:ext cx="5376672" cy="914400"/>
          </a:xfrm>
          <a:prstGeom prst="roundRect">
            <a:avLst>
              <a:gd name="adj" fmla="val 12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5508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5508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7086600" y="4937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Relatar e apresentar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640080" y="6035040"/>
            <a:ext cx="10911535" cy="320040"/>
          </a:xfrm>
          <a:prstGeom prst="roundRect">
            <a:avLst>
              <a:gd name="adj" fmla="val 342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14400" y="60350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só entra na etapa 6, uma única vez.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Ideias de tema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Reconhecer imagens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fotos de um conjunto público (plantas, peças, lixo reciclável) com uma CNN e transfer learning. Compare com e sem pré-treino.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Segmentar um público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clientes, alunos ou cidades com K-means e PCA, descrever os grupos e discutir o uso (e os riscos).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Prever com tabelas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preço, atraso ou cancelamento com regressão e árvores; avaliar por subgrupo e explicar com permutação.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no Gymnasium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um agente de Q-learning em um ambiente do Gymnasium e discutir o desenho da recompensa e a exploração.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sugerida do relatório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493008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responder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78308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sugerido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493008" y="2313432"/>
            <a:ext cx="5303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decisão? Quem se beneficia? Como medir sucesso?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979408" y="231343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página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81635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81635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Dados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493008" y="2816352"/>
            <a:ext cx="5303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Origem, tamanho, atributos, limitações, cuidados éticos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979408" y="281635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página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31927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31927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Método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493008" y="3319272"/>
            <a:ext cx="5303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base, modelos e validação; por que essas escolhas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979408" y="331927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página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382219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82219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Resultados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493008" y="3822192"/>
            <a:ext cx="5303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comparativa, desempenho por classe ou grupo, erros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979408" y="382219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2 páginas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432511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32511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Discussão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493008" y="4325112"/>
            <a:ext cx="5303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Limites, riscos, o que faria com mais tempo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979408" y="432511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página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482803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82803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Reprodução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493008" y="4828032"/>
            <a:ext cx="5303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Versões, sementes e como executar o código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979408" y="482803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de página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0080" y="553212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4400" y="553212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e claro vale mais que longo. Cada afirmação deve ter um número ou uma figura por trás.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Sugestão de critérios de avaliação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58768" y="17830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espera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802368" y="178308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sugerido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justificativa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58768" y="231343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clara e métrica coerente com o custo do erro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802368" y="2313432"/>
            <a:ext cx="1673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880360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8803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858768" y="2880360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Origem, qualidade e limitações descritas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802368" y="2880360"/>
            <a:ext cx="1673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447288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4472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e código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858768" y="3447288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base, validação correta, código que roda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802368" y="3447288"/>
            <a:ext cx="1673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4014216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01421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e resultados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858768" y="4014216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classe ou grupo, análise de erros, honestidade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802368" y="4014216"/>
            <a:ext cx="1673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581144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5811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limitações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858768" y="4581144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Riscos, viés, privacidade e uso responsável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802368" y="4581144"/>
            <a:ext cx="1673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514807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51480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58768" y="514807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 apresentação claros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802368" y="5148072"/>
            <a:ext cx="1673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" y="5760720"/>
            <a:ext cx="10911535" cy="411480"/>
          </a:xfrm>
          <a:prstGeom prst="roundRect">
            <a:avLst>
              <a:gd name="adj" fmla="val 2666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4400" y="57607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Soma: 100. É uma proposta de partida; vale o que o professor definir.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CÓDIGO-MODELO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esqueleto de projeto em Python (1/2)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589520" cy="3303270"/>
          </a:xfrm>
          <a:prstGeom prst="roundRect">
            <a:avLst>
              <a:gd name="adj" fmla="val 332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92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projeto_modelo.py (parte 1; 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Dados e divisao (o teste fica guardado ate o fim)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load_breast_cancer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7180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14325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"treino:"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teste:"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8615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Linha de base: o minimo que qualquer modelo precisa superar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5760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DummyClassifier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"most_frequent"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2905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"linha de base (classe mais comum):"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7195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Modelo candidato, avaliado so com validacao cruzada no treino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4340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1485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686300"/>
            <a:ext cx="70408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"validacao cruzada:"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"+-"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439912" y="1783080"/>
            <a:ext cx="3108960" cy="1874520"/>
          </a:xfrm>
          <a:prstGeom prst="roundRect">
            <a:avLst>
              <a:gd name="adj" fmla="val 585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410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422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0434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354312" y="19019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714232" y="2286000"/>
            <a:ext cx="2560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treino: (455, 30)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714232" y="2476500"/>
            <a:ext cx="2560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teste: (114, 30)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714232" y="2667000"/>
            <a:ext cx="2560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de base (classe mais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714232" y="2857500"/>
            <a:ext cx="2560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comum): 0.632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714232" y="3048000"/>
            <a:ext cx="2560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validacao cruzada: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714232" y="3238500"/>
            <a:ext cx="2560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0.98 +- 0.013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439912" y="3840480"/>
            <a:ext cx="3108960" cy="2286000"/>
          </a:xfrm>
          <a:prstGeom prst="roundRect">
            <a:avLst>
              <a:gd name="adj" fmla="val 48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4232" y="38404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certo: dividir primeiro, medir a linha de base, escolher o modelo só com validação cruzada no treino. O teste continua intocado.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CÓDIGO-MODELO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esqueleto de projeto em Python (2/2)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858000" cy="2617470"/>
          </a:xfrm>
          <a:prstGeom prst="roundRect">
            <a:avLst>
              <a:gd name="adj" fmla="val 419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projeto_modelo.py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3093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Teste final, uma unica vez, e analise por classe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3093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3093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3093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"acuracia no teste:"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71800"/>
            <a:ext cx="63093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143250"/>
            <a:ext cx="63093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target_names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target_names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86150"/>
            <a:ext cx="63093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5) Salvar e reutilizar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57600"/>
            <a:ext cx="63093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"modelo_final.joblib"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29050"/>
            <a:ext cx="63093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de_novo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"modelo_final.joblib"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63093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"modelo recarregado reproduz o teste:"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de_novo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708392" y="1783080"/>
            <a:ext cx="3840480" cy="1950720"/>
          </a:xfrm>
          <a:prstGeom prst="roundRect">
            <a:avLst>
              <a:gd name="adj" fmla="val 562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0956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1072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1189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22792" y="19019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(resumida)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982712" y="22860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acuracia no teste: 0.982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7982712" y="24384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[[41  1]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7982712" y="25908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[ 1 71]]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7982712" y="27432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precision recall f1  support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7982712" y="28956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malignant    0.976  0.976 0.976  42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7982712" y="30480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benign       0.986  0.986 0.986  72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7982712" y="32004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                  0.982 114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7982712" y="3352800"/>
            <a:ext cx="32918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recarregado reproduz o teste: True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4400" y="466344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98,2% no teste (114 pacientes), com 2 erros: 1 maligno previsto como benigno e 1 benigno previsto como maligno. Vale olhar cada erro: em saúde, o primeiro costuma custar mais.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apresentar em dez minutos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Minutos 1 a 3: o problema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decisão, por que importa e como medimos sucesso. Mostre um exemplo concreto.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Minutos 4 a 8: método e resultados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linha de base, modelos, uma tabela ou figura clara, e um erro analisado.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Minutos 9 e 10: limites e próximos passos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funciona, quem poderia ser prejudicado, e o que faria com mais tempo.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um bom slide tem uma mensagem. Se ela não cabe em uma frase, divida o slide. Mostre também o que deu errado: é isso que dá credibilidade.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em projetos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Vazamento de dados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Escalar, escolher atributos ou ajustar hiperparâmetros usando o teste. Use pipeline e validação cruzada só no treino.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linha de base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 modelo trivial para comparar, 90% de acurácia pode ser ruim (ou ótimo): ninguém sabe.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a média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de medir por classe e por grupo, e de ver os erros.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Complexidade sem necessidade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rede neural “porque é moderna”. Se a logística empata, fique com ela.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REVISÃO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 finais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Acrescentar um modelo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178308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benchmark, acrescente o GaussianNB (Naive Bayes) e compare com a regressão logística na mesma validação cruzada.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Bigramas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206240" y="288036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modelo de bigramas, qual a probabilidade de cada palavra que vem depois de “a”?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o mundo mudou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206240" y="397764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exemplo de deriva, treine com média 0 e teste com médias 0, 0,2, 0,4 e 0,8. Como a acurácia cai?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só para o grupo B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4206240" y="507492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exemplo dos subgrupos, treine um modelo só com os dados do grupo B e compare no teste do grupo B.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1 e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1417320"/>
          </a:xfrm>
          <a:prstGeom prst="roundRect">
            <a:avLst>
              <a:gd name="adj" fmla="val 774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"Naive Bayes"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GaussianNB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"Regressao logistica"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"{nome:20s} {acc.mean():.3f} +- {acc.std():.3f}"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0080" y="3383280"/>
            <a:ext cx="6949440" cy="1303020"/>
          </a:xfrm>
          <a:prstGeom prst="roundRect">
            <a:avLst>
              <a:gd name="adj" fmla="val 842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35661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2416" y="35661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43584" y="35661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554480" y="35021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 (contagem definida como no slide 21)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38862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0767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most_common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2672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"depois de 'a':"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799832" y="178308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55280" y="17830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Bayes: 0,939 ± 0,023, contra 0,974 ± 0,017 da regressão logística: nesta validação cruzada, a logística foi melhor.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799832" y="4160520"/>
            <a:ext cx="3749040" cy="1920240"/>
          </a:xfrm>
          <a:prstGeom prst="roundRect">
            <a:avLst>
              <a:gd name="adj" fmla="val 571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55280" y="41605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“a”: menina 0,67 e carne 0,33. No texto, “a” aparece 3 vezes: duas seguidas de “menina” e uma de “carne”.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3 e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1760220"/>
          </a:xfrm>
          <a:prstGeom prst="roundRect">
            <a:avLst>
              <a:gd name="adj" fmla="val 623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X_ant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X_ant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X_novo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y_novo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718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X_novo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y_novo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1432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 dos dados novos:"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acuracia:"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3726180"/>
            <a:ext cx="6949440" cy="1588770"/>
          </a:xfrm>
          <a:prstGeom prst="roundRect">
            <a:avLst>
              <a:gd name="adj" fmla="val 69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" y="39090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" y="39090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43584" y="39090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554480" y="38450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2291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4005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so_b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5720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47434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"grupo B, modelo geral 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49149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"grupo B, modelo so de B:"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so_b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799832" y="178308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095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nova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92124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99832" y="2267712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09560" y="22677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9921240" y="22677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0.834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799832" y="2651760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909560" y="26517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9921240" y="26517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799832" y="3035808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909560" y="3035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921240" y="30358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0.729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799832" y="3419856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909560" y="3419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9921240" y="34198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0.587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799832" y="4023360"/>
            <a:ext cx="3749040" cy="2057400"/>
          </a:xfrm>
          <a:prstGeom prst="roundRect">
            <a:avLst>
              <a:gd name="adj" fmla="val 5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955280" y="402336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3: quanto maior o deslocamento, pior a acurácia (0,834 → 0,587). Ex. 4: o modelo só do grupo B acerta 1,0 no teste de B, contra 0,65 do modelo geral (dados sintéticos).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DA DISCIPLINA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Chegamos ao fim da jornada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percorreu a IA simbólica, as heurísticas, o aprendizado de máquina, o reforço e o deep learning, sempre com código que roda.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26974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80035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6060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técnica certa importa tanto quanto saber treinar um modelo: comece simples, meça, compare e olhe os erros.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66903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4747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responsável não é um capítulo à parte: dados, avaliação por grupo, monitoramento e supervisão humana fazem parte de todo projeto.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" y="44348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53771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34340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final é o momento de juntar tudo: um problema, uma pergunta, uma avaliação honesta.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200400"/>
          </a:xfrm>
          <a:prstGeom prst="roundRect">
            <a:avLst>
              <a:gd name="adj" fmla="val 342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LEVA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7589520" y="2240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25" name="Text 18"/>
          <p:cNvSpPr txBox="1"/>
          <p:nvPr/>
        </p:nvSpPr>
        <p:spPr>
          <a:xfrm>
            <a:off x="9189720" y="2240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58952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700+</a:t>
            </a:r>
            <a:endParaRPr lang="en-US" sz="3000" dirty="0"/>
          </a:p>
        </p:txBody>
      </p:sp>
      <p:sp>
        <p:nvSpPr>
          <p:cNvPr id="27" name="Text 20"/>
          <p:cNvSpPr txBox="1"/>
          <p:nvPr/>
        </p:nvSpPr>
        <p:spPr>
          <a:xfrm>
            <a:off x="9189720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didáticos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589520" y="39776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29" name="Text 22"/>
          <p:cNvSpPr txBox="1"/>
          <p:nvPr/>
        </p:nvSpPr>
        <p:spPr>
          <a:xfrm>
            <a:off x="9189720" y="3977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pastas de código executável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40080" y="5120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14400" y="5321808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45896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737360" y="512064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 projeto e continue construindo: a melhor forma de aprender IA é aplicá-la, medi-la com honestidade e questioná-la sempre.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15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15 - Tendencias, escolha de tecnicas e projeto final</dc:title>
  <dc:subject>PptxGenJS Presentation</dc:subject>
  <dc:creator>Inteligência Artificial</dc:creator>
  <cp:lastModifiedBy>Inteligência Artificial</cp:lastModifiedBy>
  <cp:revision>1</cp:revision>
  <dcterms:created xsi:type="dcterms:W3CDTF">2026-10-08T16:20:11Z</dcterms:created>
  <dcterms:modified xsi:type="dcterms:W3CDTF">2026-10-08T16:20:11Z</dcterms:modified>
</cp:coreProperties>
</file>