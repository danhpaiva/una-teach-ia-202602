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do conhecimento e lógica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ensinar fatos e regras a uma máquina, e fazê-la raciocinar com eles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7472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Predicados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53949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0" y="5394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semânticas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955280" y="53949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5394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692640" y="53949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0" y="5394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 e gradiente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diz para que lado mexer um parâmetro para o erro diminuir.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← p − α·∇f: o motor que treina modelos a partir de exemplos.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do zero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aprendeu w e b sozinha. Mas ela só aprende quando há dados.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e quando o conhecimento já existe, escrito por especialistas? Vamos ensinar fatos e regras à máquina.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 e agentes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conhecimento e como uma máquina o guarda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proposicional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Conectivos, tabelas-verdade e equivalências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Inferência e resolução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fatos novos a partir dos que já temos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predicados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Objetos, relações e os quantificadores ∀ e ∃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semânticas e frames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Herança, exceções e valores padrão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Triplas e ontologias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 conhecimento e consultas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Dado, informação e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38,5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794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solto, sem significado.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977640" y="3337560"/>
            <a:ext cx="2743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297680" y="17830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70" y="21602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= 38,5 °C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3794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com contexto.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635240" y="3337560"/>
            <a:ext cx="2743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955280" y="17830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183880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470" y="216027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6112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818388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 + tosse sugerem gripe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183880" y="3794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e regras que permitem decidir.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conhecimento é escolher uma forma de escrever esses fatos e regras que a máquina consiga armazenar e usar para raciocinar.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baseado em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Percepções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63240" y="2514600"/>
            <a:ext cx="91440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06324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3360" y="1783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1783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conhecimento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e regras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09560" y="2514600"/>
            <a:ext cx="91440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790956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869680" y="2011680"/>
            <a:ext cx="2679192" cy="1005840"/>
          </a:xfrm>
          <a:prstGeom prst="roundRect">
            <a:avLst>
              <a:gd name="adj" fmla="val 909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201168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ou ação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023360" y="384048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2336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inferência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394960" y="3291840"/>
            <a:ext cx="0" cy="50292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6492240" y="3291840"/>
            <a:ext cx="0" cy="50292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329184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as regras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fatos novos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vantagem: o conhecimento fica em dados (a base), separado do programa que raciocina. Para mudar o comportamento, basta editar a base.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boa uma representação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representacional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 expressar todo o conhecimento do domínio.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inferencial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derivar conhecimento novo a partir do existente.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36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 inferencial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às respostas com custo razoável, sem explosão de tempo.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23367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 de aquisição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fácil de construir, revisar e atualizar pelos especialistas.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clássicos de Rich &amp; Knight. Nenhuma forma ganha em todos: por isso existem várias.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formas de representar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condição ENTÃO conclusão. Aula 06.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862072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4495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44952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044952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 e predicados com semântica precisa.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84064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26694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66944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semânticas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266944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 arestas com herança (“é-um”).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306056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88936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21031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88936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488936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com campos (slots) e valores padrão.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9528048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710928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21031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710928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Triplas e ontologias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9710928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Sujeito–predicado–objeto, como em grafos de conhecimento.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lógica, redes semânticas, frames e triplas, todos em Python. As regras de produção ficam para a aula 06.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Proposições e conectivos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Proposição: uma afirmação que é verdadeira (V) ou falsa (F). Ex.: “está chovendo”, “a conta foi paga”.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121408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98848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42048" y="24231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95351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¬p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121408" y="29535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 (não)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98848" y="29535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242048" y="2953512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¬chuva: não está chovendo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57530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5753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∧ q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21408" y="35753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 (e)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498848" y="35753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and q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242048" y="357530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∧ frio: chove e faz frio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197096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1970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∨ q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121408" y="4197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 (ou)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498848" y="41970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or q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4197096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∨ frio: ao menos um dos dois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818888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48188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2121408" y="48188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(se... então)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498848" y="48188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p) or q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242048" y="4818888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→ molhado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↔ q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121408" y="5440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bicondicional (se e somente se)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498848" y="5440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== q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242048" y="544068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↔ divisível por 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Tabelas-verdade dos conectivos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411480"/>
          </a:xfrm>
          <a:prstGeom prst="roundRect">
            <a:avLst>
              <a:gd name="adj" fmla="val 17778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7830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2231136"/>
            <a:ext cx="1709928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3113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404872" y="2231136"/>
            <a:ext cx="1709928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86584" y="223113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" y="2615184"/>
            <a:ext cx="1709928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6151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404872" y="2615184"/>
            <a:ext cx="1709928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86584" y="26151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47972" y="1783080"/>
            <a:ext cx="3493008" cy="411480"/>
          </a:xfrm>
          <a:prstGeom prst="roundRect">
            <a:avLst>
              <a:gd name="adj" fmla="val 17778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47972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512308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76644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∧ q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66260" y="223113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7972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530596" y="223113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12308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694932" y="2231136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76644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66260" y="261518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47972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530596" y="261518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12308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694932" y="2615184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6644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366260" y="299923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347972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530596" y="299923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512308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694932" y="2999232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6644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366260" y="338328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7972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5530596" y="338328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512308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694932" y="3383280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6644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055864" y="1783080"/>
            <a:ext cx="3493008" cy="411480"/>
          </a:xfrm>
          <a:prstGeom prst="roundRect">
            <a:avLst>
              <a:gd name="adj" fmla="val 17778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055864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9220200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0384536" y="178308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∨ q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074152" y="223113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055864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9238488" y="223113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20200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10402824" y="2231136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384536" y="223113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8074152" y="261518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55864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9238488" y="261518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220200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10402824" y="2615184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384536" y="261518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8074152" y="299923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055864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9238488" y="299923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220200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10402824" y="2999232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384536" y="299923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8074152" y="338328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055864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9238488" y="338328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20200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71" name="Shape 68"/>
          <p:cNvSpPr/>
          <p:nvPr/>
        </p:nvSpPr>
        <p:spPr>
          <a:xfrm>
            <a:off x="10402824" y="3383280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384536" y="338328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640080" y="4023360"/>
            <a:ext cx="3493008" cy="411480"/>
          </a:xfrm>
          <a:prstGeom prst="roundRect">
            <a:avLst>
              <a:gd name="adj" fmla="val 17778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40080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75" name="Text 72"/>
          <p:cNvSpPr txBox="1"/>
          <p:nvPr/>
        </p:nvSpPr>
        <p:spPr>
          <a:xfrm>
            <a:off x="1804416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2968752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→ q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658368" y="447141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640080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79" name="Shape 76"/>
          <p:cNvSpPr/>
          <p:nvPr/>
        </p:nvSpPr>
        <p:spPr>
          <a:xfrm>
            <a:off x="1822704" y="447141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1804416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2987040" y="4471416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968752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83" name="Shape 80"/>
          <p:cNvSpPr/>
          <p:nvPr/>
        </p:nvSpPr>
        <p:spPr>
          <a:xfrm>
            <a:off x="658368" y="485546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640080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1822704" y="485546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804416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87" name="Shape 84"/>
          <p:cNvSpPr/>
          <p:nvPr/>
        </p:nvSpPr>
        <p:spPr>
          <a:xfrm>
            <a:off x="2987040" y="4855464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968752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89" name="Shape 86"/>
          <p:cNvSpPr/>
          <p:nvPr/>
        </p:nvSpPr>
        <p:spPr>
          <a:xfrm>
            <a:off x="658368" y="523951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640080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1822704" y="523951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1804416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93" name="Shape 90"/>
          <p:cNvSpPr/>
          <p:nvPr/>
        </p:nvSpPr>
        <p:spPr>
          <a:xfrm>
            <a:off x="2987040" y="5239512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968752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95" name="Shape 92"/>
          <p:cNvSpPr/>
          <p:nvPr/>
        </p:nvSpPr>
        <p:spPr>
          <a:xfrm>
            <a:off x="658368" y="562356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640080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97" name="Shape 94"/>
          <p:cNvSpPr/>
          <p:nvPr/>
        </p:nvSpPr>
        <p:spPr>
          <a:xfrm>
            <a:off x="1822704" y="562356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804416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99" name="Shape 96"/>
          <p:cNvSpPr/>
          <p:nvPr/>
        </p:nvSpPr>
        <p:spPr>
          <a:xfrm>
            <a:off x="2987040" y="5623560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68752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01" name="Shape 98"/>
          <p:cNvSpPr/>
          <p:nvPr/>
        </p:nvSpPr>
        <p:spPr>
          <a:xfrm>
            <a:off x="4347972" y="4023360"/>
            <a:ext cx="3493008" cy="411480"/>
          </a:xfrm>
          <a:prstGeom prst="roundRect">
            <a:avLst>
              <a:gd name="adj" fmla="val 17778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4347972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03" name="Text 100"/>
          <p:cNvSpPr txBox="1"/>
          <p:nvPr/>
        </p:nvSpPr>
        <p:spPr>
          <a:xfrm>
            <a:off x="5512308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04" name="Text 101"/>
          <p:cNvSpPr txBox="1"/>
          <p:nvPr/>
        </p:nvSpPr>
        <p:spPr>
          <a:xfrm>
            <a:off x="6676644" y="4023360"/>
            <a:ext cx="116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↔ q</a:t>
            </a:r>
            <a:endParaRPr lang="en-US" sz="1500" dirty="0"/>
          </a:p>
        </p:txBody>
      </p:sp>
      <p:sp>
        <p:nvSpPr>
          <p:cNvPr id="105" name="Shape 102"/>
          <p:cNvSpPr/>
          <p:nvPr/>
        </p:nvSpPr>
        <p:spPr>
          <a:xfrm>
            <a:off x="4366260" y="447141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4347972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07" name="Shape 104"/>
          <p:cNvSpPr/>
          <p:nvPr/>
        </p:nvSpPr>
        <p:spPr>
          <a:xfrm>
            <a:off x="5530596" y="4471416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5512308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09" name="Shape 106"/>
          <p:cNvSpPr/>
          <p:nvPr/>
        </p:nvSpPr>
        <p:spPr>
          <a:xfrm>
            <a:off x="6694932" y="4471416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6676644" y="4471416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11" name="Shape 108"/>
          <p:cNvSpPr/>
          <p:nvPr/>
        </p:nvSpPr>
        <p:spPr>
          <a:xfrm>
            <a:off x="4366260" y="485546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4347972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13" name="Shape 110"/>
          <p:cNvSpPr/>
          <p:nvPr/>
        </p:nvSpPr>
        <p:spPr>
          <a:xfrm>
            <a:off x="5530596" y="4855464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5512308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15" name="Shape 112"/>
          <p:cNvSpPr/>
          <p:nvPr/>
        </p:nvSpPr>
        <p:spPr>
          <a:xfrm>
            <a:off x="6694932" y="4855464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6676644" y="4855464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17" name="Shape 114"/>
          <p:cNvSpPr/>
          <p:nvPr/>
        </p:nvSpPr>
        <p:spPr>
          <a:xfrm>
            <a:off x="4366260" y="523951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4347972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19" name="Shape 116"/>
          <p:cNvSpPr/>
          <p:nvPr/>
        </p:nvSpPr>
        <p:spPr>
          <a:xfrm>
            <a:off x="5530596" y="5239512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5512308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21" name="Shape 118"/>
          <p:cNvSpPr/>
          <p:nvPr/>
        </p:nvSpPr>
        <p:spPr>
          <a:xfrm>
            <a:off x="6694932" y="5239512"/>
            <a:ext cx="1127760" cy="347472"/>
          </a:xfrm>
          <a:prstGeom prst="rect">
            <a:avLst/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6676644" y="523951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23" name="Shape 120"/>
          <p:cNvSpPr/>
          <p:nvPr/>
        </p:nvSpPr>
        <p:spPr>
          <a:xfrm>
            <a:off x="4366260" y="562356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4347972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5530596" y="5623560"/>
            <a:ext cx="1127760" cy="347472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5512308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27" name="Shape 124"/>
          <p:cNvSpPr/>
          <p:nvPr/>
        </p:nvSpPr>
        <p:spPr>
          <a:xfrm>
            <a:off x="6694932" y="5623560"/>
            <a:ext cx="1127760" cy="347472"/>
          </a:xfrm>
          <a:prstGeom prst="rect">
            <a:avLst/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6676644" y="5623560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129" name="Shape 126"/>
          <p:cNvSpPr/>
          <p:nvPr/>
        </p:nvSpPr>
        <p:spPr>
          <a:xfrm>
            <a:off x="8055864" y="402336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8284464" y="4023360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implicação só é falsa em um caso: p verdadeiro e q falso (uma promessa quebrada).</a:t>
            </a:r>
            <a:endParaRPr lang="en-US" sz="1500" dirty="0"/>
          </a:p>
        </p:txBody>
      </p:sp>
      <p:sp>
        <p:nvSpPr>
          <p:cNvPr id="131" name="Text 1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132" name="Text 1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Gerando tabelas-verdade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tabela_verdade.py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      q      E      OU     -&gt;"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ljust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08392" y="178308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82712" y="22860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q      E      OU     -&gt;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982712" y="25146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True   True   True   True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27432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False  False  True   False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982712" y="29718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True   False  True   True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982712" y="32004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False  False  False  True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product([True, False], repeat=2) gera as 4 combinações de valores. Como Python não tem →, usamos (not p) or q, equivalente pela tabela.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implicação: o conectivo que mais confunde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chover, eu levo guarda-chuva”   (chuva → guarda-chuva)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3832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5090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Choveu e levei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cumprida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→ V = V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47972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6572" y="33832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35090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62372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Choveu e não levei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576572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quebrada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576572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→ F = F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055864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84464" y="338328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350901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70264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choveu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284464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 que cumprir: a frase continua verdadeira, levando ou não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284464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qualquer = V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Tautologia, contradição ou contingência?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"tautologia"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"contradicao"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"contingencia"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394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classificar(lambda p: p or not p, 1) devolve "tautologia".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0" y="178308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43800" y="19659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530" y="2091690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2296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Tautologia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verdadeira. Ex.: p ∨ ¬p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315200" y="324612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543800" y="342900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530" y="3554730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2296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Contradição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82296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falsa. Ex.: p ∧ ¬p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315200" y="4709160"/>
            <a:ext cx="42336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543800" y="489204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5017770"/>
            <a:ext cx="251460" cy="2514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2296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Contingência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8229600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dos valores. Ex.: p → q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Equivalências lógicas notáveis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178308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 (e)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231343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¬(p ∧ q) ≡ ¬p ∨ ¬q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313432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uma condição composta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1635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 (ou)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281635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¬(p ∨ q) ≡ ¬p ∧ ¬q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882128" y="2816352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uma condição composta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31927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31927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331927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≡ ¬p ∨ q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82128" y="3319272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o 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82219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82219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Contrapositiva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382219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≡ ¬q → ¬p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882128" y="3822192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pelo avesso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325112"/>
            <a:ext cx="1090879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2511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negação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93008" y="432511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¬¬p ≡ 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4325112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a inversa q → p NÃO é equivalente a p → q. “Se chove, molha” não garante “se molha, choveu”.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Verificando equivalências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equivalencia.py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demorgan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demorgan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99832" y="1783080"/>
            <a:ext cx="374904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22860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equivalencia.py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5527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False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799832" y="3429000"/>
            <a:ext cx="3749040" cy="2697480"/>
          </a:xfrm>
          <a:prstGeom prst="roundRect">
            <a:avLst>
              <a:gd name="adj" fmla="val 406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001000" y="39319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fórmulas são equivalentes se dão o mesmo valor em todas as linhas da tabela-verdade. O teste cobre as 2ⁿ linhas: força bruta, mas exata.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inferência: derivando fatos novos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Modus ponens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68680" y="3383280"/>
            <a:ext cx="2697480" cy="0"/>
          </a:xfrm>
          <a:prstGeom prst="line">
            <a:avLst/>
          </a:prstGeom>
          <a:noFill/>
          <a:ln w="25400">
            <a:solidFill>
              <a:srgbClr val="0B1A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1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 q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069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chove, molha. Choveu. Logo, molhou.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47972" y="178308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6572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Modus tollens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76572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¬q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76572" y="3383280"/>
            <a:ext cx="2697480" cy="0"/>
          </a:xfrm>
          <a:prstGeom prst="line">
            <a:avLst/>
          </a:prstGeom>
          <a:noFill/>
          <a:ln w="25400">
            <a:solidFill>
              <a:srgbClr val="0B1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6572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1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 ¬p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576572" y="4069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chove, molha. Não molhou. Logo, não choveu.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55864" y="178308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84464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Silogismo hipotético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→ r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284464" y="3383280"/>
            <a:ext cx="2697480" cy="0"/>
          </a:xfrm>
          <a:prstGeom prst="line">
            <a:avLst/>
          </a:prstGeom>
          <a:noFill/>
          <a:ln w="25400">
            <a:solidFill>
              <a:srgbClr val="0B1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84464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1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 p → r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4069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chove, molha; se molha, escorrega. Logo, se chove, escorrega.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5486400"/>
            <a:ext cx="10911535" cy="640080"/>
          </a:xfrm>
          <a:prstGeom prst="roundRect">
            <a:avLst>
              <a:gd name="adj" fmla="val 1714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é “sã”: a conclusão nunca é falsa se as premissas são verdadeiras. “∴” lê-se “logo”.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Consequência lógica: BC ⊨ 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120640" cy="3840480"/>
          </a:xfrm>
          <a:prstGeom prst="ellipse">
            <a:avLst/>
          </a:prstGeom>
          <a:solidFill>
            <a:srgbClr val="E6EEE9"/>
          </a:solidFill>
          <a:ln w="19050">
            <a:solidFill>
              <a:srgbClr val="9DB0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20240" y="2743200"/>
            <a:ext cx="2560320" cy="19202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em que α é verdadeira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3108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em que a BC é verdadeira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330952" cy="1325880"/>
          </a:xfrm>
          <a:prstGeom prst="roundRect">
            <a:avLst>
              <a:gd name="adj" fmla="val 8276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7830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 ⊨ α  quando α é verdadeira em todo modelo em que a BC é verdadeira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3375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uma atribuição de V ou F a cada proposição.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(base de conhecimento): a conjunção de todas as suas sentenças.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 modelo da BC cai dentro do conjunto de α, então α é consequência da BC.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existe um modelo da BC fora do conjunto de α, a BC não implica α.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de modelos (1/2): o algoritmo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8181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18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simbolos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dos nomes das proposições, ex.: ["chuva", "molhado"].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81812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181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3227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dicionário {símbolo: V/F}: uma linha da tabela-verdade.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81812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181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458200" y="3941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kb(modelo)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458200" y="430682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Verdadeira se o modelo satisfaz todas as sentenças da base.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81812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181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458200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False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58200" y="538581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 contraexemplo: modelo da BC em que α é falsa.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de modelos (2/2): uma base de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"molhado"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"molhado"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"escorregadio"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"molhado"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"escorregadio"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"escorregadio"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"escorregadio"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891272" y="1783080"/>
            <a:ext cx="365760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924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936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947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05672" y="1901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165592" y="2286000"/>
            <a:ext cx="3108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entails.py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65592" y="2552700"/>
            <a:ext cx="3108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65592" y="2819400"/>
            <a:ext cx="3108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65592" y="3086100"/>
            <a:ext cx="3108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891272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924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as respostas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092440" y="45262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escorregadio: True, pois chuva → molhado → escorregadio.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¬escorregadio: False, a BC o contradiz.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False. A BC nada diz sobre ele: não se conclui nem sol nem ¬sol.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2ⁿ modelos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542032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símbolos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1 024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rápido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542032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símbolos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1 048 576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segundos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2542032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símbolos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1 073 741 824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minutos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006840" y="1783080"/>
            <a:ext cx="2542032" cy="2194560"/>
          </a:xfrm>
          <a:prstGeom prst="roundRect">
            <a:avLst>
              <a:gd name="adj" fmla="val 5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89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símbolos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9828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× 10¹⁵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inviável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251960"/>
            <a:ext cx="10911535" cy="1874520"/>
          </a:xfrm>
          <a:prstGeom prst="roundRect">
            <a:avLst>
              <a:gd name="adj" fmla="val 58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3434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todos os modelos não escala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8463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reais têm centenas ou milhares de símbolos. A saída é provar em vez de enumerar: a resolução (a seguir) e o encadeamento de regras (aula 06). Tempos são ordens de grandeza ilustrativas.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Resolução: provar por refutação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Converter para cláusulas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base como ou-de-literais (forma normal conjuntiva, FNC).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Negar a consulta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¬α à base: supomos que α é falsa.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096512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pares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(A ∨ x) e (B ∨ ¬x), derivar (A ∨ B).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4096512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114032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Procurar a cláusula vazia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surgir {}, há contradição: α é consequência da base.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= disjunção de literais. Literal = proposição ou sua negação (p, ¬p).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passo a passo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(p ∨ q), (¬p ∨ r), (¬q ∨ r).   Consulta: 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64208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16368" y="228600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8163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64208" y="28163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∨ q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07408" y="28163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516368" y="28163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2735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2735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664208" y="3273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¬p ∨ 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407408" y="32735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16368" y="32735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7307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7307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¬q ∨ 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407408" y="3730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16368" y="37307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1879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41879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664208" y="41879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407408" y="41879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 da consulta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516368" y="41879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Supomos r falsa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46451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" y="46451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664208" y="46451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∨ r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407408" y="46451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1 e 2 (p)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16368" y="46451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some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40080" y="51023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9808" y="5102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664208" y="51023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407408" y="51023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5 e 3 (q)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516368" y="51023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some; r ∨ r = r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0080" y="555955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55595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664208" y="5559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 (vazia)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4407408" y="55595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6 e 4 (r)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516368" y="5559552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Contradição: r é consequência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em Python (1/2): negar e resolver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81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negar("p")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"~p"; negar("~p") devolve "p".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1812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181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c1, c2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3227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como frozenset de literais: {"p", "q"}.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1812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181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3941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negar(l) in c2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430682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 par complementar (l em c1, ¬l em c2).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81812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181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458200" y="538581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do resto das duas: remove l e ¬l.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em Python (2/2): o laço e os testes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clausulas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99832" y="178308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286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KB = {p,q} {~p,r} {~q,r}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27432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resolucao(KB, "r")   # True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29718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resolucao(KB, "~r")  # False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074152" y="32004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resolucao(KB, "p")   # False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799832" y="3886200"/>
            <a:ext cx="3749040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28432" y="41148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42519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759952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Parada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8028432" y="4800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True ao achar a cláusula vazia; False quando nada de novo surge.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lógica proposicional falha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objetos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fala de “pessoas” ou “coisas”: só de proposições inteiras.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generalização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“Todo humano é mortal” exige uma sentença para cada pessoa.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Explosão de símbolos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1000 pessoas, são 1000 símbolos só para esta regra.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Humano(Sócrates) → Mortal(Sócrates), Humano(Platão) → Mortal(Platão), ...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lógica de predicados, que fala de objetos, relações e quantificadores:  ∀x (Humano(x) → Mortal(x))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elementos da lógica de predicados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310128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16368" y="17830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10128" y="23134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específico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16368" y="2313432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sócrates, maria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718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310128" y="29718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qualquer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516368" y="2971800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30168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301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Predicado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310128" y="36301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ou relação (retorna V/F)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16368" y="3630168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Humano(x), Pai(x, y)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288536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2885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Quantificador universal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310128" y="42885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objeto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16368" y="4288536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Mortal(x)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946904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9469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Quantificador existencial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310128" y="49469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pelo menos um objeto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516368" y="4946904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∃x Estudante(x)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conectivos ¬, ∧, ∨, →, ↔ continuam valendo, agora entre predicados.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Quantificadores: ∀ e ∃, e as armadilhas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∀  com  →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(Estudante(x) → Aprovado(x))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337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estudante foi aprovado.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4023360"/>
            <a:ext cx="480060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40233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∀x (Estudante(x) ∧ Aprovado(x)) diz que TODO MUNDO é estudante e aprovado.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99632" y="178308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73952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∃  com  ∧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473952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 (Estudante(x) ∧ Aprovado(x))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3337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estudante aprovado.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73952" y="4023360"/>
            <a:ext cx="480060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56832" y="40233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∃x (Estudante(x) → Aprovado(x)) fica verdadeira com qualquer não estudante.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Predicados em Python (1/2): o modelo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predicados.py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todo x: humano(x) -&gt; mortal(x)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existe x: aluno(x) e aprov(x)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4864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9244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2148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domínio: todos os objetos considerados.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9244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924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0" y="2862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3227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predicado vira o conjunto dos objetos em que é verdadeiro.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9244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924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941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all(...)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686800" y="43068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∀: verdadeiro se vale para todos.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09244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924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686800" y="5020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any(...)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0" y="53858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∃: verdadeiro se vale para algum.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Predicados em Python (2/2): resultados e armadilhas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predicados.py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todo x: aluno(x) -&gt; aprov(x)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armadilha: para todo x: aluno(x) E aprov(x)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armadilha: existe x: aluno(x) -&gt; aprov(x)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99832" y="178308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(5 saídas, em ordem)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074152" y="22860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predicados.py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74152" y="25527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74152" y="28194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30861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33528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3619500"/>
            <a:ext cx="3200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389120"/>
            <a:ext cx="10911535" cy="1737360"/>
          </a:xfrm>
          <a:prstGeom prst="roundRect">
            <a:avLst>
              <a:gd name="adj" fmla="val 631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48056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3 (False): Bruno é estudante e não foi aprovado, então nem todo estudante foi aprovado.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4 (False): Carla não é estudante, então o ∧ falha para ela.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5 (True): Carla não é estudante, o que torna o → verdadeiro: por isso ∃ pede ∧.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E REGRAS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Fatos e regras: a família como base de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Fatos (relação Pai)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44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pedro)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19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pai(maria, ana)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953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pai(pedro, lucas)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avô(X, Z) ← pai(X, Y) ∧ pai(Y, Z)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486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X é avô de Z se X é pai de alguém Y que é pai de Z.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0" y="21031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95360" y="256032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0" y="2926080"/>
            <a:ext cx="21945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292608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92640" y="292608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329184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052560" y="329184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5256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498080" y="3749040"/>
            <a:ext cx="0" cy="7315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0" y="3749040"/>
            <a:ext cx="0" cy="7315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448056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052560" y="448056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5256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5577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avô: joão → ana e joão → lucas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E REGRAS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Consultando a base com compreensões de conjuntos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"lucas"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irmaos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486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irmaos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99832" y="1783080"/>
            <a:ext cx="374904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28600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familia.py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53365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[('joao', 'ana'),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78130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('joao', 'lucas')]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302895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[('maria', 'pedro'),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27660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('pedro', 'maria')]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799832" y="39319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28432" y="41605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429768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59952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= junção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8028432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é um “join”: combina duas relações pelo valor comum Y. É a ideia do SQL.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E REGRAS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as variáveis? Um gancho para a aula 05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pai(X, maria)   ≟   pai(joao, maria)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certo se X = joão. Achar essa substituição se chama unificação.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41490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unificação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conseguimos perguntar sobre fatos exatos: pai(joao, maria).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47972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6572" y="40233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41490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62372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unificação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576572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Perguntamos pai(X, maria) e a máquina descobre X. É a base de linguagens como Prolog.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055864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84464" y="402336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41490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70264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aula 05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84464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Implementaremos a unificação em Python funcional, junto com manipulação simbólica.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SEMÂNTICAS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semânticas: conceitos ligados por relações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828800" y="17830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06040" y="2286000"/>
            <a:ext cx="0" cy="8229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274320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69748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é-um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0" y="31089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2880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06040" y="3611880"/>
            <a:ext cx="0" cy="5029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17320" y="4114800"/>
            <a:ext cx="237744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17320" y="411480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94760" y="4114800"/>
            <a:ext cx="0" cy="36576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17320" y="4114800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94760" y="4114800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1520" y="4526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526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canário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108960" y="45262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8960" y="4526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pinguim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57600" y="17830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490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tem: pele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0" y="31089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4904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voa: sim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tem: penas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" y="5166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cor: amarelo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108960" y="5166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00400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voa: NÃO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09360" y="1783080"/>
            <a:ext cx="523951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 de propriedades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são conceitos ou objetos; arestas são relações (é-um, tem, cor...).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nó herda tudo do que está acima: o canário voa e tem penas e pele, sem ninguém ter escrito isso.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Exceções: o pinguim declara voa = não, o que prevalece sobre o valor herdado da ave.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cada fato é guardado no nível mais geral possível.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SEMÂNTICAS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 e exceções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"animal"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"pele"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"e_um"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"animal"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"canario"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"e_um"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"amarelo"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"pinguim"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"e_um"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"e_um"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486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348472" y="178308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496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508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19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62872" y="19019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622792" y="22860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propriedade('canario', 'voa')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22792" y="25146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622792" y="27432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propriedade('pinguim', 'voa')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22792" y="29718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622792" y="32004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propriedade('canario', 'tem')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22792" y="34290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penas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622792" y="36576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propriedade('pinguim', 'cor')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22792" y="3886200"/>
            <a:ext cx="2651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348472" y="457200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577072" y="48006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4937760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9308592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a cadeia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8577072" y="5486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no próprio nó; se não achar, sobe por é-um até a raiz.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SEMÂNTICAS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Exceções: o raciocínio não monotônico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Monotônico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fatos nunca invalidam conclusões antigas. É o caso da lógica clássica.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monotônico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conclusão padrão pode ser retirada diante de nova informação.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10911535" cy="1920240"/>
          </a:xfrm>
          <a:prstGeom prst="roundRect">
            <a:avLst>
              <a:gd name="adj" fmla="val 5714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7091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“Piupiu é uma ave, então voa.”  Depois: “Piupiu é um pinguim.”  A conclusão “voa” é retirada.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padrão com exceções são naturais em redes e frames, mas exigem cuidado em lógica pura.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Frames: fichas com campos e valores padrão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frame: Carro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"combustao"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28232" y="178308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8232" y="17830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56832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instância: meu_carro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656832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herda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56832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56832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57032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"eletrico"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892040" y="2084832"/>
            <a:ext cx="1490472" cy="0"/>
          </a:xfrm>
          <a:prstGeom prst="line">
            <a:avLst/>
          </a:prstGeom>
          <a:noFill/>
          <a:ln w="3810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93776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074920"/>
            <a:ext cx="3493008" cy="1051560"/>
          </a:xfrm>
          <a:prstGeom prst="roundRect">
            <a:avLst>
              <a:gd name="adj" fmla="val 1043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Slots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do frame (rodas, motor).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47972" y="5074920"/>
            <a:ext cx="3493008" cy="1051560"/>
          </a:xfrm>
          <a:prstGeom prst="roundRect">
            <a:avLst>
              <a:gd name="adj" fmla="val 1043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6572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padrão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até alguém sobrescrever.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55864" y="5074920"/>
            <a:ext cx="3493008" cy="1051560"/>
          </a:xfrm>
          <a:prstGeom prst="roundRect">
            <a:avLst>
              <a:gd name="adj" fmla="val 1043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84464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instância usa o que não definiu.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frame_carro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"rodas"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"combustao"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meu_carro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"herda"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frame_carro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"eletrico"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"herda"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525512" y="1783080"/>
            <a:ext cx="402336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266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278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290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39912" y="19019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799832" y="22860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slot(meu_carro, "cor")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99832" y="25146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azul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799832" y="27432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slot(meu_carro, "motor")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99832" y="29718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eletrico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99832" y="32004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slot(meu_carro, "rodas")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99832" y="34290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799832" y="36576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slot(meu_carro, "teto")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99832" y="388620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58521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mecanismo da rede semântica: subir pela cadeia herda. Em programação orientada a objetos, frames viraram classes e os slots, atributos.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E ONTOLOGIAS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Triplas: sujeito, predicado, objeto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Curitiba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2468880"/>
            <a:ext cx="64008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66344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capital_de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predicado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2468880"/>
            <a:ext cx="64008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822960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Paraná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6918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5448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de conhecimento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42519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triplas formam um grafo: nós são entidades; arestas, relações.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47972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6572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369189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62372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uso real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6572" y="42519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como a Wikidata e os grafos de busca usam esse modelo, com padrões como RDF e a linguagem de consulta SPARQL.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055864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84464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369189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70264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Flexível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284464" y="42519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acrescentar uma tripla para dizer algo novo: sem esquema rígido.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Consultando triplas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triplas.py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"curitiba"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"capital_de"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"pertence_a"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"brasil"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"brasil"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"idioma"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"curitiba"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"fundada_em"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triplas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4904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28600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consulta(s="curitiba")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49555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[('curitiba','capital_de','parana'),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70510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('curitiba','fundada_em',1693)]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12420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consulta(p="pertence_a")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333375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[('parana','pertence_a','brasil')]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799832" y="4023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28432" y="4251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438912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59952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= “qualquer”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8028432" y="49377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argumento omitido vira um curinga: é a ideia de variável da lógica de predicados.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em dois saltos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triplas.py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"curitiba"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"capital_de"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"pertence_a"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parana brasil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55280" y="2011680"/>
            <a:ext cx="640080" cy="64008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31936" y="2331720"/>
            <a:ext cx="42976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98280" y="201168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982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774936" y="2331720"/>
            <a:ext cx="42976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0241280" y="2011680"/>
            <a:ext cx="640080" cy="6400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12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 → Paraná → Brasil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3931920"/>
            <a:ext cx="10911535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acabou de acontecer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52628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consulta descobre o estado da capital; a segunda usa esse resultado.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tripla dizia “Curitiba está no Brasil”: a resposta foi inferida ao encadear.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 conhecimento reais fazem isso em escala, com consultas SPARQL.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E ONTOLOGIAS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Ontologias: um vocabulário combinado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coisas: Pessoa, Cidade, Curso.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Instâncias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Indivíduos de uma classe: Maria é uma Pessoa.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Relações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32511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coisas se ligam: nasceu_em, cursa.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9632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3952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Axiomas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32511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que restringem o significado: todo Curso tem ao menos um Professor.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ontologia combina o que “Pessoa” e “Curso” significam, para sistemas diferentes interpretarem os dados do mesmo jeito. OWL e RDF são padrões do W3C para isso.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representação usar?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85292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7900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 em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05088" y="178308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852928" y="2313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prova formal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79008" y="2313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Generalizar, falar de objetos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05088" y="2313432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simples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099816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9981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predicados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852928" y="309981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Expressividade e generalização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779008" y="309981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computacional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705088" y="309981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Verificação, especificações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388620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886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semânticas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852928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Herança, visualização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779008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informal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388620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Taxonomias, léxicos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672584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67258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852928" y="46725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padrão e estrutura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779008" y="46725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mais fraco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705088" y="4672584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objetos, POO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5458968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54589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e ontologias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852928" y="5458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escala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779008" y="5458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limitada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705088" y="545896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 conhecimento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Mundo fechado ou mundo aberto?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Mundo fechado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consta na base é falso. Bancos de dados e Prolog.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840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 SP–RJ não aparece na tabela: então não existe.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1783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28232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031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59752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Mundo aberto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6428232" y="2743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consta é desconhecido. Ontologias e a web.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3840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Wikidata não cita um fato: ele pode ser verdadeiro e ainda não registrado.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nosso código com all/any e conjuntos usamos mundo fechado: o que não está na base é tratado como falso. Foi uma escolha, não uma verdade da lógica.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ao representar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Confundir → com ∧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chove, molha” não diz que chove. Use ∧ só para fatos simultâneos.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Inverter a implicação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não garante q → p. Confira com a tabela-verdade.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∀ e ∃ trocados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combina com →; ∃ combina com ∧. O contrário muda o sentido.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Ambiguidade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exatamente cada proposição e predicado antes de escrever regras.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7830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tabela de (p ∧ q) → r (8 linhas). Em quantas linhas ela é falsa?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Equivalência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8803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equivalentes() para checar se p → q é equivalente à contrapositiva ¬q → ¬p.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Consequência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3977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entails(), mostre que {p → q, q → r, p} implica 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e frames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50749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à rede “avestruz” (ave que não voa, cor: marrom) e consulte sua cor e se voa.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falsa so em (True, True, False): 1 linha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497580"/>
            <a:ext cx="5852160" cy="2628900"/>
          </a:xfrm>
          <a:prstGeom prst="roundRect">
            <a:avLst>
              <a:gd name="adj" fmla="val 417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497580"/>
            <a:ext cx="530352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∧ q) → r só é falsa quando p e q são verdadeiras e r é falsa: uma única linha em 8.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2860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5527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8194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30861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611112" y="3764280"/>
            <a:ext cx="4937760" cy="2362200"/>
          </a:xfrm>
          <a:prstGeom prst="roundRect">
            <a:avLst>
              <a:gd name="adj" fmla="val 464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764280"/>
            <a:ext cx="443484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contrapositiva ¬q → ¬p equivale a q ∨ ¬p, que é exatamente (¬p) ∨ q. Logo, são equivalentes.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entails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"pqr"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29768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29768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p → q e q → r implicam r: é o silogismo hipotético seguido de modus ponens.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11112" y="1783080"/>
            <a:ext cx="49377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2860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"avestruz"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"e_um"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5527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"marrom"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28194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"avestruz"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marrom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30861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"avestruz"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611112" y="3764280"/>
            <a:ext cx="4937760" cy="2362200"/>
          </a:xfrm>
          <a:prstGeom prst="roundRect">
            <a:avLst>
              <a:gd name="adj" fmla="val 464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3764280"/>
            <a:ext cx="443484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novo sobrescreve voa e herda tem: penas da ave, sem nenhuma outra alteração no código.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04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é dado com contexto e relações; uma base de conhecimento o guarda separado do programa.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lógica proposicional, tabelas-verdade, equivalências e resolução provam consequências.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de predicados fala de objetos e usa ∀ e ∃ (com → e ∧, respectivamente).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Redes, frames e triplas organizam o conhecimento com herança, padrões e consultas.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e manipulação simbólica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conhecimento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evolutivas e enxame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exercícios. A aula 05 usa Python funcional (map, filter, lambda, recursão) para implementar a unificação e derivar expressões.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04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04 - Representação do conhecimento e lógica</dc:title>
  <dc:subject>PptxGenJS Presentation</dc:subject>
  <dc:creator>Inteligência Artificial</dc:creator>
  <cp:lastModifiedBy>Inteligência Artificial</cp:lastModifiedBy>
  <cp:revision>1</cp:revision>
  <dcterms:created xsi:type="dcterms:W3CDTF">2026-10-07T19:30:40Z</dcterms:created>
  <dcterms:modified xsi:type="dcterms:W3CDTF">2026-10-07T19:30:40Z</dcterms:modified>
</cp:coreProperties>
</file>