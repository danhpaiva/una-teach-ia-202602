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Acurácia de validação por época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0.979</c:v>
                </c:pt>
                <c:pt idx="1">
                  <c:v>0.9855</c:v>
                </c:pt>
                <c:pt idx="2">
                  <c:v>0.9872</c:v>
                </c:pt>
                <c:pt idx="3">
                  <c:v>0.99</c:v>
                </c:pt>
                <c:pt idx="4">
                  <c:v>0.9898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0.955</c:v>
                </c:pt>
                <c:pt idx="1">
                  <c:v>0.9655</c:v>
                </c:pt>
                <c:pt idx="2">
                  <c:v>0.9712</c:v>
                </c:pt>
                <c:pt idx="3">
                  <c:v>0.9722</c:v>
                </c:pt>
                <c:pt idx="4">
                  <c:v>0.9748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4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e reconhecimento de imagem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convolucionais (CNN) com Keras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743200" y="539496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5394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89120" y="5394960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760720" y="539496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5394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539496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0" y="53949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AULAS PASSADAS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MLP (aula 11)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Neurônios, camadas, backpropagation. Lá, as imagens dos dígitos viraram um vetor de 64 pixels e deram 98,4% de acerto.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Q (aula 13)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estado era enorme ou contínuo, a tabela deixou de servir; a saída seria uma rede neural.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redes profundas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pensadas para imagens: elas aproveitam a vizinhança dos pixels, algo que o vetor achatado ignora.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construir, passo a passo, uma rede convolucional que reconhece dígitos e roupas, e ver o que ela aprende por dentro.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 como números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e o limite do MLP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Convolução e pooling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Filtros, mapas de características, à mão e em NumPy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arquitetura da CNN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Camadas, formas e contagem de parâmetros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 na prática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e CNN no MNIST, curvas e erros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Regularização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aumento de dados e Fashion-MNIST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pré-treinados, limites e ética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torna uma rede “profunda”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Muitas camadas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com várias camadas ocultas empilhadas. Cada camada transforma a saída da anterior.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 os atributos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atributos escritos à mão (como o “perímetro” na aula 10), a rede aprende sozinha o que é útil, camada a camada.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de dados e poder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melhor com muitos exemplos e hardware rápido (GPU). Em poucos dados, outras técnicas costumam competir bem.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2012, uma rede convolucional (AlexNet) venceu o concurso ImageNet de reconhecimento de imagens por larga margem, o que impulsionou o deep learning atual.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COMO NÚMEROS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MNIST: 70 000 dígitos escritos à mão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923154"/>
          </a:xfrm>
          <a:prstGeom prst="roundRect">
            <a:avLst>
              <a:gd name="adj" fmla="val 37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4/mnist_amost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5632704" cy="27036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0" y="1783080"/>
            <a:ext cx="487375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03720" y="1837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220370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 imagens de treino e 10 000 de teste, cada uma com 28 × 28 pixels.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675120" y="3017520"/>
            <a:ext cx="487375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03720" y="3072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pixel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343814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inteiro de 0 (fundo) a 255 (traço). Normalizamos dividindo por 255.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75120" y="4251960"/>
            <a:ext cx="487375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03720" y="4306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Rótulos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467258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dígito de 0 a 9 que a imagem representa: um problema de 10 classes.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57784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MNIST é um dos conjuntos mais usados para aprender: pequeno, limpo e rápido de treinar. Os exemplos acima são o primeiro de cada dígito no conjunto de treino.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COMO NÚMEROS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Carregando e preparando o MNIST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mnist_dados.py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load_data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"treino:"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teste:"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minimo:"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maximo:"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"rotulos de 0 a 9; primeiros 10:"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"exemplos por classe (treino):"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bincount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"float32"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"float32"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"depois de normalizar:"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(60000, 28, 28, 1): 1 canal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"forma para a CNN:"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08392" y="1783080"/>
            <a:ext cx="3840480" cy="2446020"/>
          </a:xfrm>
          <a:prstGeom prst="roundRect">
            <a:avLst>
              <a:gd name="adj" fmla="val 44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095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107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118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22792" y="19019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982712" y="22860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treino: (60000, 28, 28) (60000,)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982712" y="24574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teste: (10000, 28, 28)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982712" y="26289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tipo: uint8  minimo: 0  maximo: 255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982712" y="28003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 de 0 a 9; primeiros 10: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982712" y="29718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[5, 0, 4, 1, 9, 2, 1, 3, 1, 4]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982712" y="31432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exemplos por classe (treino):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982712" y="33147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[5923, 6742, 5958, 6131, 5842,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982712" y="34861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5421, 5918, 6265, 5851, 5949]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982712" y="36576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 de normalizar: 0.0 1.0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7982712" y="38290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 para a CNN: (60000, 28, 28, 1)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eixo é o canal: 1 para imagens em tons de cinza; 3 (vermelho, verde, azul) para imagens coloridas. Keras espera (exemplos, altura, largura, canais).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CONVOLUÇÃO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MLP perde ao “achatar” a imagem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Perde a vizinhança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achatar 28 × 28 em 784 números, o pixel de cima e o de baixo viram vizinhos distantes. O MLP não sabe que os pixels formam traços.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 demais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foto de 224 × 224 × 3 tem 150 528 entradas: uma única camada Dense de 128 neurônios teria (150 528 + 1) × 128 = 19 267 712 parâmetros.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Sensível à posição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traço, deslocado alguns pixels, ativa outros pesos: a rede precisa reaprender cada posição.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da convolução: usar um filtro pequeno, que procura o mesmo padrão em qualquer lugar da imagem. Poucos pesos, reaproveitados em toda a imagem, e respeitando a vizinhança dos pixels.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filtro que desliza pela imagem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81328" y="187452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81328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39696" y="187452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39696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98064" y="187452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98064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56432" y="187452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56432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14800" y="187452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0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25328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2532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481328" y="25328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481328" y="2532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139696" y="25328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139696" y="2532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798064" y="25328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98064" y="2532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456432" y="25328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56432" y="2532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114800" y="25328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114800" y="2532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22960" y="3191256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31912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481328" y="3191256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481328" y="31912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139696" y="3191256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139696" y="31912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2798064" y="3191256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798064" y="31912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456432" y="3191256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56432" y="31912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114800" y="3191256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114800" y="31912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22960" y="384962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960" y="3849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481328" y="384962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481328" y="3849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2139696" y="384962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139696" y="3849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2798064" y="384962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798064" y="3849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456432" y="384962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456432" y="3849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114800" y="384962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114800" y="3849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22960" y="450799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22960" y="4507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481328" y="450799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481328" y="4507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2139696" y="450799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139696" y="4507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2798064" y="450799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798064" y="4507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3456432" y="450799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456432" y="4507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114800" y="450799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114800" y="4507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822960" y="516636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2960" y="5166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1481328" y="516636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481328" y="5166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2139696" y="516636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2139696" y="5166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2798064" y="516636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2798064" y="5166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3456432" y="516636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3456432" y="5166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4114800" y="516636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114800" y="5166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1444752" y="1837944"/>
            <a:ext cx="2011680" cy="2011680"/>
          </a:xfrm>
          <a:prstGeom prst="rect">
            <a:avLst/>
          </a:prstGeom>
          <a:ln w="44450">
            <a:solidFill>
              <a:srgbClr val="FF7A2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40080" y="5897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6 × 6: uma borda vertical (0 à esquerda, 9 à direita)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5394960" y="1783080"/>
            <a:ext cx="6153912" cy="987552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577840" y="1783080"/>
            <a:ext cx="5852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(kernel)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pequena matriz de pesos, aqui 3 × 3.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5394960" y="2880360"/>
            <a:ext cx="6153912" cy="987552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5577840" y="2880360"/>
            <a:ext cx="5852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Deslizar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percorre a imagem, um passo de cada vez.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5394960" y="3977640"/>
            <a:ext cx="6153912" cy="987552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5577840" y="3977640"/>
            <a:ext cx="5852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Multiplicar e somar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posição, multiplica pixel por peso e soma tudo: um único número.</a:t>
            </a:r>
            <a:endParaRPr lang="en-US" sz="1400" dirty="0"/>
          </a:p>
        </p:txBody>
      </p:sp>
      <p:sp>
        <p:nvSpPr>
          <p:cNvPr id="86" name="Shape 83"/>
          <p:cNvSpPr/>
          <p:nvPr/>
        </p:nvSpPr>
        <p:spPr>
          <a:xfrm>
            <a:off x="5394960" y="5074920"/>
            <a:ext cx="6153912" cy="987552"/>
          </a:xfrm>
          <a:prstGeom prst="roundRect">
            <a:avLst>
              <a:gd name="adj" fmla="val 1111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5577840" y="5074920"/>
            <a:ext cx="5852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formam um novo “mapa”: o mapa de características.</a:t>
            </a:r>
            <a:endParaRPr lang="en-US" sz="1400" dirty="0"/>
          </a:p>
        </p:txBody>
      </p:sp>
      <p:sp>
        <p:nvSpPr>
          <p:cNvPr id="88" name="Text 8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conta, com números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0574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574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280160" y="20574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20574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37360" y="20574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37360" y="20574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94560" y="20574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94560" y="20574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51760" y="20574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51760" y="20574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08960" y="20574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8960" y="20574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242316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24231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280160" y="242316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80160" y="24231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737360" y="242316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737360" y="24231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194560" y="242316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94560" y="24231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651760" y="242316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51760" y="24231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108960" y="242316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108960" y="24231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" y="278892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27889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280160" y="278892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280160" y="27889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737360" y="278892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737360" y="27889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194560" y="278892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94560" y="27889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651760" y="278892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651760" y="27889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108960" y="278892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108960" y="27889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22960" y="315468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2960" y="3154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280160" y="315468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280160" y="3154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737360" y="315468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737360" y="3154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194560" y="315468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194560" y="3154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651760" y="315468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651760" y="3154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108960" y="315468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108960" y="3154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822960" y="352044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2960" y="3520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1280160" y="352044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280160" y="3520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1737360" y="352044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737360" y="3520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2194560" y="352044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2194560" y="3520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2651760" y="352044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651760" y="3520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3108960" y="352044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108960" y="3520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822960" y="38862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2960" y="3886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1280160" y="38862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280160" y="3886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1737360" y="38862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737360" y="3886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2194560" y="38862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2194560" y="3886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2651760" y="38862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2651760" y="3886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3108960" y="3886200"/>
            <a:ext cx="420624" cy="329184"/>
          </a:xfrm>
          <a:prstGeom prst="roundRect">
            <a:avLst>
              <a:gd name="adj" fmla="val 16667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108960" y="3886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356616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80" name="Text 77"/>
          <p:cNvSpPr txBox="1"/>
          <p:nvPr/>
        </p:nvSpPr>
        <p:spPr>
          <a:xfrm>
            <a:off x="41148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4114800" y="2057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14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4663440" y="2057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5212080" y="2057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212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114800" y="2606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114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4663440" y="2606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46634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5212080" y="2606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212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411480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1148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466344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46634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7" name="Shape 94"/>
          <p:cNvSpPr/>
          <p:nvPr/>
        </p:nvSpPr>
        <p:spPr>
          <a:xfrm>
            <a:off x="521208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212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9" name="Text 96"/>
          <p:cNvSpPr txBox="1"/>
          <p:nvPr/>
        </p:nvSpPr>
        <p:spPr>
          <a:xfrm>
            <a:off x="585216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00" name="Text 97"/>
          <p:cNvSpPr txBox="1"/>
          <p:nvPr/>
        </p:nvSpPr>
        <p:spPr>
          <a:xfrm>
            <a:off x="64008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4 × 4</a:t>
            </a:r>
            <a:endParaRPr lang="en-US" sz="1300" dirty="0"/>
          </a:p>
        </p:txBody>
      </p:sp>
      <p:sp>
        <p:nvSpPr>
          <p:cNvPr id="101" name="Shape 98"/>
          <p:cNvSpPr/>
          <p:nvPr/>
        </p:nvSpPr>
        <p:spPr>
          <a:xfrm>
            <a:off x="6400800" y="20574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6400800" y="20574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3" name="Shape 100"/>
          <p:cNvSpPr/>
          <p:nvPr/>
        </p:nvSpPr>
        <p:spPr>
          <a:xfrm>
            <a:off x="6967728" y="20574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6967728" y="20574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05" name="Shape 102"/>
          <p:cNvSpPr/>
          <p:nvPr/>
        </p:nvSpPr>
        <p:spPr>
          <a:xfrm>
            <a:off x="7534656" y="20574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7534656" y="20574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07" name="Shape 104"/>
          <p:cNvSpPr/>
          <p:nvPr/>
        </p:nvSpPr>
        <p:spPr>
          <a:xfrm>
            <a:off x="8101584" y="20574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8101584" y="20574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9" name="Shape 106"/>
          <p:cNvSpPr/>
          <p:nvPr/>
        </p:nvSpPr>
        <p:spPr>
          <a:xfrm>
            <a:off x="6400800" y="25146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>
            <a:off x="6400800" y="25146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1" name="Shape 108"/>
          <p:cNvSpPr/>
          <p:nvPr/>
        </p:nvSpPr>
        <p:spPr>
          <a:xfrm>
            <a:off x="6967728" y="25146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967728" y="25146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13" name="Shape 110"/>
          <p:cNvSpPr/>
          <p:nvPr/>
        </p:nvSpPr>
        <p:spPr>
          <a:xfrm>
            <a:off x="7534656" y="25146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7534656" y="25146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15" name="Shape 112"/>
          <p:cNvSpPr/>
          <p:nvPr/>
        </p:nvSpPr>
        <p:spPr>
          <a:xfrm>
            <a:off x="8101584" y="25146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8101584" y="25146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7" name="Shape 114"/>
          <p:cNvSpPr/>
          <p:nvPr/>
        </p:nvSpPr>
        <p:spPr>
          <a:xfrm>
            <a:off x="6400800" y="29718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6400800" y="29718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9" name="Shape 116"/>
          <p:cNvSpPr/>
          <p:nvPr/>
        </p:nvSpPr>
        <p:spPr>
          <a:xfrm>
            <a:off x="6967728" y="29718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6967728" y="29718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21" name="Shape 118"/>
          <p:cNvSpPr/>
          <p:nvPr/>
        </p:nvSpPr>
        <p:spPr>
          <a:xfrm>
            <a:off x="7534656" y="29718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7534656" y="29718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23" name="Shape 120"/>
          <p:cNvSpPr/>
          <p:nvPr/>
        </p:nvSpPr>
        <p:spPr>
          <a:xfrm>
            <a:off x="8101584" y="29718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8101584" y="29718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25" name="Shape 122"/>
          <p:cNvSpPr/>
          <p:nvPr/>
        </p:nvSpPr>
        <p:spPr>
          <a:xfrm>
            <a:off x="6400800" y="34290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6400800" y="34290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27" name="Shape 124"/>
          <p:cNvSpPr/>
          <p:nvPr/>
        </p:nvSpPr>
        <p:spPr>
          <a:xfrm>
            <a:off x="6967728" y="34290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6967728" y="34290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29" name="Shape 126"/>
          <p:cNvSpPr/>
          <p:nvPr/>
        </p:nvSpPr>
        <p:spPr>
          <a:xfrm>
            <a:off x="7534656" y="34290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7534656" y="34290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31" name="Shape 128"/>
          <p:cNvSpPr/>
          <p:nvPr/>
        </p:nvSpPr>
        <p:spPr>
          <a:xfrm>
            <a:off x="8101584" y="3429000"/>
            <a:ext cx="530352" cy="420624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2" name="Text 129"/>
          <p:cNvSpPr txBox="1"/>
          <p:nvPr/>
        </p:nvSpPr>
        <p:spPr>
          <a:xfrm>
            <a:off x="8101584" y="342900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3" name="Shape 130"/>
          <p:cNvSpPr/>
          <p:nvPr/>
        </p:nvSpPr>
        <p:spPr>
          <a:xfrm>
            <a:off x="640080" y="4434840"/>
            <a:ext cx="7223760" cy="530352"/>
          </a:xfrm>
          <a:prstGeom prst="roundRect">
            <a:avLst>
              <a:gd name="adj" fmla="val 2069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4" name="Text 131"/>
          <p:cNvSpPr txBox="1"/>
          <p:nvPr/>
        </p:nvSpPr>
        <p:spPr>
          <a:xfrm>
            <a:off x="822960" y="443484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Trecho 1 (colunas 0 a 2):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0: soma = 0. Nada de borda aqui.</a:t>
            </a:r>
            <a:endParaRPr lang="en-US" sz="1400" dirty="0"/>
          </a:p>
        </p:txBody>
      </p:sp>
      <p:sp>
        <p:nvSpPr>
          <p:cNvPr id="135" name="Shape 132"/>
          <p:cNvSpPr/>
          <p:nvPr/>
        </p:nvSpPr>
        <p:spPr>
          <a:xfrm>
            <a:off x="640080" y="5038344"/>
            <a:ext cx="7223760" cy="530352"/>
          </a:xfrm>
          <a:prstGeom prst="roundRect">
            <a:avLst>
              <a:gd name="adj" fmla="val 2069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822960" y="503834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Trecho 2 (colunas 1 a 3):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linha: 0·(−1) + 0·0 + 9·1 = 9. Três linhas: 27. Borda encontrada!</a:t>
            </a:r>
            <a:endParaRPr lang="en-US" sz="1400" dirty="0"/>
          </a:p>
        </p:txBody>
      </p:sp>
      <p:sp>
        <p:nvSpPr>
          <p:cNvPr id="137" name="Shape 134"/>
          <p:cNvSpPr/>
          <p:nvPr/>
        </p:nvSpPr>
        <p:spPr>
          <a:xfrm>
            <a:off x="640080" y="5641848"/>
            <a:ext cx="7223760" cy="530352"/>
          </a:xfrm>
          <a:prstGeom prst="roundRect">
            <a:avLst>
              <a:gd name="adj" fmla="val 2069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8" name="Text 135"/>
          <p:cNvSpPr txBox="1"/>
          <p:nvPr/>
        </p:nvSpPr>
        <p:spPr>
          <a:xfrm>
            <a:off x="822960" y="56418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Trecho 4 (colunas 3 a 5):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linha: 9·(−1) + 9·0 + 9·1 = 0. Região lisa: sem borda.</a:t>
            </a:r>
            <a:endParaRPr lang="en-US" sz="1400" dirty="0"/>
          </a:p>
        </p:txBody>
      </p:sp>
      <p:sp>
        <p:nvSpPr>
          <p:cNvPr id="139" name="Shape 136"/>
          <p:cNvSpPr/>
          <p:nvPr/>
        </p:nvSpPr>
        <p:spPr>
          <a:xfrm>
            <a:off x="8138160" y="1783080"/>
            <a:ext cx="3410712" cy="4343400"/>
          </a:xfrm>
          <a:prstGeom prst="roundRect">
            <a:avLst>
              <a:gd name="adj" fmla="val 3217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40" name="Text 137"/>
          <p:cNvSpPr txBox="1"/>
          <p:nvPr/>
        </p:nvSpPr>
        <p:spPr>
          <a:xfrm>
            <a:off x="8321040" y="1783080"/>
            <a:ext cx="30632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 filtro responde (valor alto) onde a imagem passa de escuro para claro da esquerda para a direita: um detector de borda vertical.</a:t>
            </a:r>
            <a:endParaRPr lang="en-US" sz="1500" dirty="0"/>
          </a:p>
        </p:txBody>
      </p:sp>
      <p:sp>
        <p:nvSpPr>
          <p:cNvPr id="141" name="Text 1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142" name="Text 1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EM NUMPY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Convolução em NumPy (1/2): a função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3036570"/>
          </a:xfrm>
          <a:prstGeom prst="roundRect">
            <a:avLst>
              <a:gd name="adj" fmla="val 36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conv_manual.py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7051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146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42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433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528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9624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719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3815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detector de borda vertical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381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0" y="17830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778240" y="214884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6 × 6 do slide 8.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3816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381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778240" y="31546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778240" y="352044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−1, 0 e 1: subtrai a esquerda da direita.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EM NUMPY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Convolução em NumPy (2/2): rodando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conv_manual.py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convolucao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trecho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trecho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convolucao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"forma da saida:"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42632" y="1783080"/>
            <a:ext cx="420624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616952" y="228600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 da saida: (4, 4)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16952" y="249555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[[ 0 27 27  0]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616952" y="270510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[ 0 27 27  0]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616952" y="291465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[ 0 27 27  0]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616952" y="312420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[ 0 27 27  0]]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342632" y="4206240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616952" y="42062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n × n com filtro k × k gera uma saída de (n − k + 1) × (n − k + 1): 6 − 3 + 1 = 4. A borda aparece em duas colunas, onde o filtro cobre a transição de 0 para 9.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NUM DÍGITO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de borda num dígito de verdade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761894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4/filtros_manua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6729984" cy="25424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727854"/>
            <a:ext cx="6949440" cy="1684020"/>
          </a:xfrm>
          <a:prstGeom prst="roundRect">
            <a:avLst>
              <a:gd name="adj" fmla="val 651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4910734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42416" y="4910734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243584" y="4910734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554480" y="4846726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filtros_digito.py (parte 1)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30774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primeiro digito do treino: um 5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5421274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5611774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5802274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bordas_v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convolucao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5992774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bordas_h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convolucao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99832" y="1783080"/>
            <a:ext cx="374904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074152" y="2286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imagem: (28, 28)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8074152" y="2476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mapa de bordas: (26, 26)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074152" y="2667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 resposta vertical  : 2.73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8074152" y="2857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 resposta horizontal: 2.98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8074152" y="3048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 com resposta forte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074152" y="3238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(&gt; 1.5): vertical 41,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074152" y="3429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horizontal 119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799832" y="402336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74152" y="4023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dígito, dois filtros: um destaca traços verticais (azul e vermelho nos lados), o outro, horizontais. Em vez de escolher filtros à mão, a CNN aprende os pesos deles.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CARACTERÍSTICAS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primeira camada “vê”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3243834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4/map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6912864" cy="302437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38160" y="1783080"/>
            <a:ext cx="341071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7532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filtro, um mapa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75320" y="22402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nove mapas mostram a resposta de nove filtros aprendidos ao mesmo dígito.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138160" y="3017520"/>
            <a:ext cx="341071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75320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um acende em algo diferente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34747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 destacam o traço horizontal de cima, outros as diagonais; o mapa 4 acende em todo o traço.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4251960"/>
            <a:ext cx="3410712" cy="1143000"/>
          </a:xfrm>
          <a:prstGeom prst="roundRect">
            <a:avLst>
              <a:gd name="adj" fmla="val 96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4297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Aprendido, não escrito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47091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filtros foi projetado por nós: surgiram do treino.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557784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da primeira camada convolucional do modelo treinado neste slide (32 filtros; mostramos 9). Mais fundo na rede, os mapas passam a representar partes e formas maiores.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CARACTERÍSTICAS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32 filtros 3 × 3 aprendidos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3541928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4/filtros_aprendid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6181344" cy="3322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0" y="1783080"/>
            <a:ext cx="42336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98080" y="1856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são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2402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quadrado é um filtro 3 × 3: 9 pesos. Vermelho = peso positivo, azul = negativo.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0" y="3246120"/>
            <a:ext cx="42336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98080" y="3319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37033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parecem detectores de borda em direções diferentes, como os que escrevemos à mão.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0" y="4709160"/>
            <a:ext cx="42336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0" y="4782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516636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filtros × 9 pesos + 32 vieses = 320 parâmetros nesta camada.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convolução: ReLU e pooling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a cada valor do mapa: max(0, x). Mantém só as respostas positivas e dá a não linearidade (aula 11).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pooling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 mapa em blocos (2 × 2) e guarda só o maior valor de cada bloco: o mapa fica com metade da altura e da largura.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quê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tamanho (e o custo), e torna a rede menos sensível a pequenos deslocamentos do traço.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+ ReLU + pooling formam um “bloco” que se repete: a rede alterna detectar padrões (convolução) e resumir (pooling), cada vez em escala maior.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pooling 2 × 2 em NumPy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3779520"/>
          </a:xfrm>
          <a:prstGeom prst="roundRect">
            <a:avLst>
              <a:gd name="adj" fmla="val 290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pooling_manual.py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max_pooling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953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"mapa 4x4:\n"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143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"max pooling 2x2:\n"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max_pooling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16952" y="1783080"/>
            <a:ext cx="3931920" cy="2407920"/>
          </a:xfrm>
          <a:prstGeom prst="roundRect">
            <a:avLst>
              <a:gd name="adj" fmla="val 45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91272" y="22860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4x4: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891272" y="24955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[[1 3 2 0]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91272" y="27051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 8 1 1]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91272" y="29146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 2 7 5]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891272" y="31242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 1 6 9]]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891272" y="33337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pooling 2x2: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91272" y="35433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[[8 2]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7891272" y="37528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 9]]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616952" y="420624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91272" y="42062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2 × 2 vira um número: o maior. Os blocos [[1,3],[4,8]], [[2,0],[1,1]], [[0,2],[3,1]] e [[7,5],[6,9]] dão 8, 2, 3 e 9. A região com resposta forte sobrevive; o resto é descartado.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borda ao objeto: uma hierarquia de padrões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iniciais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Bordas, cantos e texturas simples, em pequenas regiões.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657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do meio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6572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de bordas: curvas, cruzamentos, partes de formas.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446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finais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84464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maiores e, por fim, a decisão: qual é a classe.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usa o que a anterior detectou. Essa hierarquia aparece em redes treinadas em fotos (nos modelos grandes, as camadas finais respondem a partes de objetos); nesta aula, o MNIST é pequeno demais para ver isso em detalhe.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CNN que vamos treinar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031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28×28×1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84248" y="2697480"/>
            <a:ext cx="24688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236622" y="210312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36622" y="21031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26×26×32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80790" y="2697480"/>
            <a:ext cx="24688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833165" y="210312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3165" y="21031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13×13×32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77333" y="2697480"/>
            <a:ext cx="24688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429707" y="210312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29707" y="21031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11×11×64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73875" y="2697480"/>
            <a:ext cx="24688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026250" y="210312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26250" y="21031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5×5×64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70418" y="2697480"/>
            <a:ext cx="24688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622792" y="210312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22792" y="21031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966960" y="2697480"/>
            <a:ext cx="24688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0219334" y="210312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19334" y="21031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099462" y="3429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3×3, 32 filtros, ReLU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696005" y="3429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292547" y="3429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3×3, 64 filtros, ReLU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889090" y="3429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85632" y="3429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0,3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082174" y="3429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10 probabilidades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0080" y="4434840"/>
            <a:ext cx="10911535" cy="1691640"/>
          </a:xfrm>
          <a:prstGeom prst="roundRect">
            <a:avLst>
              <a:gd name="adj" fmla="val 64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434840"/>
            <a:ext cx="103628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são as formas (altura × largura × canais). Cada convolução 3 × 3 (sem preenchimento) tira 2 pixels de cada dimensão: 28 → 26 e 13 → 11. O pooling divide por 2: 26 → 13 e 11 → 5. No fim, 5 × 5 × 64 = 1600 números alimentam a camada de saída.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Contando parâmetros: Dense e Conv2D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7830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(entradas + 1) × neurônios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7830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neurônio tem um peso por entrada e um viés.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1546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Conv2D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31546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 × k × canais_de_entrada + 1) × filtros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1546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filtro tem k × k pesos por canal e um viés; os mesmos pesos valem para a imagem inteira.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52628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526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 e Flatten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108960" y="45262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parâmetros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45262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reorganizam ou resumem; não há nada para aprender.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852160"/>
            <a:ext cx="10911535" cy="365760"/>
          </a:xfrm>
          <a:prstGeom prst="roundRect">
            <a:avLst>
              <a:gd name="adj" fmla="val 3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os pesos pela imagem é o que mantém a CNN pequena.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Contando parâmetros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474720"/>
          </a:xfrm>
          <a:prstGeom prst="roundRect">
            <a:avLst>
              <a:gd name="adj" fmla="val 315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params_contagem.py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n_out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n_out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00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147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saida_conv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861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290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005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saida_conv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"apos Conv2D 3x3:"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719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"apos MaxPooling 2x2:"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3434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saida_conv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"apos Conv2D 3x3:"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5148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"apos MaxPooling 2x2:"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6863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entrada_dense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8577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"Flatten:"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 64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entrada_dense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708392" y="1783080"/>
            <a:ext cx="3840480" cy="1684020"/>
          </a:xfrm>
          <a:prstGeom prst="roundRect">
            <a:avLst>
              <a:gd name="adj" fmla="val 651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095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107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118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22792" y="19019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982712" y="2286000"/>
            <a:ext cx="32918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apos Conv2D 3x3: 26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982712" y="2476500"/>
            <a:ext cx="32918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apos MaxPooling 2x2: 13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982712" y="2667000"/>
            <a:ext cx="32918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apos Conv2D 3x3: 11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982712" y="2857500"/>
            <a:ext cx="32918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apos MaxPooling 2x2: 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982712" y="3048000"/>
            <a:ext cx="32918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Flatten: 5 x 5 x 64 = 1600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708392" y="393192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82712" y="39319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formas batem com o diagrama do slide anterior. Esta conta é útil para saber, antes de montar o modelo, quantas entradas terá a camada Dense final.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contra CNN: parâmetros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1760220"/>
          </a:xfrm>
          <a:prstGeom prst="roundRect">
            <a:avLst>
              <a:gd name="adj" fmla="val 62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params_contagem.py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5852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"MLP: Dense(784 -&gt; 128)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Dense(128 -&gt; 10)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5852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 total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5852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entrada_dense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5852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"CNN: Conv2D(32)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Conv2D(64)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Dense(10)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5852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 total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525512" y="17830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56132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25512" y="2313432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35240" y="23134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313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784→128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561320" y="23134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100480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525512" y="2770632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35240" y="2770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2770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128→10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561320" y="2770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525512" y="3227832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35240" y="3227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9189720" y="32278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Conv2D(32)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61320" y="32278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25512" y="3685032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635240" y="36850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9189720" y="3685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Conv2D(64)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561320" y="36850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18496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525512" y="4142232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635240" y="4142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189720" y="4142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1600→10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0561320" y="41422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16010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40080" y="470916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0080" y="4818888"/>
            <a:ext cx="34930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101 770</a:t>
            </a:r>
            <a:endParaRPr lang="en-US" sz="4000" dirty="0"/>
          </a:p>
        </p:txBody>
      </p:sp>
      <p:sp>
        <p:nvSpPr>
          <p:cNvPr id="43" name="Text 40"/>
          <p:cNvSpPr txBox="1"/>
          <p:nvPr/>
        </p:nvSpPr>
        <p:spPr>
          <a:xfrm>
            <a:off x="777240" y="5532120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do MLP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4347972" y="470916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47972" y="4818888"/>
            <a:ext cx="34930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34 826</a:t>
            </a:r>
            <a:endParaRPr lang="en-US" sz="4000" dirty="0"/>
          </a:p>
        </p:txBody>
      </p:sp>
      <p:sp>
        <p:nvSpPr>
          <p:cNvPr id="46" name="Text 43"/>
          <p:cNvSpPr txBox="1"/>
          <p:nvPr/>
        </p:nvSpPr>
        <p:spPr>
          <a:xfrm>
            <a:off x="4485132" y="5532120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da CNN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525512" y="47091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99832" y="47091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tem um terço dos parâmetros do MLP. Veremos que ela ainda acerta mais.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Keras: construir redes por camadas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API de alto nível para criar, treinar e usar redes neurais. Roda sobre o TensorFlow (e, nas versões recentes, também sobre outros mecanismos).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Empilha camadas em ordem: keras.Sequential([camada1, camada2, ...]). É o suficiente para a maioria dos exemplos desta aula.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as camadas, compile (otimizador, perda, métricas), fit (treinar), evaluate (testar) e predict (usar).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Instalação: pip install tensorflow. As versões do TensorFlow e do Keras mudam e dependem da sua versão do Python; confira a documentação. Nos scripts desta aula, as duas primeiras linhas só silenciam mensagens do TensorFlow.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· MLP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Primeiro, um MLP no Keras (linha de base)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mnist_mlp.py (parte 1; 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set_random_seed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load_data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"softmax"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"adam"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"sparse_categorical_crossentropy"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"parametros:"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 28 × 28 em 784 números.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29600" y="32004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31089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34747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10 probabilidades que somam 1.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229600" y="45262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869680" y="44348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8006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otimizador, perda e métrica.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· MLP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Treinando o MLP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mnist_mlp.py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validation_split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"epoca"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"val_acc"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"val_accuracy"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"teste: perda"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25512" y="17830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35240" y="1783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(treino)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1268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val_acc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25512" y="2267712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35240" y="22677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2267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0.9000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2677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0.9550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525512" y="2651760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35240" y="26517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2651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0.9506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012680" y="2651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0.9655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25512" y="3035808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35240" y="30358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0.9647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012680" y="3035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0.9712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525512" y="3419856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35240" y="34198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58200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0.9728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012680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0.9722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525512" y="3803904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635240" y="38039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58200" y="38039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0.9782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012680" y="38039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0.9748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40080" y="4480560"/>
            <a:ext cx="10911535" cy="1645920"/>
          </a:xfrm>
          <a:prstGeom prst="roundRect">
            <a:avLst>
              <a:gd name="adj" fmla="val 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448056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parâmetros: 101 770. No teste: perda 0,0914 e acurácia 0,9724 (97,2%). val_acc é a acurácia nos 10% do treino reservados para validação (validation_split=0.1); o teste só é usado no final.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· CNN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CNN no Keras (1/3): as camadas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mnist_cnn.py (parte 1; 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"softmax"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Conv2D(32, (3, 3))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filtros 3 × 3, com ReLU.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955280" y="32004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31089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34747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em blocos 2 × 2.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955280" y="45262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552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44348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Dropout(0.3)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595360" y="48006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treino, desliga 30% das ligações ao acaso.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· CNN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CNN no Keras (2/3): compilar e treinar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2255520"/>
          </a:xfrm>
          <a:prstGeom prst="roundRect">
            <a:avLst>
              <a:gd name="adj" fmla="val 486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mnist_cnn.py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"adam"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"sparse_categorical_crossentropy"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__class__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de parametros:"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validation_split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74152" y="1783080"/>
            <a:ext cx="3474720" cy="1950720"/>
          </a:xfrm>
          <a:prstGeom prst="roundRect">
            <a:avLst>
              <a:gd name="adj" fmla="val 562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753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764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776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88552" y="190195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348472" y="22860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 (None, 26, 26, 32) 320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8348472" y="24384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 (None, 13, 13, 32) 0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8348472" y="25908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 (None, 11, 11, 64) 18496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348472" y="27432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 (None, 5, 5, 64) 0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8348472" y="28956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 (None, 1600) 0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8348472" y="30480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 (None, 1600) 0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8348472" y="32004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(None, 10) 16010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348472" y="3352800"/>
            <a:ext cx="2926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 parametros: 34826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40080" y="411480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do Keras (320, 18 496 e 16 010; total 34 826) coincidem com os que calculamos à mão no slide 20. O None é o tamanho do lote, que o Keras deixa livre.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· CNN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CNN no Keras (3/3): resultados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mnist_cnn.py (parte 3)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"epoca"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"val_acc"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"val_accuracy"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"teste: perda"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"mnist_cnn.keras"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25512" y="17830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1783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45820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(treino)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val_acc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25512" y="2267712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35240" y="22677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58200" y="2267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0.9047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012680" y="22677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0.9790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25512" y="2651760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35240" y="26517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58200" y="2651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0.9713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012680" y="2651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0.9855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525512" y="3035808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35240" y="30358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458200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0.9785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012680" y="3035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0.9872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525512" y="3419856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635240" y="34198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458200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0.9820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012680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0.9900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25512" y="3803904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635240" y="38039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58200" y="38039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0.9843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012680" y="38039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0.9898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40080" y="4480560"/>
            <a:ext cx="10911535" cy="1645920"/>
          </a:xfrm>
          <a:prstGeom prst="roundRect">
            <a:avLst>
              <a:gd name="adj" fmla="val 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14400" y="448056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teste: perda 0,0347 e acurácia 0,9889 (98,9%). Já na primeira época a CNN chega a 97,9% na validação; o MLP levou 5 épocas para passar de 97,4%. O modelo é salvo em arquivo para uso posterior.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contra CNN: acurácia de validação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28800"/>
          <a:ext cx="6492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78308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856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acima desde o começo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2402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é maior nas primeiras épocas: 0,979 contra 0,955.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98080" y="324612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Ambas melhoram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3703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MLP ainda subia na época 5; com mais épocas se aproximaria.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98080" y="470916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80960" y="4782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do gráfico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51663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vai de 94% a 100%: as diferenças parecem grandes, mas são de poucos pontos percentuais.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e CNN no teste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97,2%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276 erros em 10 000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47972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98,9%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485132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111 erros em 10 000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55864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 ×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193024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erros na CNN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840480"/>
            <a:ext cx="10911535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errou 111 imagens e o MLP, 276: cerca de 2,5 vezes mais. Com um terço dos parâmetros (34 826 contra 101 770). O ganho vem de usar a estrutura da imagem, não de ter mais pesos. Cada treino foi feito uma vez com a mesma semente; com outras sementes os números mudam um pouco.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 e entropia cruzada categórica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os 10 números da última camada em probabilidades positivas que somam 1. A classe prevista é a de maior probabilidade.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 cruzada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da classificação: −ln(probabilidade dada à classe certa). Dar 0,99 à classe certa custa 0,01; dar 0,01 custa 4,6 (como na aula 11).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“sparse”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sparse_categorical_crossentropy aceita o rótulo como inteiro (0 a 9), sem precisar converter para vetor “um-quente” (one-hot).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binária (aula 11) usava sigmoide e entropia binária. Para mais de duas classes: softmax e entropia categórica.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Épocas, lote, Adam e validação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epochs = 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treino é percorrido 5 vezes. Mais épocas ajustam mais, até começar a decorar (overfitting).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batch_size = 128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128 exemplos, os pesos são atualizados: o mini-lote da aula 11. 60 000 × 0,9 / 128 ≈ 422 atualizações por época.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+ validação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adapta o passo de cada parâmetro. validation_split=0.1 separa 10% do treino para vigiar o overfitting época a época.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teste só deve ser usado no fim (evaluate). Decisões de ajuste, como o número de épocas, se tomam olhando a validação.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ERROS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CNN erra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960370"/>
          </a:xfrm>
          <a:prstGeom prst="roundRect">
            <a:avLst>
              <a:gd name="adj" fmla="val 370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mnist_erros.py (parte principal)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load_model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"mnist_cnn.keras"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"erros:"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3147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4861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6576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8290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0005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confianca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1719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"confianca media nos acertos:"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confianca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3434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"confianca media nos erros  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confianca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708392" y="1783080"/>
            <a:ext cx="3840480" cy="2446020"/>
          </a:xfrm>
          <a:prstGeom prst="roundRect">
            <a:avLst>
              <a:gd name="adj" fmla="val 44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095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107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118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22792" y="19019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982712" y="22860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erros: 111 de 10000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982712" y="24574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confusoes mais comuns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982712" y="26289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(real -&gt; previsto: quantas):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982712" y="28003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8 -&gt; 0 : 6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982712" y="29718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6 -&gt; 0 : 5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982712" y="31432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9 -&gt; 7 : 5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7982712" y="33147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9 -&gt; 4 : 5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982712" y="34861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5 -&gt; 3 : 5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982712" y="365760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confianca media nos acertos: 0.989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7982712" y="3829050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confianca media nos erros  : 0.701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confusão passa de 6 casos em 10 000. A confiança média cai de 0,989 nos acertos para 0,701 nos erros: a rede “desconfia” quando erra, mas ainda erra com bastante confiança.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ERROS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primeiros 12 erros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215437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4/err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7095744" cy="299598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0" y="1783080"/>
            <a:ext cx="331927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6676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Dígitos ambíguos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21945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desses números confundem até uma pessoa que olhe rápido.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229600" y="3017520"/>
            <a:ext cx="331927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66760" y="3063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Traços atípicos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366760" y="34290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 pouco comuns ou muito grossas fogem do que aparece no treino.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4251960"/>
            <a:ext cx="3319272" cy="1143000"/>
          </a:xfrm>
          <a:prstGeom prst="roundRect">
            <a:avLst>
              <a:gd name="adj" fmla="val 96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66760" y="4297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humano existe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46634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rótulo pode ser discutível em alguns casos. Mais dados e aumento de dados ajudam.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557784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os erros é parte do trabalho: eles mostram se o problema é do modelo, dos dados ou do rótulo.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em redes profundas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com muitos parâmetros podem decorar o treino. Sintoma: acurácia de treino alta e de teste menor (aula 09).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treino, desliga ao acaso uma fração dos neurônios. A rede não pode depender de um único caminho. No teste, todos funcionam.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Aumento de dados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variações das imagens de treino (rotação, deslocamento) a cada época: mais exemplos “novos” sem rotular nada.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Keras, o aumento de dados vira camadas no começo do modelo (RandomRotation, RandomTranslation), ativas só no treino.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Testando: só 1000 imagens de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589020"/>
          </a:xfrm>
          <a:prstGeom prst="roundRect">
            <a:avLst>
              <a:gd name="adj" fmla="val 30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regularizacao.py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 1000 exemplos de treino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RandomRotation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RandomTranslation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"softmax"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"adam"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"sparse_categorical_crossentropy"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762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953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desligado; 0,5 = metade dos neurônios.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22960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1546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aumento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35204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as camadas aleatórias antes da convolução.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22960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869680" y="45262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imagens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869680" y="48920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dados, para forçar o overfitting.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o mesmo teste, outro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446020"/>
          </a:xfrm>
          <a:prstGeom prst="roundRect">
            <a:avLst>
              <a:gd name="adj" fmla="val 44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regularizacao.py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 regularizacao"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"dropout 0.5"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"dropout"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"aumento de dados"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"aumento"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set_random_seed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treino"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teste"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25512" y="17830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3524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55548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6132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25512" y="231343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35240" y="231343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regularização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555480" y="231343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561320" y="2313432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525512" y="281635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35240" y="281635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0,5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55480" y="281635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561320" y="2816352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0.947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525512" y="331927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35240" y="331927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dados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9555480" y="331927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561320" y="3319272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0.947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0080" y="4526280"/>
            <a:ext cx="10911535" cy="1600200"/>
          </a:xfrm>
          <a:prstGeom prst="roundRect">
            <a:avLst>
              <a:gd name="adj" fmla="val 685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526280"/>
            <a:ext cx="10362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ficou praticamente igual (0,946 a 0,947) nos três. O que mudou foi a distância entre treino e teste: de 5 pontos (0,997 contra 0,946) para 2,7 (dropout) e mais de 6 pontos a favor do teste (aumento: 0,885 no treino, medido já com imagens alteradas, contra 0,947). Aqui a regularização não melhorou o teste, só deixou o treino menos otimista. Em outros problemas, o ganho pode ser maior.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Fashion-MNIST: roupas em vez de dígitos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conjunto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imagens 28 × 28 em tons de cinza de 10 tipos de peças (camiseta, calça, pulôver, vestido, casaco, sandália, camisa, tênis, bolsa, bota).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usar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formato do MNIST, mas mais difícil: as classes se parecem mais entre si.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código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nada: apenas keras.datasets.fashion_mnist em vez de mnist.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uma vantagem do Keras: trocar de conjunto é trocar uma linha. O mesmo modelo (duas convoluções, dois poolings, Dropout e Dense) é usado de novo.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CNN em Fashion-MNIST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217920" cy="2255520"/>
          </a:xfrm>
          <a:prstGeom prst="roundRect">
            <a:avLst>
              <a:gd name="adj" fmla="val 486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fashion_cnn.py (parte 2; modelo igual ao do MNIST)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validation_split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no teste:"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5669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"{nomes[c]:9s} {acerto:.3f}"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59752" y="1783080"/>
            <a:ext cx="4389120" cy="384048"/>
          </a:xfrm>
          <a:prstGeom prst="roundRect">
            <a:avLst>
              <a:gd name="adj" fmla="val 2381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372600" y="1783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59752" y="224028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69480" y="22402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camiseta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372600" y="22402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59752" y="260604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69480" y="2606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calça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372600" y="2606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159752" y="297180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69480" y="2971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pulôver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372600" y="2971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0.877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159752" y="333756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69480" y="33375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vestido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372600" y="3337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0.926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159752" y="370332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69480" y="3703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casaco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372600" y="3703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0.819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159752" y="406908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269480" y="40690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sandália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372600" y="4069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0.943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159752" y="443484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269480" y="4434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camisa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372600" y="4434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159752" y="480060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269480" y="4800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tênis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9372600" y="4800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0.974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159752" y="516636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269480" y="5166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9372600" y="51663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0.982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159752" y="553212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269480" y="5532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9372600" y="5532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0.948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40080" y="4297680"/>
            <a:ext cx="6217920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14400" y="42976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total no teste: 0,883. A pior classe é “camisa” (0,553): se confunde com camiseta, pulôver e casaco. As melhores são bolsa (0,982) e tênis (0,974). A média esconde diferenças grandes entre as classes: sempre olhe por classe (aula 09).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Reaproveitar uma rede já treinada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uma CNN grande do zero exige milhões de imagens e muito tempo. Modelos como o MobileNetV2 já foram treinados na ImageNet (cerca de 1,2 milhão de fotos, mil classes).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reaproveitar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Mantém-se a “base” convolucional, que já sabe extrair bordas, texturas e formas, e treina-se só uma camada final nova para o seu problema.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menos dados e de menos tempo. É o caminho padrão em muitos projetos reais de visão.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congelar a base (base.trainable = False) para que seus pesos não mudem, e treinar apenas a nova camada Dense. Depois, se houver dados, pode-se liberar parte da base para um ajuste fino.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Usando o MobileNetV2 pré-treinado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788920"/>
          </a:xfrm>
          <a:prstGeom prst="roundRect">
            <a:avLst>
              <a:gd name="adj" fmla="val 39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pre_treinado.py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"https://storage.googleapis.com/download.tensorflow.org/"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"example_images/YellowLabradorLooking_new.jpg"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caminho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get_file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"labrador.jpg"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load_img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caminho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target_size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img_to_array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newaxis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mobilenet_v2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preprocess_input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861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MobileNetV2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"imagenet"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576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"parametros do MobileNetV2:"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mobilenet_v2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decode_predictions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719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"{nome:20s} {float(p):.3f}"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616952" y="1783080"/>
            <a:ext cx="3931920" cy="1493520"/>
          </a:xfrm>
          <a:prstGeom prst="roundRect">
            <a:avLst>
              <a:gd name="adj" fmla="val 734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91272" y="2286000"/>
            <a:ext cx="3383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parametros do MobileNetV2: 3538984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1272" y="2476500"/>
            <a:ext cx="3383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Labrador_retriever   0.469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1272" y="2667000"/>
            <a:ext cx="3383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Eskimo_dog           0.054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1272" y="2857500"/>
            <a:ext cx="3383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Ibizan_hound         0.024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616952" y="374904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91272" y="37490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quatro linhas, um modelo com 3,5 milhões de parâmetros reconhece uma foto entre 1000 classes: a probabilidade de “Labrador retriever” é 0,469 (a foto é de um labrador). Os pesos e a imagem são baixados da internet na primeira execução.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contra treinar do zero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2446020"/>
          </a:xfrm>
          <a:prstGeom prst="roundRect">
            <a:avLst>
              <a:gd name="adj" fmla="val 44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transfer_fashion.py (parte 2; 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MobileNetV2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input_shape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include_top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"imagenet"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pooling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"avg"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trainable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Resizing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canal -&gt; 3 canais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31470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Rescaling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127.5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9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pixels de 0-255 para -1 a 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48615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65760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"softmax"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829050"/>
            <a:ext cx="6766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257032" y="1783080"/>
            <a:ext cx="3291840" cy="1760220"/>
          </a:xfrm>
          <a:prstGeom prst="roundRect">
            <a:avLst>
              <a:gd name="adj" fmla="val 62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582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593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605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71432" y="190195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531352" y="228600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treino: 2000 imagens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531352" y="245745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teste: 1000 imagens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531352" y="262890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do zero      : 0.82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531352" y="280035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 learning: 0.846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531352" y="297180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parametros treinaveis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531352" y="3143250"/>
            <a:ext cx="2743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(transfer): 12810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40080" y="4480560"/>
            <a:ext cx="10911535" cy="1645920"/>
          </a:xfrm>
          <a:prstGeom prst="roundRect">
            <a:avLst>
              <a:gd name="adj" fmla="val 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48056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só 2000 imagens de roupa, a CNN do zero acertou 0,820 e a base pré-treinada com uma camada nova, 0,846, treinando apenas 12 810 parâmetros. O ganho é modesto aqui, porque as imagens são pequenas, em cinza e bem diferentes das fotos da ImageNet. Com fotos coloridas e poucos dados, a vantagem costuma ser maior.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NA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Salvar, carregar e usar o modelo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1684020"/>
          </a:xfrm>
          <a:prstGeom prst="roundRect">
            <a:avLst>
              <a:gd name="adj" fmla="val 651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mnist_cnn.py e mnist_erros.py (trechos)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"mnist_cnn.keras"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 mnist_cnn.py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67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load_model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"mnist_cnn.keras"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 mnist_erros.py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Treinar uma vez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4348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treino é a parte cara. O arquivo .keras guarda a arquitetura e os pesos.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47972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6572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muitas vezes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6572" y="44348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aplicação, só se carrega o modelo e chama predict em novas imagens: rápido.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55864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84464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igual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44348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novas imagens precisam do mesmo pré-processamento do treino (tamanho, escala 0 a 1, canais).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custa tempo e hardware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9028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33488" y="178308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(neste computador, só CPU)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no MNIST, 5 épocas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90288" y="2313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101 770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33488" y="2313432"/>
            <a:ext cx="4142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86207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6207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no MNIST, 5 épocas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90288" y="28620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34 826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33488" y="2862072"/>
            <a:ext cx="4142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20 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10911535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93192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tem menos parâmetros, mas gastou mais tempo: a convolução faz muito mais contas por parâmetro (o mesmo filtro percorre a imagem inteira). Redes grandes são treinadas em GPUs. Para estudar, serviços gratuitos de notebooks com GPU ajudam. Os tempos são do computador usado na preparação; o seu pode ser bem diferente.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visão computacional é usada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Saúde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análise de exames de imagem (raio-X, retina), sempre com revisão de um profissional.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visual de peças em linha de produção para achar defeitos.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placas, pedestres e faixas em sistemas de assistência ao motorista.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 e varejo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plantas, avaliar pragas em fotos, organizar catálogos de produtos por imagem.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das redes convolucionais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Dependem dos dados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 o que há no treino. Imagens de outra câmera, luz ou ângulo podem derrubar o desempenho.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Caixa-preta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difícil explicar por que uma imagem foi classificada de certa forma (aula 11).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adversariais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alterações, quase invisíveis, podem enganar a rede em casos construídos de propósito.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grandes exigem muita computação, com custo financeiro e energético.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 de pessoas pedem cuidado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nos dados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treino tem poucos rostos de certos grupos, o desempenho para eles será pior. Estudos sobre reconhecimento facial já registraram diferenças entre grupos; avalie por subgrupo (aula 01).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pessoas são dados pessoais (LGPD). Colete com base legal, minimize e proteja.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que afetam pessoas (segurança, crédito, saúde) exigem supervisão humana e possibilidade de contestar.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visão computacional com pessoas, pergunte: temos autorização? o modelo foi testado em todos os grupos? o que acontece quando ele erra?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Esquecer de normalizar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de 0 a 255 sem dividir por 255 deixam o treino lento e instável.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 errada dos dados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espera (exemplos, altura, largura, canais). Falta o eixo do canal? Use [..., np.newaxis].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o teste para decidir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o modelo com a validação; o teste só vale uma vez, no fim.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Olhar só a acurácia média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por classe e olhe os erros: a camisa do Fashion-MNIST acertava 55%.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78308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28 × 28 passa por uma Conv2D com filtro 5 × 5 e depois por um MaxPooling 2 × 2. Quais as formas de saída?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288036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parâmetros tem uma Conv2D com 16 filtros 5 × 5 sobre imagem RGB? E uma Dense(10) depois do Flatten dessa saída (12 × 12 × 16)?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contra CNN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39776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Fashion-MNIST, treine o MLP e a CNN por 3 épocas e compare os parâmetros e a acurácia no teste.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filtros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206240" y="50749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20 000 imagens do Fashion-MNIST e 3 épocas, compare uma CNN com 8 filtros e outra com 64 filtros na primeira camada.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988820"/>
          </a:xfrm>
          <a:prstGeom prst="roundRect">
            <a:avLst>
              <a:gd name="adj" fmla="val 55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saida_conv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146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saida_conv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42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"apos Conv2D 5x5:"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"apos MaxPooling 2x2:"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954780"/>
            <a:ext cx="6949440" cy="2255520"/>
          </a:xfrm>
          <a:prstGeom prst="roundRect">
            <a:avLst>
              <a:gd name="adj" fmla="val 486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41376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2416" y="41376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43584" y="41376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54480" y="40736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4577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n_out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6482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n_out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0292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2197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6007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"Conv2D(16, 5x5) em imagem RGB:"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7912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"Dense(10) depois de Flatten (12x12x16):"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799832" y="178308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1783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28 − 5 + 1 = 24, depois o pooling divide por 2: saída 24 × 24 e, em seguida, 12 × 12.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799832" y="379476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55280" y="37947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Conv2D: (5 × 5 × 3 + 1) × 16 = 76 × 16 = 1216. Dense: 12 × 12 × 16 = 2304 entradas; (2304 + 1) × 10 = 23 050.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103120"/>
          </a:xfrm>
          <a:prstGeom prst="roundRect">
            <a:avLst>
              <a:gd name="adj" fmla="val 52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 (treinar() definida antes, no gabarito.py)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"softmax"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"softmax"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"MLP"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"CNN"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3147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4861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parametros"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teste"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4069080"/>
            <a:ext cx="6949440" cy="1588770"/>
          </a:xfrm>
          <a:prstGeom prst="roundRect">
            <a:avLst>
              <a:gd name="adj" fmla="val 69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" y="4251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2416" y="4251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43584" y="4251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554480" y="4187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572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743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MaxPooling2D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914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"softmax"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5086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52578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"filtros | parametros"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teste"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99832" y="178308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0956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18972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56132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799832" y="2267712"/>
            <a:ext cx="3749040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09560" y="2267712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189720" y="226771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101770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561320" y="2267712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799832" y="2679192"/>
            <a:ext cx="3749040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909560" y="2679192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189720" y="267919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34826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561320" y="2679192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0.871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799832" y="361188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909560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189720" y="3611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61320" y="3611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799832" y="4096512"/>
            <a:ext cx="3749040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909560" y="4096512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9189720" y="409651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13610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561320" y="4096512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0.825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799832" y="4507992"/>
            <a:ext cx="3749040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909560" y="4507992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9189720" y="450799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108810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0561320" y="4507992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0.867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799832" y="512064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074152" y="5120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3: em 3 épocas, a CNN ganha só 1 ponto (0,871 contra 0,861). Ex. 4: 64 filtros acertam mais (0,867), mas com 8 vezes mais parâmetros.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14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Convolução: um filtro pequeno desliza pela imagem; o pooling resume; juntos formam o bloco da CNN.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do MNIST usa 34 826 parâmetros e acerta 98,9%, contra 101 770 e 97,2% do MLP.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e aumento de dados combatem o overfitting; sempre olhe os erros e as classes.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reaproveita uma rede pré-treinada e precisa de menos dados.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321040" y="2240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Tendências, escolha de técnicas e projeto final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589520" y="31089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aula reúne o que vimos: como escolher a técnica certa para cada problema e como apresentar um projeto.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pense em um problema (da sua área) em que cada técnica da disciplina poderia ser usada. A aula 15 parte dessas ideias para o projeto final.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14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14 - Deep learning e reconhecimento de imagem</dc:title>
  <dc:subject>PptxGenJS Presentation</dc:subject>
  <dc:creator>Inteligência Artificial</dc:creator>
  <cp:lastModifiedBy>Inteligência Artificial</cp:lastModifiedBy>
  <cp:revision>1</cp:revision>
  <dcterms:created xsi:type="dcterms:W3CDTF">2026-10-08T15:04:35Z</dcterms:created>
  <dcterms:modified xsi:type="dcterms:W3CDTF">2026-10-08T15:04:35Z</dcterms:modified>
</cp:coreProperties>
</file>