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4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Entropia de duas classes, em função de 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entropia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0.25</c:v>
                  </c:pt>
                  <c:pt idx="6">
                    <c:v>0.30</c:v>
                  </c:pt>
                  <c:pt idx="7">
                    <c:v>0.35</c:v>
                  </c:pt>
                  <c:pt idx="8">
                    <c:v>0.40</c:v>
                  </c:pt>
                  <c:pt idx="9">
                    <c:v>0.45</c:v>
                  </c:pt>
                  <c:pt idx="10">
                    <c:v>0.50</c:v>
                  </c:pt>
                  <c:pt idx="11">
                    <c:v>0.55</c:v>
                  </c:pt>
                  <c:pt idx="12">
                    <c:v>0.60</c:v>
                  </c:pt>
                  <c:pt idx="13">
                    <c:v>0.65</c:v>
                  </c:pt>
                  <c:pt idx="14">
                    <c:v>0.70</c:v>
                  </c:pt>
                  <c:pt idx="15">
                    <c:v>0.75</c:v>
                  </c:pt>
                  <c:pt idx="16">
                    <c:v>0.80</c:v>
                  </c:pt>
                  <c:pt idx="17">
                    <c:v>0.85</c:v>
                  </c:pt>
                  <c:pt idx="18">
                    <c:v>0.90</c:v>
                  </c:pt>
                  <c:pt idx="19">
                    <c:v>0.95</c:v>
                  </c:pt>
                  <c:pt idx="20">
                    <c:v>1.00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0.001</c:v>
                </c:pt>
                <c:pt idx="1">
                  <c:v>0.286</c:v>
                </c:pt>
                <c:pt idx="2">
                  <c:v>0.469</c:v>
                </c:pt>
                <c:pt idx="3">
                  <c:v>0.61</c:v>
                </c:pt>
                <c:pt idx="4">
                  <c:v>0.722</c:v>
                </c:pt>
                <c:pt idx="5">
                  <c:v>0.811</c:v>
                </c:pt>
                <c:pt idx="6">
                  <c:v>0.881</c:v>
                </c:pt>
                <c:pt idx="7">
                  <c:v>0.934</c:v>
                </c:pt>
                <c:pt idx="8">
                  <c:v>0.971</c:v>
                </c:pt>
                <c:pt idx="9">
                  <c:v>0.993</c:v>
                </c:pt>
                <c:pt idx="10">
                  <c:v>1</c:v>
                </c:pt>
                <c:pt idx="11">
                  <c:v>0.993</c:v>
                </c:pt>
                <c:pt idx="12">
                  <c:v>0.971</c:v>
                </c:pt>
                <c:pt idx="13">
                  <c:v>0.934</c:v>
                </c:pt>
                <c:pt idx="14">
                  <c:v>0.881</c:v>
                </c:pt>
                <c:pt idx="15">
                  <c:v>0.811</c:v>
                </c:pt>
                <c:pt idx="16">
                  <c:v>0.722</c:v>
                </c:pt>
                <c:pt idx="17">
                  <c:v>0.61</c:v>
                </c:pt>
                <c:pt idx="18">
                  <c:v>0.469</c:v>
                </c:pt>
                <c:pt idx="19">
                  <c:v>0.286</c:v>
                </c:pt>
                <c:pt idx="20">
                  <c:v>0.001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Acurácia × profundidade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0.927</c:v>
                </c:pt>
                <c:pt idx="1">
                  <c:v>0.965</c:v>
                </c:pt>
                <c:pt idx="2">
                  <c:v>0.98</c:v>
                </c:pt>
                <c:pt idx="3">
                  <c:v>0.992</c:v>
                </c:pt>
                <c:pt idx="4">
                  <c:v>0.995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teste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0.912</c:v>
                </c:pt>
                <c:pt idx="1">
                  <c:v>0.918</c:v>
                </c:pt>
                <c:pt idx="2">
                  <c:v>0.924</c:v>
                </c:pt>
                <c:pt idx="3">
                  <c:v>0.924</c:v>
                </c:pt>
                <c:pt idx="4">
                  <c:v>0.93</c:v>
                </c:pt>
                <c:pt idx="5">
                  <c:v>0.918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de decisão: modelos que explicam suas regras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Entropia, ganho de informação, ID3 do zero e scikit-learn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377440" y="539496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77440" y="5394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03520" y="5394960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5394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83680" y="53949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955280" y="53949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5394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aleatória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ML (aula 09)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teste, validação cruzada, pipeline e métricas honestas.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(aula 06)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SE-ENTÃO escritos por especialistas: fáceis de explicar.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faltava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que aprenda regras SE-ENTÃO dos dados, e continue legível.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a árvore de decisão junta o aprendizado a partir de dados com a explicabilidade das regras.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sequência de perguntas até a decisão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e ganho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bagunça e escolher a melhor pergunta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 do zero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árvore recursivamente em Python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DecisionTreeClassifier, texto e desenho da árvore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Controlar o tamanho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poda e importância dos atributos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de uma árvore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Regressão, floresta aleatória e quando usar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sequência de perguntas até a decisão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 de 20 perguntas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sim/não divide as possibilidades. Boas perguntas chegam à resposta em poucos passos.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interno testa um atributo; cada ramo é uma resposta; cada folha dá a decisão final.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Aprendida dos dados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perguntas fazer, e em que ordem, é o que o algoritmo descobre.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 servem para classificação e para regressão. São um dos poucos modelos de aprendizado de máquina que um leigo consegue ler de cima a baixo e conferir.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árvore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566160" y="233172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0" y="2788920"/>
            <a:ext cx="31089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278892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278892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0" y="374904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4206240"/>
            <a:ext cx="21945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0" y="420624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420624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9748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34440" y="32461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43400" y="32461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4340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interno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46120" y="466344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4612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40680" y="466344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4068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315200" y="1783080"/>
            <a:ext cx="423367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1783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Raiz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teste, o que melhor separa os dados.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0" y="2651760"/>
            <a:ext cx="423367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0" y="2651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 interno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sobre um atributo; cada resposta leva a um ramo.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315200" y="3520440"/>
            <a:ext cx="423367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3520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Ramo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resposta possível ao teste do nó.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315200" y="4389120"/>
            <a:ext cx="423367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0" y="4389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mais perguntas: guarda a decisão (a classe mais comum ali).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15200" y="5257800"/>
            <a:ext cx="423367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0" y="5257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  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testes, no máximo, de uma raiz até uma folha.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EXEMPLO · JOGAR TÊNIS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Dados: devo jogar tênis hoje?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8920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075688" y="1783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44368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950208" y="1783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267712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26771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075688" y="226771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944368" y="226771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950208" y="226771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18888" y="226771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660904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66090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075688" y="266090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944368" y="266090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950208" y="266090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18888" y="266090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054096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05409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075688" y="305409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944368" y="30540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950208" y="305409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818888" y="305409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3447288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344728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075688" y="344728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944368" y="344728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950208" y="344728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818888" y="344728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3840480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38404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2075688" y="384048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2944368" y="384048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3950208" y="384048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818888" y="384048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" y="4233672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423367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2075688" y="423367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2944368" y="423367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3950208" y="423367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4818888" y="423367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40080" y="4626864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49808" y="462686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2075688" y="462686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2944368" y="462686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3950208" y="462686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4818888" y="462686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245352" y="1783080"/>
            <a:ext cx="48920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355080" y="1783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7680960" y="1783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8549640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9555480" y="1783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0424160" y="1783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245352" y="2267712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355080" y="226771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7680960" y="226771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8549640" y="226771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9555480" y="226771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424160" y="226771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6245352" y="2660904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355080" y="266090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7680960" y="266090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8549640" y="266090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9555480" y="266090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10424160" y="266090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6245352" y="3054096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355080" y="3054096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7680960" y="305409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8549640" y="3054096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9555480" y="305409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10424160" y="305409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6245352" y="3447288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355080" y="3447288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7680960" y="344728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8549640" y="3447288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9555480" y="344728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83" name="Text 80"/>
          <p:cNvSpPr txBox="1"/>
          <p:nvPr/>
        </p:nvSpPr>
        <p:spPr>
          <a:xfrm>
            <a:off x="10424160" y="344728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6245352" y="3840480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355080" y="38404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  <p:sp>
        <p:nvSpPr>
          <p:cNvPr id="86" name="Text 83"/>
          <p:cNvSpPr txBox="1"/>
          <p:nvPr/>
        </p:nvSpPr>
        <p:spPr>
          <a:xfrm>
            <a:off x="7680960" y="384048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87" name="Text 84"/>
          <p:cNvSpPr txBox="1"/>
          <p:nvPr/>
        </p:nvSpPr>
        <p:spPr>
          <a:xfrm>
            <a:off x="8549640" y="3840480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88" name="Text 85"/>
          <p:cNvSpPr txBox="1"/>
          <p:nvPr/>
        </p:nvSpPr>
        <p:spPr>
          <a:xfrm>
            <a:off x="9555480" y="384048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89" name="Text 86"/>
          <p:cNvSpPr txBox="1"/>
          <p:nvPr/>
        </p:nvSpPr>
        <p:spPr>
          <a:xfrm>
            <a:off x="10424160" y="384048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6245352" y="4233672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355080" y="4233672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7680960" y="423367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200" dirty="0"/>
          </a:p>
        </p:txBody>
      </p:sp>
      <p:sp>
        <p:nvSpPr>
          <p:cNvPr id="93" name="Text 90"/>
          <p:cNvSpPr txBox="1"/>
          <p:nvPr/>
        </p:nvSpPr>
        <p:spPr>
          <a:xfrm>
            <a:off x="8549640" y="4233672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94" name="Text 91"/>
          <p:cNvSpPr txBox="1"/>
          <p:nvPr/>
        </p:nvSpPr>
        <p:spPr>
          <a:xfrm>
            <a:off x="9555480" y="423367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95" name="Text 92"/>
          <p:cNvSpPr txBox="1"/>
          <p:nvPr/>
        </p:nvSpPr>
        <p:spPr>
          <a:xfrm>
            <a:off x="10424160" y="423367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96" name="Shape 93"/>
          <p:cNvSpPr/>
          <p:nvPr/>
        </p:nvSpPr>
        <p:spPr>
          <a:xfrm>
            <a:off x="6245352" y="4626864"/>
            <a:ext cx="4892040" cy="338328"/>
          </a:xfrm>
          <a:prstGeom prst="roundRect">
            <a:avLst>
              <a:gd name="adj" fmla="val 216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355080" y="4626864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7680960" y="462686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ameno</a:t>
            </a:r>
            <a:endParaRPr lang="en-US" sz="1200" dirty="0"/>
          </a:p>
        </p:txBody>
      </p:sp>
      <p:sp>
        <p:nvSpPr>
          <p:cNvPr id="99" name="Text 96"/>
          <p:cNvSpPr txBox="1"/>
          <p:nvPr/>
        </p:nvSpPr>
        <p:spPr>
          <a:xfrm>
            <a:off x="8549640" y="4626864"/>
            <a:ext cx="822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100" name="Text 97"/>
          <p:cNvSpPr txBox="1"/>
          <p:nvPr/>
        </p:nvSpPr>
        <p:spPr>
          <a:xfrm>
            <a:off x="9555480" y="462686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101" name="Text 98"/>
          <p:cNvSpPr txBox="1"/>
          <p:nvPr/>
        </p:nvSpPr>
        <p:spPr>
          <a:xfrm>
            <a:off x="10424160" y="462686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102" name="Shape 99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dias de histórico, 4 atributos categóricos e a decisão tomada (9 “sim” e 5 “não”). Exemplo clássico de Ross Quinlan (ID3, 1986), adaptado e traduzido; os dados são ilustrativos.</a:t>
            </a:r>
            <a:endParaRPr lang="en-US" sz="13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EXEMPLO · JOGAR TÊNIS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pergunta fazer primeiro?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Perguntar tempo?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sim · 3 não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sim · 0 não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sim · 2 não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114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ramo já saiu puro: nublado → sempre sim.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99632" y="178308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3952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Perguntar vento?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577072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sim · 2 não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73952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577072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sim · 3 não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73952" y="4114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ramos continuam misturados.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pergunta = ramos mais “puros” (quase todos da mesma classe). Precisamos de um número que meça a pureza: a entropia.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Entropia: medindo a bagunça de um conjunto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− Σ pᵢ · log₂(pᵢ)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852160" cy="3017520"/>
          </a:xfrm>
          <a:prstGeom prst="roundRect">
            <a:avLst>
              <a:gd name="adj" fmla="val 363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31520" y="315468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675120" y="3108960"/>
            <a:ext cx="4873752" cy="932688"/>
          </a:xfrm>
          <a:prstGeom prst="roundRect">
            <a:avLst>
              <a:gd name="adj" fmla="val 117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3108960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puro: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classe: H = 0. Nenhuma incerteza.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675120" y="4133088"/>
            <a:ext cx="4873752" cy="932688"/>
          </a:xfrm>
          <a:prstGeom prst="roundRect">
            <a:avLst>
              <a:gd name="adj" fmla="val 117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0" y="413308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a meio: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classes igualmente prováveis: H = 1 bit. Incerteza máxima.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75120" y="5157216"/>
            <a:ext cx="4873752" cy="932688"/>
          </a:xfrm>
          <a:prstGeom prst="roundRect">
            <a:avLst>
              <a:gd name="adj" fmla="val 117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0" y="515721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pᵢ: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da classe i no conjunto.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do conjunto do tênis: 9 “sim” e 5 “não”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3892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 · log₂(p)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47888" y="1783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44368" y="23134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9/14 = 0,643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38928" y="231343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0,410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2313432"/>
            <a:ext cx="3227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0,643 × 0,637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953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944368" y="2953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5/14 = 0,357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138928" y="295351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0,530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47888" y="2953512"/>
            <a:ext cx="3227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0,357 × 1,485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8404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H(tênis) = 0,410 + 0,530 = 0,940 bit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640080" y="49834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98348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1 bit: o conjunto está bem misturado (9 contra 5). Depois de cada pergunta, queremos que a entropia dos ramos fique menor. Quanto menor, mais informação a pergunta trouxe.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3455670"/>
          </a:xfrm>
          <a:prstGeom prst="roundRect">
            <a:avLst>
              <a:gd name="adj" fmla="val 31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entropia.py (resumido)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2895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7660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2425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contagens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contagens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26720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0.94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51485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762500"/>
            <a:ext cx="6583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778240" y="17830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214884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quantos há de cada classe.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3816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381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0" y="3063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log2(c / n)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778240" y="34290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 na base 2: resultado em bits.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3816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381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3434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470916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imprimir “-0.0” quando o conjunto é puro.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 de informação: quanto a pergunta ajuda?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Ganho(A) = H(conjunto) − Σ (nᵥ / n) · H(ramo v)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antes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H(conjunto): a bagunça sem fazer a pergunta (0,940 no tênis).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7972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depois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entropias dos ramos, ponderada pelo tamanho de cada ramo.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diferença: quanto a incerteza diminuiu. Escolhemos o atributo de maior ganho.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Calculando o ganho do atributo “tempo”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tempo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5604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· não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3348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62288" y="17830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23134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33488" y="23134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0,971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62288" y="2313432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5/14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28803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956048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33488" y="28803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88036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4/14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127248" y="34472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956048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2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33488" y="34472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0,971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62288" y="344728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5/14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" y="411480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Entropia depois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4617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(5/14)·0,971 + (4/14)·0 + (5/14)·0,971 = 0,693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199632" y="411480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73952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Ganho(tempo)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73952" y="4617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0,940 − 0,693 = 0,247 bit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ramo “nublado” é puro (entropia 0) e pesa pouco no resto: por isso o ganho é grande.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todos os atributos na raiz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0,247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0,152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umidade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0,048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vento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006840" y="178308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6840" y="1892808"/>
            <a:ext cx="2542032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0,029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3044952"/>
            <a:ext cx="2267712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temperatura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“tempo” vence com 0,247 bit e vira a raiz. A “temperatura”, que parece importante, quase não ajuda (0,029): o algoritmo descobre isso sozinho, só olhando os dados. Os números vêm do código a seguir.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 de informação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62179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"ganho({nome}) = {ganho(DADOS, i):.3f}"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16952" y="17830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2860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ganho(tempo) = 0.247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25146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ganho(temperatura) = 0.029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91272" y="27432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ganho(umidade) = 0.152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891272" y="29718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ganho(vento) = 0.048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219700"/>
            <a:ext cx="10911535" cy="906780"/>
          </a:xfrm>
          <a:prstGeom prst="roundRect">
            <a:avLst>
              <a:gd name="adj" fmla="val 1210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219700"/>
            <a:ext cx="10362895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dado é uma tupla (tempo, temperatura, umidade, vento, jogar): d[-1] é o rótulo e d[i] é o valor do atributo i. Os números batem com as contas feitas à mão.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Gini: a outra medida de impureza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= 1 − Σ pᵢ²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908792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3108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5604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45168" y="310896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593592"/>
            <a:ext cx="10908792" cy="384048"/>
          </a:xfrm>
          <a:prstGeom prst="roundRect">
            <a:avLst>
              <a:gd name="adj" fmla="val 1904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5935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classe (14 / 0)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3593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50608" y="3593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45168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032504"/>
            <a:ext cx="10908792" cy="384048"/>
          </a:xfrm>
          <a:prstGeom prst="roundRect">
            <a:avLst>
              <a:gd name="adj" fmla="val 19048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0325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sim · 5 não (tênis)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956048" y="40325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0,940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150608" y="40325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0,459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345168" y="403250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misturado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471416"/>
            <a:ext cx="10908792" cy="384048"/>
          </a:xfrm>
          <a:prstGeom prst="roundRect">
            <a:avLst>
              <a:gd name="adj" fmla="val 1904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4714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7 (meio a meio)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956048" y="4471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150608" y="4471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0,500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345168" y="447141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pior caso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49834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98348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e entropia concordam em quase tudo e levam a árvores muito parecidas. O scikit-learn usa Gini por padrão (criterion="gini"); troque por "entropy" para usar o ganho de informação. Gini é um pouco mais barato de calcular.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ID3: construir a árvore recursivamente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da mesma classe?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folha com essa classe. Caso base.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Acabaram os atributos?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folha com a classe mais comum. Caso base.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67912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melhor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4622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de maior ganho de informação vira o teste.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9632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e repetir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4622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ramo por valor; aplica o mesmo algoritmo a cada subconjunto, sem aquele atributo.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recursão da aula 05: a árvore é definida em termos de árvores menores. Algoritmo guloso: escolhe o melhor agora, sem voltar atrás.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 em Python (1/3): os casos base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dados_tenis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most_common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len(set(rotulos)) == 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classe: devolve o rótulo (folha pura).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0632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atributos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mais a perguntar: devolve a classe mais comum.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3434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7091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= uma string; nó = uma tupla (veja a seguir).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 em Python (2/3): escolher e dividir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58952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26720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14850"/>
            <a:ext cx="70408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max(..., key=valor)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2148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 maior ganho.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4124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306324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galhos[valor]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052560" y="342900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ramo por valor, com a subárvore.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4124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052560" y="43434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id3(sub, resto)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470916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 sem o atributo usado.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0080" y="5219700"/>
            <a:ext cx="7589520" cy="906780"/>
          </a:xfrm>
          <a:prstGeom prst="roundRect">
            <a:avLst>
              <a:gd name="adj" fmla="val 1210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5219700"/>
            <a:ext cx="704088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é uma tupla (atributo, {valor: subárvore}) ou, nas folhas, o rótulo. Estrutura recursiva, como as expressões da aula 05.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 árvore, ramo por ramo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035808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atributo (ganho)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2764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253728" y="1783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(14 dias)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035808" y="231343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(0,247)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27648" y="23134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ramos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253728" y="231343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2971800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9718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 (5)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35808" y="29718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 (0,971)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27648" y="29718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→ não · normal → sim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53728" y="2971800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630168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6301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 (4)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035808" y="36301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327648" y="36301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“sim”: folha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253728" y="3630168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2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2885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 (5)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035808" y="42885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 (0,971)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42885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→ não · fraco → sim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253728" y="4288536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3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“ensolarado”, o ganho de umidade é 0,971 (separa tudo), contra 0,571 de temperatura e 0,020 de vento. Dentro de “chuvoso”, vento separa tudo (0,971); os outros dão 0,020.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RESULTADO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aprendida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099048" y="233172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17520" y="2766060"/>
            <a:ext cx="61264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17520" y="27660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9048" y="27660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0" y="27660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0" y="370332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0" y="4137660"/>
            <a:ext cx="237744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0" y="41376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41376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0" y="370332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4137660"/>
            <a:ext cx="237744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41376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32720" y="4137660"/>
            <a:ext cx="0" cy="43434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30368" y="1828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30368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148840" y="3200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488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umidade?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230368" y="3200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30368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75320" y="3200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vento?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6012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012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33756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3756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08660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8660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46404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46404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423160" y="28117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ensolarado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172200" y="28117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nublado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961120" y="28117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chuvoso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901952" y="4183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9392" y="4183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028432" y="4183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405872" y="4183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" y="539496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3 atributos foram usados. A temperatura não aparece: a árvore a considerou irrelevante.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 em Python (3/3): usar a árvore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id3.py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galhos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"ensolarado"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"temperatura"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"frio"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"umidade"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"vento"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"forte"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5212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11112" y="178308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mostrar(arvore): 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286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= chuvoso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2514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vento = forte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27432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nao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85432" y="29718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vento = fraco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885432" y="32004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sim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85432" y="3429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= ensolarado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885432" y="3657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umidade = alta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885432" y="38862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nao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885432" y="41148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umidade = normal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885432" y="43434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sim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885432" y="4572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= nublado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885432" y="4800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sim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0080" y="544068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5440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desce pela árvore até chegar a uma folha (que não é tupla).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LENDO O RESULTADO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caminho da raiz a uma folha é uma regra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7830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tempo = nublado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17830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jogar = sim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532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tempo = ensolarado E umidade = normal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5328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jogar = sim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282696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37413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28269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tempo = ensolarado E umidade = alta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32826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jogar = não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4032504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12394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403250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tempo = chuvoso E vento = fraco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955280" y="403250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jogar = sim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4782312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87375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508760" y="47823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tempo = chuvoso E vento = forte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955280" y="4782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jogar = não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as regras SE-ENTÃO da aula 06, só que descobertas dos dados e sem conflito: cada exemplo cai em uma única folha.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· 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Acertou 14 de 14: bom sinal ou decorou?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vimos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acerta todos os 14 dias de treino. Nenhum erro.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alerta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no treino não prova nada (aula 09). Com 14 exemplos, a árvore pode ter decorado detalhes.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que falta ao ID3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lê atributos categóricos, não poda e não trata dados faltantes. O CART (scikit-learn) cobre isso.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próximos slides passamos para o scikit-learn: atributos numéricos, divisão treino/teste, poda e visualização. A lógica é a mesma que construímos à mão.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NUMÉRICOS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numéricos: onde cortar?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os valores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146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os valores do atributo (por exemplo, o comprimento da pétala).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 corte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5146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médios entre valores vizinhos de classes diferentes.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502152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8503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685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cada corte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2336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ganho (ou Gini) de “valor ≤ corte” e fique com o melhor.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9632" y="3502152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368503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3685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 nos filhos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2336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ramo faz de novo a busca, com seus dados.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Iris, a maior pétala de uma setosa mede 1,9 cm e a menor de uma versicolor, 3,0 cm. O ponto médio, 2,45, é o corte que você verá na raiz da árvore.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DecisionTreeClassifier no Iris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703320"/>
          </a:xfrm>
          <a:prstGeom prst="roundRect">
            <a:avLst>
              <a:gd name="adj" fmla="val 296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arvore_iris.py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model_selection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export_text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43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72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800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"treino:"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29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49040" cy="1226820"/>
          </a:xfrm>
          <a:prstGeom prst="roundRect">
            <a:avLst>
              <a:gd name="adj" fmla="val 894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28600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treino: 0.981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533650"/>
            <a:ext cx="3200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: 0.978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799832" y="3246120"/>
            <a:ext cx="3749040" cy="2880360"/>
          </a:xfrm>
          <a:prstGeom prst="roundRect">
            <a:avLst>
              <a:gd name="adj" fmla="val 381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01000" y="32461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 limita a árvore a 3 níveis de perguntas. Treino e teste quase iguais (0,981 e 0,978): sem sinal de decorar. A divisão é a mesma da aula 09.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a árvore em texto: export_text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846320" cy="1722120"/>
          </a:xfrm>
          <a:prstGeom prst="roundRect">
            <a:avLst>
              <a:gd name="adj" fmla="val 637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arvore_iris.py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"sepala_c"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"sepala_l"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"petala_c"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"petala_l"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export_text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4297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96712" y="1783080"/>
            <a:ext cx="5852160" cy="3455670"/>
          </a:xfrm>
          <a:prstGeom prst="roundRect">
            <a:avLst>
              <a:gd name="adj" fmla="val 31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90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02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11112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71032" y="22860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 petala_c &lt;= 2.45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971032" y="24955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|--- class: 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71032" y="27051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 petala_c &gt;  2.45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971032" y="29146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|--- petala_l &lt;= 1.55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71032" y="31242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|--- petala_c &lt;= 4.95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71032" y="33337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   |--- class: 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971032" y="35433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|--- petala_c &gt;  4.95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971032" y="37528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   |--- class: 2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971032" y="39624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|--- petala_l &gt;  1.55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971032" y="41719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|--- petala_l &lt;= 1.70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971032" y="43815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   |--- class: 1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971032" y="45910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|--- petala_l &gt;  1.70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971032" y="48006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   |--- class: 2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384048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" y="38404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0 = setosa, 1 = versicolor, 2 = virginica. A primeira regra isola as setosas: pétala ≤ 2,45 cm. O resto continua com a largura da pétala (1,55 e 1,70) e o comprimento (4,95).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Desenhando a árvore: plot_tree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2237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C:\Users\daniel\AppData\Local\Temp\claude\C--Users-daniel-Documents\60c841d3-e138-44c2-bcbf-3ebaf6046bb6\scratchpad/code10/arvore_i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7132320" cy="399409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46720" y="178308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4788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44905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5022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61120" y="190195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plot_tree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22860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plot_tree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25146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27432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29718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321040" y="32004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3429000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3977640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0" y="397764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caixa mostra o teste, o gini, o número de amostras, a contagem por classe e a classe prevista. A cor indica a classe dominante.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uma caixa da árvore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petala_c &lt;= 2.45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4871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0.667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0540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 = 105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6210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[35, 35, 35]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187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= setosa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669280" y="1783080"/>
            <a:ext cx="587959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17830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pergunta. Verdadeiro: ramo da esquerda. Falso: da direita.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0" y="2651760"/>
            <a:ext cx="587959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26517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Impureza deste nó. 0,667 é o máximo para 3 classes iguais (1 − 3 × (1/3)²).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0" y="3520440"/>
            <a:ext cx="587959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3520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exemplos de treino chegaram até aqui (a raiz tem os 105).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0" y="4389120"/>
            <a:ext cx="587959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43891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de cada classe: aqui 35 de cada, a mistura máxima.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669280" y="5257800"/>
            <a:ext cx="5879592" cy="777240"/>
          </a:xfrm>
          <a:prstGeom prst="roundRect">
            <a:avLst>
              <a:gd name="adj" fmla="val 1411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0" y="52578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</a:t>
            </a:r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mais comum: a previsão se a árvore parasse aqui.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34924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da raiz da árvore anterior.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TAMANHO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árvore sem limites decora 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304288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9300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6460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313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313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0.927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64608" y="2313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7706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770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304288" y="27706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493008" y="2770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64608" y="2770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2278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227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304288" y="32278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3227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864608" y="3227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36850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36850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304288" y="36850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493008" y="3685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864608" y="3685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41422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142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4142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493008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864608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0.930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5994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45994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2304288" y="4599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493008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4864608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0.918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40080" y="5056632"/>
            <a:ext cx="548640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49808" y="5056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limite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2304288" y="50566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3493008" y="5056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4864608" y="5056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0.918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132320" y="1783080"/>
            <a:ext cx="4416552" cy="3611880"/>
          </a:xfrm>
          <a:prstGeom prst="roundRect">
            <a:avLst>
              <a:gd name="adj" fmla="val 30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47" name="Chart 0" descr=""/>
          <p:cNvGraphicFramePr/>
          <p:nvPr/>
        </p:nvGraphicFramePr>
        <p:xfrm>
          <a:off x="7178040" y="1828800"/>
          <a:ext cx="432511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8" name="Shape 44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Câncer de mama. O treino chega a 1,000, o teste fica em ~0,92: a árvore profunda decorou.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TAMANHO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Varrendo a profundidade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68096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profundidade.py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132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get_n_leaves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5953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95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178308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max_depth=None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2148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limite: cresce até as folhas ficarem puras.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59536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2971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get_n_leaves()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0" y="33375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as folhas: o tamanho da árvore.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572000"/>
            <a:ext cx="7680960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5720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treino e teste é o sinal de alerta da aula 09. O teste melhora até a profundidade 5 e depois cai um pouco. Mas com um só teste de 171 casos, diferenças de 0,01 são ruído: confirme com validação cruzada.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TAMANHO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Poda: deixar a árvore mais simples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Pré-poda: parar cedo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limita os níveis; min_samples_leaf exige um mínimo de exemplos por folha; min_samples_split, por divisão.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Pós-poda: cortar depois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a árvore inteira e remove galhos que pouco ajudam. No scikit-learn, ccp_alpha controla (poda de custo-complexidade).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hiperparâmetros (aula 09): teste combinações por validação cruzada, só no treino.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menores generalizam melhor e são mais fáceis de ler. Troque um pouco de acerto no treino por simplicidade: é o princípio da navalha de Occam.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TAMANHO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a poda por validação cruzada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017520"/>
          </a:xfrm>
          <a:prstGeom prst="roundRect">
            <a:avLst>
              <a:gd name="adj" fmla="val 36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poda.py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n_splits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432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576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 limite        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"max_depth=3       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148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"min_samples_leaf=10:"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434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"ccp_alpha=0.01    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ccp_alpha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16952" y="17830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266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16952" y="231343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26680" y="23134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limite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287000" y="23134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16952" y="286207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26680" y="2862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287000" y="28620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16952" y="341071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26680" y="34107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min_samples_leaf=10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287000" y="341071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0.909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16952" y="395935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26680" y="39593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ccp_alpha=0.01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0" y="395935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0.909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a profundidade a 3 deu a melhor nota (0,924 contra 0,910). As outras podas ficaram iguais à árvore completa neste conjunto: nem toda poda ajuda, e as diferenças são pequenas. Teste, não presuma.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dos atributos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importancia.py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feature_importances_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576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"{nome:25} {imp:.3f}"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16952" y="17830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2668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3784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16952" y="231343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26680" y="2313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radius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378440" y="231343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16952" y="286207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26680" y="286207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concave points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378440" y="286207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616952" y="341071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26680" y="34107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texture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378440" y="341071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616952" y="395935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26680" y="39593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concave points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378440" y="395935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0.035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soma 1 e mede quanto cada atributo reduziu a impureza ao longo da árvore. Aqui, um único atributo (worst radius) responde por 76%. Cuidado: atributos correlacionados dividem ou escondem a importância, e ela vale para este modelo, não é uma verdade causal.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são instáveis: mudam com 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12648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instabilidade.py (resumido)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tree_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57600"/>
            <a:ext cx="5577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tree_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76872" y="17830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da raiz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3784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76872" y="2313432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86600" y="231343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2313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area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378440" y="23134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868,20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76872" y="2788920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86600" y="27889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27889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concave points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378440" y="27889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76872" y="3264408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86600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32644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radius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37844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16,80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976872" y="3739896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86600" y="37398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092440" y="37398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radius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378440" y="37398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16,80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976872" y="4215384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86600" y="42153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092440" y="42153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radius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378440" y="42153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16,80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976872" y="4690872"/>
            <a:ext cx="457200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086600" y="46908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46908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perimeter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0378440" y="46908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105,95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80% dos dados sorteados, a raiz muda de atributo em 4 das 6 rodadas. Os atributos são parecidos (área, raio e perímetro), mas a árvore se reorganiza. Por isso conclusões sobre “o atributo mais importante” pedem cautela.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também prevêem números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estrutura. A folha guarda a média dos valores de y dos exemplos que chegaram nela.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corte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entropia, minimiza o erro quadrático dentro dos ramos (a variância).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em degraus: constante dentro de cada folha.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676656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43434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43434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43434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427939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regressao_arvore.py (imports omitidos)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6344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87299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ravel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08254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DecisionTreeRegressor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29209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501640"/>
            <a:ext cx="62179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16952" y="41605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2668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(R² no treino)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10412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16952" y="4690872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26680" y="46908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árvore, 8 folhas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4690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16952" y="5148072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26680" y="51480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 (aula 03)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104120" y="5148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UMA ÁRVORE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Floresta aleatória: muitas árvores votando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Amostras sorteadas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árvore treina com uma amostra aleatória dos dados (com reposição, o bootstrap).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sorteados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divisão, só um subconjunto aleatório de atributos é considerado.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prevista é a mais votada entre as árvores: a média cancela os erros individuais.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17720"/>
            <a:ext cx="6583680" cy="1493520"/>
          </a:xfrm>
          <a:prstGeom prst="roundRect">
            <a:avLst>
              <a:gd name="adj" fmla="val 734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41248" y="48006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42416" y="48006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243584" y="48006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554480" y="473659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floresta.py (resumido)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5120640"/>
            <a:ext cx="60350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"arvore unica"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311140"/>
            <a:ext cx="60350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"floresta 100"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501640"/>
            <a:ext cx="60350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" y="5692140"/>
            <a:ext cx="60350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"{nome:13} {notas.mean():.3f} +- {notas.std():.3f}"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434072" y="461772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543800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982980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(5 dobras)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434072" y="5102352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543800" y="51023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única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829800" y="5102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0.910 ± 0.028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434072" y="5468112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543800" y="5468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de 100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9829800" y="5468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0.956 ± 0.012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UMA ÁRVORE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floresta ganha precisão e perde legibilidade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aleatória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 mais instável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 mais estável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880360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Lê-se de ponta a ponta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árvores: difícil de explicar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447288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sem poda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menor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014216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previsão baratos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vezes mais (paralelizável)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581144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5811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regra precisa ser vista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importa o desempenho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33095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ainda o gradient boosting (como XGBoost e LightGBM), árvores treinadas em sequência. Não vemos hoje, mas é muito usado em dados tabulares.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CATEGÓRICOS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 no scikit-learn: transformar em colunas 0/1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"jogar"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get_dummies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"jogar"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"treino:"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42632" y="1783080"/>
            <a:ext cx="420624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2" y="228600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[tempo_chuvoso, tempo_ensolarado,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2" y="249555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tempo_nublado, temperatura_ameno,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2" y="270510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temperatura_frio] (14, 10)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616952" y="2914650"/>
            <a:ext cx="365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treino: 1.0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scikit-learn só aceita números. get_dummies (one-hot) cria uma coluna 0/1 para cada categoria: “tempo = nublado” vira a coluna tempo_nublado. As 4 colunas viram 10, e a árvore faz testes do tipo “tempo_nublado ≤ 0,5”. Como é feito antes da divisão, em projetos reais use o pré-processamento dentro do pipeline.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as árvores brilham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e risco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negar com regras que podem ser auditadas e explicadas ao cliente.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e saúde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Fluxogramas de decisão que o profissional consegue conferir (sempre com supervisão).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 e marketing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mais chance de cancelar, comprar ou responder a uma oferta.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manutenção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condições levam a defeitos ou falhas: regras claras para a operação.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40080" y="5760720"/>
            <a:ext cx="10911535" cy="411480"/>
          </a:xfrm>
          <a:prstGeom prst="roundRect">
            <a:avLst>
              <a:gd name="adj" fmla="val 2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7607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típicos de uso, em linhas gerais: cada caso exige validação própria e atenção a viés.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× regras × regressão logística × k-NN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035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23036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(06)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2492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28048" y="17830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vem de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035808" y="23134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30368" y="23134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24928" y="23134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28048" y="231343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95351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035808" y="2953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(pequena)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2953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24928" y="29535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(pesos)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48" y="295351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59359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5935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escala?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035808" y="35935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30368" y="35935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424928" y="35935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528048" y="359359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23367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23367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categóricos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035808" y="423367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(após one-hot)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230368" y="423367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424928" y="42336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one-hot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528048" y="423367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one-hot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não exigem escala nem relações lineares, e lidam bem com mistura de atributos. Na aula 09, a regressão logística bateu a árvore no câncer (0,974 contra 0,910): o melhor modelo depende dos dados.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sem limite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1,000 e teste bem menor. Limite a profundidade ou o tamanho da folha.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pelo teste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max_depth e a poda com validação cruzada no treino, não olhando o teste.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importância como causa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mede o uso no modelo, não causa. Atributos correlacionados confundem.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Confiar em uma só árvore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mudanças nos dados reorganizam a árvore. Valide em várias divisões.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Impureza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à mão (ou com entropia e gini) a impureza de um conjunto com 14 exemplos da mesma classe e de um com 7 e 7.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 no ramo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ramo “ensolarado” do tênis, calcule o ganho dos três atributos restantes. Qual vence?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9776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load_wine e cross_val_score, compare árvores de profundidade 1, 2, 3 e sem limite.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à mão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5074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árvore aprendida: chuvoso, ameno, normal, forte. Qual a previsão? Confira com prever().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entropia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383280"/>
            <a:ext cx="5852160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puro: impureza 0. Meio a meio: entropia 1 bit e Gini 0,5, os máximos para duas classes.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2860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"ensolarado"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4955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7051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9146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temperatura 0.571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31242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umidade 0.971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33337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vento 0.02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11112" y="3954780"/>
            <a:ext cx="4937760" cy="2171700"/>
          </a:xfrm>
          <a:prstGeom prst="roundRect">
            <a:avLst>
              <a:gd name="adj" fmla="val 505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3954780"/>
            <a:ext cx="443484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umidade vence (0,971): separa os 5 dias ensolarados sem erro, como na árvore.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load_wine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0.646  2 0.821  3 0.893  None 0.888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745230"/>
            <a:ext cx="5852160" cy="2381250"/>
          </a:xfrm>
          <a:prstGeom prst="roundRect">
            <a:avLst>
              <a:gd name="adj" fmla="val 460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745230"/>
            <a:ext cx="530352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3 foi a melhor (0,893) e sem limite caiu um pouco (0,888). O padrão é o mesmo do câncer: mais profundidade não ajuda.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1360170"/>
          </a:xfrm>
          <a:prstGeom prst="roundRect">
            <a:avLst>
              <a:gd name="adj" fmla="val 80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2860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"chuvoso"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"temperatura"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"ameno"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4955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"umidade"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"normal"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"vento"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"forte"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7051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11112" y="3326130"/>
            <a:ext cx="4937760" cy="2800350"/>
          </a:xfrm>
          <a:prstGeom prst="roundRect">
            <a:avLst>
              <a:gd name="adj" fmla="val 391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3326130"/>
            <a:ext cx="4434840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chuvoso leva ao teste de vento, e vento forte dá “não”. A umidade e a temperatura nem são consultadas.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10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aprendem testes SE-ENTÃO escolhendo o que mais reduz a impureza.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e Gini medem a bagunça; ganho de informação escolhe a pergunta.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limite, a árvore decora: controle com poda e valide com dobras.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é legível, mas instável; uma floresta é mais precisa, menos legível.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artificiais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e reconhecimento de padrões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desenhe com plot_tree a árvore do conjunto wine. Na aula 11, as redes neurais: a derivada da aula 03 vira o motor do aprendizado.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10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10 - Árvores de decisão</dc:title>
  <dc:subject>PptxGenJS Presentation</dc:subject>
  <dc:creator>Inteligência Artificial</dc:creator>
  <cp:lastModifiedBy>Inteligência Artificial</cp:lastModifiedBy>
  <cp:revision>1</cp:revision>
  <dcterms:created xsi:type="dcterms:W3CDTF">2026-10-08T12:42:00Z</dcterms:created>
  <dcterms:modified xsi:type="dcterms:W3CDTF">2026-10-08T12:42:00Z</dcterms:modified>
</cp:coreProperties>
</file>