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8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9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10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 = x²</c:v>
                </c:pt>
              </c:strCache>
            </c:strRef>
          </c:tx>
          <c:spPr>
            <a:solidFill>
              <a:srgbClr val="1B4332"/>
            </a:solidFill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  <c:pt idx="9">
                  <c:v>1.25</c:v>
                </c:pt>
                <c:pt idx="10">
                  <c:v>1.5</c:v>
                </c:pt>
                <c:pt idx="11">
                  <c:v>1.75</c:v>
                </c:pt>
                <c:pt idx="12">
                  <c:v>2</c:v>
                </c:pt>
                <c:pt idx="13">
                  <c:v>2.25</c:v>
                </c:pt>
                <c:pt idx="14">
                  <c:v>2.5</c:v>
                </c:pt>
                <c:pt idx="15">
                  <c:v>2.75</c:v>
                </c:pt>
                <c:pt idx="16">
                  <c:v>3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</c:v>
                </c:pt>
                <c:pt idx="1">
                  <c:v>0.5625</c:v>
                </c:pt>
                <c:pt idx="2">
                  <c:v>0.25</c:v>
                </c:pt>
                <c:pt idx="3">
                  <c:v>0.0625</c:v>
                </c:pt>
                <c:pt idx="4">
                  <c:v>0</c:v>
                </c:pt>
                <c:pt idx="5">
                  <c:v>0.0625</c:v>
                </c:pt>
                <c:pt idx="6">
                  <c:v>0.25</c:v>
                </c:pt>
                <c:pt idx="7">
                  <c:v>0.5625</c:v>
                </c:pt>
                <c:pt idx="8">
                  <c:v>1</c:v>
                </c:pt>
                <c:pt idx="9">
                  <c:v>1.5625</c:v>
                </c:pt>
                <c:pt idx="10">
                  <c:v>2.25</c:v>
                </c:pt>
                <c:pt idx="11">
                  <c:v>3.0625</c:v>
                </c:pt>
                <c:pt idx="12">
                  <c:v>4</c:v>
                </c:pt>
                <c:pt idx="13">
                  <c:v>5.0625</c:v>
                </c:pt>
                <c:pt idx="14">
                  <c:v>6.25</c:v>
                </c:pt>
                <c:pt idx="15">
                  <c:v>7.5625</c:v>
                </c:pt>
                <c:pt idx="16">
                  <c:v>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secante (1 a 2)</c:v>
                </c:pt>
              </c:strCache>
            </c:strRef>
          </c:tx>
          <c:spPr>
            <a:solidFill>
              <a:srgbClr val="D6336C"/>
            </a:solidFill>
            <a:ln w="31750" cap="flat">
              <a:solidFill>
                <a:srgbClr val="D6336C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  <c:pt idx="9">
                  <c:v>1.25</c:v>
                </c:pt>
                <c:pt idx="10">
                  <c:v>1.5</c:v>
                </c:pt>
                <c:pt idx="11">
                  <c:v>1.75</c:v>
                </c:pt>
                <c:pt idx="12">
                  <c:v>2</c:v>
                </c:pt>
                <c:pt idx="13">
                  <c:v>2.25</c:v>
                </c:pt>
                <c:pt idx="14">
                  <c:v>2.5</c:v>
                </c:pt>
                <c:pt idx="15">
                  <c:v>2.75</c:v>
                </c:pt>
                <c:pt idx="16">
                  <c:v>3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  <c:pt idx="0">
                  <c:v>-5</c:v>
                </c:pt>
                <c:pt idx="1">
                  <c:v>-4.25</c:v>
                </c:pt>
                <c:pt idx="2">
                  <c:v>-3.5</c:v>
                </c:pt>
                <c:pt idx="3">
                  <c:v>-2.75</c:v>
                </c:pt>
                <c:pt idx="4">
                  <c:v>-2</c:v>
                </c:pt>
                <c:pt idx="5">
                  <c:v>-1.25</c:v>
                </c:pt>
                <c:pt idx="6">
                  <c:v>-0.5</c:v>
                </c:pt>
                <c:pt idx="7">
                  <c:v>0.25</c:v>
                </c:pt>
                <c:pt idx="8">
                  <c:v>1</c:v>
                </c:pt>
                <c:pt idx="9">
                  <c:v>1.75</c:v>
                </c:pt>
                <c:pt idx="10">
                  <c:v>2.5</c:v>
                </c:pt>
                <c:pt idx="11">
                  <c:v>3.25</c:v>
                </c:pt>
                <c:pt idx="12">
                  <c:v>4</c:v>
                </c:pt>
                <c:pt idx="13">
                  <c:v>4.75</c:v>
                </c:pt>
                <c:pt idx="14">
                  <c:v>5.5</c:v>
                </c:pt>
                <c:pt idx="15">
                  <c:v>6.25</c:v>
                </c:pt>
                <c:pt idx="16">
                  <c:v>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tangente em x = 1</c:v>
                </c:pt>
              </c:strCache>
            </c:strRef>
          </c:tx>
          <c:spPr>
            <a:solidFill>
              <a:srgbClr val="FF7A2F"/>
            </a:solidFill>
            <a:ln w="31750" cap="flat">
              <a:solidFill>
                <a:srgbClr val="FF7A2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  <c:pt idx="9">
                  <c:v>1.25</c:v>
                </c:pt>
                <c:pt idx="10">
                  <c:v>1.5</c:v>
                </c:pt>
                <c:pt idx="11">
                  <c:v>1.75</c:v>
                </c:pt>
                <c:pt idx="12">
                  <c:v>2</c:v>
                </c:pt>
                <c:pt idx="13">
                  <c:v>2.25</c:v>
                </c:pt>
                <c:pt idx="14">
                  <c:v>2.5</c:v>
                </c:pt>
                <c:pt idx="15">
                  <c:v>2.75</c:v>
                </c:pt>
                <c:pt idx="16">
                  <c:v>3</c:v>
                </c:pt>
              </c:numCache>
            </c:numRef>
          </c:xVal>
          <c:yVal>
            <c:numRef>
              <c:f>Sheet1!$D$2:$D$18</c:f>
              <c:numCache>
                <c:formatCode>General</c:formatCode>
                <c:ptCount val="17"/>
                <c:pt idx="0">
                  <c:v>-3</c:v>
                </c:pt>
                <c:pt idx="1">
                  <c:v>-2.5</c:v>
                </c:pt>
                <c:pt idx="2">
                  <c:v>-2</c:v>
                </c:pt>
                <c:pt idx="3">
                  <c:v>-1.5</c:v>
                </c:pt>
                <c:pt idx="4">
                  <c:v>-1</c:v>
                </c:pt>
                <c:pt idx="5">
                  <c:v>-0.5</c:v>
                </c:pt>
                <c:pt idx="6">
                  <c:v>0</c:v>
                </c:pt>
                <c:pt idx="7">
                  <c:v>0.5</c:v>
                </c:pt>
                <c:pt idx="8">
                  <c:v>1</c:v>
                </c:pt>
                <c:pt idx="9">
                  <c:v>1.5</c:v>
                </c:pt>
                <c:pt idx="10">
                  <c:v>2</c:v>
                </c:pt>
                <c:pt idx="11">
                  <c:v>2.5</c:v>
                </c:pt>
                <c:pt idx="12">
                  <c:v>3</c:v>
                </c:pt>
                <c:pt idx="13">
                  <c:v>3.5</c:v>
                </c:pt>
                <c:pt idx="14">
                  <c:v>4</c:v>
                </c:pt>
                <c:pt idx="15">
                  <c:v>4.5</c:v>
                </c:pt>
                <c:pt idx="16">
                  <c:v>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9"/>
          <c:min val="-2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f(x) = (x − 3)² + 2: mínimo em x = 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-1.0</c:v>
                  </c:pt>
                  <c:pt idx="1">
                    <c:v>-0.5</c:v>
                  </c:pt>
                  <c:pt idx="2">
                    <c:v>0.0</c:v>
                  </c:pt>
                  <c:pt idx="3">
                    <c:v>0.5</c:v>
                  </c:pt>
                  <c:pt idx="4">
                    <c:v>1.0</c:v>
                  </c:pt>
                  <c:pt idx="5">
                    <c:v>1.5</c:v>
                  </c:pt>
                  <c:pt idx="6">
                    <c:v>2.0</c:v>
                  </c:pt>
                  <c:pt idx="7">
                    <c:v>2.5</c:v>
                  </c:pt>
                  <c:pt idx="8">
                    <c:v>3.0</c:v>
                  </c:pt>
                  <c:pt idx="9">
                    <c:v>3.5</c:v>
                  </c:pt>
                  <c:pt idx="10">
                    <c:v>4.0</c:v>
                  </c:pt>
                  <c:pt idx="11">
                    <c:v>4.5</c:v>
                  </c:pt>
                  <c:pt idx="12">
                    <c:v>5.0</c:v>
                  </c:pt>
                  <c:pt idx="13">
                    <c:v>5.5</c:v>
                  </c:pt>
                  <c:pt idx="14">
                    <c:v>6.0</c:v>
                  </c:pt>
                  <c:pt idx="15">
                    <c:v>6.5</c:v>
                  </c:pt>
                  <c:pt idx="16">
                    <c:v>7.0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18</c:v>
                </c:pt>
                <c:pt idx="1">
                  <c:v>14.25</c:v>
                </c:pt>
                <c:pt idx="2">
                  <c:v>11</c:v>
                </c:pt>
                <c:pt idx="3">
                  <c:v>8.25</c:v>
                </c:pt>
                <c:pt idx="4">
                  <c:v>6</c:v>
                </c:pt>
                <c:pt idx="5">
                  <c:v>4.25</c:v>
                </c:pt>
                <c:pt idx="6">
                  <c:v>3</c:v>
                </c:pt>
                <c:pt idx="7">
                  <c:v>2.25</c:v>
                </c:pt>
                <c:pt idx="8">
                  <c:v>2</c:v>
                </c:pt>
                <c:pt idx="9">
                  <c:v>2.25</c:v>
                </c:pt>
                <c:pt idx="10">
                  <c:v>3</c:v>
                </c:pt>
                <c:pt idx="11">
                  <c:v>4.25</c:v>
                </c:pt>
                <c:pt idx="12">
                  <c:v>6</c:v>
                </c:pt>
                <c:pt idx="13">
                  <c:v>8.25</c:v>
                </c:pt>
                <c:pt idx="14">
                  <c:v>11</c:v>
                </c:pt>
                <c:pt idx="15">
                  <c:v>14.25</c:v>
                </c:pt>
                <c:pt idx="16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f(x) a cada passo (0 = ponto inicial)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</c:v>
                </c:pt>
                <c:pt idx="1">
                  <c:v>7.76</c:v>
                </c:pt>
                <c:pt idx="2">
                  <c:v>5.6864</c:v>
                </c:pt>
                <c:pt idx="3">
                  <c:v>4.3593</c:v>
                </c:pt>
                <c:pt idx="4">
                  <c:v>3.5099</c:v>
                </c:pt>
                <c:pt idx="5">
                  <c:v>2.9664</c:v>
                </c:pt>
                <c:pt idx="6">
                  <c:v>2.6185</c:v>
                </c:pt>
                <c:pt idx="7">
                  <c:v>2.3958</c:v>
                </c:pt>
                <c:pt idx="8">
                  <c:v>2.2533</c:v>
                </c:pt>
                <c:pt idx="9">
                  <c:v>2.1621</c:v>
                </c:pt>
                <c:pt idx="10">
                  <c:v>2.1038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f(x) = x⁴ − 3x² + x tem dois vales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-2.2</c:v>
                  </c:pt>
                  <c:pt idx="1">
                    <c:v>-1.8</c:v>
                  </c:pt>
                  <c:pt idx="2">
                    <c:v>-1.4</c:v>
                  </c:pt>
                  <c:pt idx="3">
                    <c:v>-1.0</c:v>
                  </c:pt>
                  <c:pt idx="4">
                    <c:v>-0.6</c:v>
                  </c:pt>
                  <c:pt idx="5">
                    <c:v>-0.2</c:v>
                  </c:pt>
                  <c:pt idx="6">
                    <c:v>0.2</c:v>
                  </c:pt>
                  <c:pt idx="7">
                    <c:v>0.6</c:v>
                  </c:pt>
                  <c:pt idx="8">
                    <c:v>1.0</c:v>
                  </c:pt>
                  <c:pt idx="9">
                    <c:v>1.4</c:v>
                  </c:pt>
                  <c:pt idx="10">
                    <c:v>1.8</c:v>
                  </c:pt>
                  <c:pt idx="11">
                    <c:v>2.2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6.706</c:v>
                </c:pt>
                <c:pt idx="1">
                  <c:v>-1.022</c:v>
                </c:pt>
                <c:pt idx="2">
                  <c:v>-3.438</c:v>
                </c:pt>
                <c:pt idx="3">
                  <c:v>-3</c:v>
                </c:pt>
                <c:pt idx="4">
                  <c:v>-1.55</c:v>
                </c:pt>
                <c:pt idx="5">
                  <c:v>-0.318</c:v>
                </c:pt>
                <c:pt idx="6">
                  <c:v>0.082</c:v>
                </c:pt>
                <c:pt idx="7">
                  <c:v>-0.35</c:v>
                </c:pt>
                <c:pt idx="8">
                  <c:v>-1</c:v>
                </c:pt>
                <c:pt idx="9">
                  <c:v>-0.638</c:v>
                </c:pt>
                <c:pt idx="10">
                  <c:v>2.578</c:v>
                </c:pt>
                <c:pt idx="11">
                  <c:v>11.106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Custo J por época (eixo X não é proporcional)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50</c:v>
                  </c:pt>
                  <c:pt idx="7">
                    <c:v>100</c:v>
                  </c:pt>
                  <c:pt idx="8">
                    <c:v>200</c:v>
                  </c:pt>
                  <c:pt idx="9">
                    <c:v>500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61.625</c:v>
                </c:pt>
                <c:pt idx="1">
                  <c:v>8.069</c:v>
                </c:pt>
                <c:pt idx="2">
                  <c:v>1.103</c:v>
                </c:pt>
                <c:pt idx="3">
                  <c:v>0.078</c:v>
                </c:pt>
                <c:pt idx="4">
                  <c:v>0.058</c:v>
                </c:pt>
                <c:pt idx="5">
                  <c:v>0.053</c:v>
                </c:pt>
                <c:pt idx="6">
                  <c:v>0.042</c:v>
                </c:pt>
                <c:pt idx="7">
                  <c:v>0.031</c:v>
                </c:pt>
                <c:pt idx="8">
                  <c:v>0.024</c:v>
                </c:pt>
                <c:pt idx="9">
                  <c:v>0.021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41-1.png"/><Relationship Id="rId3" Type="http://schemas.openxmlformats.org/officeDocument/2006/relationships/image" Target="../media/image-41-2.png"/><Relationship Id="rId4" Type="http://schemas.openxmlformats.org/officeDocument/2006/relationships/image" Target="../media/image-4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Matemática para IA: limites, derivadas e gradiente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cálculo que faz uma máquina aprender, passo a passo e em Python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971800" y="53949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71800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303520" y="53949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0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35240" y="53949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5394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racional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Percebe, decide e age. A busca dá a ele um plano para chegar ao objetivo.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BFS, DFS e custo uniforme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 o espaço de estados sem pistas sobre onde está o objetivo.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 e A*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uma estimativa do que falta reduziu de 108 para 21 os nós expandidos.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como uma máquina melhora sozinha? Medindo o erro e descendo o morro. Isso é cálculo.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Treinar um modelo é minimizar um erro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modelo tem números ajustáveis: w e b em uma reta, milhões de pesos em uma rede.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de custo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que mede o quanto o modelo erra. Quanto menor, melhor.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para que lado mexer cada parâmetro para o erro diminuir.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laço do aprendizado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erro  →  calcular a derivada  →  ajustar os parâmetros  →  repetir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e taxa de variação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Inclinação, e por que ela muda nas curvas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“chegar perto” de um valor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Derivadas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regras e a regra da cadeia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uma função passo a passo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variáveis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parciais e o vetor gradiente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regressão linear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modelo do zero com NumPy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Função: uma máquina de transformar números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97280" y="18288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828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94760" y="2377440"/>
            <a:ext cx="8229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663440" y="18288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1828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x²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920" y="2377440"/>
            <a:ext cx="8229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229600" y="18288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1828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29184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212848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82219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38221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212848" y="38221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27939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42793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212848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73659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736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212848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19379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5193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212848" y="51937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5650992"/>
            <a:ext cx="34747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9808" y="56509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212848" y="5650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480560" y="3291840"/>
            <a:ext cx="7068312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81728" y="34747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82896" y="34747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84064" y="34747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394960" y="3410712"/>
            <a:ext cx="5971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funcao.py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754880" y="3794760"/>
            <a:ext cx="6519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754880" y="4061460"/>
            <a:ext cx="6519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754880" y="4594860"/>
            <a:ext cx="6519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754880" y="4861560"/>
            <a:ext cx="6519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128260"/>
            <a:ext cx="6519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variação: o quanto y muda quando x muda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= Δy / Δx = (y₂ − y₁) / (x₂ − x₁)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4747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11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251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km em 2 h: Δy/Δx = 60 km/h. Quanto a posição muda por hora.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47972" y="324612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6572" y="34747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36118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8092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 y = 2x + 1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4251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é sempre 2, em qualquer trecho. A inclinação é constante.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055864" y="324612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34747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36118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15984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y = x²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4251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muda de ponto a ponto. Como medir a inclinação em um único ponto?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Estreitando o intervalo em f(x) = x² a partir de x = 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66928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120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0" y="1783080"/>
            <a:ext cx="49651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9340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56448" y="17830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de 1 até 1 + 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0" y="2313432"/>
            <a:ext cx="4965192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93408" y="231343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156448" y="231343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0" y="2724912"/>
            <a:ext cx="4965192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93408" y="272491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156448" y="272491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83680" y="3136392"/>
            <a:ext cx="4965192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93408" y="313639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156448" y="313639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547872"/>
            <a:ext cx="4965192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93408" y="354787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156448" y="354787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83680" y="3959352"/>
            <a:ext cx="4965192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93408" y="395935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156448" y="3959352"/>
            <a:ext cx="3319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2.001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461772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4400" y="50749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212080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737360" y="46177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medida que h encolhe, a taxa se aproxima de 2. Esse valor para o qual ela “tende” é o que o cálculo chama de limite, e é a inclinação da curva em x = 1.</a:t>
            </a:r>
            <a:endParaRPr lang="en-US" sz="1700" dirty="0"/>
          </a:p>
        </p:txBody>
      </p:sp>
      <p:sp>
        <p:nvSpPr>
          <p:cNvPr id="38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de limite: chegar perto sem precisar chegar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  f(x) = L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→ 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783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Lê-se: quando x se aproxima de a, f(x) se aproxima de L.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 g(x) = (x² − 1) / (x − 1)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x = 1 dá 0/0: não existe valor. Mas perto de 1…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621792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(esq.)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58768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(dir.)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13248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507992"/>
            <a:ext cx="621792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450799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304288" y="450799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858768" y="450799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13248" y="450799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4919472"/>
            <a:ext cx="6217920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91947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304288" y="491947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1.99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858768" y="491947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13248" y="491947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5330952"/>
            <a:ext cx="621792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533095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304288" y="533095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1.999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858768" y="533095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1.001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413248" y="533095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2.001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223760" y="3108960"/>
            <a:ext cx="4325112" cy="2971800"/>
          </a:xfrm>
          <a:prstGeom prst="roundRect">
            <a:avLst>
              <a:gd name="adj" fmla="val 369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0664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 g(x) = 2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7406640" y="39319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Pelos dois lados, g(x) vai para 2. Isso é possível porque (x² − 1)/(x − 1) = x + 1 para x ≠ 1.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Aproximando um limite numericamente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59752" y="1783080"/>
            <a:ext cx="438912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609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620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632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74152" y="19019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(arredondado)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34072" y="22860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limite.py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34072" y="25527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0.9 1.9 1.1 2.1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34072" y="28194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0.99 1.99 1.01 2.01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34072" y="30861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0.999 1.999 1.001 2.001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52628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600200" y="43891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laço faz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86868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1 pela esquerda (1 − h) e pela direita (1 + h), com h cada vez menor.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199632" y="4160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28232" y="43891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52628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159752" y="43891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6428232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uma evidência numérica, não uma prova. O Python imprime 1.99000000000001: é arredondamento de ponto flutuante.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laterais: quando o limite não existe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lateral.py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977640"/>
            <a:ext cx="585216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41605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41605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41605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40965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8056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lateral.py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4726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-1.0 1.0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1783080"/>
            <a:ext cx="4782312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esquerda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0⁻ : f(x) = −1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766560" y="3200400"/>
            <a:ext cx="4782312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9516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direita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0⁺ : f(x) = +1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766560" y="4617720"/>
            <a:ext cx="4782312" cy="1463040"/>
          </a:xfrm>
          <a:prstGeom prst="roundRect">
            <a:avLst>
              <a:gd name="adj" fmla="val 75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95160" y="46177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lados discordam, então o limite em 0 não existe. O limite só existe quando os dois laterais coincidem.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· 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no infinito: a sigmoide satura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sigmoide.py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sigmoide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sigmoide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66560" y="1783080"/>
            <a:ext cx="478231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7628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47888" y="1783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sigmoide(x)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766560" y="2313432"/>
            <a:ext cx="4782312" cy="365760"/>
          </a:xfrm>
          <a:prstGeom prst="roundRect">
            <a:avLst>
              <a:gd name="adj" fmla="val 2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76288" y="2313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47888" y="231343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0.0000454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766560" y="2734056"/>
            <a:ext cx="4782312" cy="365760"/>
          </a:xfrm>
          <a:prstGeom prst="roundRect">
            <a:avLst>
              <a:gd name="adj" fmla="val 20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76288" y="2734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47888" y="273405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0.1192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766560" y="3154680"/>
            <a:ext cx="4782312" cy="365760"/>
          </a:xfrm>
          <a:prstGeom prst="roundRect">
            <a:avLst>
              <a:gd name="adj" fmla="val 2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76288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47888" y="31546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66560" y="3575304"/>
            <a:ext cx="4782312" cy="365760"/>
          </a:xfrm>
          <a:prstGeom prst="roundRect">
            <a:avLst>
              <a:gd name="adj" fmla="val 200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76288" y="35753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247888" y="357530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0.8808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766560" y="3995928"/>
            <a:ext cx="4782312" cy="365760"/>
          </a:xfrm>
          <a:prstGeom prst="roundRect">
            <a:avLst>
              <a:gd name="adj" fmla="val 20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76288" y="3995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47888" y="399592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0.99995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4572000"/>
            <a:ext cx="10911535" cy="1508760"/>
          </a:xfrm>
          <a:prstGeom prst="roundRect">
            <a:avLst>
              <a:gd name="adj" fmla="val 727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46634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 σ(x) = 1  quando x → +∞      lim σ(x) = 0  quando x → −∞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" y="53492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sigmoide comprime qualquer número em (0, 1): útil para representar probabilidades em redes neurais.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Continuidade: sem saltos, sem buracos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f(a) existe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está definida no ponto.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7972" y="1783080"/>
            <a:ext cx="3493008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6572" y="19659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657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26237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limite existe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6572" y="2697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lados chegam ao mesmo valor.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55864" y="1783080"/>
            <a:ext cx="3493008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9659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446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970264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iguais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2697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 f(x) = f(a): o gráfico não “pula”.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40233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434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600200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Sigmoide, tanh e ReLU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68680" y="48463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são contínuas: pequenas mudanças na entrada geram pequenas mudanças na saída.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199632" y="40233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28232" y="42062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34340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159752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e o “bico”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6428232" y="48463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ReLU(x) = max(0, x) é contínua, mas tem um bico em x = 0 e não tem derivada ali. Na prática, definimos a derivada como 0 ou 1 e funciona.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Derivada: o limite da taxa média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f′(x) = lim  [ f(x + h) − f(x) ] / h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→ 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0040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secante liga dois pontos da curva: dá a taxa média.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 → 0, o segundo ponto encosta no primeiro e a secante vira a tangente.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é a inclinação da tangente: a taxa de variação instantânea.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exemplo, f(x) = x² em x = 1: f′(1) = 2.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783080"/>
            <a:ext cx="560527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6035040" y="1874520"/>
          <a:ext cx="542239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 numérica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03504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85432" y="1783080"/>
            <a:ext cx="466344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866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877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889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99832" y="1901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159752" y="2286000"/>
            <a:ext cx="4114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derivada.py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59752" y="2552700"/>
            <a:ext cx="4114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6.000001000927568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159752" y="2819400"/>
            <a:ext cx="4114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1e-06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59752" y="3086100"/>
            <a:ext cx="4114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-3.999998999582033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85432" y="3886200"/>
            <a:ext cx="4663440" cy="2240280"/>
          </a:xfrm>
          <a:prstGeom prst="roundRect">
            <a:avLst>
              <a:gd name="adj" fmla="val 489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232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Conferindo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43891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de x² é 2x. Em 3, 0 e −2 esperamos 6, 0 e −4. O Python dá valores muito próximos: o erro vem de h ser pequeno, mas não zero.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h: menor nem sempre é melhor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erro_h.py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"{h:.0e}  {d:.10f}  erro={abs(d - 6):.2e}"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59752" y="1783080"/>
            <a:ext cx="43891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59752" y="2313432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69480" y="23134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1e-01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23134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6.1000000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195560" y="23134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1.0e-01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59752" y="278892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2788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1e-03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2788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6.0010000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0195560" y="27889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1.0e-03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159752" y="3264408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69480" y="32644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1e-06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32644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6.0000010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195560" y="32644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1.0e-06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159752" y="3739896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69480" y="37398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1e-09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366760" y="37398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6.0000005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0195560" y="37398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5.0e-07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159752" y="4215384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269480" y="42153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1e-12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366760" y="42153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6.0005334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195560" y="42153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5.3e-04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159752" y="4690872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269480" y="469087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1e-15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366760" y="46908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5.3290705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0195560" y="46908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6.7e-01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40080" y="4434840"/>
            <a:ext cx="6309360" cy="16916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14400" y="443484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erros competem: h grande aproxima mal a tangente; h minúsculo faz o computador subtrair números quase iguais e perder precisão.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7159752" y="5394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h fica no meio: em torno de 1e-6 a 1e-8.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 central: mais precisão com o mesmo esforço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derivada_central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derivada_central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25512" y="1783080"/>
            <a:ext cx="402336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6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278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290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39912" y="19019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99832" y="2286000"/>
            <a:ext cx="3474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central.py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799832" y="2552700"/>
            <a:ext cx="3474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6.00000000004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5720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 para frente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[f(x + h) − f(x)] / h  →  erro da ordem de h (1e-6)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199632" y="45720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 central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[f(x + h) − f(x − h)] / 2h  →  erro da ordem de h² (4e-11)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derivação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041648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24928" y="17830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041648" y="23134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(c)′ = 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424928" y="231343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(5)′ = 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992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99232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41648" y="29992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(xⁿ)′ = n · xⁿ⁻¹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24928" y="299923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(x³)′ = 3x²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6850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685032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vezes função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041648" y="36850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 · f)′ = c · f′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24928" y="368503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(4x²)′ = 8x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3708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70832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041648" y="43708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 + g)′ = f′ + g′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24928" y="437083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(x² + 3x)′ = 2x + 3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0566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5056632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041648" y="50566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 · g)′ = f′g + f g′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24928" y="505663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· x²)′ = 3x²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essas regras derivamos qualquer polinômio. Nas próximas telas: funções típicas de IA e a regra da cadeia.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· 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Derivadas que você vai encontrar em 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75888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50608" y="178308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aparece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75888" y="23134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150608" y="2313432"/>
            <a:ext cx="4325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 probabilidades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992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99232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ln(x)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29992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50608" y="2999232"/>
            <a:ext cx="4325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perda (entropia cruzada)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6850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685032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σ(x) = 1/(1 + e⁻ˣ)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75888" y="36850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σ(x) · (1 − σ(x))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150608" y="3685032"/>
            <a:ext cx="4325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sigmoide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3708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70832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tanh(x)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675888" y="43708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tanh²(x)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150608" y="4370832"/>
            <a:ext cx="4325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tanh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50566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5056632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ReLU(x) = max(0, x)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75888" y="50566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 x &lt; 0; 1 se x &gt; 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50608" y="5056632"/>
            <a:ext cx="4325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mais usada em deep learning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a derivada da sigmoide usa a própria sigmoide, o que a torna barata de calcular durante o treino.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da cadeia: derivar funções compostas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97280" y="178308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94760" y="2286000"/>
            <a:ext cx="8229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663440" y="178308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x² + 1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920" y="2286000"/>
            <a:ext cx="82296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229600" y="1783080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u³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06324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06324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 = (dy/du) · (du/dx)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3493008" cy="1645920"/>
          </a:xfrm>
          <a:prstGeom prst="roundRect">
            <a:avLst>
              <a:gd name="adj" fmla="val 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5720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dy/du = 3u²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3492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da camada 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47972" y="4480560"/>
            <a:ext cx="3493008" cy="1645920"/>
          </a:xfrm>
          <a:prstGeom prst="roundRect">
            <a:avLst>
              <a:gd name="adj" fmla="val 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30852" y="45720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du/dx = 2x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30852" y="53492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da camada 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55864" y="4480560"/>
            <a:ext cx="3493008" cy="1645920"/>
          </a:xfrm>
          <a:prstGeom prst="roundRect">
            <a:avLst>
              <a:gd name="adj" fmla="val 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38744" y="45720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dy/dx = 3(x² + 1)² · 2x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38744" y="53492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Multiplicamos as duas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Conferindo a regra da cadeia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cadeia.py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analitica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analitica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525512" y="17830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266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278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90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39912" y="19019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99832" y="2286000"/>
            <a:ext cx="3474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cadeia.py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799832" y="2552700"/>
            <a:ext cx="3474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799832" y="2819400"/>
            <a:ext cx="3474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24.00000000069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525512" y="3520440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0" y="37033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84048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45820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importa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0" y="43891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neural é uma cadeia de funções. O backpropagation (aula 11) é a regra da cadeia aplicada camada por camada.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sinal da derivada indica a direção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f′(x) &gt; 0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está subindo.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diminuir f, ande para a esquerda.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47972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f′(x) &lt; 0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4576572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está descendo.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diminuir f, ande para a direita.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055864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f′(x) = 0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crítico: inclinação nula.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284464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mínimo, máximo ou ponto de sela.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ouro: para diminuir f, ande no sentido contrário ao da derivada.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Achando o mínimo com f′(x) = 0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(x − 3)² + 2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f′(x) = 2(x − 3)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4400" y="35204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Igualar a zero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2(x − 3) = 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343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4343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14400" y="5257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5212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mínimo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5212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f(3) = 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17920" y="1783080"/>
            <a:ext cx="533095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25" name="Chart 0" descr=""/>
          <p:cNvGraphicFramePr/>
          <p:nvPr/>
        </p:nvGraphicFramePr>
        <p:xfrm>
          <a:off x="6309360" y="1874520"/>
          <a:ext cx="51480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não dá para resolver f′(x) = 0?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22631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178308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Imagine-se num morro, na neblina: você só sente a inclinação sob os pés. Para descer, dê um passo na direção em que o chão desce mais.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347472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←  x − α · f′(x)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3493008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</a:t>
            </a:r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atual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do parâmetro agora.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47972" y="4800600"/>
            <a:ext cx="3493008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6572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 </a:t>
            </a:r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6572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do passo.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55864" y="4800600"/>
            <a:ext cx="3493008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84464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f′(x)  </a:t>
            </a:r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284464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Inclinação: aponta para onde f sobe.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em quatro etapas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x inicial e um α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27248" y="265176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6432" y="192024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20574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f′(x) no ponto atual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265176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72784" y="192024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2057400"/>
            <a:ext cx="411480" cy="41148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Andar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Atualize x ← x − α · f′(x)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759952" y="265176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9136" y="192024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72016" y="20574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72016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Parar?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passo for pequeno, pare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314432" y="3383280"/>
            <a:ext cx="0" cy="45720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81728" y="3840480"/>
            <a:ext cx="5632704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81728" y="3419856"/>
            <a:ext cx="0" cy="420624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32" name="Text 29"/>
          <p:cNvSpPr txBox="1"/>
          <p:nvPr/>
        </p:nvSpPr>
        <p:spPr>
          <a:xfrm>
            <a:off x="46634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parou: volte à etapa 2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0080" y="448056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44805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do mínimo, f′(x) é pequena, então o passo α · f′(x) encolhe sozinho. O algoritmo desacelera ao se aproximar do fundo do vale.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gd1d.py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02552" y="1783080"/>
            <a:ext cx="484632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gd1d.py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1 0.6 7.76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28194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2 1.08 5.6864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76872" y="30861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3 1.464 4.3593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76872" y="33528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4 1.7712 3.5099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976872" y="36195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5 2.017 2.9664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976872" y="38862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6 2.2136 2.6185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976872" y="41529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7 2.3709 2.3958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976872" y="44196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8 2.4967 2.2533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976872" y="46863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9 2.5973 2.1621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976872" y="4953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10 2.6779 2.1038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passo: x anda para 3 e f cai para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72768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76148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f′(x)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13308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x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475488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134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761488" y="231343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-6.0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133088" y="231343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2816352"/>
            <a:ext cx="475488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81635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572768" y="281635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761488" y="281635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-4.8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133088" y="281635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319272"/>
            <a:ext cx="475488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31927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572768" y="331927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761488" y="331927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-3.84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133088" y="331927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1.464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822192"/>
            <a:ext cx="475488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382219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572768" y="382219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1.464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761488" y="382219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-3.072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133088" y="382219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1.7712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4325112"/>
            <a:ext cx="475488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32511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572768" y="432511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1.7712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761488" y="432511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-2.4576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4133088" y="432511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2.017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0080" y="4828032"/>
            <a:ext cx="475488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808" y="482803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572768" y="48280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2.017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2761488" y="482803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-1.966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133088" y="482803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2.2136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760720" y="1783080"/>
            <a:ext cx="578815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42" name="Chart 0" descr=""/>
          <p:cNvGraphicFramePr/>
          <p:nvPr/>
        </p:nvGraphicFramePr>
        <p:xfrm>
          <a:off x="5852160" y="1874520"/>
          <a:ext cx="56052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Text 39"/>
          <p:cNvSpPr txBox="1"/>
          <p:nvPr/>
        </p:nvSpPr>
        <p:spPr>
          <a:xfrm>
            <a:off x="640080" y="5486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é 20% da distância ao mínimo: o “passo” encolhe junto com f′(x).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de aprendizado α decide tudo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pequeno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80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Converge, mas devagar: gasta muitos passos.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adequado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80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 rápido e se estabiliza no mínimo.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grande demais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80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 de um lado a outro ou diverge de vez.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disso é automático: α é um hiperparâmetro. Quem treina o modelo precisa testar valores e olhar a curva do custo.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valores de α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76072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alfas.py (f e df como antes)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611112" y="17830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2084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final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5554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11112" y="2313432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20840" y="231343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818120" y="23134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0.9972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555480" y="23134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6.0113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11112" y="2880360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20840" y="28803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818120" y="28803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2.9654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555480" y="28803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2.0012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611112" y="3447288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0840" y="344728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34472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2.9654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555480" y="34472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2.0012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611112" y="4014216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20840" y="401421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818120" y="401421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-112.0128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555480" y="401421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13229.9441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507492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0,01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está longe do mínimo em 20 passos. </a:t>
            </a:r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0,9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oscila: x vai 5,4 → 1,08 → 4,54 → … e só converge porque cada pulo é menor que o anterior. </a:t>
            </a:r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1,1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diverge: cada passo amplia o erro.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DO GRADIENTE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Mínimos locais: o ponto de partida importa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56692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720840" y="1783080"/>
            <a:ext cx="482803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3056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inicial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8504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final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939528" y="17830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 final)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720840" y="2313432"/>
            <a:ext cx="482803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30568" y="23134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-2.0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385048" y="23134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-1.301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939528" y="2313432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-3.514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720840" y="2816352"/>
            <a:ext cx="4828032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30568" y="281635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85048" y="281635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939528" y="2816352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-1.070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720840" y="3319272"/>
            <a:ext cx="4828032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30568" y="331927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385048" y="331927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1.131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939528" y="3319272"/>
            <a:ext cx="1536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-1.070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720840" y="3886200"/>
            <a:ext cx="4828032" cy="2240280"/>
          </a:xfrm>
          <a:prstGeom prst="roundRect">
            <a:avLst>
              <a:gd name="adj" fmla="val 489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49440" y="3886200"/>
            <a:ext cx="4389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pontos de partida caíram no vale raso (mínimo local); um caiu no vale mais fundo (mínimo global). A descida do gradiente só enxerga o que está ao redor.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VARIÁVEIS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de duas variáveis: uma tigela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234440" y="1920240"/>
            <a:ext cx="4023360" cy="4023360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36776" y="2322576"/>
            <a:ext cx="3218688" cy="3218688"/>
          </a:xfrm>
          <a:prstGeom prst="ellipse">
            <a:avLst/>
          </a:prstGeom>
          <a:solidFill>
            <a:srgbClr val="F1F6F3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39112" y="2724912"/>
            <a:ext cx="2414016" cy="2414016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41448" y="3127248"/>
            <a:ext cx="1609344" cy="1609344"/>
          </a:xfrm>
          <a:prstGeom prst="ellipse">
            <a:avLst/>
          </a:prstGeom>
          <a:solidFill>
            <a:srgbClr val="F1F6F3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3784" y="3529584"/>
            <a:ext cx="804672" cy="804672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3931920"/>
            <a:ext cx="4297680" cy="0"/>
          </a:xfrm>
          <a:prstGeom prst="line">
            <a:avLst/>
          </a:prstGeom>
          <a:noFill/>
          <a:ln w="12700">
            <a:solidFill>
              <a:srgbClr val="C5D3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783080"/>
            <a:ext cx="0" cy="4297680"/>
          </a:xfrm>
          <a:prstGeom prst="line">
            <a:avLst/>
          </a:prstGeom>
          <a:noFill/>
          <a:ln w="12700">
            <a:solidFill>
              <a:srgbClr val="C5D3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nível de f(x, y) = x² + y²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54680" y="3840480"/>
            <a:ext cx="182880" cy="1828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328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(0, 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783080"/>
            <a:ext cx="533095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Superfície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altura z = f(x, y) forma uma tigela com o fundo em (0, 0).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17920" y="3246120"/>
            <a:ext cx="533095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46520" y="342900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5661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7804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de nível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7178040" y="3749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círculo junta os pontos de mesma altura. Quanto mais perto do centro, menor o valor.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217920" y="4709160"/>
            <a:ext cx="533095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46520" y="489204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02920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7804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inclinações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17804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ponto, há uma inclinação na direção x e outra na direção y.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VARIÁVEIS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Derivadas parciais: uma variável de cada vez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f(x, y) = x² + 3xy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∂f/∂x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2x + 3y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y como constante e derive em x.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99632" y="31089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73952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∂f/∂y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3x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x como constante e derive em y.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663440"/>
            <a:ext cx="685800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8463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" y="48463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3584" y="48463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54480" y="478231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parciais.py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16636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43306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69976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80960" y="4663440"/>
            <a:ext cx="3867912" cy="1527048"/>
          </a:xfrm>
          <a:prstGeom prst="roundRect">
            <a:avLst>
              <a:gd name="adj" fmla="val 71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0" y="4663440"/>
            <a:ext cx="35204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(1, 2): 2·1 + 3·2 = 8 e 3·1 = 3. O Python imprime 8.0 e 3.0.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VARIÁVEIS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gradiente: o vetor das derivadas parciais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417320" y="2194560"/>
            <a:ext cx="3657600" cy="3657600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83080" y="2560320"/>
            <a:ext cx="2926080" cy="2926080"/>
          </a:xfrm>
          <a:prstGeom prst="ellipse">
            <a:avLst/>
          </a:prstGeom>
          <a:solidFill>
            <a:srgbClr val="F1F6F3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8840" y="2926080"/>
            <a:ext cx="2194560" cy="2194560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14600" y="3291840"/>
            <a:ext cx="1463040" cy="1463040"/>
          </a:xfrm>
          <a:prstGeom prst="ellipse">
            <a:avLst/>
          </a:prstGeom>
          <a:solidFill>
            <a:srgbClr val="F1F6F3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80360" y="3657600"/>
            <a:ext cx="731520" cy="731520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80160" y="4023360"/>
            <a:ext cx="3931920" cy="0"/>
          </a:xfrm>
          <a:prstGeom prst="line">
            <a:avLst/>
          </a:prstGeom>
          <a:noFill/>
          <a:ln w="12700">
            <a:solidFill>
              <a:srgbClr val="C5D3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2057400"/>
            <a:ext cx="0" cy="3931920"/>
          </a:xfrm>
          <a:prstGeom prst="line">
            <a:avLst/>
          </a:prstGeom>
          <a:noFill/>
          <a:ln w="12700">
            <a:solidFill>
              <a:srgbClr val="C5D3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1104" y="3941064"/>
            <a:ext cx="164592" cy="16459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4023360"/>
            <a:ext cx="777240" cy="0"/>
          </a:xfrm>
          <a:prstGeom prst="line">
            <a:avLst/>
          </a:prstGeom>
          <a:noFill/>
          <a:ln w="44450">
            <a:solidFill>
              <a:srgbClr val="D6336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74720" y="4023360"/>
            <a:ext cx="777240" cy="0"/>
          </a:xfrm>
          <a:prstGeom prst="line">
            <a:avLst/>
          </a:prstGeom>
          <a:noFill/>
          <a:ln w="4445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526280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+∇f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337560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−∇f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1783080"/>
            <a:ext cx="5330952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1783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∇f = [ ∂f/∂x ,  ∂f/∂y ]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29184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aponta para onde f cresce mais depressa.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oposto, −∇f, aponta para onde f decresce mais depressa.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 = x² + y²: ∇f = [2x, 2y]. No ponto (3, 4): ∇f = [6, 8].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descida do gradiente: p ← p − α · ∇f(p).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(3, 0), o gradiente é [6, 0].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VARIÁVEIS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em Python com NumPy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58368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grad2d.py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zeros_like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zeros_like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97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486400"/>
            <a:ext cx="60350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434072" y="1783080"/>
            <a:ext cx="411480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3524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3640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3757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48472" y="19019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708392" y="2286000"/>
            <a:ext cx="3566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 = np.array([3.0, 4.0])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708392" y="2552700"/>
            <a:ext cx="3566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gradiente(f, p)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708392" y="2819400"/>
            <a:ext cx="3566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[6. 8.]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34072" y="356616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62672" y="37947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393192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394192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função serve a todas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7662672" y="448056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para qualquer f com um vetor p de qualquer tamanho: de 2 parâmetros a milhões. Use floats no array (3.0), senão o NumPy cria um array de inteiros.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VARIÁVEIS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do gradiente em duas variáveis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gd2d.py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grad2d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02552" y="1783080"/>
            <a:ext cx="484632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gd2d.py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[3. 4.] 25.0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8194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[2.4 3.2] 16.0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30861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[1.92 2.56] 10.24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33528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[1.536 2.048] 6.554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76872" y="36195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[1.229 1.638] 4.194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76872" y="38862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[0.983 1.311] 2.684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230368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367528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737360" y="489204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multiplica as duas coordenadas por 0,8 (1 − 2α): o ponto caminha em linha reta para a origem e o custo cai de 25 para 2,7 em 5 passos.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VARIÁVEIS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trajetória sobre as curvas de nível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600200" y="2103120"/>
            <a:ext cx="3931920" cy="3931920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93392" y="2496312"/>
            <a:ext cx="3145536" cy="3145536"/>
          </a:xfrm>
          <a:prstGeom prst="ellipse">
            <a:avLst/>
          </a:prstGeom>
          <a:solidFill>
            <a:srgbClr val="F1F6F3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86584" y="2889504"/>
            <a:ext cx="2359152" cy="2359152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79776" y="3282696"/>
            <a:ext cx="1572768" cy="1572768"/>
          </a:xfrm>
          <a:prstGeom prst="ellipse">
            <a:avLst/>
          </a:prstGeom>
          <a:solidFill>
            <a:srgbClr val="F1F6F3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72968" y="3675888"/>
            <a:ext cx="786384" cy="786384"/>
          </a:xfrm>
          <a:prstGeom prst="ellipse">
            <a:avLst/>
          </a:prstGeom>
          <a:solidFill>
            <a:srgbClr val="E6EEE9"/>
          </a:solidFill>
          <a:ln w="12700">
            <a:solidFill>
              <a:srgbClr val="9DB0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4069080"/>
            <a:ext cx="4206240" cy="0"/>
          </a:xfrm>
          <a:prstGeom prst="line">
            <a:avLst/>
          </a:prstGeom>
          <a:noFill/>
          <a:ln w="12700">
            <a:solidFill>
              <a:srgbClr val="C5D3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965960"/>
            <a:ext cx="0" cy="4206240"/>
          </a:xfrm>
          <a:prstGeom prst="line">
            <a:avLst/>
          </a:prstGeom>
          <a:noFill/>
          <a:ln w="12700">
            <a:solidFill>
              <a:srgbClr val="C5D3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4296" y="2404872"/>
            <a:ext cx="182880" cy="18288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6669" y="2737714"/>
            <a:ext cx="146304" cy="146304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7937" y="2989356"/>
            <a:ext cx="146304" cy="146304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96951" y="3190671"/>
            <a:ext cx="146304" cy="146304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76241" y="3351880"/>
            <a:ext cx="146304" cy="146304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79516" y="3480453"/>
            <a:ext cx="146304" cy="146304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55464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062396" y="359932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1783080"/>
            <a:ext cx="514807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23774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(3, 4) está em um círculo de raio 5 (f = 25).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cruza as curvas de nível, aproximando-se do centro.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é perpendicular às curvas de nível: é o caminho mais íngreme.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do centro os passos ficam curtos, pois ∇f diminui.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ajustar uma reta aos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estudo × pontos (dados ilustrativos)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5715000"/>
            <a:ext cx="4434840" cy="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331720"/>
            <a:ext cx="0" cy="338328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103553" y="2331720"/>
            <a:ext cx="4390931" cy="338328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57677" y="5134356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91225" y="469936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4774" y="414353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8322" y="375687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91871" y="320105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5419" y="2693561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783080"/>
            <a:ext cx="5605272" cy="1371600"/>
          </a:xfrm>
          <a:prstGeom prst="roundRect">
            <a:avLst>
              <a:gd name="adj" fmla="val 8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26480" y="17830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w · x + b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5943600" y="3337560"/>
            <a:ext cx="560527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(erro quadrático médio)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37947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J(w, b) = (1/n) · Σ (ŷᵢ − yᵢ)²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943600" y="4892040"/>
            <a:ext cx="5605272" cy="1234440"/>
          </a:xfrm>
          <a:prstGeom prst="roundRect">
            <a:avLst>
              <a:gd name="adj" fmla="val 888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0" y="489204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achar w e b que minimizam J. É um problema de duas variáveis: exatamente o que o gradiente resolve.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Derivadas do custo: regra da cadeia em 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ŷ − y     J = (1/n) Σ e²     ŷ = w·x + b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∂J/∂w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(2/n) · Σ e · x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931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Cadeia: dJ/de = 2e/n, de/dw = x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99632" y="31089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73952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∂J/∂b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028432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(2/n) · Σ 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3931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Cadeia: dJ/de = 2e/n, de/db = 1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Atualização: w ← w − α · ∂J/∂w   e   b ← b − α · ∂J/∂b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do zero (1/2): dados e parâmetros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regressao.py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e 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dados: horas de estudo e pontos obtidos (valores ilustrativos).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63840" y="2971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b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 em 0: a reta inicial é y = 0.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863840" y="40690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4343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aprendizado. 0,02 é conservadora.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63840" y="51663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638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50392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503920" y="5440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exemplos, usado na média do custo.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do zero (2/2): o laço de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regressao.py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838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83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178308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y_prev, erro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823960" y="214884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do modelo e o erro de cada exemplo (vetores).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838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838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823960" y="286207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32278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quadrático médio da época.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1838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838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394106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dw, db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823960" y="4306824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Gradientes do custo: as fórmulas da tela anterior.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8388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1838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823960" y="502005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b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823960" y="538581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contra o gradiente, escalado por α.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394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nenhum for sobre os exemplos: o NumPy calcula tudo em vetores (vetorização).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reta aprendendo ao longo do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Início (w = 0, b = 0)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4114800"/>
            <a:ext cx="2807208" cy="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331720"/>
            <a:ext cx="0" cy="178308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4114800"/>
            <a:ext cx="2807208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25158" y="3774186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6187" y="354493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7217" y="325199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247" y="304821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29277" y="275528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30306" y="2487821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30852" y="18745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Época 10 (w = 1,919)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05172" y="4114800"/>
            <a:ext cx="2807208" cy="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05172" y="2331720"/>
            <a:ext cx="0" cy="178308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4805172" y="2351334"/>
            <a:ext cx="2807208" cy="1710865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33050" y="3774186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4079" y="354493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35109" y="325199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36139" y="304821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37169" y="275528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8198" y="2487821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38744" y="18745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Época 500 (w = 2,017)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513064" y="4114800"/>
            <a:ext cx="2807208" cy="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13064" y="2331720"/>
            <a:ext cx="0" cy="1783080"/>
          </a:xfrm>
          <a:prstGeom prst="line">
            <a:avLst/>
          </a:prstGeom>
          <a:noFill/>
          <a:ln w="19050">
            <a:solidFill>
              <a:srgbClr val="9DB0A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8514655" y="2331720"/>
            <a:ext cx="2783548" cy="178308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840942" y="3774186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241971" y="354493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43001" y="325199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044031" y="3048218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45061" y="2755283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846090" y="2487821"/>
            <a:ext cx="146304" cy="1463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4709160"/>
            <a:ext cx="10911535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1248" y="489204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42416" y="489204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43584" y="489204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554480" y="4828032"/>
            <a:ext cx="98142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(colunas: época, w, b, custo)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914400" y="521208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regressao.py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914400" y="547878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1 1.223 0.282 61.625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914400" y="574548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10 1.919 0.413 0.058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de custo: o termômetro do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783080"/>
            <a:ext cx="405079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26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1488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58200" y="2011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 rápida, depois refino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726680" y="2697480"/>
            <a:ext cx="3593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despenca nas primeiras épocas (61,6 → 1,1 em 3) e depois melhora devagar.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498080" y="4069080"/>
            <a:ext cx="4050792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726680" y="4297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43484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58200" y="4297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Sempre plote o custo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7726680" y="4983480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curva sobe ou oscila, α está grande demais. Com α = 0,1 neste problema, ela diverge.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REGRESSÃO LINEAR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Conferindo com a solução exata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regressao.py (final)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polyfit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566160"/>
            <a:ext cx="585216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374904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42416" y="374904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43584" y="374904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54480" y="368503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6908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regressao.py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33578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2.02 -0.02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02552" y="178308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73252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73836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74420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702552" y="2313432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12280" y="23134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(500 épocas)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732520" y="231343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2.017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738360" y="231343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-0.008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744200" y="23134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0.0214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702552" y="2880360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12280" y="28803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np.polyfit (exato)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732520" y="28803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2.020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738360" y="28803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-0.020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744200" y="288036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0.0213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02552" y="3657600"/>
            <a:ext cx="4846320" cy="2468880"/>
          </a:xfrm>
          <a:prstGeom prst="roundRect">
            <a:avLst>
              <a:gd name="adj" fmla="val 444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03720" y="36576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descida do gradiente chegou muito perto da solução exata. Para uma reta existe fórmula fechada, mas em redes neurais não existe: o gradiente é o único caminho.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 ÀS REDES NEURAIS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 é o neurônio mais simples que existe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450592" cy="118872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28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27248" y="242316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56432" y="1828800"/>
            <a:ext cx="2450592" cy="1188720"/>
          </a:xfrm>
          <a:prstGeom prst="roundRect">
            <a:avLst>
              <a:gd name="adj" fmla="val 923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6432" y="1828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· x + b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0" y="242316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272784" y="1828800"/>
            <a:ext cx="2450592" cy="118872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72784" y="1828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759952" y="242316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089136" y="1828800"/>
            <a:ext cx="2450592" cy="1188720"/>
          </a:xfrm>
          <a:prstGeom prst="roundRect">
            <a:avLst>
              <a:gd name="adj" fmla="val 923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89136" y="1828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(compara com y)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314432" y="3017520"/>
            <a:ext cx="0" cy="5029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3520440"/>
            <a:ext cx="5632704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81728" y="3054096"/>
            <a:ext cx="0" cy="466344"/>
          </a:xfrm>
          <a:prstGeom prst="line">
            <a:avLst/>
          </a:prstGeom>
          <a:noFill/>
          <a:ln w="3810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651760" y="3566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gradientes voltam pela regra da cadeia e corrigem w e b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20624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11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754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neurônios em camadas e uma ativação (sigmoide, ReLU).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347972" y="420624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6572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576572" y="4754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regra da cadeia, aplicada de trás para frente.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055864" y="420624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84464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4754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parâmetros, o mesmo princípio: descer o gradiente.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limite ao treino de um modelo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17320" y="2103120"/>
            <a:ext cx="457200" cy="45720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173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f(x) vai quando x se aproxima de 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34640" y="192024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103120"/>
            <a:ext cx="457200" cy="45720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291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da taxa média: inclinação em um ponto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0" y="192024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06440" y="2103120"/>
            <a:ext cx="457200" cy="45720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06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3291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funções compostas, base do backpropagation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23760" y="192024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01000" y="2103120"/>
            <a:ext cx="457200" cy="45720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3291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das parciais: direção de maior subida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418320" y="192024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95560" y="2103120"/>
            <a:ext cx="457200" cy="45720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1955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5097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555480" y="3291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← p − α∇f: o motor do treinamento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530352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ideia depende da anterior: sem limite não há derivada; sem derivada não há gradiente; sem gradiente não há treino.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ao treinar com gradiente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mal escolhido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demais diverge; pequeno demais não termina. Teste vários e observe o custo.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olhar o custo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plote ou imprima o custo por época: ele denuncia quase todos os problemas.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Gradiente errado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derivada analítica com a numérica (diferença central), como fizemos hoje.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em escalas diferentes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com ordens de grandeza distintas deixam a descida lenta. Veremos a normalização na aula 09.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Derivada numérica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7830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diferença central para derivar f(x) = x³ em x = 2 e compare com 3x².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Descida em f(x)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8803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f(x) = (x + 2)² + 1 com a descida do gradiente: x inicial = 5 e α = 0,2. Qual é o mínimo?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e α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3977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 regressão com α = 0,05 e depois com α = 0,1. Compare w, b e o custo.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Gradiente 2D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50749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à mão o gradiente de f(x, y) = x² + 3xy + y² em (1, 2) e confira com a função gradiente().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12.00000000021184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764280"/>
            <a:ext cx="5394960" cy="2362200"/>
          </a:xfrm>
          <a:prstGeom prst="roundRect">
            <a:avLst>
              <a:gd name="adj" fmla="val 464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764280"/>
            <a:ext cx="484632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Analiticamente, (x³)′ = 3x², que vale 12 em x = 2. O valor numérico confere.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45352" y="1783080"/>
            <a:ext cx="530352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476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488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59752" y="190195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19672" y="22860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19672" y="25527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519672" y="28194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19672" y="30861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519672" y="33528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-2.0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45352" y="4030980"/>
            <a:ext cx="5303520" cy="2095500"/>
          </a:xfrm>
          <a:prstGeom prst="roundRect">
            <a:avLst>
              <a:gd name="adj" fmla="val 523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030980"/>
            <a:ext cx="484632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f′(x) = 2(x + 2). O mínimo está em x = −2, com f(−2) = 1. A cada passo, o erro encolhe 40%.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3852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10128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8172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548640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38528" y="23134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2.0172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10128" y="23134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-0.0080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81728" y="231343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2862072"/>
            <a:ext cx="5486400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8620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938528" y="28620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2.0200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310128" y="28620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-0.0200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81728" y="28620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410712"/>
            <a:ext cx="5486400" cy="493776"/>
          </a:xfrm>
          <a:prstGeom prst="roundRect">
            <a:avLst>
              <a:gd name="adj" fmla="val 148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41071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938528" y="341071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−1,5e171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310128" y="341071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−3,5e170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681728" y="34107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2062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3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47091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α = 0,05 já converge para a solução exata (2,02 e −0,02). Com 0,1, cada época amplia o erro e os valores explodem.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0" y="1783080"/>
            <a:ext cx="5148072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0196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0313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0430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0" y="1901952"/>
            <a:ext cx="4050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22860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f(x, y) = x² + 3xy + y²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25527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fx = 2x + 3y = 2 + 6 = 8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28194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fy = 3x + 2y = 3 + 4 = 7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675120" y="33528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36195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675120" y="38862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4196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4686300"/>
            <a:ext cx="45994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[8. 7.]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03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mede a inclinação: é o limite da taxa média.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da cadeia deriva funções compostas, a base das redes neurais.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aponta para onde a função sobe; andamos no sentido oposto.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modelo é descer o gradiente do custo, como na regressão que fizemos.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conhecimento e lógica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e manipulação simbólica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conhecimento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mude o α e os dados da regressão. Depois, a IA simbólica: representar conhecimento com lógica.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03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03 - Matemática para IA</dc:title>
  <dc:subject>PptxGenJS Presentation</dc:subject>
  <dc:creator>Inteligência Artificial</dc:creator>
  <cp:lastModifiedBy>Inteligência Artificial</cp:lastModifiedBy>
  <cp:revision>1</cp:revision>
  <dcterms:created xsi:type="dcterms:W3CDTF">2026-10-07T19:22:35Z</dcterms:created>
  <dcterms:modified xsi:type="dcterms:W3CDTF">2026-10-07T19:22:35Z</dcterms:modified>
</cp:coreProperties>
</file>