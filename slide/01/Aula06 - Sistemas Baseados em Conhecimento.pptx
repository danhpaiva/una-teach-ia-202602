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baseados em conhecimento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Regras, motor de inferência e um especialista de bolso em Python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23774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SE-ENTÃO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200400" y="539496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p/ frente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09360" y="5394960"/>
            <a:ext cx="283464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5394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p/ trás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26880" y="5394960"/>
            <a:ext cx="173736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53949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PASSADA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Funções e recursão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previsível, listas e árvores percorridas por funções recursivas.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538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Expressões como dados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Avaliamos, simplificamos e derivamos expressões por regras.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170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83464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Casar padrões com variáveis e consultar fatos. Hoje ela entra em ação.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juntar fatos e regras num sistema que raciocina e explica sua conclusão, como um especialista humano.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especialistas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onde surgiram e quando usar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regras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regras, memória de trabalho e motor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para frente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fatos às conclusões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para trás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hipótese aos fatos que a provam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 e consulta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ao usuário e justificar o resultado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e incerteza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gerais e fatores de certeza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sistema baseado em conhecimento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que resolve problemas aplicando conhecimento de um domínio, escrito de forma explícita e separado do código que raciocina.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3832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520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DENDRAL (anos 1960)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1148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Stanford. Deduzia a estrutura de moléculas orgânicas a partir de dados de espectrometria de massa.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47972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6572" y="33832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35204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8092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MYCIN (anos 1970)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41148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Stanford. Sugeria diagnóstico e antibiótico para infecções do sangue, com cerca de centenas de regras e fatores de certeza.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55864" y="320040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33832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35204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15984" y="33832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XCON ou R1 (anos 1980)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411480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DEC. Configurava pedidos de computadores VAX e foi um dos primeiros sucessos comerciais.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ESPECIALISTAS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um sistema de regras é a boa escolha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conhecimento já existe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especialistas, manuais ou normas que descrevem como decidir.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explicar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decisão deve ser justificada: crédito, saúde, conformidade.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36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Poucos dados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exemplos rotulados para treinar um modelo.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23367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mudam por lei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uma regra é mais rápido e seguro do que retreinar.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escolher entre regras e aprendizado de máquina, a aula 09 volta a esse critério.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de um sistema especialista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regras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26280" y="18288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inferência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0" y="1828800"/>
            <a:ext cx="3136392" cy="914400"/>
          </a:xfrm>
          <a:prstGeom prst="roundRect">
            <a:avLst>
              <a:gd name="adj" fmla="val 10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82880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 trabalho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794760" y="2286000"/>
            <a:ext cx="68580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680960" y="2148840"/>
            <a:ext cx="68580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680960" y="2423160"/>
            <a:ext cx="68580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15" name="Shape 12"/>
          <p:cNvSpPr/>
          <p:nvPr/>
        </p:nvSpPr>
        <p:spPr>
          <a:xfrm>
            <a:off x="640080" y="39319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do conhecimento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26280" y="393192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26280" y="3931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explicação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412480" y="3931920"/>
            <a:ext cx="3136392" cy="822960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0" y="3931920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 o usuário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194560" y="2788920"/>
            <a:ext cx="0" cy="109728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2" name="Shape 19"/>
          <p:cNvSpPr/>
          <p:nvPr/>
        </p:nvSpPr>
        <p:spPr>
          <a:xfrm>
            <a:off x="6080760" y="2788920"/>
            <a:ext cx="0" cy="109728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3" name="Shape 20"/>
          <p:cNvSpPr/>
          <p:nvPr/>
        </p:nvSpPr>
        <p:spPr>
          <a:xfrm>
            <a:off x="9966960" y="2788920"/>
            <a:ext cx="0" cy="109728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headEnd type="triangle"/>
          </a:ln>
        </p:spPr>
      </p:sp>
      <p:sp>
        <p:nvSpPr>
          <p:cNvPr id="24" name="Text 21"/>
          <p:cNvSpPr txBox="1"/>
          <p:nvPr/>
        </p:nvSpPr>
        <p:spPr>
          <a:xfrm>
            <a:off x="233172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SE-ENTÃO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as regras aos fatos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0104120" y="3108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conhecidos agora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50292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50292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ficam na base, os fatos na memória. O motor é genérico: trocando a base, o mesmo motor serve para diagnosticar PCs, avaliar crédito ou configurar produtos.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participa do projeto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Especialista do domínio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 a decisão na prática: o técnico de suporte, o analista de crédito.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62" y="216027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6572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Engenheiro do conhecimento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o especialista e traduz o que ele sabe em regras testáveis.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201168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54" y="2160270"/>
            <a:ext cx="297180" cy="2971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84464" y="27889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33832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às perguntas do sistema e recebe o diagnóstico com a explicação.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663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3035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é obter o conhecimento: especialistas raramente sabem dizer todas as suas regras. Chama-se o “gargalo da aquisição de conhecimento”.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PRODUÇÃO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regra SE-ENTÃO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554480"/>
          </a:xfrm>
          <a:prstGeom prst="roundRect">
            <a:avLst>
              <a:gd name="adj" fmla="val 7059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783080"/>
            <a:ext cx="10180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E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computador não liga E o LED da fonte está apagado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ENTÃO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suspeite de problema de energia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611880"/>
            <a:ext cx="3493008" cy="2514600"/>
          </a:xfrm>
          <a:prstGeom prst="roundRect">
            <a:avLst>
              <a:gd name="adj" fmla="val 436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39204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(SE)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ligadas por E. Todas precisam ser verdadeiras para a regra disparar.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47972" y="3611880"/>
            <a:ext cx="3493008" cy="2514600"/>
          </a:xfrm>
          <a:prstGeom prst="roundRect">
            <a:avLst>
              <a:gd name="adj" fmla="val 436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6572" y="379476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3920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2372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(ENTÃO)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fato novo ou uma ação. Ao disparar, a regra acrescenta a conclusão à memória.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55864" y="3611880"/>
            <a:ext cx="3493008" cy="2514600"/>
          </a:xfrm>
          <a:prstGeom prst="roundRect">
            <a:avLst>
              <a:gd name="adj" fmla="val 436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3794760"/>
            <a:ext cx="502920" cy="5029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39204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70264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atômica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452628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ideia por regra: fica fácil de testar, explicar e corrigir.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SISTEMA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 do exemplo: o computador não liga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(premissas)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784848" y="1783080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(conclusão)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31343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664208" y="231343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pc_nao_liga E led_apagado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2313432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suspeita_energia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9808" y="288036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664208" y="28803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suspeita_energia E tomada_ok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2880360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suspeita_fonte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44728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664208" y="34472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suspeita_fonte E cabo_ok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784848" y="344728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trocar_fonte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401421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664208" y="40142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suspeita_energia E tomada_sem_energia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784848" y="4014216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usar_outra_tomada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9808" y="458114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64208" y="45811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pc_nao_liga E led_aceso E sem_video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581144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suspeita_video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0080" y="514807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514807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664208" y="51480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suspeita_video E monitor_ok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784848" y="5148072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reencaixar_memoria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ilustrativo e simplificado de suporte técnico, criado para a aula: não substitui a avaliação de um técnico.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SISTEMA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R1 a R3 formam uma cadeia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pc_nao_liga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led_apagado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0" y="2103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suspeita_energia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103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suspeita_fonte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720072" y="2103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720072" y="21031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trocar_fonte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14600" y="2560320"/>
            <a:ext cx="109728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25146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532120" y="2560320"/>
            <a:ext cx="1097280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53212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549640" y="2560320"/>
            <a:ext cx="1124712" cy="0"/>
          </a:xfrm>
          <a:prstGeom prst="line">
            <a:avLst/>
          </a:prstGeom>
          <a:noFill/>
          <a:ln w="3175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8549640" y="2148840"/>
            <a:ext cx="1124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063240" y="2743200"/>
            <a:ext cx="0" cy="105156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21" name="Shape 18"/>
          <p:cNvSpPr/>
          <p:nvPr/>
        </p:nvSpPr>
        <p:spPr>
          <a:xfrm>
            <a:off x="2377440" y="38404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37744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tomada_ok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080760" y="2743200"/>
            <a:ext cx="0" cy="1051560"/>
          </a:xfrm>
          <a:prstGeom prst="line">
            <a:avLst/>
          </a:prstGeom>
          <a:noFill/>
          <a:ln w="3175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5394960" y="38404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9496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cabo_ok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conclusão de uma regra vira premissa de outra. O raciocínio acontece quando o motor encadeia essas regras. Há dois sentidos de encadear: dos fatos para a conclusão, ou da hipótese para os fatos.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EM PYTHON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Representando as regras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98142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"R1"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"led_apagado"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"suspeita_energia"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"R2"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"suspeita_energia"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"tomada_ok"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"suspeita_fonte"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"R3"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"suspeita_fonte"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"cabo_ok"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"trocar_fonte"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"R4"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"suspeita_energia"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"tomada_sem_energia"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"usar_outra_tomada"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"R5"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"led_aceso"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"sem_video"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"suspeita_video"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"R6"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"suspeita_video"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"monitor_ok"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"reencaixar_memoria"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10362895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0080" y="4892040"/>
            <a:ext cx="3493008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da regra: aparece nas explicações.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347972" y="4892040"/>
            <a:ext cx="3493008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6572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576572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 de fatos que precisam valer (a ordem guia as perguntas).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055864" y="4892040"/>
            <a:ext cx="3493008" cy="1280160"/>
          </a:xfrm>
          <a:prstGeom prst="roundRect">
            <a:avLst>
              <a:gd name="adj" fmla="val 85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84464" y="4956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284464" y="53492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fato que a regra produz.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frente: dos fatos às conclusões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Olhar a memória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fatos já conhecemos?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27248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regras aplicáveis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todas na memória e conclusão ainda nova.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196596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Disparar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Acrescentar as conclusões como fatos novos.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759952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nenhuma regra gerar nada novo.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Dirigido pelos dados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4389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do que se sabe e vê aonde chega. Boa quando há muitos fatos e se quer descobrir tudo o que decorre deles: monitoramento, configuração, alertas.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199632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3952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 gastar esforço à toa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473952" y="4389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não tem alvo, deriva conclusões que ninguém perguntou. Em bases grandes, isso desperdiça tempo.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Rastreando o encadeamento para frente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 iniciais: pc_nao_liga, led_apagado, tomada_ok, cabo_ok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2286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47088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dispara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90288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novo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2286000"/>
            <a:ext cx="3593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depois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81635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8163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47088" y="281635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90288" y="281635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suspeita_energia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882128" y="281635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fatos iniciais + 1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36499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336499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847088" y="336499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90288" y="336499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suspeita_fonte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82128" y="336499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(total 6)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0080" y="39136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91363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847088" y="39136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90288" y="391363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trocar_fonte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882128" y="391363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(total 7)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4622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" y="446227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847088" y="44622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nenhuma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590288" y="446227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nada novo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882128" y="4462272"/>
            <a:ext cx="3593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0080" y="5239512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5239512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R4, R5 e R6 nunca disparam: as premissas delas (tomada_sem_energia, led_aceso, etc.) não estão na memória.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para frente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589520" cy="4465320"/>
          </a:xfrm>
          <a:prstGeom prst="roundRect">
            <a:avLst>
              <a:gd name="adj" fmla="val 24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92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encadeamento_frente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"rodada {rodada}: {nome} =&gt; {conclusao}"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753100"/>
            <a:ext cx="7040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59536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95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0" y="1783080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set(premissas) &lt;= fatos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235440" y="2148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premissas estão na memória (subconjunto).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9536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953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235440" y="28620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 not in fatos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3227832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dispara se trouxer algo novo: evita laço infinito.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59536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9536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235440" y="3941064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 = {}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235440" y="4306824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 a rodada inteira antes de atualizar a memória.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59536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5953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9235440" y="502005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novos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9235440" y="5385816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fixo: nada mais a concluir. Devolve os fatos.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Executando: o diagnóstico emerge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798320"/>
          </a:xfrm>
          <a:prstGeom prst="roundRect">
            <a:avLst>
              <a:gd name="adj" fmla="val 610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"led_apagado"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"tomada_ok"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"cabo_ok"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encadeamento_frente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58521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657600"/>
            <a:ext cx="640080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84048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84048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384048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77647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6052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frente.py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40817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1: R1 =&gt; suspeita_energia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5582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2: R2 =&gt; suspeita_fonte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90347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rodada 3: R3 =&gt; trocar_fonte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15112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['suspeita_energia', 'suspeita_fonte', 'trocar_fonte']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525512" y="178308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5411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21488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485632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em ação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754112" y="26974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usa o que a anterior concluiu: R2 só dispara depois de R1 produzir suspeita_energia.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7525512" y="4069080"/>
            <a:ext cx="4023360" cy="2057400"/>
          </a:xfrm>
          <a:prstGeom prst="roundRect">
            <a:avLst>
              <a:gd name="adj" fmla="val 533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754112" y="429768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272" y="44348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8485632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final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7754112" y="4983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sugere trocar a fonte, mas só depois de checar tomada e cabo. É um raciocínio de três passos.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agenda: regras prontas para disparar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regras_disparaveis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"led_apagado"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"tomada_ok"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"cabo_ok"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regras_disparaveis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"suspeita_energia"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regras_disparaveis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9494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348472" y="1783080"/>
            <a:ext cx="3200400" cy="1474470"/>
          </a:xfrm>
          <a:prstGeom prst="roundRect">
            <a:avLst>
              <a:gd name="adj" fmla="val 74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4964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75080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5197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2872" y="19019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622792" y="2286000"/>
            <a:ext cx="26517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agenda.py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622792" y="2533650"/>
            <a:ext cx="26517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suspeita_energia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622792" y="2781300"/>
            <a:ext cx="26517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suspeita_fonte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53492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</a:t>
            </a:r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conjunto de regras aplicáveis agora. Com mais de uma, o motor precisa escolher qual disparar (resolução de conflitos). Ao gravar suspeita_energia, R1 sai da agenda e R2 entra.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de conflitos: qual regra primeiro?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 das regras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 primeira da lista. Simples e previsível; exige cuidado ao ordenar.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2011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282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114032" y="2011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28232" y="2697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a regra com mais premissas: é mais específica e costuma ser mais informativa.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096512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Recência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 a regra que usa os fatos mais novos: acompanha o raciocínio em curso.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28232" y="4096512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2823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114032" y="40965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 explícita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428232" y="4782312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regra tem um peso dado pelo engenheiro do conhecimento: segurança antes de conforto.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conjunto de regras e fatos pode dar conclusões diferentes conforme a estratégia: documente a escolha.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FRENTE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Especificidade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conflito.py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"febre"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"suspeita_infeccao"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"febre"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"tosse"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"dor_corpo"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"suspeita_gripe"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"febre"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"tosse"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"dor_corpo"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aplicaveis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escolhida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65592" y="1783080"/>
            <a:ext cx="3383280" cy="1531620"/>
          </a:xfrm>
          <a:prstGeom prst="roundRect">
            <a:avLst>
              <a:gd name="adj" fmla="val 71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6676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6792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6909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79992" y="1901952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439912" y="2286000"/>
            <a:ext cx="2834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conflito.py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439912" y="2552700"/>
            <a:ext cx="2834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['A', 'B']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439912" y="2819400"/>
            <a:ext cx="283464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suspeita_gripe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165592" y="338328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66760" y="33832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regras servem, mas B usa mais evidências. A estratégia “maior número de premissas” escolheu B. Exemplo didático, não é conselho médico.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TRÁS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trás: da hipótese aos fatos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meta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trocar_fonte. É verdade?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27248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56432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é fato?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na memória, está provada.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72784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1965960"/>
            <a:ext cx="411480" cy="411480"/>
          </a:xfrm>
          <a:prstGeom prst="ellipse">
            <a:avLst/>
          </a:prstGeom>
          <a:solidFill>
            <a:srgbClr val="0B1A12"/>
          </a:solidFill>
          <a:ln w="12700">
            <a:solidFill>
              <a:srgbClr val="0B1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55664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Achar regras que a concluem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55664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premissas viram submetas.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759952" y="2697480"/>
            <a:ext cx="292608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9089136" y="1828800"/>
            <a:ext cx="2450592" cy="173736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72016" y="196596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9272016" y="24871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Provar cada submeta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272016" y="2898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Recursivamente, até chegar a fatos.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Dirigido pelo objetivo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4389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olha as regras que levam à meta. Boa para diagnóstico: há uma hipótese a confirmar e muitos fatos possíveis, que só se pergunta se forem necessários.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199632" y="38404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3952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o jeito do Prolog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6473952" y="4389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 ?- avo(joao, Z) funciona por encadeamento para trás: a meta vira submetas, resolvidas por unificação.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TRÁS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árvore de prova de trocar_fonte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177790" y="233172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54780" y="2606040"/>
            <a:ext cx="24460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54780" y="260604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260604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54780" y="338328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3657600"/>
            <a:ext cx="23317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365760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365760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88920" y="443484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37360" y="4709160"/>
            <a:ext cx="2103120" cy="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37360" y="470916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0480" y="4709160"/>
            <a:ext cx="0" cy="274320"/>
          </a:xfrm>
          <a:prstGeom prst="line">
            <a:avLst/>
          </a:prstGeom>
          <a:noFill/>
          <a:ln w="25400">
            <a:solidFill>
              <a:srgbClr val="55645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63390" y="18288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63390" y="1828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trocar_fonte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040380" y="288036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4038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suspeita_fonte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0" y="288036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0" y="2880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cabo_ok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87452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87452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suspeita_energia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206240" y="393192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206240" y="3931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tomada_ok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22960" y="49834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498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pc_nao_liga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926080" y="498348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26080" y="4983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led_apagado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12648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886200" y="4343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7863840" y="1783080"/>
            <a:ext cx="3685032" cy="4343400"/>
          </a:xfrm>
          <a:prstGeom prst="roundRect">
            <a:avLst>
              <a:gd name="adj" fmla="val 297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9244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8092440" y="237744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a meta. Verde: fatos conhecidos. Azul-escuro: conclusões intermediárias.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desce pela árvore e só aceita a meta se todas as folhas forem fatos.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busca em profundidade (aula 02) sobre as regras.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TRÁS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Encadeamento para trás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"{recuo}{meta}: fato conhecido"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"{recuo}{meta}: tentando {nome}"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3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19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"{recuo}{meta}: nao provado"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486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in fatos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já é um fato.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2953512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286207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 == meta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3227832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regras que concluem a meta.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955280" y="4032504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552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595360" y="3941064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all(provar(...))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595360" y="4306824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recursivo: todas as premissas viram submetas.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955280" y="5111496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552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595360" y="502005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595360" y="5385816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para o recuo do rastro impresso.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ENCADEAMENTO PARA TRÁS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rastro da prova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960370"/>
          </a:xfrm>
          <a:prstGeom prst="roundRect">
            <a:avLst>
              <a:gd name="adj" fmla="val 370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Terminal: provar("trocar_fonte")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tras.py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trocar_fonte: tentando R3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suspeita_fonte: tentando R2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suspeita_energia: tentando R1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pc_nao_liga: fato conhecido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led_apagado: fato conhecido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tomada_ok: fato conhecido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cabo_ok: fato conhecido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2672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702552" y="1783080"/>
            <a:ext cx="484632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037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048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060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16952" y="190195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provar("reencaixar_memoria")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976872" y="22860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reencaixar_memoria: tentando R6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976872" y="25146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suspeita_video: tentando R5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76872" y="27432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pc_nao_liga: fato conhecido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976872" y="29718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led_aceso: nao provado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76872" y="32004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suspeita_video: nao provado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76872" y="34290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reencaixar_memoria: nao provado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976872" y="3657600"/>
            <a:ext cx="42976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702552" y="4114800"/>
            <a:ext cx="4846320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03720" y="411480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recuo mostra a árvore. Na segunda meta, led_aceso não é fato, então R5 falha e toda a prova falha: o sistema nem olha monitor_ok.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frente × para trás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frente (dados)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trás (objetivo)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fatos conhecidos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hipótese a provar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898648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986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898648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→ conclusões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898648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→ premissas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483864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838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ao usuário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483864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dos fatos de antemão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483864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só o necessário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0690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690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069080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conclusões inúteis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069080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caminhos sem saída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654296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6542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654296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Monitoramento, configuração, alertas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654296"/>
            <a:ext cx="3992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Diagnóstico, consultas, Prolog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422392"/>
            <a:ext cx="10911535" cy="685800"/>
          </a:xfrm>
          <a:prstGeom prst="roundRect">
            <a:avLst>
              <a:gd name="adj" fmla="val 1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422392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reais costumam combinar os dois: chamados de encadeamento misto ou bidirecional.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especialista precisa justificar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quê?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você me pergunta isso? Porque a regra R2 precisa de tomada_ok para concluir.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196596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19659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Como?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74320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concluiu trocar_fonte? Pela cadeia R1, R2 e R3, com estes fatos.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4389120"/>
            <a:ext cx="10911535" cy="1737360"/>
          </a:xfrm>
          <a:prstGeom prst="roundRect">
            <a:avLst>
              <a:gd name="adj" fmla="val 6316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4389120"/>
            <a:ext cx="10362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 é o grande trunfo dos sistemas de regras: a explicação sai de graça, porque o raciocínio é a sequência de regras disparadas. Em redes neurais, explicar é muito mais difícil.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Registrando a prova para responder “como?”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398520"/>
          </a:xfrm>
          <a:prstGeom prst="roundRect">
            <a:avLst>
              <a:gd name="adj" fmla="val 322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explicacao.py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6863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799832" y="1783080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010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021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033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14232" y="19019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22860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 = []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25146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provar("trocar_fonte", fatos,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074152" y="27432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REGRAS, prova)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74152" y="29718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nome, prem, concl in prova: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074152" y="32004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print(nome, prem, concl)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99832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1000" y="3840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Saída: uma linha por regra usada, na ordem da prova. Aqui, R1, R2 e R3, cada uma com suas premissas e a conclusão. Essa lista é a resposta à pergunta “como?”.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Perguntando ao usuário (1/3): as perguntas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4198620"/>
          </a:xfrm>
          <a:prstGeom prst="roundRect">
            <a:avLst>
              <a:gd name="adj" fmla="val 261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computador nao liga?"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"led_apagado"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LED da fonte esta apagado?"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"tomada_ok"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 tomada funciona?"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"cabo_ok"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 cabo de forca esta bom?"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demais fatos "perguntaveis"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6863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9530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(s/n) 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2197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486400"/>
            <a:ext cx="676656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Fatos que só o usuário sabe. O resto, o sistema deduz.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31546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35204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as respostas: nunca pergunta duas vezes.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22960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6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869680" y="45262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48920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resposta; “s” significa verdadeiro.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Perguntando ao usuário (2/3): provar com perguntas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perguntar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[{nome}] conclui: {meta}"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in PERGUNTAS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perguntável: pergunta ao usuário e guarda a resposta.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 == meta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derivável: procura regras que o concluem.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print([R])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cada regra ao concluir: o “como” em tempo real.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Perguntando ao usuário (3/3): o laço de objetivos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consulta.py (final do arquivo)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"trocar_fonte"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"usar_outra_tomada"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"reencaixar_memoria"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memoria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"DIAGNOSTICO:"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"Nao consegui diagnosticar."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diagnóstico possível é uma meta a provar.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provar uma meta, encerra a busca.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... else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else só roda se nenhum break aconteceu.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4846320"/>
            <a:ext cx="6949440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846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objetivos é uma estratégia: primeiro o diagnóstico mais provável. A memória evita repetir perguntas entre os objetivos.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INTERATIVA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consulta real, passo a passo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960370"/>
          </a:xfrm>
          <a:prstGeom prst="roundRect">
            <a:avLst>
              <a:gd name="adj" fmla="val 370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(respostas do usuário em destaque na leitura)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consulta.py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computador nao liga? (s/n) 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LED da fonte esta apagado? (s/n) 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[R1] conclui: suspeita_energia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tomada funciona? (s/n) 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242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[R2] conclui: suspeita_fonte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719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cabo de forca esta bom? (s/n) 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195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[R3] conclui: trocar_fonte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2672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DIAGNOSTICO: trocar_fonte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98080" y="178308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80960" y="1856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na ordem das premissas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680960" y="22402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não faz perguntas soltas: cada uma serve a uma regra.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498080" y="32461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80960" y="3319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 intermediárias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37033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[R1], [R2] e [R3] são a explicação do como, mostrada na hora.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498080" y="470916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80960" y="4782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Parou ao provar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516636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break encerra a busca na primeira meta provada.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 VARIÁVEIS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cada fato exigiria uma regra própria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1783080"/>
            <a:ext cx="9997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pai(X, Y)
</a:t>
            </a:r>
            <a:pPr indent="0" marL="0">
              <a:buNone/>
            </a:pPr>
            <a:r>
              <a:rPr lang="en-US" sz="2000" b="1" dirty="0">
                <a:solidFill>
                  <a:srgbClr val="FF7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ENTÃO ancestral(X, Y)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pai(X, Y) E ancestral(Y, Z)   ENTÃO ancestral(X, Z)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41490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regra, muitos casos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e Z são variáveis: a mesma regra vale para qualquer pessoa.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47972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6572" y="40233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302" y="41490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62372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Unificação encontra X, Y, Z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76572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casa as premissas com os fatos (aula 05).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055864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402336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194" y="41490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70264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Recursão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284464" y="4709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aparece na própria definição: o encadeamento repete até esgotar.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 VARIÁVEIS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com variáveis em Python (1/3): os dados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131820"/>
          </a:xfrm>
          <a:prstGeom prst="roundRect">
            <a:avLst>
              <a:gd name="adj" fmla="val 350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"ancestral"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"ancestral"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"ancestral"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"joao"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4196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"bia"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(premissas, conclusão). Variáveis em maiúscula.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Tuplas como em ("pai", "joao", "maria").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da aula 05: arquivo unify.py.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 VARIÁVEIS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com variáveis em Python (2/3): casar premissas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94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861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528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862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152900"/>
            <a:ext cx="6400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premissas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base: todas casadas. Devolve a substituição.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unificar(...)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a 1ª premissa com cada fato.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casar(premissas[1:])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Recursão: casa as demais com a substituição já acumulada.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0080" y="4846320"/>
            <a:ext cx="6949440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48463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pai(X,Y) e ancestral(Y,Z): X e Y ligam-se na 1ª premissa; a 2ª já parte com Y definido, como nas “várias metas” da aula 05.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COM VARIÁVEIS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com variáveis em Python (3/3): o motor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4446270"/>
          </a:xfrm>
          <a:prstGeom prst="roundRect">
            <a:avLst>
              <a:gd name="adj" fmla="val 246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variaveis.py (continuação)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289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766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5242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7719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0195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2672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premissas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5148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aplicar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conclusao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7625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50101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2578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50545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3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753100"/>
            <a:ext cx="58521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novos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342632" y="1783080"/>
            <a:ext cx="4206240" cy="2217420"/>
          </a:xfrm>
          <a:prstGeom prst="roundRect">
            <a:avLst>
              <a:gd name="adj" fmla="val 494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(ancestrais)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616952" y="228600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('ancestral','ana','bia')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616952" y="253365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('ancestral','joao','ana')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616952" y="278130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('ancestral','joao','bia')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616952" y="302895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('ancestral','joao','maria')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616952" y="327660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('ancestral','maria','ana')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616952" y="3524250"/>
            <a:ext cx="36576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('ancestral','maria','bia')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342632" y="4114800"/>
            <a:ext cx="4206240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43800" y="41148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fatos pai viraram seis ancestrais. O sistema derivou joao ancestral de bia em duas rodadas, sem regra nenhuma para essa pessoa.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quando o conhecimento não é certo?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Sintomas incertos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raramente provam: apenas reforçam uma hipótese.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Fatores de certeza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 atribuía a cada regra e fato um valor entre −1 e 1, medindo a confiança.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74320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evidências a favor aumentam a certeza, mas nunca passam de 1.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091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 = CF₁ + CF₂ × (1 − CF₁)</a:t>
            </a:r>
            <a:endParaRPr lang="en-US" sz="28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54406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duas evidências positivas (0 ≤ CF ≤ 1). Esta é a forma simplificada do modelo de MYCIN.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· PRÁTICA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Combinando fatores de certeza em Python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217920" cy="2598420"/>
          </a:xfrm>
          <a:prstGeom prst="roundRect">
            <a:avLst>
              <a:gd name="adj" fmla="val 4223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cf1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0861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3528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6195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886200"/>
            <a:ext cx="56692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68312" y="1783080"/>
            <a:ext cx="44805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780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01268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068312" y="2313432"/>
            <a:ext cx="448056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78040" y="231343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 e 0,5 combinados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012680" y="231343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068312" y="2816352"/>
            <a:ext cx="44805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78040" y="281635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nula (0,0)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281635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068312" y="3319272"/>
            <a:ext cx="448056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78040" y="331927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terceira evidência (0,4)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012680" y="331927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0.88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068312" y="3822192"/>
            <a:ext cx="44805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78040" y="382219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min(0,8; 0,6) × 0,9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10012680" y="3822192"/>
            <a:ext cx="1463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40080" y="470916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773168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nula não muda nada (0,6 continua 0,6); cada evidência nova soma menos que a anterior.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uma regra com premissas incertas, usa-se o menor CF das premissas e multiplica-se pelo CF da regra (quarta linha).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heurística útil, não probabilidade rigorosa: a aula 09 retoma o tema com ML.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os sistemas especialistas perderam o centro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Gargalo do conhecimento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regras de especialistas é lento e caro.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Fragilidade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domínio previsto, o sistema falha de forma abrupta, sem bom senso.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367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regras interagem: mexer em uma pode quebrar outra.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867912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09651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23367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aprende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782312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sabe o que foi escrito. Dados novos não o melhoram sozinhos.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58064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ajuda a explicar o “inverno da IA” do fim dos anos 1980. As regras seguem úteis, mas hoje convivem com o aprendizado de máquina.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Regras, aprendizado ou os dois?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154680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baseado em regras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21728" y="1783080"/>
            <a:ext cx="399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de máquina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31343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conhecimento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 normas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421728" y="2313432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880360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28803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Explicação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Natural: a cadeia de regras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21728" y="2880360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técnicas extras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3447288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4472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política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154680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 a regra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21728" y="3447288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Retreina o modelo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4014216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40142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 com ruído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Mal: regras são rígidas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21728" y="4014216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Bem: aprende tolerância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581144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" y="45811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154680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a um benefício por lei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21728" y="4581144"/>
            <a:ext cx="399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fraude em transações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40080" y="5330952"/>
            <a:ext cx="10911535" cy="731520"/>
          </a:xfrm>
          <a:prstGeom prst="roundRect">
            <a:avLst>
              <a:gd name="adj" fmla="val 1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330952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híbridas são comuns: o modelo estima um risco e regras de negócio decidem a ação, com explicação.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Escrevendo boas regras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ideia por regra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curtas e atômicas: simples de testar e de explicar.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Nomes claros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suspeita_fonte diz mais do que f2. Dê nomes de domínio aos fatos.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cada regra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regra, escreva um caso que a dispara e outro que não dispara.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Evite ciclos e contradições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e B → A, ou regras que concluem fatos opostos, geram laços e confusão.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o “não é novo”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conclusao not in fatos, a regra dispara de novo e o laço nunca termina.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Atualizar a memória no meio da rodada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embaralha a ordem das regras. Acumule os novos fatos e só então os grave.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Perguntar duas vezes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cada resposta na memória, ou o usuário responde a mesma pergunta várias vezes.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Confundir os sentidos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frente parte dos fatos; para trás parte da meta. A resposta pode ser a mesma, o custo não.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 regra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7830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R7: SE pc_nao_liga E led_aceso E bipes ENTÃO suspeita_memoria e rode o encadeamento para frente.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88036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fatos pc_nao_liga, led_apagado e tomada_sem_energia, prove usar_outra_tomada. Qual é o rastro?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Certeza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39776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duas evidências de 0,7 e 0,5 com a fórmula do MYCIN. Qual o CF final?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0" y="50749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à variaveis.py a regra avo(X, Z) ← pai(X, Y) E pai(Y, Z) e liste os avôs.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969770"/>
          </a:xfrm>
          <a:prstGeom prst="roundRect">
            <a:avLst>
              <a:gd name="adj" fmla="val 557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"R7"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"led_aceso"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"bipes"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336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"suspeita_memoria"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813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"pc_nao_liga"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"led_aceso"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"bipes"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2895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encadeamento_frente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76600"/>
            <a:ext cx="53035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rodada 1: R7 =&gt; suspeita_memoria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935730"/>
            <a:ext cx="5852160" cy="2190750"/>
          </a:xfrm>
          <a:prstGeom prst="roundRect">
            <a:avLst>
              <a:gd name="adj" fmla="val 500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3935730"/>
            <a:ext cx="530352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não dispara (não há sem_video), mas R7 sim: uma só rodada.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611112" y="1783080"/>
            <a:ext cx="4937760" cy="2217420"/>
          </a:xfrm>
          <a:prstGeom prst="roundRect">
            <a:avLst>
              <a:gd name="adj" fmla="val 494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22860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usar_outra_tomada: tentando R4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25336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suspeita_energia: tentando R1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7813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pc_nao_liga: fato conhecido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30289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led_apagado: fato conhecido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885432" y="32766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tomada_sem_energia: fato conhecido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885432" y="35242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611112" y="4183380"/>
            <a:ext cx="4937760" cy="1943100"/>
          </a:xfrm>
          <a:prstGeom prst="roundRect">
            <a:avLst>
              <a:gd name="adj" fmla="val 564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0" y="4183380"/>
            <a:ext cx="443484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exige suspeita_energia (provada por R1) e tomada_sem_energia (fato).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1264920"/>
          </a:xfrm>
          <a:prstGeom prst="roundRect">
            <a:avLst>
              <a:gd name="adj" fmla="val 867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combinar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52700"/>
            <a:ext cx="530352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0.85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3230880"/>
            <a:ext cx="5852160" cy="2895600"/>
          </a:xfrm>
          <a:prstGeom prst="roundRect">
            <a:avLst>
              <a:gd name="adj" fmla="val 378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230880"/>
            <a:ext cx="530352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 + 0,5 × (1 − 0,7) = 0,7 + 0,15 = 0,85. A segunda evidência elevou a certeza em 0,15.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11112" y="1783080"/>
            <a:ext cx="4937760" cy="2217420"/>
          </a:xfrm>
          <a:prstGeom prst="roundRect">
            <a:avLst>
              <a:gd name="adj" fmla="val 4948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01344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1461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25512" y="19019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885432" y="22860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5336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"pai"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85432" y="27813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"avo"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"Z"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30289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frente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FATOS</a:t>
            </a:r>
            <a:pPr indent="0" marL="0">
              <a:buNone/>
            </a:pPr>
            <a:r>
              <a:rPr lang="en-US" sz="13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327660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('avo','joao','ana')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3524250"/>
            <a:ext cx="43891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('avo','maria','bia')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611112" y="4183380"/>
            <a:ext cx="4937760" cy="1943100"/>
          </a:xfrm>
          <a:prstGeom prst="roundRect">
            <a:avLst>
              <a:gd name="adj" fmla="val 564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4183380"/>
            <a:ext cx="443484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avôs são João (de Ana) e Maria (de Bia), derivados sem acrescentar fatos.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06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especialista separa a base de regras do motor de inferência.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frente parte dos fatos; para trás parte da hipótese e pergunta só o necessário.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explicação (como e por quê) sai do próprio raciocínio por regras.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generalizam as regras e fatores de certeza tratam a incerteza.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 evolutivas e enxame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06324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0175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fuzzy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589520" y="38404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589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0" y="37947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ML e fluxo de trabalho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invente um domínio seu para o sistema. Na aula 07, trocamos regras por populações que evoluem para achar boas soluções.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06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06 - Sistemas baseados em conhecimento</dc:title>
  <dc:subject>PptxGenJS Presentation</dc:subject>
  <dc:creator>Inteligência Artificial</dc:creator>
  <cp:lastModifiedBy>Inteligência Artificial</cp:lastModifiedBy>
  <cp:revision>1</cp:revision>
  <dcterms:created xsi:type="dcterms:W3CDTF">2026-10-07T19:48:25Z</dcterms:created>
  <dcterms:modified xsi:type="dcterms:W3CDTF">2026-10-07T19:48:25Z</dcterms:modified>
</cp:coreProperties>
</file>